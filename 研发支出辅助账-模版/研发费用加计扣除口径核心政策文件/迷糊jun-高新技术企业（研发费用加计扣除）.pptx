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7" r:id="rId3"/>
    <p:sldId id="259" r:id="rId4"/>
    <p:sldId id="261" r:id="rId5"/>
    <p:sldId id="263" r:id="rId6"/>
    <p:sldId id="264" r:id="rId7"/>
    <p:sldId id="267" r:id="rId8"/>
    <p:sldId id="270" r:id="rId9"/>
    <p:sldId id="272" r:id="rId10"/>
    <p:sldId id="273" r:id="rId11"/>
    <p:sldId id="274" r:id="rId12"/>
    <p:sldId id="275" r:id="rId13"/>
    <p:sldId id="276" r:id="rId14"/>
    <p:sldId id="277" r:id="rId15"/>
    <p:sldId id="278" r:id="rId16"/>
    <p:sldId id="279" r:id="rId17"/>
    <p:sldId id="281" r:id="rId18"/>
    <p:sldId id="282" r:id="rId19"/>
    <p:sldId id="283" r:id="rId20"/>
    <p:sldId id="284" r:id="rId21"/>
    <p:sldId id="285" r:id="rId22"/>
    <p:sldId id="286" r:id="rId23"/>
    <p:sldId id="287" r:id="rId24"/>
    <p:sldId id="288" r:id="rId25"/>
    <p:sldId id="294" r:id="rId26"/>
    <p:sldId id="295"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6" r:id="rId47"/>
    <p:sldId id="317" r:id="rId48"/>
    <p:sldId id="318" r:id="rId49"/>
    <p:sldId id="319" r:id="rId50"/>
    <p:sldId id="320" r:id="rId51"/>
    <p:sldId id="321" r:id="rId52"/>
    <p:sldId id="336" r:id="rId53"/>
    <p:sldId id="337" r:id="rId54"/>
    <p:sldId id="338" r:id="rId55"/>
    <p:sldId id="343" r:id="rId56"/>
    <p:sldId id="344" r:id="rId57"/>
    <p:sldId id="345" r:id="rId58"/>
    <p:sldId id="346" r:id="rId60"/>
    <p:sldId id="347" r:id="rId61"/>
    <p:sldId id="348" r:id="rId62"/>
    <p:sldId id="349" r:id="rId63"/>
    <p:sldId id="350" r:id="rId64"/>
    <p:sldId id="351" r:id="rId65"/>
    <p:sldId id="352" r:id="rId66"/>
    <p:sldId id="353" r:id="rId67"/>
    <p:sldId id="354" r:id="rId68"/>
    <p:sldId id="355" r:id="rId69"/>
    <p:sldId id="356" r:id="rId70"/>
    <p:sldId id="357" r:id="rId71"/>
    <p:sldId id="358" r:id="rId72"/>
    <p:sldId id="359" r:id="rId73"/>
    <p:sldId id="360" r:id="rId74"/>
    <p:sldId id="361" r:id="rId75"/>
    <p:sldId id="362" r:id="rId76"/>
    <p:sldId id="363" r:id="rId77"/>
  </p:sldIdLst>
  <p:sldSz cx="12195175" cy="6858000"/>
  <p:notesSz cx="6858000" cy="9144000"/>
  <p:defaultTextStyle>
    <a:lvl1pPr marL="0" lvl="0" algn="l" defTabSz="914400">
      <a:defRPr sz="1800" kern="1200">
        <a:solidFill>
          <a:schemeClr val="tx1"/>
        </a:solidFill>
        <a:latin typeface="Calibri" panose="020F0502020204030204"/>
        <a:ea typeface="宋体" panose="02010600030101010101" pitchFamily="2" charset="-122"/>
      </a:defRPr>
    </a:lvl1pPr>
    <a:lvl2pPr marL="457200" lvl="1" algn="l" defTabSz="914400">
      <a:defRPr sz="1800" kern="1200">
        <a:solidFill>
          <a:schemeClr val="tx1"/>
        </a:solidFill>
        <a:latin typeface="Calibri" panose="020F0502020204030204"/>
        <a:ea typeface="宋体" panose="02010600030101010101" pitchFamily="2" charset="-122"/>
      </a:defRPr>
    </a:lvl2pPr>
    <a:lvl3pPr marL="914400" lvl="2" algn="l" defTabSz="914400">
      <a:defRPr sz="1800" kern="1200">
        <a:solidFill>
          <a:schemeClr val="tx1"/>
        </a:solidFill>
        <a:latin typeface="Calibri" panose="020F0502020204030204"/>
        <a:ea typeface="宋体" panose="02010600030101010101" pitchFamily="2" charset="-122"/>
      </a:defRPr>
    </a:lvl3pPr>
    <a:lvl4pPr marL="1371600" lvl="3" algn="l" defTabSz="914400">
      <a:defRPr sz="1800" kern="1200">
        <a:solidFill>
          <a:schemeClr val="tx1"/>
        </a:solidFill>
        <a:latin typeface="Calibri" panose="020F0502020204030204"/>
        <a:ea typeface="宋体" panose="02010600030101010101" pitchFamily="2" charset="-122"/>
      </a:defRPr>
    </a:lvl4pPr>
    <a:lvl5pPr marL="1828800" lvl="4" algn="l" defTabSz="914400">
      <a:defRPr sz="1800" kern="1200">
        <a:solidFill>
          <a:schemeClr val="tx1"/>
        </a:solidFill>
        <a:latin typeface="Calibri" panose="020F0502020204030204"/>
        <a:ea typeface="宋体" panose="02010600030101010101" pitchFamily="2" charset="-122"/>
      </a:defRPr>
    </a:lvl5pPr>
    <a:lvl6pPr marL="2286000" lvl="5" algn="l" defTabSz="914400">
      <a:defRPr sz="1800" kern="1200">
        <a:solidFill>
          <a:schemeClr val="tx1"/>
        </a:solidFill>
        <a:latin typeface="Calibri" panose="020F0502020204030204"/>
        <a:ea typeface="宋体" panose="02010600030101010101" pitchFamily="2" charset="-122"/>
      </a:defRPr>
    </a:lvl6pPr>
    <a:lvl7pPr marL="2743200" lvl="6" algn="l" defTabSz="914400">
      <a:defRPr sz="1800" kern="1200">
        <a:solidFill>
          <a:schemeClr val="tx1"/>
        </a:solidFill>
        <a:latin typeface="Calibri" panose="020F0502020204030204"/>
        <a:ea typeface="宋体" panose="02010600030101010101" pitchFamily="2" charset="-122"/>
      </a:defRPr>
    </a:lvl7pPr>
    <a:lvl8pPr marL="3200400" lvl="7" algn="l" defTabSz="914400">
      <a:defRPr sz="1800" kern="1200">
        <a:solidFill>
          <a:schemeClr val="tx1"/>
        </a:solidFill>
        <a:latin typeface="Calibri" panose="020F0502020204030204"/>
        <a:ea typeface="宋体" panose="02010600030101010101" pitchFamily="2" charset="-122"/>
      </a:defRPr>
    </a:lvl8pPr>
    <a:lvl9pPr marL="3657600" lvl="8" algn="l" defTabSz="914400">
      <a:defRPr sz="1800" kern="1200">
        <a:solidFill>
          <a:schemeClr val="tx1"/>
        </a:solidFill>
        <a:latin typeface="Calibri" panose="020F0502020204030204"/>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0" Type="http://schemas.openxmlformats.org/officeDocument/2006/relationships/tableStyles" Target="tableStyles.xml"/><Relationship Id="rId8" Type="http://schemas.openxmlformats.org/officeDocument/2006/relationships/slide" Target="slides/slide6.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notesMaster" Target="notesMasters/notesMaster1.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13B20-8BB8-B74B-ADB5-DA5707988F1E}" type="datetimeFigureOut">
              <a:rPr/>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8674F-E567-AA4B-8C16-788D7CE21C4F}" type="slidenum">
              <a:rPr/>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wrap="square" numCol="1" anchor="t" anchorCtr="0"/>
          <a:lstStyle/>
          <a:p>
            <a:pPr>
              <a:spcBef>
                <a:spcPct val="0"/>
              </a:spcBef>
            </a:pPr>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wrap="square" numCol="1" anchor="t" anchorCtr="0"/>
          <a:lstStyle/>
          <a:p>
            <a:pPr>
              <a:spcBef>
                <a:spcPct val="0"/>
              </a:spcBef>
            </a:pPr>
            <a:endParaRPr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wrap="square" numCol="1" anchor="t" anchorCtr="0"/>
          <a:lstStyle/>
          <a:p>
            <a:pPr>
              <a:spcBef>
                <a:spcPct val="0"/>
              </a:spcBef>
            </a:pPr>
            <a:endParaRPr 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wrap="square" numCol="1" anchor="t" anchorCtr="0"/>
          <a:lstStyle/>
          <a:p>
            <a:pPr>
              <a:spcBef>
                <a:spcPct val="0"/>
              </a:spcBef>
            </a:pPr>
            <a:endParaRPr 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wrap="square" numCol="1" anchor="t" anchorCtr="0"/>
          <a:lstStyle/>
          <a:p>
            <a:pPr>
              <a:spcBef>
                <a:spcPct val="0"/>
              </a:spcBef>
            </a:pPr>
            <a:endParaRPr 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normAutofit/>
          </a:bodyPr>
          <a:lstStyle/>
          <a:p>
            <a:endParaRPr 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normAutofit/>
          </a:bodyPr>
          <a:lstStyle/>
          <a:p>
            <a:endParaRPr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normAutofit/>
          </a:bodyPr>
          <a:lstStyle/>
          <a:p>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p:nvPr>
            <p:ph type="ctrTitle"/>
          </p:nvPr>
        </p:nvSpPr>
        <p:spPr>
          <a:xfrm>
            <a:off x="914638" y="2130426"/>
            <a:ext cx="10365899" cy="1470025"/>
          </a:xfrm>
        </p:spPr>
        <p:txBody>
          <a:bodyPr/>
          <a:lstStyle/>
          <a:p>
            <a:r>
              <a:rPr lang="zh-CN"/>
              <a:t>单击此处编辑母版标题样式</a:t>
            </a:r>
            <a:endParaRPr lang="zh-CN"/>
          </a:p>
        </p:txBody>
      </p:sp>
      <p:sp>
        <p:nvSpPr>
          <p:cNvPr id="3" name="副标题 2"/>
          <p:cNvSpPr/>
          <p:nvPr>
            <p:ph type="subTitle" idx="1"/>
          </p:nvPr>
        </p:nvSpPr>
        <p:spPr>
          <a:xfrm>
            <a:off x="1829276" y="3886200"/>
            <a:ext cx="8536623" cy="1752600"/>
          </a:xfrm>
        </p:spPr>
        <p:txBody>
          <a:bodyPr/>
          <a:lstStyle>
            <a:lvl1pPr marL="0" lvl="0" indent="0" algn="ctr">
              <a:buNone/>
              <a:defRPr>
                <a:solidFill>
                  <a:schemeClr val="tx1">
                    <a:tint val="75000"/>
                  </a:schemeClr>
                </a:solidFill>
              </a:defRPr>
            </a:lvl1pPr>
            <a:lvl2pPr marL="457200" lvl="1" indent="0" algn="ctr">
              <a:buNone/>
              <a:defRPr>
                <a:solidFill>
                  <a:schemeClr val="tx1">
                    <a:tint val="75000"/>
                  </a:schemeClr>
                </a:solidFill>
              </a:defRPr>
            </a:lvl2pPr>
            <a:lvl3pPr marL="914400" lvl="2" indent="0" algn="ctr">
              <a:buNone/>
              <a:defRPr>
                <a:solidFill>
                  <a:schemeClr val="tx1">
                    <a:tint val="75000"/>
                  </a:schemeClr>
                </a:solidFill>
              </a:defRPr>
            </a:lvl3pPr>
            <a:lvl4pPr marL="1371600" lvl="3" indent="0" algn="ctr">
              <a:buNone/>
              <a:defRPr>
                <a:solidFill>
                  <a:schemeClr val="tx1">
                    <a:tint val="75000"/>
                  </a:schemeClr>
                </a:solidFill>
              </a:defRPr>
            </a:lvl4pPr>
            <a:lvl5pPr marL="1828800" lvl="4" indent="0" algn="ctr">
              <a:buNone/>
              <a:defRPr>
                <a:solidFill>
                  <a:schemeClr val="tx1">
                    <a:tint val="75000"/>
                  </a:schemeClr>
                </a:solidFill>
              </a:defRPr>
            </a:lvl5pPr>
            <a:lvl6pPr marL="2286000" lvl="5" indent="0" algn="ctr">
              <a:buNone/>
              <a:defRPr>
                <a:solidFill>
                  <a:schemeClr val="tx1">
                    <a:tint val="75000"/>
                  </a:schemeClr>
                </a:solidFill>
              </a:defRPr>
            </a:lvl6pPr>
            <a:lvl7pPr marL="2743200" lvl="6" indent="0" algn="ctr">
              <a:buNone/>
              <a:defRPr>
                <a:solidFill>
                  <a:schemeClr val="tx1">
                    <a:tint val="75000"/>
                  </a:schemeClr>
                </a:solidFill>
              </a:defRPr>
            </a:lvl7pPr>
            <a:lvl8pPr marL="3200400" lvl="7" indent="0" algn="ctr">
              <a:buNone/>
              <a:defRPr>
                <a:solidFill>
                  <a:schemeClr val="tx1">
                    <a:tint val="75000"/>
                  </a:schemeClr>
                </a:solidFill>
              </a:defRPr>
            </a:lvl8pPr>
            <a:lvl9pPr marL="3657600" lvl="8" indent="0" algn="ctr">
              <a:buNone/>
              <a:defRPr>
                <a:solidFill>
                  <a:schemeClr val="tx1">
                    <a:tint val="75000"/>
                  </a:schemeClr>
                </a:solidFill>
              </a:defRPr>
            </a:lvl9pPr>
          </a:lstStyle>
          <a:p>
            <a:r>
              <a:rPr lang="zh-CN"/>
              <a:t>单击此处编辑母版副标题样式</a:t>
            </a:r>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t>单击此处编辑母版标题样式</a:t>
            </a:r>
            <a:endParaRPr lang="zh-CN"/>
          </a:p>
        </p:txBody>
      </p:sp>
      <p:sp>
        <p:nvSpPr>
          <p:cNvPr id="3" name="内容占位符 2"/>
          <p:cNvSpPr/>
          <p:nvPr>
            <p:ph idx="1"/>
          </p:nvPr>
        </p:nvSpPr>
        <p:spPr/>
        <p:txBody>
          <a:body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p:nvPr>
            <p:ph type="title"/>
          </p:nvPr>
        </p:nvSpPr>
        <p:spPr>
          <a:xfrm>
            <a:off x="963335" y="4406901"/>
            <a:ext cx="10365899" cy="1362075"/>
          </a:xfrm>
        </p:spPr>
        <p:txBody>
          <a:bodyPr anchor="t"/>
          <a:lstStyle>
            <a:lvl1pPr lvl="0" algn="l">
              <a:defRPr sz="4000" b="1"/>
            </a:lvl1pPr>
          </a:lstStyle>
          <a:p>
            <a:r>
              <a:rPr lang="zh-CN"/>
              <a:t>单击此处编辑母版标题样式</a:t>
            </a:r>
            <a:endParaRPr lang="zh-CN"/>
          </a:p>
        </p:txBody>
      </p:sp>
      <p:sp>
        <p:nvSpPr>
          <p:cNvPr id="3" name="文本占位符 2"/>
          <p:cNvSpPr/>
          <p:nvPr>
            <p:ph type="body" idx="1"/>
          </p:nvPr>
        </p:nvSpPr>
        <p:spPr>
          <a:xfrm>
            <a:off x="963335" y="2906713"/>
            <a:ext cx="10365899" cy="1500187"/>
          </a:xfrm>
        </p:spPr>
        <p:txBody>
          <a:bodyPr anchor="b"/>
          <a:lstStyle>
            <a:lvl1pPr marL="0" lvl="0" indent="0">
              <a:buNone/>
              <a:defRPr sz="2000">
                <a:solidFill>
                  <a:schemeClr val="tx1">
                    <a:tint val="75000"/>
                  </a:schemeClr>
                </a:solidFil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zh-CN"/>
              <a:t>单击此处编辑母版文本样式</a:t>
            </a:r>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t>单击此处编辑母版标题样式</a:t>
            </a:r>
            <a:endParaRPr lang="zh-CN"/>
          </a:p>
        </p:txBody>
      </p:sp>
      <p:sp>
        <p:nvSpPr>
          <p:cNvPr id="3" name="内容占位符 2"/>
          <p:cNvSpPr/>
          <p:nvPr>
            <p:ph idx="1"/>
          </p:nvPr>
        </p:nvSpPr>
        <p:spPr>
          <a:xfrm>
            <a:off x="609759" y="1600201"/>
            <a:ext cx="5386202" cy="4525963"/>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4" name="内容占位符 3"/>
          <p:cNvSpPr/>
          <p:nvPr>
            <p:ph idx="2"/>
          </p:nvPr>
        </p:nvSpPr>
        <p:spPr>
          <a:xfrm>
            <a:off x="6199214" y="1600201"/>
            <a:ext cx="5386202" cy="4525963"/>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2" name="标题 1"/>
          <p:cNvSpPr/>
          <p:nvPr>
            <p:ph type="title"/>
          </p:nvPr>
        </p:nvSpPr>
        <p:spPr/>
        <p:txBody>
          <a:bodyPr/>
          <a:lstStyle/>
          <a:p>
            <a:r>
              <a:rPr lang="zh-CN"/>
              <a:t>单击此处编辑母版标题样式</a:t>
            </a:r>
            <a:endParaRPr lang="zh-CN"/>
          </a:p>
        </p:txBody>
      </p:sp>
      <p:sp>
        <p:nvSpPr>
          <p:cNvPr id="3" name="文本占位符 2"/>
          <p:cNvSpPr/>
          <p:nvPr>
            <p:ph type="body" idx="1"/>
          </p:nvPr>
        </p:nvSpPr>
        <p:spPr>
          <a:xfrm>
            <a:off x="609759" y="1535113"/>
            <a:ext cx="5388320" cy="63976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endParaRPr lang="zh-CN"/>
          </a:p>
        </p:txBody>
      </p:sp>
      <p:sp>
        <p:nvSpPr>
          <p:cNvPr id="4" name="内容占位符 3"/>
          <p:cNvSpPr/>
          <p:nvPr>
            <p:ph idx="2"/>
          </p:nvPr>
        </p:nvSpPr>
        <p:spPr>
          <a:xfrm>
            <a:off x="609759" y="2174875"/>
            <a:ext cx="5388320" cy="3951288"/>
          </a:xfrm>
        </p:spPr>
        <p:txBody>
          <a:bodyPr/>
          <a:lstStyle>
            <a:lvl1pPr lvl="0">
              <a:defRPr sz="2400"/>
            </a:lvl1pPr>
            <a:lvl2pPr lvl="1">
              <a:defRPr sz="2000"/>
            </a:lvl2pPr>
            <a:lvl3pPr lvl="2">
              <a:defRPr sz="1800"/>
            </a:lvl3pPr>
            <a:lvl4pPr lvl="3">
              <a:defRPr sz="1600"/>
            </a:lvl4pPr>
            <a:lvl5pPr lvl="4">
              <a:defRPr sz="1600"/>
            </a:lvl5pPr>
            <a:lvl6pPr lvl="5">
              <a:defRPr sz="1600"/>
            </a:lvl6pPr>
            <a:lvl7pPr lvl="6">
              <a:defRPr sz="1600"/>
            </a:lvl7pPr>
            <a:lvl8pPr lvl="7">
              <a:defRPr sz="1600"/>
            </a:lvl8pPr>
            <a:lvl9pPr lvl="8">
              <a:defRPr sz="1600"/>
            </a:lvl9p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5" name="文本占位符 4"/>
          <p:cNvSpPr/>
          <p:nvPr>
            <p:ph type="body" idx="3"/>
          </p:nvPr>
        </p:nvSpPr>
        <p:spPr>
          <a:xfrm>
            <a:off x="6194980" y="1535113"/>
            <a:ext cx="5390437" cy="63976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endParaRPr lang="zh-CN"/>
          </a:p>
        </p:txBody>
      </p:sp>
      <p:sp>
        <p:nvSpPr>
          <p:cNvPr id="6" name="内容占位符 5"/>
          <p:cNvSpPr/>
          <p:nvPr>
            <p:ph idx="4"/>
          </p:nvPr>
        </p:nvSpPr>
        <p:spPr>
          <a:xfrm>
            <a:off x="6194980" y="2174875"/>
            <a:ext cx="5390437" cy="3951288"/>
          </a:xfrm>
        </p:spPr>
        <p:txBody>
          <a:bodyPr/>
          <a:lstStyle>
            <a:lvl1pPr lvl="0">
              <a:defRPr sz="2400"/>
            </a:lvl1pPr>
            <a:lvl2pPr lvl="1">
              <a:defRPr sz="2000"/>
            </a:lvl2pPr>
            <a:lvl3pPr lvl="2">
              <a:defRPr sz="1800"/>
            </a:lvl3pPr>
            <a:lvl4pPr lvl="3">
              <a:defRPr sz="1600"/>
            </a:lvl4pPr>
            <a:lvl5pPr lvl="4">
              <a:defRPr sz="1600"/>
            </a:lvl5pPr>
            <a:lvl6pPr lvl="5">
              <a:defRPr sz="1600"/>
            </a:lvl6pPr>
            <a:lvl7pPr lvl="6">
              <a:defRPr sz="1600"/>
            </a:lvl7pPr>
            <a:lvl8pPr lvl="7">
              <a:defRPr sz="1600"/>
            </a:lvl8pPr>
            <a:lvl9pPr lvl="8">
              <a:defRPr sz="1600"/>
            </a:lvl9p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t>单击此处编辑母版标题样式</a:t>
            </a:r>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2" name="标题 1"/>
          <p:cNvSpPr/>
          <p:nvPr>
            <p:ph type="title"/>
          </p:nvPr>
        </p:nvSpPr>
        <p:spPr>
          <a:xfrm>
            <a:off x="609759" y="273050"/>
            <a:ext cx="4012129" cy="1162050"/>
          </a:xfrm>
        </p:spPr>
        <p:txBody>
          <a:bodyPr anchor="b"/>
          <a:lstStyle>
            <a:lvl1pPr lvl="0" algn="l">
              <a:defRPr sz="2000" b="1"/>
            </a:lvl1pPr>
          </a:lstStyle>
          <a:p>
            <a:r>
              <a:rPr lang="zh-CN"/>
              <a:t>单击此处编辑母版标题样式</a:t>
            </a:r>
            <a:endParaRPr lang="zh-CN"/>
          </a:p>
        </p:txBody>
      </p:sp>
      <p:sp>
        <p:nvSpPr>
          <p:cNvPr id="3" name="内容占位符 2"/>
          <p:cNvSpPr/>
          <p:nvPr>
            <p:ph idx="1"/>
          </p:nvPr>
        </p:nvSpPr>
        <p:spPr>
          <a:xfrm>
            <a:off x="4767974" y="273051"/>
            <a:ext cx="6817442" cy="5853113"/>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4" name="文本占位符 3"/>
          <p:cNvSpPr/>
          <p:nvPr>
            <p:ph type="body" idx="2"/>
          </p:nvPr>
        </p:nvSpPr>
        <p:spPr>
          <a:xfrm>
            <a:off x="609759" y="1435101"/>
            <a:ext cx="4012129" cy="4691063"/>
          </a:xfrm>
        </p:spPr>
        <p:txBody>
          <a:bodyPr/>
          <a:lstStyle>
            <a:lvl1pPr marL="0" lvl="0" indent="0">
              <a:buNone/>
              <a:defRPr sz="1400"/>
            </a:lvl1pPr>
            <a:lvl2pPr marL="457200" lvl="1" indent="0">
              <a:buNone/>
              <a:defRPr sz="1200"/>
            </a:lvl2pPr>
            <a:lvl3pPr marL="914400" lvl="2" indent="0">
              <a:buNone/>
              <a:defRPr sz="1000"/>
            </a:lvl3pPr>
            <a:lvl4pPr marL="1371600" lvl="3" indent="0">
              <a:buNone/>
              <a:defRPr sz="900"/>
            </a:lvl4pPr>
            <a:lvl5pPr marL="1828800" lvl="4" indent="0">
              <a:buNone/>
              <a:defRPr sz="900"/>
            </a:lvl5pPr>
            <a:lvl6pPr marL="2286000" lvl="5" indent="0">
              <a:buNone/>
              <a:defRPr sz="900"/>
            </a:lvl6pPr>
            <a:lvl7pPr marL="2743200" lvl="6" indent="0">
              <a:buNone/>
              <a:defRPr sz="900"/>
            </a:lvl7pPr>
            <a:lvl8pPr marL="3200400" lvl="7" indent="0">
              <a:buNone/>
              <a:defRPr sz="900"/>
            </a:lvl8pPr>
            <a:lvl9pPr marL="3657600" lvl="8" indent="0">
              <a:buNone/>
              <a:defRPr sz="900"/>
            </a:lvl9pPr>
          </a:lstStyle>
          <a:p>
            <a:pPr lvl="0"/>
            <a:r>
              <a:rPr lang="zh-CN"/>
              <a:t>单击此处编辑母版文本样式</a:t>
            </a:r>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2" name="标题 1"/>
          <p:cNvSpPr/>
          <p:nvPr>
            <p:ph type="title"/>
          </p:nvPr>
        </p:nvSpPr>
        <p:spPr>
          <a:xfrm>
            <a:off x="2390340" y="4800600"/>
            <a:ext cx="7317105" cy="566738"/>
          </a:xfrm>
        </p:spPr>
        <p:txBody>
          <a:bodyPr anchor="b"/>
          <a:lstStyle>
            <a:lvl1pPr lvl="0" algn="l">
              <a:defRPr sz="2000" b="1"/>
            </a:lvl1pPr>
          </a:lstStyle>
          <a:p>
            <a:r>
              <a:rPr lang="zh-CN"/>
              <a:t>单击此处编辑母版标题样式</a:t>
            </a:r>
            <a:endParaRPr lang="zh-CN"/>
          </a:p>
        </p:txBody>
      </p:sp>
      <p:sp>
        <p:nvSpPr>
          <p:cNvPr id="3" name="图片占位符 2"/>
          <p:cNvSpPr/>
          <p:nvPr>
            <p:ph type="pic" idx="1"/>
          </p:nvPr>
        </p:nvSpPr>
        <p:spPr>
          <a:xfrm>
            <a:off x="2390340" y="612775"/>
            <a:ext cx="7317105" cy="4114800"/>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zh-CN"/>
          </a:p>
        </p:txBody>
      </p:sp>
      <p:sp>
        <p:nvSpPr>
          <p:cNvPr id="4" name="文本占位符 3"/>
          <p:cNvSpPr/>
          <p:nvPr>
            <p:ph type="body" idx="2"/>
          </p:nvPr>
        </p:nvSpPr>
        <p:spPr>
          <a:xfrm>
            <a:off x="2390340" y="5367338"/>
            <a:ext cx="7317105" cy="804862"/>
          </a:xfrm>
        </p:spPr>
        <p:txBody>
          <a:bodyPr/>
          <a:lstStyle>
            <a:lvl1pPr marL="0" lvl="0" indent="0">
              <a:buNone/>
              <a:defRPr sz="1400"/>
            </a:lvl1pPr>
            <a:lvl2pPr marL="457200" lvl="1" indent="0">
              <a:buNone/>
              <a:defRPr sz="1200"/>
            </a:lvl2pPr>
            <a:lvl3pPr marL="914400" lvl="2" indent="0">
              <a:buNone/>
              <a:defRPr sz="1000"/>
            </a:lvl3pPr>
            <a:lvl4pPr marL="1371600" lvl="3" indent="0">
              <a:buNone/>
              <a:defRPr sz="900"/>
            </a:lvl4pPr>
            <a:lvl5pPr marL="1828800" lvl="4" indent="0">
              <a:buNone/>
              <a:defRPr sz="900"/>
            </a:lvl5pPr>
            <a:lvl6pPr marL="2286000" lvl="5" indent="0">
              <a:buNone/>
              <a:defRPr sz="900"/>
            </a:lvl6pPr>
            <a:lvl7pPr marL="2743200" lvl="6" indent="0">
              <a:buNone/>
              <a:defRPr sz="900"/>
            </a:lvl7pPr>
            <a:lvl8pPr marL="3200400" lvl="7" indent="0">
              <a:buNone/>
              <a:defRPr sz="900"/>
            </a:lvl8pPr>
            <a:lvl9pPr marL="3657600" lvl="8" indent="0">
              <a:buNone/>
              <a:defRPr sz="900"/>
            </a:lvl9pPr>
          </a:lstStyle>
          <a:p>
            <a:pPr lvl="0"/>
            <a:r>
              <a:rPr lang="zh-CN"/>
              <a:t>单击此处编辑母版文本样式</a:t>
            </a:r>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t>单击此处编辑母版标题样式</a:t>
            </a:r>
            <a:endParaRPr lang="zh-CN"/>
          </a:p>
        </p:txBody>
      </p:sp>
      <p:sp>
        <p:nvSpPr>
          <p:cNvPr id="3" name="竖排文字占位符 2"/>
          <p:cNvSpPr/>
          <p:nvPr>
            <p:ph type="body" idx="1"/>
          </p:nvPr>
        </p:nvSpPr>
        <p:spPr/>
        <p:txBody>
          <a:bodyPr vert="eaVert"/>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垂直排列标题与文本">
    <p:spTree>
      <p:nvGrpSpPr>
        <p:cNvPr id="1" name=""/>
        <p:cNvGrpSpPr/>
        <p:nvPr/>
      </p:nvGrpSpPr>
      <p:grpSpPr>
        <a:xfrm>
          <a:off x="0" y="0"/>
          <a:ext cx="0" cy="0"/>
          <a:chOff x="0" y="0"/>
          <a:chExt cx="0" cy="0"/>
        </a:xfrm>
      </p:grpSpPr>
      <p:sp>
        <p:nvSpPr>
          <p:cNvPr id="2" name="竖排标题 1"/>
          <p:cNvSpPr/>
          <p:nvPr>
            <p:ph type="title"/>
          </p:nvPr>
        </p:nvSpPr>
        <p:spPr>
          <a:xfrm>
            <a:off x="8841502" y="274639"/>
            <a:ext cx="2743914" cy="5851525"/>
          </a:xfrm>
        </p:spPr>
        <p:txBody>
          <a:bodyPr vert="eaVert"/>
          <a:lstStyle/>
          <a:p>
            <a:r>
              <a:rPr lang="zh-CN"/>
              <a:t>单击此处编辑母版标题样式</a:t>
            </a:r>
            <a:endParaRPr lang="zh-CN"/>
          </a:p>
        </p:txBody>
      </p:sp>
      <p:sp>
        <p:nvSpPr>
          <p:cNvPr id="3" name="竖排文字占位符 2"/>
          <p:cNvSpPr/>
          <p:nvPr>
            <p:ph type="body" idx="1"/>
          </p:nvPr>
        </p:nvSpPr>
        <p:spPr>
          <a:xfrm>
            <a:off x="609759" y="274639"/>
            <a:ext cx="8028490" cy="5851525"/>
          </a:xfrm>
        </p:spPr>
        <p:txBody>
          <a:bodyPr vert="eaVert"/>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grpSp>
        <p:nvGrpSpPr>
          <p:cNvPr id="7" name="组合 6"/>
          <p:cNvGrpSpPr/>
          <p:nvPr/>
        </p:nvGrpSpPr>
        <p:grpSpPr>
          <a:xfrm>
            <a:off x="-5426" y="3930589"/>
            <a:ext cx="12211455" cy="2927410"/>
            <a:chOff x="-5425" y="3930589"/>
            <a:chExt cx="12208276" cy="2927410"/>
          </a:xfrm>
        </p:grpSpPr>
        <p:sp>
          <p:nvSpPr>
            <p:cNvPr id="8" name="矩形 1"/>
            <p:cNvSpPr/>
            <p:nvPr/>
          </p:nvSpPr>
          <p:spPr>
            <a:xfrm>
              <a:off x="-5425" y="3930589"/>
              <a:ext cx="12202851" cy="2330681"/>
            </a:xfrm>
            <a:custGeom>
              <a:avLst/>
              <a:gdLst/>
              <a:ahLst/>
              <a:cxnLst/>
              <a:rect l="l" t="t" r="r" b="b"/>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chemeClr val="accent1">
                <a:lumMod val="75000"/>
              </a:schemeClr>
            </a:solidFill>
            <a:ln>
              <a:noFill/>
            </a:ln>
          </p:spPr>
          <p:txBody>
            <a:bodyPr anchor="ctr"/>
            <a:lstStyle/>
            <a:p>
              <a:pPr algn="ctr"/>
              <a:endParaRPr lang="zh-CN" sz="1800">
                <a:solidFill>
                  <a:schemeClr val="lt1"/>
                </a:solidFill>
              </a:endParaRPr>
            </a:p>
          </p:txBody>
        </p:sp>
        <p:sp>
          <p:nvSpPr>
            <p:cNvPr id="9" name="矩形 1"/>
            <p:cNvSpPr/>
            <p:nvPr/>
          </p:nvSpPr>
          <p:spPr>
            <a:xfrm>
              <a:off x="0" y="3979718"/>
              <a:ext cx="12202851" cy="2639291"/>
            </a:xfrm>
            <a:custGeom>
              <a:avLst/>
              <a:gdLst/>
              <a:ahLst/>
              <a:cxnLst/>
              <a:rect l="l" t="t" r="r" b="b"/>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chemeClr val="accent1"/>
            </a:solidFill>
            <a:ln>
              <a:noFill/>
            </a:ln>
          </p:spPr>
          <p:txBody>
            <a:bodyPr anchor="ctr"/>
            <a:lstStyle/>
            <a:p>
              <a:pPr algn="ctr"/>
              <a:endParaRPr lang="zh-CN" sz="1800">
                <a:solidFill>
                  <a:schemeClr val="lt1"/>
                </a:solidFill>
              </a:endParaRPr>
            </a:p>
          </p:txBody>
        </p:sp>
        <p:sp>
          <p:nvSpPr>
            <p:cNvPr id="10" name="矩形 1"/>
            <p:cNvSpPr/>
            <p:nvPr/>
          </p:nvSpPr>
          <p:spPr>
            <a:xfrm>
              <a:off x="0" y="3990108"/>
              <a:ext cx="12192999" cy="2867891"/>
            </a:xfrm>
            <a:custGeom>
              <a:avLst/>
              <a:gdLst/>
              <a:ahLst/>
              <a:cxnLst/>
              <a:rect l="l" t="t" r="r" b="b"/>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chemeClr val="accent1"/>
            </a:solidFill>
            <a:ln>
              <a:noFill/>
            </a:ln>
          </p:spPr>
          <p:txBody>
            <a:bodyPr anchor="ctr"/>
            <a:lstStyle/>
            <a:p>
              <a:pPr algn="ctr"/>
              <a:endParaRPr lang="zh-CN" sz="1800">
                <a:solidFill>
                  <a:schemeClr val="lt1"/>
                </a:solidFill>
              </a:endParaRPr>
            </a:p>
          </p:txBody>
        </p:sp>
      </p:grpSp>
      <p:grpSp>
        <p:nvGrpSpPr>
          <p:cNvPr id="11" name="组合 10"/>
          <p:cNvGrpSpPr/>
          <p:nvPr/>
        </p:nvGrpSpPr>
        <p:grpSpPr>
          <a:xfrm>
            <a:off x="5420659" y="507213"/>
            <a:ext cx="1353858" cy="208916"/>
            <a:chOff x="3195638" y="2986088"/>
            <a:chExt cx="5800725" cy="895350"/>
          </a:xfrm>
          <a:solidFill>
            <a:schemeClr val="accent1"/>
          </a:solidFill>
        </p:grpSpPr>
        <p:sp>
          <p:nvSpPr>
            <p:cNvPr id="12" name="Freeform 6"/>
            <p:cNvSpPr/>
            <p:nvPr/>
          </p:nvSpPr>
          <p:spPr>
            <a:xfrm>
              <a:off x="8126413" y="2986088"/>
              <a:ext cx="869950" cy="895350"/>
            </a:xfrm>
            <a:custGeom>
              <a:avLst/>
              <a:gdLst/>
              <a:ahLst/>
              <a:cxnLst/>
              <a:rect l="0" t="0" r="r" b="b"/>
              <a:pathLst>
                <a:path w="869950" h="895350">
                  <a:moveTo>
                    <a:pt x="0" y="0"/>
                  </a:moveTo>
                  <a:lnTo>
                    <a:pt x="869950" y="0"/>
                  </a:lnTo>
                  <a:lnTo>
                    <a:pt x="869950" y="233363"/>
                  </a:lnTo>
                  <a:lnTo>
                    <a:pt x="739775" y="233363"/>
                  </a:lnTo>
                  <a:lnTo>
                    <a:pt x="671513" y="233363"/>
                  </a:lnTo>
                  <a:lnTo>
                    <a:pt x="593725" y="233363"/>
                  </a:lnTo>
                  <a:lnTo>
                    <a:pt x="571500" y="230188"/>
                  </a:lnTo>
                  <a:lnTo>
                    <a:pt x="544513" y="230188"/>
                  </a:lnTo>
                  <a:lnTo>
                    <a:pt x="519113" y="228600"/>
                  </a:lnTo>
                  <a:lnTo>
                    <a:pt x="490538" y="228600"/>
                  </a:lnTo>
                  <a:lnTo>
                    <a:pt x="463550" y="228600"/>
                  </a:lnTo>
                  <a:lnTo>
                    <a:pt x="439738" y="230188"/>
                  </a:lnTo>
                  <a:lnTo>
                    <a:pt x="415925" y="234950"/>
                  </a:lnTo>
                  <a:lnTo>
                    <a:pt x="396875" y="241300"/>
                  </a:lnTo>
                  <a:lnTo>
                    <a:pt x="382588" y="250825"/>
                  </a:lnTo>
                  <a:lnTo>
                    <a:pt x="373063" y="265113"/>
                  </a:lnTo>
                  <a:lnTo>
                    <a:pt x="368300" y="284163"/>
                  </a:lnTo>
                  <a:lnTo>
                    <a:pt x="374650" y="301625"/>
                  </a:lnTo>
                  <a:lnTo>
                    <a:pt x="387350" y="315913"/>
                  </a:lnTo>
                  <a:lnTo>
                    <a:pt x="406400" y="327025"/>
                  </a:lnTo>
                  <a:lnTo>
                    <a:pt x="430213" y="333375"/>
                  </a:lnTo>
                  <a:lnTo>
                    <a:pt x="458788" y="336550"/>
                  </a:lnTo>
                  <a:lnTo>
                    <a:pt x="492125" y="338138"/>
                  </a:lnTo>
                  <a:lnTo>
                    <a:pt x="527050" y="338138"/>
                  </a:lnTo>
                  <a:lnTo>
                    <a:pt x="565150" y="338138"/>
                  </a:lnTo>
                  <a:lnTo>
                    <a:pt x="604838" y="334963"/>
                  </a:lnTo>
                  <a:lnTo>
                    <a:pt x="641350" y="333375"/>
                  </a:lnTo>
                  <a:lnTo>
                    <a:pt x="677863" y="331788"/>
                  </a:lnTo>
                  <a:lnTo>
                    <a:pt x="711200" y="330200"/>
                  </a:lnTo>
                  <a:lnTo>
                    <a:pt x="742950" y="330200"/>
                  </a:lnTo>
                  <a:lnTo>
                    <a:pt x="769938" y="330200"/>
                  </a:lnTo>
                  <a:lnTo>
                    <a:pt x="790575" y="333375"/>
                  </a:lnTo>
                  <a:lnTo>
                    <a:pt x="790575" y="558800"/>
                  </a:lnTo>
                  <a:lnTo>
                    <a:pt x="766763" y="563563"/>
                  </a:lnTo>
                  <a:lnTo>
                    <a:pt x="736600" y="565150"/>
                  </a:lnTo>
                  <a:lnTo>
                    <a:pt x="704850" y="565150"/>
                  </a:lnTo>
                  <a:lnTo>
                    <a:pt x="669925" y="563563"/>
                  </a:lnTo>
                  <a:lnTo>
                    <a:pt x="633413" y="561975"/>
                  </a:lnTo>
                  <a:lnTo>
                    <a:pt x="595313" y="557213"/>
                  </a:lnTo>
                  <a:lnTo>
                    <a:pt x="558800" y="555625"/>
                  </a:lnTo>
                  <a:lnTo>
                    <a:pt x="523875" y="554038"/>
                  </a:lnTo>
                  <a:lnTo>
                    <a:pt x="488950" y="554038"/>
                  </a:lnTo>
                  <a:lnTo>
                    <a:pt x="457200" y="555625"/>
                  </a:lnTo>
                  <a:lnTo>
                    <a:pt x="428625" y="558800"/>
                  </a:lnTo>
                  <a:lnTo>
                    <a:pt x="406400" y="566738"/>
                  </a:lnTo>
                  <a:lnTo>
                    <a:pt x="387350" y="577850"/>
                  </a:lnTo>
                  <a:lnTo>
                    <a:pt x="374650" y="592138"/>
                  </a:lnTo>
                  <a:lnTo>
                    <a:pt x="368300" y="611188"/>
                  </a:lnTo>
                  <a:lnTo>
                    <a:pt x="373063" y="628650"/>
                  </a:lnTo>
                  <a:lnTo>
                    <a:pt x="382588" y="644525"/>
                  </a:lnTo>
                  <a:lnTo>
                    <a:pt x="400050" y="655638"/>
                  </a:lnTo>
                  <a:lnTo>
                    <a:pt x="423863" y="663575"/>
                  </a:lnTo>
                  <a:lnTo>
                    <a:pt x="454025" y="669925"/>
                  </a:lnTo>
                  <a:lnTo>
                    <a:pt x="485775" y="673100"/>
                  </a:lnTo>
                  <a:lnTo>
                    <a:pt x="522288" y="674688"/>
                  </a:lnTo>
                  <a:lnTo>
                    <a:pt x="560388" y="674688"/>
                  </a:lnTo>
                  <a:lnTo>
                    <a:pt x="601663" y="673100"/>
                  </a:lnTo>
                  <a:lnTo>
                    <a:pt x="641350" y="671513"/>
                  </a:lnTo>
                  <a:lnTo>
                    <a:pt x="682625" y="669925"/>
                  </a:lnTo>
                  <a:lnTo>
                    <a:pt x="720725" y="666750"/>
                  </a:lnTo>
                  <a:lnTo>
                    <a:pt x="758825" y="665163"/>
                  </a:lnTo>
                  <a:lnTo>
                    <a:pt x="792163" y="663575"/>
                  </a:lnTo>
                  <a:lnTo>
                    <a:pt x="823913" y="663575"/>
                  </a:lnTo>
                  <a:lnTo>
                    <a:pt x="849313" y="665163"/>
                  </a:lnTo>
                  <a:lnTo>
                    <a:pt x="869950" y="669925"/>
                  </a:lnTo>
                  <a:lnTo>
                    <a:pt x="869950" y="895350"/>
                  </a:lnTo>
                  <a:lnTo>
                    <a:pt x="144463" y="895350"/>
                  </a:lnTo>
                  <a:lnTo>
                    <a:pt x="142875" y="839788"/>
                  </a:lnTo>
                  <a:lnTo>
                    <a:pt x="139700" y="784225"/>
                  </a:lnTo>
                  <a:lnTo>
                    <a:pt x="139700" y="725488"/>
                  </a:lnTo>
                  <a:lnTo>
                    <a:pt x="142875" y="665163"/>
                  </a:lnTo>
                  <a:lnTo>
                    <a:pt x="144463" y="604838"/>
                  </a:lnTo>
                  <a:lnTo>
                    <a:pt x="147638" y="546100"/>
                  </a:lnTo>
                  <a:lnTo>
                    <a:pt x="149225" y="485775"/>
                  </a:lnTo>
                  <a:lnTo>
                    <a:pt x="149225" y="427038"/>
                  </a:lnTo>
                  <a:lnTo>
                    <a:pt x="149225" y="368300"/>
                  </a:lnTo>
                  <a:lnTo>
                    <a:pt x="147638" y="314325"/>
                  </a:lnTo>
                  <a:lnTo>
                    <a:pt x="144463" y="260350"/>
                  </a:lnTo>
                  <a:lnTo>
                    <a:pt x="134938" y="209550"/>
                  </a:lnTo>
                  <a:lnTo>
                    <a:pt x="125413" y="163513"/>
                  </a:lnTo>
                  <a:lnTo>
                    <a:pt x="109538" y="119063"/>
                  </a:lnTo>
                  <a:lnTo>
                    <a:pt x="88900" y="82550"/>
                  </a:lnTo>
                  <a:lnTo>
                    <a:pt x="66675" y="49213"/>
                  </a:lnTo>
                  <a:lnTo>
                    <a:pt x="34925" y="20638"/>
                  </a:lnTo>
                  <a:lnTo>
                    <a:pt x="0" y="0"/>
                  </a:lnTo>
                  <a:close/>
                </a:path>
              </a:pathLst>
            </a:custGeom>
            <a:grpFill/>
            <a:ln>
              <a:noFill/>
            </a:ln>
          </p:spPr>
          <p:txBody>
            <a:bodyPr vert="horz" wrap="square" lIns="91440" tIns="45720" rIns="91440" bIns="45720" numCol="1" anchor="t" anchorCtr="0"/>
            <a:lstStyle/>
            <a:p>
              <a:pPr algn="r"/>
              <a:endParaRPr lang="zh-CN" sz="1800"/>
            </a:p>
          </p:txBody>
        </p:sp>
        <p:sp>
          <p:nvSpPr>
            <p:cNvPr id="13" name="Freeform 9"/>
            <p:cNvSpPr/>
            <p:nvPr/>
          </p:nvSpPr>
          <p:spPr>
            <a:xfrm>
              <a:off x="7167563" y="2986088"/>
              <a:ext cx="1020763" cy="895350"/>
            </a:xfrm>
            <a:custGeom>
              <a:avLst/>
              <a:gdLst/>
              <a:ahLst/>
              <a:cxnLst/>
              <a:rect l="0" t="0" r="r" b="b"/>
              <a:pathLst>
                <a:path w="1020763" h="895350">
                  <a:moveTo>
                    <a:pt x="0" y="0"/>
                  </a:moveTo>
                  <a:lnTo>
                    <a:pt x="754063" y="0"/>
                  </a:lnTo>
                  <a:lnTo>
                    <a:pt x="808038" y="11113"/>
                  </a:lnTo>
                  <a:lnTo>
                    <a:pt x="852488" y="28575"/>
                  </a:lnTo>
                  <a:lnTo>
                    <a:pt x="895350" y="50800"/>
                  </a:lnTo>
                  <a:lnTo>
                    <a:pt x="931863" y="79375"/>
                  </a:lnTo>
                  <a:lnTo>
                    <a:pt x="963613" y="111125"/>
                  </a:lnTo>
                  <a:lnTo>
                    <a:pt x="989013" y="147638"/>
                  </a:lnTo>
                  <a:lnTo>
                    <a:pt x="1006475" y="192088"/>
                  </a:lnTo>
                  <a:lnTo>
                    <a:pt x="1016000" y="239713"/>
                  </a:lnTo>
                  <a:lnTo>
                    <a:pt x="1020763" y="292100"/>
                  </a:lnTo>
                  <a:lnTo>
                    <a:pt x="1014413" y="342900"/>
                  </a:lnTo>
                  <a:lnTo>
                    <a:pt x="1004888" y="384175"/>
                  </a:lnTo>
                  <a:lnTo>
                    <a:pt x="985838" y="423863"/>
                  </a:lnTo>
                  <a:lnTo>
                    <a:pt x="960438" y="455613"/>
                  </a:lnTo>
                  <a:lnTo>
                    <a:pt x="930275" y="485775"/>
                  </a:lnTo>
                  <a:lnTo>
                    <a:pt x="895350" y="508000"/>
                  </a:lnTo>
                  <a:lnTo>
                    <a:pt x="855663" y="530225"/>
                  </a:lnTo>
                  <a:lnTo>
                    <a:pt x="811213" y="542925"/>
                  </a:lnTo>
                  <a:lnTo>
                    <a:pt x="762000" y="555625"/>
                  </a:lnTo>
                  <a:lnTo>
                    <a:pt x="709613" y="563563"/>
                  </a:lnTo>
                  <a:lnTo>
                    <a:pt x="652463" y="568325"/>
                  </a:lnTo>
                  <a:lnTo>
                    <a:pt x="595313" y="568325"/>
                  </a:lnTo>
                  <a:lnTo>
                    <a:pt x="534988" y="565150"/>
                  </a:lnTo>
                  <a:lnTo>
                    <a:pt x="473075" y="558800"/>
                  </a:lnTo>
                  <a:lnTo>
                    <a:pt x="473075" y="895350"/>
                  </a:lnTo>
                  <a:lnTo>
                    <a:pt x="174625" y="895350"/>
                  </a:lnTo>
                  <a:lnTo>
                    <a:pt x="200025" y="874713"/>
                  </a:lnTo>
                  <a:lnTo>
                    <a:pt x="219075" y="847725"/>
                  </a:lnTo>
                  <a:lnTo>
                    <a:pt x="233363" y="815975"/>
                  </a:lnTo>
                  <a:lnTo>
                    <a:pt x="242888" y="781050"/>
                  </a:lnTo>
                  <a:lnTo>
                    <a:pt x="249238" y="741363"/>
                  </a:lnTo>
                  <a:lnTo>
                    <a:pt x="252413" y="698500"/>
                  </a:lnTo>
                  <a:lnTo>
                    <a:pt x="252413" y="655638"/>
                  </a:lnTo>
                  <a:lnTo>
                    <a:pt x="252413" y="609600"/>
                  </a:lnTo>
                  <a:lnTo>
                    <a:pt x="249238" y="561975"/>
                  </a:lnTo>
                  <a:lnTo>
                    <a:pt x="246063" y="514350"/>
                  </a:lnTo>
                  <a:lnTo>
                    <a:pt x="244475" y="465138"/>
                  </a:lnTo>
                  <a:lnTo>
                    <a:pt x="244475" y="420688"/>
                  </a:lnTo>
                  <a:lnTo>
                    <a:pt x="244475" y="376238"/>
                  </a:lnTo>
                  <a:lnTo>
                    <a:pt x="249238" y="333375"/>
                  </a:lnTo>
                  <a:lnTo>
                    <a:pt x="546100" y="333375"/>
                  </a:lnTo>
                  <a:lnTo>
                    <a:pt x="566738" y="334963"/>
                  </a:lnTo>
                  <a:lnTo>
                    <a:pt x="590550" y="336550"/>
                  </a:lnTo>
                  <a:lnTo>
                    <a:pt x="617538" y="336550"/>
                  </a:lnTo>
                  <a:lnTo>
                    <a:pt x="646113" y="338138"/>
                  </a:lnTo>
                  <a:lnTo>
                    <a:pt x="674688" y="339725"/>
                  </a:lnTo>
                  <a:lnTo>
                    <a:pt x="700088" y="338138"/>
                  </a:lnTo>
                  <a:lnTo>
                    <a:pt x="727075" y="336550"/>
                  </a:lnTo>
                  <a:lnTo>
                    <a:pt x="747713" y="331788"/>
                  </a:lnTo>
                  <a:lnTo>
                    <a:pt x="766763" y="322263"/>
                  </a:lnTo>
                  <a:lnTo>
                    <a:pt x="781050" y="312738"/>
                  </a:lnTo>
                  <a:lnTo>
                    <a:pt x="790575" y="296863"/>
                  </a:lnTo>
                  <a:lnTo>
                    <a:pt x="792163" y="274638"/>
                  </a:lnTo>
                  <a:lnTo>
                    <a:pt x="785813" y="257175"/>
                  </a:lnTo>
                  <a:lnTo>
                    <a:pt x="773113" y="242888"/>
                  </a:lnTo>
                  <a:lnTo>
                    <a:pt x="752475" y="233363"/>
                  </a:lnTo>
                  <a:lnTo>
                    <a:pt x="727075" y="225425"/>
                  </a:lnTo>
                  <a:lnTo>
                    <a:pt x="698500" y="222250"/>
                  </a:lnTo>
                  <a:lnTo>
                    <a:pt x="666750" y="220663"/>
                  </a:lnTo>
                  <a:lnTo>
                    <a:pt x="633413" y="220663"/>
                  </a:lnTo>
                  <a:lnTo>
                    <a:pt x="600075" y="222250"/>
                  </a:lnTo>
                  <a:lnTo>
                    <a:pt x="566738" y="223838"/>
                  </a:lnTo>
                  <a:lnTo>
                    <a:pt x="536575" y="223838"/>
                  </a:lnTo>
                  <a:lnTo>
                    <a:pt x="508000" y="225425"/>
                  </a:lnTo>
                  <a:lnTo>
                    <a:pt x="334963" y="225425"/>
                  </a:lnTo>
                  <a:lnTo>
                    <a:pt x="255588" y="225425"/>
                  </a:lnTo>
                  <a:lnTo>
                    <a:pt x="174625" y="225425"/>
                  </a:lnTo>
                  <a:lnTo>
                    <a:pt x="160338" y="180975"/>
                  </a:lnTo>
                  <a:lnTo>
                    <a:pt x="142875" y="144463"/>
                  </a:lnTo>
                  <a:lnTo>
                    <a:pt x="119063" y="111125"/>
                  </a:lnTo>
                  <a:lnTo>
                    <a:pt x="92075" y="79375"/>
                  </a:lnTo>
                  <a:lnTo>
                    <a:pt x="63500" y="52388"/>
                  </a:lnTo>
                  <a:lnTo>
                    <a:pt x="31750" y="25400"/>
                  </a:lnTo>
                  <a:lnTo>
                    <a:pt x="0" y="0"/>
                  </a:lnTo>
                  <a:close/>
                </a:path>
              </a:pathLst>
            </a:custGeom>
            <a:grpFill/>
            <a:ln>
              <a:noFill/>
            </a:ln>
          </p:spPr>
          <p:txBody>
            <a:bodyPr vert="horz" wrap="square" lIns="91440" tIns="45720" rIns="91440" bIns="45720" numCol="1" anchor="t" anchorCtr="0"/>
            <a:lstStyle/>
            <a:p>
              <a:pPr algn="r"/>
              <a:endParaRPr lang="zh-CN" sz="1800"/>
            </a:p>
          </p:txBody>
        </p:sp>
        <p:sp>
          <p:nvSpPr>
            <p:cNvPr id="14" name="Freeform 10"/>
            <p:cNvSpPr/>
            <p:nvPr/>
          </p:nvSpPr>
          <p:spPr>
            <a:xfrm>
              <a:off x="7799388" y="3656013"/>
              <a:ext cx="384175" cy="225425"/>
            </a:xfrm>
            <a:custGeom>
              <a:avLst/>
              <a:gdLst/>
              <a:ahLst/>
              <a:cxnLst/>
              <a:rect l="0" t="0" r="r" b="b"/>
              <a:pathLst>
                <a:path w="384175" h="225425">
                  <a:moveTo>
                    <a:pt x="0" y="0"/>
                  </a:moveTo>
                  <a:lnTo>
                    <a:pt x="211138" y="0"/>
                  </a:lnTo>
                  <a:lnTo>
                    <a:pt x="258763" y="52388"/>
                  </a:lnTo>
                  <a:lnTo>
                    <a:pt x="300038" y="109538"/>
                  </a:lnTo>
                  <a:lnTo>
                    <a:pt x="342900" y="166688"/>
                  </a:lnTo>
                  <a:lnTo>
                    <a:pt x="384175" y="225425"/>
                  </a:lnTo>
                  <a:lnTo>
                    <a:pt x="160338" y="225425"/>
                  </a:lnTo>
                  <a:lnTo>
                    <a:pt x="133350" y="187325"/>
                  </a:lnTo>
                  <a:lnTo>
                    <a:pt x="103188" y="149225"/>
                  </a:lnTo>
                  <a:lnTo>
                    <a:pt x="73025" y="111125"/>
                  </a:lnTo>
                  <a:lnTo>
                    <a:pt x="44450" y="71438"/>
                  </a:lnTo>
                  <a:lnTo>
                    <a:pt x="19050" y="34925"/>
                  </a:lnTo>
                  <a:lnTo>
                    <a:pt x="0" y="0"/>
                  </a:lnTo>
                  <a:close/>
                </a:path>
              </a:pathLst>
            </a:custGeom>
            <a:grpFill/>
            <a:ln>
              <a:noFill/>
            </a:ln>
          </p:spPr>
          <p:txBody>
            <a:bodyPr vert="horz" wrap="square" lIns="91440" tIns="45720" rIns="91440" bIns="45720" numCol="1" anchor="t" anchorCtr="0"/>
            <a:lstStyle/>
            <a:p>
              <a:pPr algn="r"/>
              <a:endParaRPr lang="zh-CN" sz="1800"/>
            </a:p>
          </p:txBody>
        </p:sp>
        <p:sp>
          <p:nvSpPr>
            <p:cNvPr id="15" name="Freeform 12"/>
            <p:cNvSpPr/>
            <p:nvPr/>
          </p:nvSpPr>
          <p:spPr>
            <a:xfrm>
              <a:off x="6556376" y="2986088"/>
              <a:ext cx="735013" cy="895350"/>
            </a:xfrm>
            <a:custGeom>
              <a:avLst/>
              <a:gdLst/>
              <a:ahLst/>
              <a:cxnLst/>
              <a:rect l="0" t="0" r="r" b="b"/>
              <a:pathLst>
                <a:path w="735013" h="895350">
                  <a:moveTo>
                    <a:pt x="242888" y="260350"/>
                  </a:moveTo>
                  <a:lnTo>
                    <a:pt x="238125" y="315913"/>
                  </a:lnTo>
                  <a:lnTo>
                    <a:pt x="234950" y="376238"/>
                  </a:lnTo>
                  <a:lnTo>
                    <a:pt x="233363" y="439738"/>
                  </a:lnTo>
                  <a:lnTo>
                    <a:pt x="234950" y="503238"/>
                  </a:lnTo>
                  <a:lnTo>
                    <a:pt x="238125" y="563563"/>
                  </a:lnTo>
                  <a:lnTo>
                    <a:pt x="242888" y="617538"/>
                  </a:lnTo>
                  <a:lnTo>
                    <a:pt x="295275" y="598488"/>
                  </a:lnTo>
                  <a:lnTo>
                    <a:pt x="349250" y="571500"/>
                  </a:lnTo>
                  <a:lnTo>
                    <a:pt x="406400" y="541338"/>
                  </a:lnTo>
                  <a:lnTo>
                    <a:pt x="458788" y="509588"/>
                  </a:lnTo>
                  <a:lnTo>
                    <a:pt x="509588" y="473075"/>
                  </a:lnTo>
                  <a:lnTo>
                    <a:pt x="554038" y="436563"/>
                  </a:lnTo>
                  <a:lnTo>
                    <a:pt x="477838" y="390525"/>
                  </a:lnTo>
                  <a:lnTo>
                    <a:pt x="403225" y="344488"/>
                  </a:lnTo>
                  <a:lnTo>
                    <a:pt x="325438" y="301625"/>
                  </a:lnTo>
                  <a:lnTo>
                    <a:pt x="242888" y="260350"/>
                  </a:lnTo>
                  <a:close/>
                  <a:moveTo>
                    <a:pt x="320675" y="0"/>
                  </a:moveTo>
                  <a:lnTo>
                    <a:pt x="379413" y="0"/>
                  </a:lnTo>
                  <a:lnTo>
                    <a:pt x="430213" y="7938"/>
                  </a:lnTo>
                  <a:lnTo>
                    <a:pt x="479425" y="22225"/>
                  </a:lnTo>
                  <a:lnTo>
                    <a:pt x="525463" y="41275"/>
                  </a:lnTo>
                  <a:lnTo>
                    <a:pt x="569913" y="66675"/>
                  </a:lnTo>
                  <a:lnTo>
                    <a:pt x="609600" y="96838"/>
                  </a:lnTo>
                  <a:lnTo>
                    <a:pt x="644525" y="130175"/>
                  </a:lnTo>
                  <a:lnTo>
                    <a:pt x="673100" y="168275"/>
                  </a:lnTo>
                  <a:lnTo>
                    <a:pt x="698500" y="212725"/>
                  </a:lnTo>
                  <a:lnTo>
                    <a:pt x="714375" y="260350"/>
                  </a:lnTo>
                  <a:lnTo>
                    <a:pt x="725488" y="315913"/>
                  </a:lnTo>
                  <a:lnTo>
                    <a:pt x="733425" y="371475"/>
                  </a:lnTo>
                  <a:lnTo>
                    <a:pt x="735013" y="428625"/>
                  </a:lnTo>
                  <a:lnTo>
                    <a:pt x="731838" y="485775"/>
                  </a:lnTo>
                  <a:lnTo>
                    <a:pt x="723900" y="541338"/>
                  </a:lnTo>
                  <a:lnTo>
                    <a:pt x="714375" y="595313"/>
                  </a:lnTo>
                  <a:lnTo>
                    <a:pt x="698500" y="647700"/>
                  </a:lnTo>
                  <a:lnTo>
                    <a:pt x="676275" y="695325"/>
                  </a:lnTo>
                  <a:lnTo>
                    <a:pt x="652463" y="741363"/>
                  </a:lnTo>
                  <a:lnTo>
                    <a:pt x="623888" y="782638"/>
                  </a:lnTo>
                  <a:lnTo>
                    <a:pt x="590550" y="817563"/>
                  </a:lnTo>
                  <a:lnTo>
                    <a:pt x="554038" y="847725"/>
                  </a:lnTo>
                  <a:lnTo>
                    <a:pt x="511175" y="869950"/>
                  </a:lnTo>
                  <a:lnTo>
                    <a:pt x="466725" y="885825"/>
                  </a:lnTo>
                  <a:lnTo>
                    <a:pt x="417513" y="895350"/>
                  </a:lnTo>
                  <a:lnTo>
                    <a:pt x="314325" y="895350"/>
                  </a:lnTo>
                  <a:lnTo>
                    <a:pt x="265113" y="889000"/>
                  </a:lnTo>
                  <a:lnTo>
                    <a:pt x="220663" y="874713"/>
                  </a:lnTo>
                  <a:lnTo>
                    <a:pt x="177800" y="850900"/>
                  </a:lnTo>
                  <a:lnTo>
                    <a:pt x="141288" y="822325"/>
                  </a:lnTo>
                  <a:lnTo>
                    <a:pt x="107950" y="788988"/>
                  </a:lnTo>
                  <a:lnTo>
                    <a:pt x="79375" y="750888"/>
                  </a:lnTo>
                  <a:lnTo>
                    <a:pt x="53975" y="706438"/>
                  </a:lnTo>
                  <a:lnTo>
                    <a:pt x="34925" y="658813"/>
                  </a:lnTo>
                  <a:lnTo>
                    <a:pt x="19050" y="609600"/>
                  </a:lnTo>
                  <a:lnTo>
                    <a:pt x="9525" y="555625"/>
                  </a:lnTo>
                  <a:lnTo>
                    <a:pt x="1588" y="501650"/>
                  </a:lnTo>
                  <a:lnTo>
                    <a:pt x="0" y="447675"/>
                  </a:lnTo>
                  <a:lnTo>
                    <a:pt x="3175" y="393700"/>
                  </a:lnTo>
                  <a:lnTo>
                    <a:pt x="9525" y="338138"/>
                  </a:lnTo>
                  <a:lnTo>
                    <a:pt x="20638" y="285750"/>
                  </a:lnTo>
                  <a:lnTo>
                    <a:pt x="34925" y="236538"/>
                  </a:lnTo>
                  <a:lnTo>
                    <a:pt x="57150" y="188913"/>
                  </a:lnTo>
                  <a:lnTo>
                    <a:pt x="80963" y="144463"/>
                  </a:lnTo>
                  <a:lnTo>
                    <a:pt x="109538" y="104775"/>
                  </a:lnTo>
                  <a:lnTo>
                    <a:pt x="142875" y="71438"/>
                  </a:lnTo>
                  <a:lnTo>
                    <a:pt x="180975" y="42863"/>
                  </a:lnTo>
                  <a:lnTo>
                    <a:pt x="223838" y="20638"/>
                  </a:lnTo>
                  <a:lnTo>
                    <a:pt x="269875" y="6350"/>
                  </a:lnTo>
                  <a:lnTo>
                    <a:pt x="320675" y="0"/>
                  </a:lnTo>
                  <a:close/>
                </a:path>
              </a:pathLst>
            </a:custGeom>
            <a:grpFill/>
            <a:ln>
              <a:noFill/>
            </a:ln>
          </p:spPr>
          <p:txBody>
            <a:bodyPr vert="horz" wrap="square" lIns="91440" tIns="45720" rIns="91440" bIns="45720" numCol="1" anchor="t" anchorCtr="0"/>
            <a:lstStyle/>
            <a:p>
              <a:pPr algn="r"/>
              <a:endParaRPr lang="zh-CN" sz="1800"/>
            </a:p>
          </p:txBody>
        </p:sp>
        <p:sp>
          <p:nvSpPr>
            <p:cNvPr id="16" name="Freeform 15"/>
            <p:cNvSpPr/>
            <p:nvPr/>
          </p:nvSpPr>
          <p:spPr>
            <a:xfrm>
              <a:off x="5014913" y="2986088"/>
              <a:ext cx="1660525" cy="895350"/>
            </a:xfrm>
            <a:custGeom>
              <a:avLst/>
              <a:gdLst/>
              <a:ahLst/>
              <a:cxnLst/>
              <a:rect l="0" t="0" r="r" b="b"/>
              <a:pathLst>
                <a:path w="1660525" h="895350">
                  <a:moveTo>
                    <a:pt x="471488" y="0"/>
                  </a:moveTo>
                  <a:lnTo>
                    <a:pt x="1660525" y="0"/>
                  </a:lnTo>
                  <a:lnTo>
                    <a:pt x="1624013" y="28575"/>
                  </a:lnTo>
                  <a:lnTo>
                    <a:pt x="1587500" y="61913"/>
                  </a:lnTo>
                  <a:lnTo>
                    <a:pt x="1554163" y="96838"/>
                  </a:lnTo>
                  <a:lnTo>
                    <a:pt x="1525588" y="133350"/>
                  </a:lnTo>
                  <a:lnTo>
                    <a:pt x="1500188" y="177800"/>
                  </a:lnTo>
                  <a:lnTo>
                    <a:pt x="1479550" y="225425"/>
                  </a:lnTo>
                  <a:lnTo>
                    <a:pt x="1341438" y="225425"/>
                  </a:lnTo>
                  <a:lnTo>
                    <a:pt x="1341438" y="895350"/>
                  </a:lnTo>
                  <a:lnTo>
                    <a:pt x="1117600" y="895350"/>
                  </a:lnTo>
                  <a:lnTo>
                    <a:pt x="1117600" y="233363"/>
                  </a:lnTo>
                  <a:lnTo>
                    <a:pt x="1050925" y="225425"/>
                  </a:lnTo>
                  <a:lnTo>
                    <a:pt x="981075" y="223838"/>
                  </a:lnTo>
                  <a:lnTo>
                    <a:pt x="906463" y="223838"/>
                  </a:lnTo>
                  <a:lnTo>
                    <a:pt x="828675" y="223838"/>
                  </a:lnTo>
                  <a:lnTo>
                    <a:pt x="747713" y="225425"/>
                  </a:lnTo>
                  <a:lnTo>
                    <a:pt x="725488" y="223838"/>
                  </a:lnTo>
                  <a:lnTo>
                    <a:pt x="700088" y="223838"/>
                  </a:lnTo>
                  <a:lnTo>
                    <a:pt x="669925" y="222250"/>
                  </a:lnTo>
                  <a:lnTo>
                    <a:pt x="638175" y="220663"/>
                  </a:lnTo>
                  <a:lnTo>
                    <a:pt x="606425" y="219075"/>
                  </a:lnTo>
                  <a:lnTo>
                    <a:pt x="573088" y="220663"/>
                  </a:lnTo>
                  <a:lnTo>
                    <a:pt x="542925" y="222250"/>
                  </a:lnTo>
                  <a:lnTo>
                    <a:pt x="512763" y="225425"/>
                  </a:lnTo>
                  <a:lnTo>
                    <a:pt x="488950" y="230188"/>
                  </a:lnTo>
                  <a:lnTo>
                    <a:pt x="468313" y="241300"/>
                  </a:lnTo>
                  <a:lnTo>
                    <a:pt x="452438" y="254000"/>
                  </a:lnTo>
                  <a:lnTo>
                    <a:pt x="442913" y="269875"/>
                  </a:lnTo>
                  <a:lnTo>
                    <a:pt x="442913" y="290513"/>
                  </a:lnTo>
                  <a:lnTo>
                    <a:pt x="449263" y="307975"/>
                  </a:lnTo>
                  <a:lnTo>
                    <a:pt x="461963" y="322263"/>
                  </a:lnTo>
                  <a:lnTo>
                    <a:pt x="477838" y="330200"/>
                  </a:lnTo>
                  <a:lnTo>
                    <a:pt x="501650" y="334963"/>
                  </a:lnTo>
                  <a:lnTo>
                    <a:pt x="525463" y="336550"/>
                  </a:lnTo>
                  <a:lnTo>
                    <a:pt x="552450" y="336550"/>
                  </a:lnTo>
                  <a:lnTo>
                    <a:pt x="582613" y="334963"/>
                  </a:lnTo>
                  <a:lnTo>
                    <a:pt x="611188" y="333375"/>
                  </a:lnTo>
                  <a:lnTo>
                    <a:pt x="639763" y="331788"/>
                  </a:lnTo>
                  <a:lnTo>
                    <a:pt x="669925" y="331788"/>
                  </a:lnTo>
                  <a:lnTo>
                    <a:pt x="696913" y="333375"/>
                  </a:lnTo>
                  <a:lnTo>
                    <a:pt x="739775" y="344488"/>
                  </a:lnTo>
                  <a:lnTo>
                    <a:pt x="779463" y="361950"/>
                  </a:lnTo>
                  <a:lnTo>
                    <a:pt x="814388" y="382588"/>
                  </a:lnTo>
                  <a:lnTo>
                    <a:pt x="844550" y="409575"/>
                  </a:lnTo>
                  <a:lnTo>
                    <a:pt x="868363" y="441325"/>
                  </a:lnTo>
                  <a:lnTo>
                    <a:pt x="889000" y="476250"/>
                  </a:lnTo>
                  <a:lnTo>
                    <a:pt x="904875" y="514350"/>
                  </a:lnTo>
                  <a:lnTo>
                    <a:pt x="915988" y="552450"/>
                  </a:lnTo>
                  <a:lnTo>
                    <a:pt x="920750" y="593725"/>
                  </a:lnTo>
                  <a:lnTo>
                    <a:pt x="922338" y="633413"/>
                  </a:lnTo>
                  <a:lnTo>
                    <a:pt x="919163" y="674688"/>
                  </a:lnTo>
                  <a:lnTo>
                    <a:pt x="908050" y="712788"/>
                  </a:lnTo>
                  <a:lnTo>
                    <a:pt x="895350" y="750888"/>
                  </a:lnTo>
                  <a:lnTo>
                    <a:pt x="874713" y="785813"/>
                  </a:lnTo>
                  <a:lnTo>
                    <a:pt x="850900" y="817563"/>
                  </a:lnTo>
                  <a:lnTo>
                    <a:pt x="820738" y="844550"/>
                  </a:lnTo>
                  <a:lnTo>
                    <a:pt x="784225" y="866775"/>
                  </a:lnTo>
                  <a:lnTo>
                    <a:pt x="742950" y="884238"/>
                  </a:lnTo>
                  <a:lnTo>
                    <a:pt x="696913" y="895350"/>
                  </a:lnTo>
                  <a:lnTo>
                    <a:pt x="0" y="895350"/>
                  </a:lnTo>
                  <a:lnTo>
                    <a:pt x="26988" y="874713"/>
                  </a:lnTo>
                  <a:lnTo>
                    <a:pt x="50800" y="847725"/>
                  </a:lnTo>
                  <a:lnTo>
                    <a:pt x="74613" y="819150"/>
                  </a:lnTo>
                  <a:lnTo>
                    <a:pt x="96838" y="787400"/>
                  </a:lnTo>
                  <a:lnTo>
                    <a:pt x="119063" y="757238"/>
                  </a:lnTo>
                  <a:lnTo>
                    <a:pt x="142875" y="727075"/>
                  </a:lnTo>
                  <a:lnTo>
                    <a:pt x="166688" y="703263"/>
                  </a:lnTo>
                  <a:lnTo>
                    <a:pt x="195263" y="681038"/>
                  </a:lnTo>
                  <a:lnTo>
                    <a:pt x="225425" y="669925"/>
                  </a:lnTo>
                  <a:lnTo>
                    <a:pt x="247650" y="665163"/>
                  </a:lnTo>
                  <a:lnTo>
                    <a:pt x="276225" y="663575"/>
                  </a:lnTo>
                  <a:lnTo>
                    <a:pt x="307975" y="663575"/>
                  </a:lnTo>
                  <a:lnTo>
                    <a:pt x="342900" y="665163"/>
                  </a:lnTo>
                  <a:lnTo>
                    <a:pt x="381000" y="666750"/>
                  </a:lnTo>
                  <a:lnTo>
                    <a:pt x="423863" y="669925"/>
                  </a:lnTo>
                  <a:lnTo>
                    <a:pt x="463550" y="673100"/>
                  </a:lnTo>
                  <a:lnTo>
                    <a:pt x="504825" y="674688"/>
                  </a:lnTo>
                  <a:lnTo>
                    <a:pt x="544513" y="674688"/>
                  </a:lnTo>
                  <a:lnTo>
                    <a:pt x="582613" y="674688"/>
                  </a:lnTo>
                  <a:lnTo>
                    <a:pt x="617538" y="671513"/>
                  </a:lnTo>
                  <a:lnTo>
                    <a:pt x="647700" y="665163"/>
                  </a:lnTo>
                  <a:lnTo>
                    <a:pt x="671513" y="658813"/>
                  </a:lnTo>
                  <a:lnTo>
                    <a:pt x="688975" y="646113"/>
                  </a:lnTo>
                  <a:lnTo>
                    <a:pt x="701675" y="630238"/>
                  </a:lnTo>
                  <a:lnTo>
                    <a:pt x="703263" y="611188"/>
                  </a:lnTo>
                  <a:lnTo>
                    <a:pt x="700088" y="592138"/>
                  </a:lnTo>
                  <a:lnTo>
                    <a:pt x="688975" y="574675"/>
                  </a:lnTo>
                  <a:lnTo>
                    <a:pt x="673100" y="566738"/>
                  </a:lnTo>
                  <a:lnTo>
                    <a:pt x="652463" y="558800"/>
                  </a:lnTo>
                  <a:lnTo>
                    <a:pt x="627063" y="557213"/>
                  </a:lnTo>
                  <a:lnTo>
                    <a:pt x="601663" y="555625"/>
                  </a:lnTo>
                  <a:lnTo>
                    <a:pt x="573088" y="557213"/>
                  </a:lnTo>
                  <a:lnTo>
                    <a:pt x="542925" y="558800"/>
                  </a:lnTo>
                  <a:lnTo>
                    <a:pt x="514350" y="561975"/>
                  </a:lnTo>
                  <a:lnTo>
                    <a:pt x="487363" y="563563"/>
                  </a:lnTo>
                  <a:lnTo>
                    <a:pt x="460375" y="561975"/>
                  </a:lnTo>
                  <a:lnTo>
                    <a:pt x="436563" y="558800"/>
                  </a:lnTo>
                  <a:lnTo>
                    <a:pt x="393700" y="549275"/>
                  </a:lnTo>
                  <a:lnTo>
                    <a:pt x="355600" y="531813"/>
                  </a:lnTo>
                  <a:lnTo>
                    <a:pt x="322263" y="506413"/>
                  </a:lnTo>
                  <a:lnTo>
                    <a:pt x="293688" y="477838"/>
                  </a:lnTo>
                  <a:lnTo>
                    <a:pt x="268288" y="446088"/>
                  </a:lnTo>
                  <a:lnTo>
                    <a:pt x="250825" y="409575"/>
                  </a:lnTo>
                  <a:lnTo>
                    <a:pt x="234950" y="371475"/>
                  </a:lnTo>
                  <a:lnTo>
                    <a:pt x="227013" y="331788"/>
                  </a:lnTo>
                  <a:lnTo>
                    <a:pt x="223838" y="288925"/>
                  </a:lnTo>
                  <a:lnTo>
                    <a:pt x="223838" y="249238"/>
                  </a:lnTo>
                  <a:lnTo>
                    <a:pt x="230188" y="207963"/>
                  </a:lnTo>
                  <a:lnTo>
                    <a:pt x="241300" y="166688"/>
                  </a:lnTo>
                  <a:lnTo>
                    <a:pt x="257175" y="130175"/>
                  </a:lnTo>
                  <a:lnTo>
                    <a:pt x="279400" y="96838"/>
                  </a:lnTo>
                  <a:lnTo>
                    <a:pt x="306388" y="66675"/>
                  </a:lnTo>
                  <a:lnTo>
                    <a:pt x="339725" y="39688"/>
                  </a:lnTo>
                  <a:lnTo>
                    <a:pt x="377825" y="20638"/>
                  </a:lnTo>
                  <a:lnTo>
                    <a:pt x="422275" y="6350"/>
                  </a:lnTo>
                  <a:lnTo>
                    <a:pt x="471488" y="0"/>
                  </a:lnTo>
                  <a:close/>
                </a:path>
              </a:pathLst>
            </a:custGeom>
            <a:grpFill/>
            <a:ln>
              <a:noFill/>
            </a:ln>
          </p:spPr>
          <p:txBody>
            <a:bodyPr vert="horz" wrap="square" lIns="91440" tIns="45720" rIns="91440" bIns="45720" numCol="1" anchor="t" anchorCtr="0"/>
            <a:lstStyle/>
            <a:p>
              <a:pPr algn="r"/>
              <a:endParaRPr lang="zh-CN" sz="1800"/>
            </a:p>
          </p:txBody>
        </p:sp>
        <p:sp>
          <p:nvSpPr>
            <p:cNvPr id="17" name="Freeform 18"/>
            <p:cNvSpPr/>
            <p:nvPr/>
          </p:nvSpPr>
          <p:spPr>
            <a:xfrm>
              <a:off x="4406901" y="2986088"/>
              <a:ext cx="855663" cy="879475"/>
            </a:xfrm>
            <a:custGeom>
              <a:avLst/>
              <a:gdLst/>
              <a:ahLst/>
              <a:cxnLst/>
              <a:rect l="0" t="0" r="r" b="b"/>
              <a:pathLst>
                <a:path w="855663" h="879475">
                  <a:moveTo>
                    <a:pt x="0" y="0"/>
                  </a:moveTo>
                  <a:lnTo>
                    <a:pt x="855663" y="0"/>
                  </a:lnTo>
                  <a:lnTo>
                    <a:pt x="817563" y="26988"/>
                  </a:lnTo>
                  <a:lnTo>
                    <a:pt x="785813" y="58738"/>
                  </a:lnTo>
                  <a:lnTo>
                    <a:pt x="755650" y="96838"/>
                  </a:lnTo>
                  <a:lnTo>
                    <a:pt x="731838" y="136525"/>
                  </a:lnTo>
                  <a:lnTo>
                    <a:pt x="708025" y="179388"/>
                  </a:lnTo>
                  <a:lnTo>
                    <a:pt x="688975" y="225425"/>
                  </a:lnTo>
                  <a:lnTo>
                    <a:pt x="406400" y="225425"/>
                  </a:lnTo>
                  <a:lnTo>
                    <a:pt x="406400" y="669925"/>
                  </a:lnTo>
                  <a:lnTo>
                    <a:pt x="368300" y="704850"/>
                  </a:lnTo>
                  <a:lnTo>
                    <a:pt x="330200" y="742950"/>
                  </a:lnTo>
                  <a:lnTo>
                    <a:pt x="292100" y="782638"/>
                  </a:lnTo>
                  <a:lnTo>
                    <a:pt x="252413" y="819150"/>
                  </a:lnTo>
                  <a:lnTo>
                    <a:pt x="215900" y="852488"/>
                  </a:lnTo>
                  <a:lnTo>
                    <a:pt x="180975" y="879475"/>
                  </a:lnTo>
                  <a:lnTo>
                    <a:pt x="174625" y="808038"/>
                  </a:lnTo>
                  <a:lnTo>
                    <a:pt x="174625" y="733425"/>
                  </a:lnTo>
                  <a:lnTo>
                    <a:pt x="177800" y="657225"/>
                  </a:lnTo>
                  <a:lnTo>
                    <a:pt x="182563" y="581025"/>
                  </a:lnTo>
                  <a:lnTo>
                    <a:pt x="187325" y="504825"/>
                  </a:lnTo>
                  <a:lnTo>
                    <a:pt x="192088" y="428625"/>
                  </a:lnTo>
                  <a:lnTo>
                    <a:pt x="193675" y="354013"/>
                  </a:lnTo>
                  <a:lnTo>
                    <a:pt x="188913" y="284163"/>
                  </a:lnTo>
                  <a:lnTo>
                    <a:pt x="180975" y="217488"/>
                  </a:lnTo>
                  <a:lnTo>
                    <a:pt x="168275" y="179388"/>
                  </a:lnTo>
                  <a:lnTo>
                    <a:pt x="152400" y="147638"/>
                  </a:lnTo>
                  <a:lnTo>
                    <a:pt x="130175" y="117475"/>
                  </a:lnTo>
                  <a:lnTo>
                    <a:pt x="104775" y="90488"/>
                  </a:lnTo>
                  <a:lnTo>
                    <a:pt x="79375" y="66675"/>
                  </a:lnTo>
                  <a:lnTo>
                    <a:pt x="50800" y="42863"/>
                  </a:lnTo>
                  <a:lnTo>
                    <a:pt x="23813" y="20638"/>
                  </a:lnTo>
                  <a:lnTo>
                    <a:pt x="0" y="0"/>
                  </a:lnTo>
                  <a:close/>
                </a:path>
              </a:pathLst>
            </a:custGeom>
            <a:grpFill/>
            <a:ln>
              <a:noFill/>
            </a:ln>
          </p:spPr>
          <p:txBody>
            <a:bodyPr vert="horz" wrap="square" lIns="91440" tIns="45720" rIns="91440" bIns="45720" numCol="1" anchor="t" anchorCtr="0"/>
            <a:lstStyle/>
            <a:p>
              <a:pPr algn="r"/>
              <a:endParaRPr lang="zh-CN" sz="1800"/>
            </a:p>
          </p:txBody>
        </p:sp>
        <p:sp>
          <p:nvSpPr>
            <p:cNvPr id="18" name="Freeform 20"/>
            <p:cNvSpPr/>
            <p:nvPr/>
          </p:nvSpPr>
          <p:spPr>
            <a:xfrm>
              <a:off x="3803651" y="2986088"/>
              <a:ext cx="720725" cy="879475"/>
            </a:xfrm>
            <a:custGeom>
              <a:avLst/>
              <a:gdLst/>
              <a:ahLst/>
              <a:cxnLst/>
              <a:rect l="0" t="0" r="r" b="b"/>
              <a:pathLst>
                <a:path w="720725" h="879475">
                  <a:moveTo>
                    <a:pt x="0" y="0"/>
                  </a:moveTo>
                  <a:lnTo>
                    <a:pt x="377825" y="0"/>
                  </a:lnTo>
                  <a:lnTo>
                    <a:pt x="439738" y="9525"/>
                  </a:lnTo>
                  <a:lnTo>
                    <a:pt x="495300" y="28575"/>
                  </a:lnTo>
                  <a:lnTo>
                    <a:pt x="546100" y="55563"/>
                  </a:lnTo>
                  <a:lnTo>
                    <a:pt x="592138" y="88900"/>
                  </a:lnTo>
                  <a:lnTo>
                    <a:pt x="633413" y="128588"/>
                  </a:lnTo>
                  <a:lnTo>
                    <a:pt x="666750" y="173038"/>
                  </a:lnTo>
                  <a:lnTo>
                    <a:pt x="690563" y="220663"/>
                  </a:lnTo>
                  <a:lnTo>
                    <a:pt x="709613" y="273050"/>
                  </a:lnTo>
                  <a:lnTo>
                    <a:pt x="719138" y="327025"/>
                  </a:lnTo>
                  <a:lnTo>
                    <a:pt x="720725" y="390525"/>
                  </a:lnTo>
                  <a:lnTo>
                    <a:pt x="712788" y="449263"/>
                  </a:lnTo>
                  <a:lnTo>
                    <a:pt x="696913" y="504825"/>
                  </a:lnTo>
                  <a:lnTo>
                    <a:pt x="669925" y="552450"/>
                  </a:lnTo>
                  <a:lnTo>
                    <a:pt x="638175" y="596900"/>
                  </a:lnTo>
                  <a:lnTo>
                    <a:pt x="598488" y="635000"/>
                  </a:lnTo>
                  <a:lnTo>
                    <a:pt x="552450" y="666750"/>
                  </a:lnTo>
                  <a:lnTo>
                    <a:pt x="500063" y="693738"/>
                  </a:lnTo>
                  <a:lnTo>
                    <a:pt x="439738" y="712788"/>
                  </a:lnTo>
                  <a:lnTo>
                    <a:pt x="374650" y="727075"/>
                  </a:lnTo>
                  <a:lnTo>
                    <a:pt x="306388" y="735013"/>
                  </a:lnTo>
                  <a:lnTo>
                    <a:pt x="231775" y="735013"/>
                  </a:lnTo>
                  <a:lnTo>
                    <a:pt x="152400" y="727075"/>
                  </a:lnTo>
                  <a:lnTo>
                    <a:pt x="128588" y="752475"/>
                  </a:lnTo>
                  <a:lnTo>
                    <a:pt x="101600" y="782638"/>
                  </a:lnTo>
                  <a:lnTo>
                    <a:pt x="76200" y="812800"/>
                  </a:lnTo>
                  <a:lnTo>
                    <a:pt x="50800" y="839788"/>
                  </a:lnTo>
                  <a:lnTo>
                    <a:pt x="26988" y="863600"/>
                  </a:lnTo>
                  <a:lnTo>
                    <a:pt x="0" y="879475"/>
                  </a:lnTo>
                  <a:lnTo>
                    <a:pt x="0" y="720725"/>
                  </a:lnTo>
                  <a:lnTo>
                    <a:pt x="38100" y="692150"/>
                  </a:lnTo>
                  <a:lnTo>
                    <a:pt x="74613" y="658813"/>
                  </a:lnTo>
                  <a:lnTo>
                    <a:pt x="103188" y="623888"/>
                  </a:lnTo>
                  <a:lnTo>
                    <a:pt x="130175" y="584200"/>
                  </a:lnTo>
                  <a:lnTo>
                    <a:pt x="157163" y="542925"/>
                  </a:lnTo>
                  <a:lnTo>
                    <a:pt x="182563" y="501650"/>
                  </a:lnTo>
                  <a:lnTo>
                    <a:pt x="230188" y="504825"/>
                  </a:lnTo>
                  <a:lnTo>
                    <a:pt x="274638" y="504825"/>
                  </a:lnTo>
                  <a:lnTo>
                    <a:pt x="315913" y="503238"/>
                  </a:lnTo>
                  <a:lnTo>
                    <a:pt x="355600" y="500063"/>
                  </a:lnTo>
                  <a:lnTo>
                    <a:pt x="390525" y="490538"/>
                  </a:lnTo>
                  <a:lnTo>
                    <a:pt x="422275" y="479425"/>
                  </a:lnTo>
                  <a:lnTo>
                    <a:pt x="447675" y="463550"/>
                  </a:lnTo>
                  <a:lnTo>
                    <a:pt x="468313" y="444500"/>
                  </a:lnTo>
                  <a:lnTo>
                    <a:pt x="484188" y="420688"/>
                  </a:lnTo>
                  <a:lnTo>
                    <a:pt x="492125" y="392113"/>
                  </a:lnTo>
                  <a:lnTo>
                    <a:pt x="493713" y="355600"/>
                  </a:lnTo>
                  <a:lnTo>
                    <a:pt x="488950" y="320675"/>
                  </a:lnTo>
                  <a:lnTo>
                    <a:pt x="477838" y="293688"/>
                  </a:lnTo>
                  <a:lnTo>
                    <a:pt x="460375" y="271463"/>
                  </a:lnTo>
                  <a:lnTo>
                    <a:pt x="438150" y="254000"/>
                  </a:lnTo>
                  <a:lnTo>
                    <a:pt x="411163" y="241300"/>
                  </a:lnTo>
                  <a:lnTo>
                    <a:pt x="379413" y="233363"/>
                  </a:lnTo>
                  <a:lnTo>
                    <a:pt x="344488" y="225425"/>
                  </a:lnTo>
                  <a:lnTo>
                    <a:pt x="306388" y="223838"/>
                  </a:lnTo>
                  <a:lnTo>
                    <a:pt x="263525" y="222250"/>
                  </a:lnTo>
                  <a:lnTo>
                    <a:pt x="220663" y="223838"/>
                  </a:lnTo>
                  <a:lnTo>
                    <a:pt x="174625" y="225425"/>
                  </a:lnTo>
                  <a:lnTo>
                    <a:pt x="157163" y="177800"/>
                  </a:lnTo>
                  <a:lnTo>
                    <a:pt x="131763" y="134938"/>
                  </a:lnTo>
                  <a:lnTo>
                    <a:pt x="103188" y="96838"/>
                  </a:lnTo>
                  <a:lnTo>
                    <a:pt x="73025" y="61913"/>
                  </a:lnTo>
                  <a:lnTo>
                    <a:pt x="38100" y="28575"/>
                  </a:lnTo>
                  <a:lnTo>
                    <a:pt x="0" y="0"/>
                  </a:lnTo>
                  <a:close/>
                </a:path>
              </a:pathLst>
            </a:custGeom>
            <a:grpFill/>
            <a:ln>
              <a:noFill/>
            </a:ln>
          </p:spPr>
          <p:txBody>
            <a:bodyPr vert="horz" wrap="square" lIns="91440" tIns="45720" rIns="91440" bIns="45720" numCol="1" anchor="t" anchorCtr="0"/>
            <a:lstStyle/>
            <a:p>
              <a:pPr algn="r"/>
              <a:endParaRPr lang="zh-CN" sz="1800"/>
            </a:p>
          </p:txBody>
        </p:sp>
        <p:sp>
          <p:nvSpPr>
            <p:cNvPr id="19" name="Freeform 22"/>
            <p:cNvSpPr/>
            <p:nvPr/>
          </p:nvSpPr>
          <p:spPr>
            <a:xfrm>
              <a:off x="3195638" y="2986088"/>
              <a:ext cx="719138" cy="889000"/>
            </a:xfrm>
            <a:custGeom>
              <a:avLst/>
              <a:gdLst/>
              <a:ahLst/>
              <a:cxnLst/>
              <a:rect l="0" t="0" r="r" b="b"/>
              <a:pathLst>
                <a:path w="719138" h="889000">
                  <a:moveTo>
                    <a:pt x="0" y="0"/>
                  </a:moveTo>
                  <a:lnTo>
                    <a:pt x="376238" y="0"/>
                  </a:lnTo>
                  <a:lnTo>
                    <a:pt x="376238" y="6350"/>
                  </a:lnTo>
                  <a:lnTo>
                    <a:pt x="439738" y="15875"/>
                  </a:lnTo>
                  <a:lnTo>
                    <a:pt x="496888" y="33338"/>
                  </a:lnTo>
                  <a:lnTo>
                    <a:pt x="547688" y="57150"/>
                  </a:lnTo>
                  <a:lnTo>
                    <a:pt x="593725" y="87313"/>
                  </a:lnTo>
                  <a:lnTo>
                    <a:pt x="635000" y="125413"/>
                  </a:lnTo>
                  <a:lnTo>
                    <a:pt x="666750" y="166688"/>
                  </a:lnTo>
                  <a:lnTo>
                    <a:pt x="690563" y="214313"/>
                  </a:lnTo>
                  <a:lnTo>
                    <a:pt x="708025" y="269875"/>
                  </a:lnTo>
                  <a:lnTo>
                    <a:pt x="717550" y="327025"/>
                  </a:lnTo>
                  <a:lnTo>
                    <a:pt x="719138" y="387350"/>
                  </a:lnTo>
                  <a:lnTo>
                    <a:pt x="711200" y="444500"/>
                  </a:lnTo>
                  <a:lnTo>
                    <a:pt x="698500" y="495300"/>
                  </a:lnTo>
                  <a:lnTo>
                    <a:pt x="676275" y="541338"/>
                  </a:lnTo>
                  <a:lnTo>
                    <a:pt x="649288" y="584200"/>
                  </a:lnTo>
                  <a:lnTo>
                    <a:pt x="615950" y="620713"/>
                  </a:lnTo>
                  <a:lnTo>
                    <a:pt x="574675" y="652463"/>
                  </a:lnTo>
                  <a:lnTo>
                    <a:pt x="528638" y="679450"/>
                  </a:lnTo>
                  <a:lnTo>
                    <a:pt x="477838" y="701675"/>
                  </a:lnTo>
                  <a:lnTo>
                    <a:pt x="422275" y="717550"/>
                  </a:lnTo>
                  <a:lnTo>
                    <a:pt x="361950" y="727075"/>
                  </a:lnTo>
                  <a:lnTo>
                    <a:pt x="296863" y="733425"/>
                  </a:lnTo>
                  <a:lnTo>
                    <a:pt x="230188" y="733425"/>
                  </a:lnTo>
                  <a:lnTo>
                    <a:pt x="160338" y="727075"/>
                  </a:lnTo>
                  <a:lnTo>
                    <a:pt x="125413" y="755650"/>
                  </a:lnTo>
                  <a:lnTo>
                    <a:pt x="93663" y="788988"/>
                  </a:lnTo>
                  <a:lnTo>
                    <a:pt x="65088" y="823913"/>
                  </a:lnTo>
                  <a:lnTo>
                    <a:pt x="33338" y="858838"/>
                  </a:lnTo>
                  <a:lnTo>
                    <a:pt x="0" y="889000"/>
                  </a:lnTo>
                  <a:lnTo>
                    <a:pt x="0" y="501650"/>
                  </a:lnTo>
                  <a:lnTo>
                    <a:pt x="38100" y="500063"/>
                  </a:lnTo>
                  <a:lnTo>
                    <a:pt x="79375" y="500063"/>
                  </a:lnTo>
                  <a:lnTo>
                    <a:pt x="119063" y="500063"/>
                  </a:lnTo>
                  <a:lnTo>
                    <a:pt x="161925" y="501650"/>
                  </a:lnTo>
                  <a:lnTo>
                    <a:pt x="201613" y="503238"/>
                  </a:lnTo>
                  <a:lnTo>
                    <a:pt x="242888" y="504825"/>
                  </a:lnTo>
                  <a:lnTo>
                    <a:pt x="282575" y="504825"/>
                  </a:lnTo>
                  <a:lnTo>
                    <a:pt x="320675" y="503238"/>
                  </a:lnTo>
                  <a:lnTo>
                    <a:pt x="355600" y="498475"/>
                  </a:lnTo>
                  <a:lnTo>
                    <a:pt x="387350" y="492125"/>
                  </a:lnTo>
                  <a:lnTo>
                    <a:pt x="415925" y="484188"/>
                  </a:lnTo>
                  <a:lnTo>
                    <a:pt x="441325" y="469900"/>
                  </a:lnTo>
                  <a:lnTo>
                    <a:pt x="461963" y="452438"/>
                  </a:lnTo>
                  <a:lnTo>
                    <a:pt x="477838" y="430213"/>
                  </a:lnTo>
                  <a:lnTo>
                    <a:pt x="488950" y="404813"/>
                  </a:lnTo>
                  <a:lnTo>
                    <a:pt x="492125" y="369888"/>
                  </a:lnTo>
                  <a:lnTo>
                    <a:pt x="490538" y="334963"/>
                  </a:lnTo>
                  <a:lnTo>
                    <a:pt x="484188" y="306388"/>
                  </a:lnTo>
                  <a:lnTo>
                    <a:pt x="469900" y="282575"/>
                  </a:lnTo>
                  <a:lnTo>
                    <a:pt x="449263" y="265113"/>
                  </a:lnTo>
                  <a:lnTo>
                    <a:pt x="425450" y="249238"/>
                  </a:lnTo>
                  <a:lnTo>
                    <a:pt x="396875" y="238125"/>
                  </a:lnTo>
                  <a:lnTo>
                    <a:pt x="363538" y="230188"/>
                  </a:lnTo>
                  <a:lnTo>
                    <a:pt x="328613" y="225425"/>
                  </a:lnTo>
                  <a:lnTo>
                    <a:pt x="292100" y="223838"/>
                  </a:lnTo>
                  <a:lnTo>
                    <a:pt x="250825" y="222250"/>
                  </a:lnTo>
                  <a:lnTo>
                    <a:pt x="211138" y="222250"/>
                  </a:lnTo>
                  <a:lnTo>
                    <a:pt x="168275" y="223838"/>
                  </a:lnTo>
                  <a:lnTo>
                    <a:pt x="125413" y="225425"/>
                  </a:lnTo>
                  <a:lnTo>
                    <a:pt x="82550" y="225425"/>
                  </a:lnTo>
                  <a:lnTo>
                    <a:pt x="39688" y="225425"/>
                  </a:lnTo>
                  <a:lnTo>
                    <a:pt x="0" y="225425"/>
                  </a:lnTo>
                  <a:lnTo>
                    <a:pt x="0" y="0"/>
                  </a:lnTo>
                  <a:close/>
                </a:path>
              </a:pathLst>
            </a:custGeom>
            <a:grpFill/>
            <a:ln>
              <a:noFill/>
            </a:ln>
          </p:spPr>
          <p:txBody>
            <a:bodyPr vert="horz" wrap="square" lIns="91440" tIns="45720" rIns="91440" bIns="45720" numCol="1" anchor="t" anchorCtr="0"/>
            <a:lstStyle/>
            <a:p>
              <a:pPr algn="r"/>
              <a:endParaRPr lang="zh-CN" sz="1800"/>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图文排版6">
    <p:spTree>
      <p:nvGrpSpPr>
        <p:cNvPr id="1" name=""/>
        <p:cNvGrpSpPr/>
        <p:nvPr/>
      </p:nvGrpSpPr>
      <p:grpSpPr>
        <a:xfrm>
          <a:off x="0" y="0"/>
          <a:ext cx="0" cy="0"/>
          <a:chOff x="0" y="0"/>
          <a:chExt cx="0" cy="0"/>
        </a:xfrm>
      </p:grpSpPr>
      <p:sp>
        <p:nvSpPr>
          <p:cNvPr id="7" name="文本占位符 6"/>
          <p:cNvSpPr/>
          <p:nvPr>
            <p:ph type="body" idx="10" hasCustomPrompt="1"/>
          </p:nvPr>
        </p:nvSpPr>
        <p:spPr>
          <a:xfrm>
            <a:off x="169930" y="367498"/>
            <a:ext cx="5640268" cy="723900"/>
          </a:xfrm>
          <a:prstGeom prst="rect">
            <a:avLst/>
          </a:prstGeom>
        </p:spPr>
        <p:txBody>
          <a:bodyPr anchor="ctr" anchorCtr="0">
            <a:normAutofit/>
          </a:bodyPr>
          <a:lstStyle>
            <a:lvl1pPr marL="0" lvl="0" indent="0" algn="l" defTabSz="914400">
              <a:buNone/>
              <a:defRPr lang="zh-CN" sz="3200" b="1" kern="1200">
                <a:solidFill>
                  <a:schemeClr val="tx1">
                    <a:lumMod val="75000"/>
                    <a:lumOff val="25000"/>
                  </a:schemeClr>
                </a:solidFill>
                <a:latin typeface="宋体" panose="02010600030101010101" pitchFamily="2" charset="-122"/>
                <a:ea typeface="宋体" panose="02010600030101010101" pitchFamily="2" charset="-122"/>
              </a:defRPr>
            </a:lvl1pPr>
          </a:lstStyle>
          <a:p>
            <a:pPr lvl="0"/>
            <a:r>
              <a:rPr lang="zh-CN"/>
              <a:t>点击此处添加标题</a:t>
            </a:r>
            <a:endParaRPr lang="zh-CN"/>
          </a:p>
        </p:txBody>
      </p:sp>
      <p:sp>
        <p:nvSpPr>
          <p:cNvPr id="10" name="任意多边形: 形状 9"/>
          <p:cNvSpPr/>
          <p:nvPr/>
        </p:nvSpPr>
        <p:spPr>
          <a:xfrm>
            <a:off x="0" y="496087"/>
            <a:ext cx="169930" cy="466725"/>
          </a:xfrm>
          <a:custGeom>
            <a:avLst/>
            <a:gdLst/>
            <a:ahLst/>
            <a:cxnLst/>
            <a:rect l="l" t="t" r="r" b="b"/>
            <a:pathLst>
              <a:path w="169930" h="466725">
                <a:moveTo>
                  <a:pt x="0" y="0"/>
                </a:moveTo>
                <a:lnTo>
                  <a:pt x="111178" y="0"/>
                </a:lnTo>
                <a:cubicBezTo>
                  <a:pt x="143626" y="0"/>
                  <a:pt x="169930" y="26297"/>
                  <a:pt x="169930" y="58737"/>
                </a:cubicBezTo>
                <a:lnTo>
                  <a:pt x="169930" y="407988"/>
                </a:lnTo>
                <a:cubicBezTo>
                  <a:pt x="169930" y="440428"/>
                  <a:pt x="143626" y="466725"/>
                  <a:pt x="111178" y="466725"/>
                </a:cubicBezTo>
                <a:lnTo>
                  <a:pt x="0" y="466725"/>
                </a:lnTo>
                <a:lnTo>
                  <a:pt x="0" y="0"/>
                </a:lnTo>
                <a:close/>
              </a:path>
            </a:pathLst>
          </a:custGeom>
          <a:solidFill>
            <a:schemeClr val="accent1"/>
          </a:solidFill>
          <a:ln>
            <a:noFill/>
          </a:ln>
        </p:spPr>
        <p:txBody>
          <a:bodyPr anchor="ctr"/>
          <a:lstStyle/>
          <a:p>
            <a:pPr algn="ctr"/>
            <a:endParaRPr lang="zh-CN" sz="1800">
              <a:solidFill>
                <a:schemeClr val="lt1"/>
              </a:solidFill>
            </a:endParaRPr>
          </a:p>
        </p:txBody>
      </p:sp>
      <p:sp>
        <p:nvSpPr>
          <p:cNvPr id="12" name="图片占位符 11"/>
          <p:cNvSpPr/>
          <p:nvPr>
            <p:ph type="pic" idx="11"/>
          </p:nvPr>
        </p:nvSpPr>
        <p:spPr>
          <a:xfrm>
            <a:off x="6596589" y="0"/>
            <a:ext cx="5598586" cy="6889858"/>
          </a:xfrm>
          <a:custGeom>
            <a:avLst/>
            <a:gdLst/>
            <a:ahLst/>
            <a:cxnLst/>
            <a:rect l="l" t="t" r="r" b="b"/>
            <a:pathLst>
              <a:path w="5598586" h="6889858">
                <a:moveTo>
                  <a:pt x="3429894" y="0"/>
                </a:moveTo>
                <a:lnTo>
                  <a:pt x="5598586" y="0"/>
                </a:lnTo>
                <a:lnTo>
                  <a:pt x="5598586" y="6889858"/>
                </a:lnTo>
                <a:lnTo>
                  <a:pt x="3461759" y="6889858"/>
                </a:lnTo>
                <a:lnTo>
                  <a:pt x="0" y="3429001"/>
                </a:lnTo>
                <a:close/>
              </a:path>
            </a:pathLst>
          </a:custGeom>
        </p:spPr>
        <p:txBody>
          <a:bodyPr wrap="square"/>
          <a:lstStyle/>
          <a:p>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圆角矩形 2"/>
          <p:cNvSpPr/>
          <p:nvPr/>
        </p:nvSpPr>
        <p:spPr>
          <a:xfrm>
            <a:off x="143971" y="836614"/>
            <a:ext cx="11907233" cy="5856287"/>
          </a:xfrm>
          <a:prstGeom prst="roundRect">
            <a:avLst>
              <a:gd name="adj" fmla="val 5102"/>
            </a:avLst>
          </a:prstGeom>
          <a:solidFill>
            <a:srgbClr val="FFFFFF">
              <a:alpha val="89804"/>
            </a:srgbClr>
          </a:solidFill>
          <a:ln w="9525">
            <a:solidFill>
              <a:schemeClr val="tx1"/>
            </a:solidFill>
            <a:prstDash val="solid"/>
          </a:ln>
        </p:spPr>
        <p:txBody>
          <a:bodyPr lIns="76773" tIns="38387" rIns="76773" bIns="38387" anchor="ctr"/>
          <a:lstStyle/>
          <a:p>
            <a:pPr algn="ctr">
              <a:defRPr>
                <a:solidFill>
                  <a:schemeClr val="lt1"/>
                </a:solidFill>
              </a:defRPr>
            </a:pPr>
            <a:endParaRPr lang="zh-CN" sz="2000">
              <a:solidFill>
                <a:schemeClr val="lt1"/>
              </a:solidFill>
            </a:endParaRPr>
          </a:p>
        </p:txBody>
      </p:sp>
      <p:pic>
        <p:nvPicPr>
          <p:cNvPr id="4" name="Picture 2"/>
          <p:cNvPicPr/>
          <p:nvPr/>
        </p:nvPicPr>
        <p:blipFill>
          <a:blip r:embed="rId2"/>
          <a:stretch>
            <a:fillRect/>
          </a:stretch>
        </p:blipFill>
        <p:spPr>
          <a:xfrm>
            <a:off x="-65635" y="-20638"/>
            <a:ext cx="1213167" cy="1339851"/>
          </a:xfrm>
          <a:prstGeom prst="rect">
            <a:avLst/>
          </a:prstGeom>
          <a:noFill/>
          <a:ln>
            <a:noFill/>
          </a:ln>
        </p:spPr>
      </p:pic>
      <p:sp>
        <p:nvSpPr>
          <p:cNvPr id="8" name="内容占位符 2"/>
          <p:cNvSpPr/>
          <p:nvPr>
            <p:ph idx="1" hasCustomPrompt="1"/>
          </p:nvPr>
        </p:nvSpPr>
        <p:spPr>
          <a:xfrm>
            <a:off x="527518" y="1220756"/>
            <a:ext cx="10975658" cy="6034618"/>
          </a:xfrm>
          <a:prstGeom prst="rect">
            <a:avLst/>
          </a:prstGeom>
        </p:spPr>
        <p:txBody>
          <a:bodyPr lIns="76773" tIns="38387" rIns="76773" bIns="38387"/>
          <a:lstStyle>
            <a:lvl1pPr lvl="0">
              <a:defRPr>
                <a:solidFill>
                  <a:schemeClr val="bg1"/>
                </a:solidFill>
              </a:defRPr>
            </a:lvl1pPr>
            <a:lvl2pPr lvl="1">
              <a:defRPr>
                <a:solidFill>
                  <a:schemeClr val="bg1"/>
                </a:solidFill>
              </a:defRPr>
            </a:lvl2pPr>
            <a:lvl3pPr lvl="2">
              <a:defRPr>
                <a:solidFill>
                  <a:schemeClr val="bg1"/>
                </a:solidFill>
              </a:defRPr>
            </a:lvl3pPr>
            <a:lvl4pPr lvl="3">
              <a:defRPr>
                <a:solidFill>
                  <a:schemeClr val="bg1"/>
                </a:solidFill>
              </a:defRPr>
            </a:lvl4pPr>
            <a:lvl5pPr lvl="4">
              <a:defRPr>
                <a:solidFill>
                  <a:schemeClr val="bg1"/>
                </a:solidFill>
              </a:defRPr>
            </a:lvl5p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标题幻灯片">
    <p:spTree>
      <p:nvGrpSpPr>
        <p:cNvPr id="1" name=""/>
        <p:cNvGrpSpPr/>
        <p:nvPr/>
      </p:nvGrpSpPr>
      <p:grpSpPr>
        <a:xfrm>
          <a:off x="0" y="0"/>
          <a:ext cx="0" cy="0"/>
          <a:chOff x="0" y="0"/>
          <a:chExt cx="0" cy="0"/>
        </a:xfrm>
      </p:grpSpPr>
      <p:sp>
        <p:nvSpPr>
          <p:cNvPr id="3" name="圆角矩形 2"/>
          <p:cNvSpPr/>
          <p:nvPr/>
        </p:nvSpPr>
        <p:spPr>
          <a:xfrm>
            <a:off x="143971" y="836614"/>
            <a:ext cx="11907233" cy="5856287"/>
          </a:xfrm>
          <a:prstGeom prst="roundRect">
            <a:avLst>
              <a:gd name="adj" fmla="val 5102"/>
            </a:avLst>
          </a:prstGeom>
          <a:solidFill>
            <a:srgbClr val="FFFFFF">
              <a:alpha val="89804"/>
            </a:srgbClr>
          </a:solidFill>
          <a:ln w="9525">
            <a:solidFill>
              <a:schemeClr val="tx1"/>
            </a:solidFill>
            <a:prstDash val="solid"/>
          </a:ln>
        </p:spPr>
        <p:txBody>
          <a:bodyPr lIns="76773" tIns="38387" rIns="76773" bIns="38387" anchor="ctr"/>
          <a:lstStyle/>
          <a:p>
            <a:pPr algn="ctr">
              <a:defRPr>
                <a:solidFill>
                  <a:schemeClr val="lt1"/>
                </a:solidFill>
              </a:defRPr>
            </a:pPr>
            <a:endParaRPr lang="zh-CN" sz="2000">
              <a:solidFill>
                <a:schemeClr val="lt1"/>
              </a:solidFill>
            </a:endParaRPr>
          </a:p>
        </p:txBody>
      </p:sp>
      <p:pic>
        <p:nvPicPr>
          <p:cNvPr id="4" name="Picture 2"/>
          <p:cNvPicPr/>
          <p:nvPr/>
        </p:nvPicPr>
        <p:blipFill>
          <a:blip r:embed="rId2"/>
          <a:stretch>
            <a:fillRect/>
          </a:stretch>
        </p:blipFill>
        <p:spPr>
          <a:xfrm>
            <a:off x="-65635" y="-20638"/>
            <a:ext cx="1213167" cy="1339851"/>
          </a:xfrm>
          <a:prstGeom prst="rect">
            <a:avLst/>
          </a:prstGeom>
          <a:noFill/>
          <a:ln>
            <a:noFill/>
          </a:ln>
        </p:spPr>
      </p:pic>
      <p:sp>
        <p:nvSpPr>
          <p:cNvPr id="8" name="内容占位符 2"/>
          <p:cNvSpPr/>
          <p:nvPr>
            <p:ph idx="1" hasCustomPrompt="1"/>
          </p:nvPr>
        </p:nvSpPr>
        <p:spPr>
          <a:xfrm>
            <a:off x="527518" y="1220756"/>
            <a:ext cx="10975658" cy="6034618"/>
          </a:xfrm>
          <a:prstGeom prst="rect">
            <a:avLst/>
          </a:prstGeom>
        </p:spPr>
        <p:txBody>
          <a:bodyPr lIns="76773" tIns="38387" rIns="76773" bIns="38387"/>
          <a:lstStyle>
            <a:lvl1pPr lvl="0">
              <a:defRPr>
                <a:solidFill>
                  <a:schemeClr val="bg1"/>
                </a:solidFill>
              </a:defRPr>
            </a:lvl1pPr>
            <a:lvl2pPr lvl="1">
              <a:defRPr>
                <a:solidFill>
                  <a:schemeClr val="bg1"/>
                </a:solidFill>
              </a:defRPr>
            </a:lvl2pPr>
            <a:lvl3pPr lvl="2">
              <a:defRPr>
                <a:solidFill>
                  <a:schemeClr val="bg1"/>
                </a:solidFill>
              </a:defRPr>
            </a:lvl3pPr>
            <a:lvl4pPr lvl="3">
              <a:defRPr>
                <a:solidFill>
                  <a:schemeClr val="bg1"/>
                </a:solidFill>
              </a:defRPr>
            </a:lvl4pPr>
            <a:lvl5pPr lvl="4">
              <a:defRPr>
                <a:solidFill>
                  <a:schemeClr val="bg1"/>
                </a:solidFill>
              </a:defRPr>
            </a:lvl5p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4_标题幻灯片">
    <p:spTree>
      <p:nvGrpSpPr>
        <p:cNvPr id="1" name=""/>
        <p:cNvGrpSpPr/>
        <p:nvPr/>
      </p:nvGrpSpPr>
      <p:grpSpPr>
        <a:xfrm>
          <a:off x="0" y="0"/>
          <a:ext cx="0" cy="0"/>
          <a:chOff x="0" y="0"/>
          <a:chExt cx="0" cy="0"/>
        </a:xfrm>
      </p:grpSpPr>
      <p:sp>
        <p:nvSpPr>
          <p:cNvPr id="8" name="内容占位符 2"/>
          <p:cNvSpPr/>
          <p:nvPr>
            <p:ph idx="1" hasCustomPrompt="1"/>
          </p:nvPr>
        </p:nvSpPr>
        <p:spPr>
          <a:xfrm>
            <a:off x="527519" y="1220756"/>
            <a:ext cx="10975658" cy="6034618"/>
          </a:xfrm>
          <a:prstGeom prst="rect">
            <a:avLst/>
          </a:prstGeom>
        </p:spPr>
        <p:txBody>
          <a:bodyPr/>
          <a:lstStyle>
            <a:lvl1pPr lvl="0">
              <a:defRPr>
                <a:solidFill>
                  <a:schemeClr val="bg1"/>
                </a:solidFill>
              </a:defRPr>
            </a:lvl1pPr>
            <a:lvl2pPr lvl="1">
              <a:defRPr>
                <a:solidFill>
                  <a:schemeClr val="bg1"/>
                </a:solidFill>
              </a:defRPr>
            </a:lvl2pPr>
            <a:lvl3pPr lvl="2">
              <a:defRPr>
                <a:solidFill>
                  <a:schemeClr val="bg1"/>
                </a:solidFill>
              </a:defRPr>
            </a:lvl3pPr>
            <a:lvl4pPr lvl="3">
              <a:defRPr>
                <a:solidFill>
                  <a:schemeClr val="bg1"/>
                </a:solidFill>
              </a:defRPr>
            </a:lvl4pPr>
            <a:lvl5pPr lvl="4">
              <a:defRPr>
                <a:solidFill>
                  <a:schemeClr val="bg1"/>
                </a:solidFill>
              </a:defRPr>
            </a:lvl5p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3" name="圆角矩形 2"/>
          <p:cNvSpPr/>
          <p:nvPr/>
        </p:nvSpPr>
        <p:spPr>
          <a:xfrm>
            <a:off x="143377" y="836713"/>
            <a:ext cx="11908423" cy="5856651"/>
          </a:xfrm>
          <a:prstGeom prst="roundRect">
            <a:avLst>
              <a:gd name="adj" fmla="val 5102"/>
            </a:avLst>
          </a:prstGeom>
          <a:solidFill>
            <a:srgbClr val="FFFFFF">
              <a:alpha val="89804"/>
            </a:srgbClr>
          </a:solidFill>
          <a:ln w="9525">
            <a:solidFill>
              <a:schemeClr val="tx1"/>
            </a:solidFill>
            <a:prstDash val="solid"/>
          </a:ln>
        </p:spPr>
        <p:txBody>
          <a:bodyPr anchor="ctr"/>
          <a:lstStyle/>
          <a:p>
            <a:pPr algn="ctr"/>
            <a:endParaRPr lang="zh-CN" sz="2400">
              <a:solidFill>
                <a:schemeClr val="lt1"/>
              </a:solidFill>
            </a:endParaRPr>
          </a:p>
        </p:txBody>
      </p:sp>
      <p:pic>
        <p:nvPicPr>
          <p:cNvPr id="5" name="Picture 2"/>
          <p:cNvPicPr/>
          <p:nvPr/>
        </p:nvPicPr>
        <p:blipFill>
          <a:blip r:embed="rId2"/>
          <a:stretch>
            <a:fillRect/>
          </a:stretch>
        </p:blipFill>
        <p:spPr>
          <a:xfrm>
            <a:off x="-66641" y="-20599"/>
            <a:ext cx="1214919" cy="1339703"/>
          </a:xfrm>
          <a:prstGeom prst="rect">
            <a:avLst/>
          </a:prstGeom>
          <a:noFill/>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5_标题幻灯片">
    <p:spTree>
      <p:nvGrpSpPr>
        <p:cNvPr id="1" name=""/>
        <p:cNvGrpSpPr/>
        <p:nvPr/>
      </p:nvGrpSpPr>
      <p:grpSpPr>
        <a:xfrm>
          <a:off x="0" y="0"/>
          <a:ext cx="0" cy="0"/>
          <a:chOff x="0" y="0"/>
          <a:chExt cx="0" cy="0"/>
        </a:xfrm>
      </p:grpSpPr>
      <p:sp>
        <p:nvSpPr>
          <p:cNvPr id="8" name="内容占位符 2"/>
          <p:cNvSpPr/>
          <p:nvPr>
            <p:ph idx="1" hasCustomPrompt="1"/>
          </p:nvPr>
        </p:nvSpPr>
        <p:spPr>
          <a:xfrm>
            <a:off x="527519" y="1220756"/>
            <a:ext cx="10975658" cy="6034618"/>
          </a:xfrm>
          <a:prstGeom prst="rect">
            <a:avLst/>
          </a:prstGeom>
        </p:spPr>
        <p:txBody>
          <a:bodyPr/>
          <a:lstStyle>
            <a:lvl1pPr lvl="0">
              <a:defRPr>
                <a:solidFill>
                  <a:schemeClr val="bg1"/>
                </a:solidFill>
              </a:defRPr>
            </a:lvl1pPr>
            <a:lvl2pPr lvl="1">
              <a:defRPr>
                <a:solidFill>
                  <a:schemeClr val="bg1"/>
                </a:solidFill>
              </a:defRPr>
            </a:lvl2pPr>
            <a:lvl3pPr lvl="2">
              <a:defRPr>
                <a:solidFill>
                  <a:schemeClr val="bg1"/>
                </a:solidFill>
              </a:defRPr>
            </a:lvl3pPr>
            <a:lvl4pPr lvl="3">
              <a:defRPr>
                <a:solidFill>
                  <a:schemeClr val="bg1"/>
                </a:solidFill>
              </a:defRPr>
            </a:lvl4pPr>
            <a:lvl5pPr lvl="4">
              <a:defRPr>
                <a:solidFill>
                  <a:schemeClr val="bg1"/>
                </a:solidFill>
              </a:defRPr>
            </a:lvl5p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3" name="圆角矩形 2"/>
          <p:cNvSpPr/>
          <p:nvPr/>
        </p:nvSpPr>
        <p:spPr>
          <a:xfrm>
            <a:off x="143377" y="836713"/>
            <a:ext cx="11908423" cy="5856651"/>
          </a:xfrm>
          <a:prstGeom prst="roundRect">
            <a:avLst>
              <a:gd name="adj" fmla="val 5102"/>
            </a:avLst>
          </a:prstGeom>
          <a:solidFill>
            <a:srgbClr val="FFFFFF">
              <a:alpha val="89804"/>
            </a:srgbClr>
          </a:solidFill>
          <a:ln w="9525">
            <a:solidFill>
              <a:schemeClr val="tx1"/>
            </a:solidFill>
            <a:prstDash val="solid"/>
          </a:ln>
        </p:spPr>
        <p:txBody>
          <a:bodyPr anchor="ctr"/>
          <a:lstStyle/>
          <a:p>
            <a:pPr algn="ctr"/>
            <a:endParaRPr lang="zh-CN" sz="2400">
              <a:solidFill>
                <a:schemeClr val="lt1"/>
              </a:solidFill>
            </a:endParaRPr>
          </a:p>
        </p:txBody>
      </p:sp>
      <p:pic>
        <p:nvPicPr>
          <p:cNvPr id="5" name="Picture 2"/>
          <p:cNvPicPr/>
          <p:nvPr/>
        </p:nvPicPr>
        <p:blipFill>
          <a:blip r:embed="rId2"/>
          <a:stretch>
            <a:fillRect/>
          </a:stretch>
        </p:blipFill>
        <p:spPr>
          <a:xfrm>
            <a:off x="-66641" y="-20599"/>
            <a:ext cx="1214919" cy="1339703"/>
          </a:xfrm>
          <a:prstGeom prst="rect">
            <a:avLst/>
          </a:prstGeom>
          <a:noFill/>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6_标题幻灯片">
    <p:spTree>
      <p:nvGrpSpPr>
        <p:cNvPr id="1" name=""/>
        <p:cNvGrpSpPr/>
        <p:nvPr/>
      </p:nvGrpSpPr>
      <p:grpSpPr>
        <a:xfrm>
          <a:off x="0" y="0"/>
          <a:ext cx="0" cy="0"/>
          <a:chOff x="0" y="0"/>
          <a:chExt cx="0" cy="0"/>
        </a:xfrm>
      </p:grpSpPr>
      <p:sp>
        <p:nvSpPr>
          <p:cNvPr id="8" name="内容占位符 2"/>
          <p:cNvSpPr/>
          <p:nvPr>
            <p:ph idx="1" hasCustomPrompt="1"/>
          </p:nvPr>
        </p:nvSpPr>
        <p:spPr>
          <a:xfrm>
            <a:off x="527519" y="1220756"/>
            <a:ext cx="10975658" cy="6034618"/>
          </a:xfrm>
          <a:prstGeom prst="rect">
            <a:avLst/>
          </a:prstGeom>
        </p:spPr>
        <p:txBody>
          <a:bodyPr/>
          <a:lstStyle>
            <a:lvl1pPr lvl="0">
              <a:defRPr>
                <a:solidFill>
                  <a:schemeClr val="bg1"/>
                </a:solidFill>
              </a:defRPr>
            </a:lvl1pPr>
            <a:lvl2pPr lvl="1">
              <a:defRPr>
                <a:solidFill>
                  <a:schemeClr val="bg1"/>
                </a:solidFill>
              </a:defRPr>
            </a:lvl2pPr>
            <a:lvl3pPr lvl="2">
              <a:defRPr>
                <a:solidFill>
                  <a:schemeClr val="bg1"/>
                </a:solidFill>
              </a:defRPr>
            </a:lvl3pPr>
            <a:lvl4pPr lvl="3">
              <a:defRPr>
                <a:solidFill>
                  <a:schemeClr val="bg1"/>
                </a:solidFill>
              </a:defRPr>
            </a:lvl4pPr>
            <a:lvl5pPr lvl="4">
              <a:defRPr>
                <a:solidFill>
                  <a:schemeClr val="bg1"/>
                </a:solidFill>
              </a:defRPr>
            </a:lvl5p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3" name="圆角矩形 2"/>
          <p:cNvSpPr/>
          <p:nvPr/>
        </p:nvSpPr>
        <p:spPr>
          <a:xfrm>
            <a:off x="143377" y="836713"/>
            <a:ext cx="11908423" cy="5856651"/>
          </a:xfrm>
          <a:prstGeom prst="roundRect">
            <a:avLst>
              <a:gd name="adj" fmla="val 5102"/>
            </a:avLst>
          </a:prstGeom>
          <a:solidFill>
            <a:srgbClr val="FFFFFF">
              <a:alpha val="89804"/>
            </a:srgbClr>
          </a:solidFill>
          <a:ln w="9525">
            <a:solidFill>
              <a:schemeClr val="tx1"/>
            </a:solidFill>
            <a:prstDash val="solid"/>
          </a:ln>
        </p:spPr>
        <p:txBody>
          <a:bodyPr anchor="ctr"/>
          <a:lstStyle/>
          <a:p>
            <a:pPr algn="ctr"/>
            <a:endParaRPr lang="zh-CN" sz="2400">
              <a:solidFill>
                <a:schemeClr val="lt1"/>
              </a:solidFill>
            </a:endParaRPr>
          </a:p>
        </p:txBody>
      </p:sp>
      <p:pic>
        <p:nvPicPr>
          <p:cNvPr id="5" name="Picture 2"/>
          <p:cNvPicPr/>
          <p:nvPr/>
        </p:nvPicPr>
        <p:blipFill>
          <a:blip r:embed="rId2"/>
          <a:stretch>
            <a:fillRect/>
          </a:stretch>
        </p:blipFill>
        <p:spPr>
          <a:xfrm>
            <a:off x="-66641" y="-20599"/>
            <a:ext cx="1214919" cy="1339703"/>
          </a:xfrm>
          <a:prstGeom prst="rect">
            <a:avLst/>
          </a:prstGeom>
          <a:noFill/>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_标题幻灯片">
    <p:spTree>
      <p:nvGrpSpPr>
        <p:cNvPr id="1" name=""/>
        <p:cNvGrpSpPr/>
        <p:nvPr/>
      </p:nvGrpSpPr>
      <p:grpSpPr>
        <a:xfrm>
          <a:off x="0" y="0"/>
          <a:ext cx="0" cy="0"/>
          <a:chOff x="0" y="0"/>
          <a:chExt cx="0" cy="0"/>
        </a:xfrm>
      </p:grpSpPr>
      <p:sp>
        <p:nvSpPr>
          <p:cNvPr id="8" name="内容占位符 2"/>
          <p:cNvSpPr/>
          <p:nvPr>
            <p:ph idx="1" hasCustomPrompt="1"/>
          </p:nvPr>
        </p:nvSpPr>
        <p:spPr>
          <a:xfrm>
            <a:off x="527519" y="1220756"/>
            <a:ext cx="10975658" cy="6034618"/>
          </a:xfrm>
          <a:prstGeom prst="rect">
            <a:avLst/>
          </a:prstGeom>
        </p:spPr>
        <p:txBody>
          <a:bodyPr/>
          <a:lstStyle>
            <a:lvl1pPr lvl="0">
              <a:defRPr>
                <a:solidFill>
                  <a:schemeClr val="bg1"/>
                </a:solidFill>
              </a:defRPr>
            </a:lvl1pPr>
            <a:lvl2pPr lvl="1">
              <a:defRPr>
                <a:solidFill>
                  <a:schemeClr val="bg1"/>
                </a:solidFill>
              </a:defRPr>
            </a:lvl2pPr>
            <a:lvl3pPr lvl="2">
              <a:defRPr>
                <a:solidFill>
                  <a:schemeClr val="bg1"/>
                </a:solidFill>
              </a:defRPr>
            </a:lvl3pPr>
            <a:lvl4pPr lvl="3">
              <a:defRPr>
                <a:solidFill>
                  <a:schemeClr val="bg1"/>
                </a:solidFill>
              </a:defRPr>
            </a:lvl4pPr>
            <a:lvl5pPr lvl="4">
              <a:defRPr>
                <a:solidFill>
                  <a:schemeClr val="bg1"/>
                </a:solidFill>
              </a:defRPr>
            </a:lvl5p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3" name="圆角矩形 2"/>
          <p:cNvSpPr/>
          <p:nvPr/>
        </p:nvSpPr>
        <p:spPr>
          <a:xfrm>
            <a:off x="143377" y="836713"/>
            <a:ext cx="11908423" cy="5856651"/>
          </a:xfrm>
          <a:prstGeom prst="roundRect">
            <a:avLst>
              <a:gd name="adj" fmla="val 5102"/>
            </a:avLst>
          </a:prstGeom>
          <a:solidFill>
            <a:srgbClr val="FFFFFF">
              <a:alpha val="89804"/>
            </a:srgbClr>
          </a:solidFill>
          <a:ln w="9525">
            <a:solidFill>
              <a:schemeClr val="tx1"/>
            </a:solidFill>
            <a:prstDash val="solid"/>
          </a:ln>
        </p:spPr>
        <p:txBody>
          <a:bodyPr anchor="ctr"/>
          <a:lstStyle/>
          <a:p>
            <a:pPr algn="ctr"/>
            <a:endParaRPr lang="zh-CN" sz="2400">
              <a:solidFill>
                <a:schemeClr val="lt1"/>
              </a:solidFill>
            </a:endParaRPr>
          </a:p>
        </p:txBody>
      </p:sp>
      <p:pic>
        <p:nvPicPr>
          <p:cNvPr id="5" name="Picture 2"/>
          <p:cNvPicPr/>
          <p:nvPr/>
        </p:nvPicPr>
        <p:blipFill>
          <a:blip r:embed="rId2"/>
          <a:stretch>
            <a:fillRect/>
          </a:stretch>
        </p:blipFill>
        <p:spPr>
          <a:xfrm>
            <a:off x="-66641" y="-20599"/>
            <a:ext cx="1214919" cy="1339703"/>
          </a:xfrm>
          <a:prstGeom prst="rect">
            <a:avLst/>
          </a:prstGeom>
          <a:noFill/>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8_标题幻灯片">
    <p:spTree>
      <p:nvGrpSpPr>
        <p:cNvPr id="1" name=""/>
        <p:cNvGrpSpPr/>
        <p:nvPr/>
      </p:nvGrpSpPr>
      <p:grpSpPr>
        <a:xfrm>
          <a:off x="0" y="0"/>
          <a:ext cx="0" cy="0"/>
          <a:chOff x="0" y="0"/>
          <a:chExt cx="0" cy="0"/>
        </a:xfrm>
      </p:grpSpPr>
      <p:sp>
        <p:nvSpPr>
          <p:cNvPr id="8" name="内容占位符 2"/>
          <p:cNvSpPr/>
          <p:nvPr>
            <p:ph idx="1" hasCustomPrompt="1"/>
          </p:nvPr>
        </p:nvSpPr>
        <p:spPr>
          <a:xfrm>
            <a:off x="527519" y="1220756"/>
            <a:ext cx="10975658" cy="6034618"/>
          </a:xfrm>
          <a:prstGeom prst="rect">
            <a:avLst/>
          </a:prstGeom>
        </p:spPr>
        <p:txBody>
          <a:bodyPr/>
          <a:lstStyle>
            <a:lvl1pPr lvl="0">
              <a:defRPr>
                <a:solidFill>
                  <a:schemeClr val="bg1"/>
                </a:solidFill>
              </a:defRPr>
            </a:lvl1pPr>
            <a:lvl2pPr lvl="1">
              <a:defRPr>
                <a:solidFill>
                  <a:schemeClr val="bg1"/>
                </a:solidFill>
              </a:defRPr>
            </a:lvl2pPr>
            <a:lvl3pPr lvl="2">
              <a:defRPr>
                <a:solidFill>
                  <a:schemeClr val="bg1"/>
                </a:solidFill>
              </a:defRPr>
            </a:lvl3pPr>
            <a:lvl4pPr lvl="3">
              <a:defRPr>
                <a:solidFill>
                  <a:schemeClr val="bg1"/>
                </a:solidFill>
              </a:defRPr>
            </a:lvl4pPr>
            <a:lvl5pPr lvl="4">
              <a:defRPr>
                <a:solidFill>
                  <a:schemeClr val="bg1"/>
                </a:solidFill>
              </a:defRPr>
            </a:lvl5p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3" name="圆角矩形 2"/>
          <p:cNvSpPr/>
          <p:nvPr/>
        </p:nvSpPr>
        <p:spPr>
          <a:xfrm>
            <a:off x="143377" y="836713"/>
            <a:ext cx="11908423" cy="5856651"/>
          </a:xfrm>
          <a:prstGeom prst="roundRect">
            <a:avLst>
              <a:gd name="adj" fmla="val 5102"/>
            </a:avLst>
          </a:prstGeom>
          <a:solidFill>
            <a:srgbClr val="FFFFFF">
              <a:alpha val="89804"/>
            </a:srgbClr>
          </a:solidFill>
          <a:ln w="9525">
            <a:solidFill>
              <a:schemeClr val="tx1"/>
            </a:solidFill>
            <a:prstDash val="solid"/>
          </a:ln>
        </p:spPr>
        <p:txBody>
          <a:bodyPr anchor="ctr"/>
          <a:lstStyle/>
          <a:p>
            <a:pPr algn="ctr"/>
            <a:endParaRPr lang="zh-CN" sz="2400">
              <a:solidFill>
                <a:schemeClr val="lt1"/>
              </a:solidFill>
            </a:endParaRPr>
          </a:p>
        </p:txBody>
      </p:sp>
      <p:pic>
        <p:nvPicPr>
          <p:cNvPr id="5" name="Picture 2"/>
          <p:cNvPicPr/>
          <p:nvPr/>
        </p:nvPicPr>
        <p:blipFill>
          <a:blip r:embed="rId2"/>
          <a:stretch>
            <a:fillRect/>
          </a:stretch>
        </p:blipFill>
        <p:spPr>
          <a:xfrm>
            <a:off x="-66641" y="-20599"/>
            <a:ext cx="1214919" cy="1339703"/>
          </a:xfrm>
          <a:prstGeom prst="rect">
            <a:avLst/>
          </a:prstGeom>
          <a:noFill/>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5_标题和内容">
    <p:spTree>
      <p:nvGrpSpPr>
        <p:cNvPr id="1" name=""/>
        <p:cNvGrpSpPr/>
        <p:nvPr/>
      </p:nvGrpSpPr>
      <p:grpSpPr>
        <a:xfrm>
          <a:off x="0" y="0"/>
          <a:ext cx="0" cy="0"/>
          <a:chOff x="0" y="0"/>
          <a:chExt cx="0" cy="0"/>
        </a:xfrm>
      </p:grpSpPr>
      <p:sp>
        <p:nvSpPr>
          <p:cNvPr id="6" name="标题 5"/>
          <p:cNvSpPr/>
          <p:nvPr>
            <p:ph type="title"/>
          </p:nvPr>
        </p:nvSpPr>
        <p:spPr/>
        <p:txBody>
          <a:bodyPr/>
          <a:lstStyle/>
          <a:p>
            <a:r>
              <a:rPr lang="en-US"/>
              <a:t>Click to edit Master title style</a:t>
            </a:r>
            <a:endParaRPr lang="zh-CN"/>
          </a:p>
        </p:txBody>
      </p:sp>
      <p:sp>
        <p:nvSpPr>
          <p:cNvPr id="8" name="内容占位符 7"/>
          <p:cNvSpPr/>
          <p:nvPr>
            <p:ph idx="13"/>
          </p:nvPr>
        </p:nvSpPr>
        <p:spPr>
          <a:xfrm>
            <a:off x="670100" y="1130300"/>
            <a:ext cx="10853389" cy="500697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_标题和内容">
    <p:spTree>
      <p:nvGrpSpPr>
        <p:cNvPr id="1" name=""/>
        <p:cNvGrpSpPr/>
        <p:nvPr/>
      </p:nvGrpSpPr>
      <p:grpSpPr>
        <a:xfrm>
          <a:off x="0" y="0"/>
          <a:ext cx="0" cy="0"/>
          <a:chOff x="0" y="0"/>
          <a:chExt cx="0" cy="0"/>
        </a:xfrm>
      </p:grpSpPr>
      <p:sp>
        <p:nvSpPr>
          <p:cNvPr id="6" name="标题 5"/>
          <p:cNvSpPr/>
          <p:nvPr>
            <p:ph type="title"/>
          </p:nvPr>
        </p:nvSpPr>
        <p:spPr/>
        <p:txBody>
          <a:bodyPr/>
          <a:lstStyle/>
          <a:p>
            <a:r>
              <a:rPr lang="en-US"/>
              <a:t>Click to edit Master title style</a:t>
            </a:r>
            <a:endParaRPr lang="zh-CN"/>
          </a:p>
        </p:txBody>
      </p:sp>
      <p:sp>
        <p:nvSpPr>
          <p:cNvPr id="8" name="内容占位符 7"/>
          <p:cNvSpPr/>
          <p:nvPr>
            <p:ph idx="13"/>
          </p:nvPr>
        </p:nvSpPr>
        <p:spPr>
          <a:xfrm>
            <a:off x="670100" y="1130300"/>
            <a:ext cx="10853389" cy="500697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8_标题和内容">
    <p:spTree>
      <p:nvGrpSpPr>
        <p:cNvPr id="1" name=""/>
        <p:cNvGrpSpPr/>
        <p:nvPr/>
      </p:nvGrpSpPr>
      <p:grpSpPr>
        <a:xfrm>
          <a:off x="0" y="0"/>
          <a:ext cx="0" cy="0"/>
          <a:chOff x="0" y="0"/>
          <a:chExt cx="0" cy="0"/>
        </a:xfrm>
      </p:grpSpPr>
      <p:sp>
        <p:nvSpPr>
          <p:cNvPr id="6" name="标题 5"/>
          <p:cNvSpPr/>
          <p:nvPr>
            <p:ph type="title"/>
          </p:nvPr>
        </p:nvSpPr>
        <p:spPr/>
        <p:txBody>
          <a:bodyPr/>
          <a:lstStyle/>
          <a:p>
            <a:r>
              <a:rPr lang="en-US"/>
              <a:t>Click to edit Master title style</a:t>
            </a:r>
            <a:endParaRPr lang="zh-CN"/>
          </a:p>
        </p:txBody>
      </p:sp>
      <p:sp>
        <p:nvSpPr>
          <p:cNvPr id="8" name="内容占位符 7"/>
          <p:cNvSpPr/>
          <p:nvPr>
            <p:ph idx="13"/>
          </p:nvPr>
        </p:nvSpPr>
        <p:spPr>
          <a:xfrm>
            <a:off x="670100" y="1130300"/>
            <a:ext cx="10853389" cy="500697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9_标题和内容">
    <p:spTree>
      <p:nvGrpSpPr>
        <p:cNvPr id="1" name=""/>
        <p:cNvGrpSpPr/>
        <p:nvPr/>
      </p:nvGrpSpPr>
      <p:grpSpPr>
        <a:xfrm>
          <a:off x="0" y="0"/>
          <a:ext cx="0" cy="0"/>
          <a:chOff x="0" y="0"/>
          <a:chExt cx="0" cy="0"/>
        </a:xfrm>
      </p:grpSpPr>
      <p:sp>
        <p:nvSpPr>
          <p:cNvPr id="6" name="标题 5"/>
          <p:cNvSpPr/>
          <p:nvPr>
            <p:ph type="title"/>
          </p:nvPr>
        </p:nvSpPr>
        <p:spPr/>
        <p:txBody>
          <a:bodyPr/>
          <a:lstStyle/>
          <a:p>
            <a:r>
              <a:rPr lang="en-US"/>
              <a:t>Click to edit Master title style</a:t>
            </a:r>
            <a:endParaRPr lang="zh-CN"/>
          </a:p>
        </p:txBody>
      </p:sp>
      <p:sp>
        <p:nvSpPr>
          <p:cNvPr id="8" name="内容占位符 7"/>
          <p:cNvSpPr/>
          <p:nvPr>
            <p:ph idx="13"/>
          </p:nvPr>
        </p:nvSpPr>
        <p:spPr>
          <a:xfrm>
            <a:off x="670100" y="1130300"/>
            <a:ext cx="10853389" cy="500697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0_标题和内容">
    <p:spTree>
      <p:nvGrpSpPr>
        <p:cNvPr id="1" name=""/>
        <p:cNvGrpSpPr/>
        <p:nvPr/>
      </p:nvGrpSpPr>
      <p:grpSpPr>
        <a:xfrm>
          <a:off x="0" y="0"/>
          <a:ext cx="0" cy="0"/>
          <a:chOff x="0" y="0"/>
          <a:chExt cx="0" cy="0"/>
        </a:xfrm>
      </p:grpSpPr>
      <p:sp>
        <p:nvSpPr>
          <p:cNvPr id="6" name="标题 5"/>
          <p:cNvSpPr/>
          <p:nvPr>
            <p:ph type="title"/>
          </p:nvPr>
        </p:nvSpPr>
        <p:spPr/>
        <p:txBody>
          <a:bodyPr/>
          <a:lstStyle/>
          <a:p>
            <a:r>
              <a:rPr lang="en-US"/>
              <a:t>Click to edit Master title style</a:t>
            </a:r>
            <a:endParaRPr lang="zh-CN"/>
          </a:p>
        </p:txBody>
      </p:sp>
      <p:sp>
        <p:nvSpPr>
          <p:cNvPr id="8" name="内容占位符 7"/>
          <p:cNvSpPr/>
          <p:nvPr>
            <p:ph idx="13"/>
          </p:nvPr>
        </p:nvSpPr>
        <p:spPr>
          <a:xfrm>
            <a:off x="670100" y="1130300"/>
            <a:ext cx="10853389" cy="500697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image" Target="../media/image2.jpeg"/><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6"/>
          <a:stretch>
            <a:fillRect/>
          </a:stretch>
        </a:blipFill>
        <a:effectLst/>
      </p:bgPr>
    </p:bg>
    <p:spTree>
      <p:nvGrpSpPr>
        <p:cNvPr id="1" name=""/>
        <p:cNvGrpSpPr/>
        <p:nvPr/>
      </p:nvGrpSpPr>
      <p:grpSpPr>
        <a:xfrm>
          <a:off x="0" y="0"/>
          <a:ext cx="0" cy="0"/>
          <a:chOff x="0" y="0"/>
          <a:chExt cx="0" cy="0"/>
        </a:xfrm>
      </p:grpSpPr>
      <p:sp>
        <p:nvSpPr>
          <p:cNvPr id="2" name="标题占位符 1"/>
          <p:cNvSpPr/>
          <p:nvPr>
            <p:ph type="title"/>
          </p:nvPr>
        </p:nvSpPr>
        <p:spPr>
          <a:xfrm>
            <a:off x="609759" y="274638"/>
            <a:ext cx="10975658" cy="1143000"/>
          </a:xfrm>
          <a:prstGeom prst="rect">
            <a:avLst/>
          </a:prstGeom>
        </p:spPr>
        <p:txBody>
          <a:bodyPr vert="horz" lIns="91440" tIns="45720" rIns="91440" bIns="45720" anchor="ctr">
            <a:normAutofit/>
          </a:bodyPr>
          <a:lstStyle/>
          <a:p>
            <a:r>
              <a:rPr lang="zh-CN"/>
              <a:t>单击此处编辑母版标题样式</a:t>
            </a:r>
            <a:endParaRPr lang="zh-CN"/>
          </a:p>
        </p:txBody>
      </p:sp>
      <p:sp>
        <p:nvSpPr>
          <p:cNvPr id="3" name="文本占位符 2"/>
          <p:cNvSpPr/>
          <p:nvPr>
            <p:ph type="body" idx="1"/>
          </p:nvPr>
        </p:nvSpPr>
        <p:spPr>
          <a:xfrm>
            <a:off x="609759" y="1600201"/>
            <a:ext cx="10975658" cy="4525963"/>
          </a:xfrm>
          <a:prstGeom prst="rect">
            <a:avLst/>
          </a:prstGeom>
        </p:spPr>
        <p:txBody>
          <a:bodyPr vert="horz" lIns="91440" tIns="45720" rIns="91440" bIns="45720">
            <a:normAutofit/>
          </a:body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lvl="0" algn="ctr" defTabSz="914400">
        <a:spcBef>
          <a:spcPct val="0"/>
        </a:spcBef>
        <a:buNone/>
        <a:defRPr sz="4400" kern="1200">
          <a:solidFill>
            <a:schemeClr val="tx1"/>
          </a:solidFill>
          <a:latin typeface="Calibri" panose="020F0502020204030204"/>
          <a:ea typeface="宋体" panose="02010600030101010101" pitchFamily="2" charset="-122"/>
        </a:defRPr>
      </a:lvl1pPr>
    </p:titleStyle>
    <p:bodyStyle>
      <a:lvl1pPr marL="342900" lvl="0" indent="-342900" algn="l" defTabSz="914400">
        <a:spcBef>
          <a:spcPct val="20000"/>
        </a:spcBef>
        <a:buFont typeface="Arial" panose="020B0604020202020204" pitchFamily="34" charset="0"/>
        <a:buChar char="•"/>
        <a:defRPr sz="3200" kern="1200">
          <a:solidFill>
            <a:schemeClr val="tx1"/>
          </a:solidFill>
          <a:latin typeface="Calibri" panose="020F0502020204030204"/>
          <a:ea typeface="宋体" panose="02010600030101010101" pitchFamily="2" charset="-122"/>
        </a:defRPr>
      </a:lvl1pPr>
      <a:lvl2pPr marL="742950" lvl="1" indent="-285750" algn="l" defTabSz="914400">
        <a:spcBef>
          <a:spcPct val="20000"/>
        </a:spcBef>
        <a:buFont typeface="Arial" panose="020B0604020202020204" pitchFamily="34" charset="0"/>
        <a:buChar char="–"/>
        <a:defRPr sz="2800" kern="1200">
          <a:solidFill>
            <a:schemeClr val="tx1"/>
          </a:solidFill>
          <a:latin typeface="Calibri" panose="020F0502020204030204"/>
          <a:ea typeface="宋体" panose="02010600030101010101" pitchFamily="2" charset="-122"/>
        </a:defRPr>
      </a:lvl2pPr>
      <a:lvl3pPr marL="1143000" lvl="2" indent="-228600" algn="l" defTabSz="914400">
        <a:spcBef>
          <a:spcPct val="20000"/>
        </a:spcBef>
        <a:buFont typeface="Arial" panose="020B0604020202020204" pitchFamily="34" charset="0"/>
        <a:buChar char="•"/>
        <a:defRPr sz="2400" kern="1200">
          <a:solidFill>
            <a:schemeClr val="tx1"/>
          </a:solidFill>
          <a:latin typeface="Calibri" panose="020F0502020204030204"/>
          <a:ea typeface="宋体" panose="02010600030101010101" pitchFamily="2" charset="-122"/>
        </a:defRPr>
      </a:lvl3pPr>
      <a:lvl4pPr marL="1600200" lvl="3" indent="-228600" algn="l" defTabSz="914400">
        <a:spcBef>
          <a:spcPct val="20000"/>
        </a:spcBef>
        <a:buFont typeface="Arial" panose="020B0604020202020204" pitchFamily="34" charset="0"/>
        <a:buChar char="–"/>
        <a:defRPr sz="2000" kern="1200">
          <a:solidFill>
            <a:schemeClr val="tx1"/>
          </a:solidFill>
          <a:latin typeface="Calibri" panose="020F0502020204030204"/>
          <a:ea typeface="宋体" panose="02010600030101010101" pitchFamily="2" charset="-122"/>
        </a:defRPr>
      </a:lvl4pPr>
      <a:lvl5pPr marL="2057400" lvl="4" indent="-228600" algn="l" defTabSz="914400">
        <a:spcBef>
          <a:spcPct val="20000"/>
        </a:spcBef>
        <a:buFont typeface="Arial" panose="020B0604020202020204" pitchFamily="34" charset="0"/>
        <a:buChar char="»"/>
        <a:defRPr sz="2000" kern="1200">
          <a:solidFill>
            <a:schemeClr val="tx1"/>
          </a:solidFill>
          <a:latin typeface="Calibri" panose="020F0502020204030204"/>
          <a:ea typeface="宋体" panose="02010600030101010101" pitchFamily="2" charset="-122"/>
        </a:defRPr>
      </a:lvl5pPr>
      <a:lvl6pPr marL="2514600" lvl="5" indent="-228600" algn="l" defTabSz="914400">
        <a:spcBef>
          <a:spcPct val="20000"/>
        </a:spcBef>
        <a:buFont typeface="Arial" panose="020B0604020202020204" pitchFamily="34" charset="0"/>
        <a:buChar char="•"/>
        <a:defRPr sz="2000" kern="1200">
          <a:solidFill>
            <a:schemeClr val="tx1"/>
          </a:solidFill>
          <a:latin typeface="Calibri" panose="020F0502020204030204"/>
          <a:ea typeface="宋体" panose="02010600030101010101" pitchFamily="2" charset="-122"/>
        </a:defRPr>
      </a:lvl6pPr>
      <a:lvl7pPr marL="2971800" lvl="6" indent="-228600" algn="l" defTabSz="914400">
        <a:spcBef>
          <a:spcPct val="20000"/>
        </a:spcBef>
        <a:buFont typeface="Arial" panose="020B0604020202020204" pitchFamily="34" charset="0"/>
        <a:buChar char="•"/>
        <a:defRPr sz="2000" kern="1200">
          <a:solidFill>
            <a:schemeClr val="tx1"/>
          </a:solidFill>
          <a:latin typeface="Calibri" panose="020F0502020204030204"/>
          <a:ea typeface="宋体" panose="02010600030101010101" pitchFamily="2" charset="-122"/>
        </a:defRPr>
      </a:lvl7pPr>
      <a:lvl8pPr marL="3429000" lvl="7" indent="-228600" algn="l" defTabSz="914400">
        <a:spcBef>
          <a:spcPct val="20000"/>
        </a:spcBef>
        <a:buFont typeface="Arial" panose="020B0604020202020204" pitchFamily="34" charset="0"/>
        <a:buChar char="•"/>
        <a:defRPr sz="2000" kern="1200">
          <a:solidFill>
            <a:schemeClr val="tx1"/>
          </a:solidFill>
          <a:latin typeface="Calibri" panose="020F0502020204030204"/>
          <a:ea typeface="宋体" panose="02010600030101010101" pitchFamily="2" charset="-122"/>
        </a:defRPr>
      </a:lvl8pPr>
      <a:lvl9pPr marL="3886200" lvl="8" indent="-228600" algn="l" defTabSz="914400">
        <a:spcBef>
          <a:spcPct val="20000"/>
        </a:spcBef>
        <a:buFont typeface="Arial" panose="020B0604020202020204" pitchFamily="34" charset="0"/>
        <a:buChar char="•"/>
        <a:defRPr sz="2000" kern="1200">
          <a:solidFill>
            <a:schemeClr val="tx1"/>
          </a:solidFill>
          <a:latin typeface="Calibri" panose="020F0502020204030204"/>
          <a:ea typeface="宋体" panose="02010600030101010101" pitchFamily="2" charset="-122"/>
        </a:defRPr>
      </a:lvl9pPr>
    </p:bodyStyle>
    <p:otherStyle>
      <a:lvl1pPr marL="0" lvl="0" algn="l" defTabSz="914400">
        <a:defRPr sz="1800" kern="1200">
          <a:solidFill>
            <a:schemeClr val="tx1"/>
          </a:solidFill>
          <a:latin typeface="Calibri" panose="020F0502020204030204"/>
          <a:ea typeface="宋体" panose="02010600030101010101" pitchFamily="2" charset="-122"/>
        </a:defRPr>
      </a:lvl1pPr>
      <a:lvl2pPr marL="457200" lvl="1" algn="l" defTabSz="914400">
        <a:defRPr sz="1800" kern="1200">
          <a:solidFill>
            <a:schemeClr val="tx1"/>
          </a:solidFill>
          <a:latin typeface="Calibri" panose="020F0502020204030204"/>
          <a:ea typeface="宋体" panose="02010600030101010101" pitchFamily="2" charset="-122"/>
        </a:defRPr>
      </a:lvl2pPr>
      <a:lvl3pPr marL="914400" lvl="2" algn="l" defTabSz="914400">
        <a:defRPr sz="1800" kern="1200">
          <a:solidFill>
            <a:schemeClr val="tx1"/>
          </a:solidFill>
          <a:latin typeface="Calibri" panose="020F0502020204030204"/>
          <a:ea typeface="宋体" panose="02010600030101010101" pitchFamily="2" charset="-122"/>
        </a:defRPr>
      </a:lvl3pPr>
      <a:lvl4pPr marL="1371600" lvl="3" algn="l" defTabSz="914400">
        <a:defRPr sz="1800" kern="1200">
          <a:solidFill>
            <a:schemeClr val="tx1"/>
          </a:solidFill>
          <a:latin typeface="Calibri" panose="020F0502020204030204"/>
          <a:ea typeface="宋体" panose="02010600030101010101" pitchFamily="2" charset="-122"/>
        </a:defRPr>
      </a:lvl4pPr>
      <a:lvl5pPr marL="1828800" lvl="4" algn="l" defTabSz="914400">
        <a:defRPr sz="1800" kern="1200">
          <a:solidFill>
            <a:schemeClr val="tx1"/>
          </a:solidFill>
          <a:latin typeface="Calibri" panose="020F0502020204030204"/>
          <a:ea typeface="宋体" panose="02010600030101010101" pitchFamily="2" charset="-122"/>
        </a:defRPr>
      </a:lvl5pPr>
      <a:lvl6pPr marL="2286000" lvl="5" algn="l" defTabSz="914400">
        <a:defRPr sz="1800" kern="1200">
          <a:solidFill>
            <a:schemeClr val="tx1"/>
          </a:solidFill>
          <a:latin typeface="Calibri" panose="020F0502020204030204"/>
          <a:ea typeface="宋体" panose="02010600030101010101" pitchFamily="2" charset="-122"/>
        </a:defRPr>
      </a:lvl6pPr>
      <a:lvl7pPr marL="2743200" lvl="6" algn="l" defTabSz="914400">
        <a:defRPr sz="1800" kern="1200">
          <a:solidFill>
            <a:schemeClr val="tx1"/>
          </a:solidFill>
          <a:latin typeface="Calibri" panose="020F0502020204030204"/>
          <a:ea typeface="宋体" panose="02010600030101010101" pitchFamily="2" charset="-122"/>
        </a:defRPr>
      </a:lvl7pPr>
      <a:lvl8pPr marL="3200400" lvl="7" algn="l" defTabSz="914400">
        <a:defRPr sz="1800" kern="1200">
          <a:solidFill>
            <a:schemeClr val="tx1"/>
          </a:solidFill>
          <a:latin typeface="Calibri" panose="020F0502020204030204"/>
          <a:ea typeface="宋体" panose="02010600030101010101" pitchFamily="2" charset="-122"/>
        </a:defRPr>
      </a:lvl8pPr>
      <a:lvl9pPr marL="3657600" lvl="8" algn="l" defTabSz="914400">
        <a:defRPr sz="1800" kern="1200">
          <a:solidFill>
            <a:schemeClr val="tx1"/>
          </a:solidFill>
          <a:latin typeface="Calibri" panose="020F0502020204030204"/>
          <a:ea typeface="宋体" panose="02010600030101010101" pitchFamily="2" charset="-122"/>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7.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7.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7.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7.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8.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a:xfrm>
            <a:off x="609600" y="243840"/>
            <a:ext cx="10975975" cy="853440"/>
          </a:xfrm>
        </p:spPr>
        <p:txBody>
          <a:bodyPr>
            <a:normAutofit fontScale="90000"/>
          </a:bodyPr>
          <a:lstStyle/>
          <a:p>
            <a:r>
              <a:rPr lang="zh-CN" sz="5335"/>
              <a:t>目录</a:t>
            </a:r>
            <a:br>
              <a:rPr lang="zh-CN"/>
            </a:br>
            <a:endParaRPr lang="zh-CN"/>
          </a:p>
        </p:txBody>
      </p:sp>
      <p:sp>
        <p:nvSpPr>
          <p:cNvPr id="3" name="内容占位符 2"/>
          <p:cNvSpPr/>
          <p:nvPr>
            <p:ph idx="1"/>
          </p:nvPr>
        </p:nvSpPr>
        <p:spPr>
          <a:xfrm>
            <a:off x="609600" y="1201420"/>
            <a:ext cx="10975975" cy="4925060"/>
          </a:xfrm>
        </p:spPr>
        <p:txBody>
          <a:bodyPr>
            <a:normAutofit fontScale="97500"/>
          </a:bodyPr>
          <a:lstStyle/>
          <a:p>
            <a:r>
              <a:rPr lang="zh-CN"/>
              <a:t>一、研发费用加计扣除介绍</a:t>
            </a:r>
            <a:endParaRPr lang="zh-CN"/>
          </a:p>
          <a:p>
            <a:r>
              <a:rPr lang="zh-CN"/>
              <a:t>二、高新技术企业认定</a:t>
            </a:r>
            <a:endParaRPr lang="zh-CN"/>
          </a:p>
          <a:p>
            <a:r>
              <a:rPr lang="zh-CN"/>
              <a:t>三、高新技术企业的企业所得税税收优惠</a:t>
            </a:r>
            <a:endParaRPr lang="zh-CN"/>
          </a:p>
          <a:p>
            <a:r>
              <a:rPr lang="zh-CN"/>
              <a:t>四、研发费用加计扣除</a:t>
            </a:r>
            <a:endParaRPr lang="zh-CN"/>
          </a:p>
          <a:p>
            <a:r>
              <a:rPr lang="zh-CN"/>
              <a:t>五、财务实物</a:t>
            </a:r>
            <a:endParaRPr lang="en-US"/>
          </a:p>
          <a:p>
            <a:r>
              <a:rPr lang="zh-CN"/>
              <a:t>六、申报</a:t>
            </a:r>
            <a:endParaRPr lang="zh-CN"/>
          </a:p>
          <a:p>
            <a:pPr>
              <a:buNone/>
            </a:pPr>
            <a:r>
              <a:rPr lang="zh-CN"/>
              <a:t>   </a:t>
            </a:r>
            <a:endParaRPr 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a:solidFill>
                  <a:srgbClr val="FF0000"/>
                </a:solidFill>
              </a:rPr>
              <a:t>（一）认定条件</a:t>
            </a:r>
            <a:endParaRPr lang="zh-CN">
              <a:solidFill>
                <a:srgbClr val="FF0000"/>
              </a:solidFill>
            </a:endParaRPr>
          </a:p>
          <a:p>
            <a:r>
              <a:rPr lang="zh-CN"/>
              <a:t>1．成立时间：</a:t>
            </a:r>
            <a:endParaRPr lang="zh-CN"/>
          </a:p>
          <a:p>
            <a:r>
              <a:rPr lang="zh-CN"/>
              <a:t>企业申请认定时，须注册成立一年以上。企业须注册成立365个日历天数以上。</a:t>
            </a:r>
            <a:endParaRPr lang="zh-CN"/>
          </a:p>
          <a:p>
            <a:r>
              <a:rPr lang="zh-CN"/>
              <a:t>2．知识产权：</a:t>
            </a:r>
            <a:endParaRPr lang="zh-CN"/>
          </a:p>
          <a:p>
            <a:r>
              <a:rPr lang="zh-CN"/>
              <a:t>企业通过自主研发或受让、受赠、并购等方式，具有对其主要产品（服务）在技术上发挥核心支持作用的知识产权的所有权（知识产权证书）。</a:t>
            </a:r>
            <a:endParaRPr 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（2）高新技术企业认定中，对企业知识产权情况采用分类评价方式，其中：</a:t>
            </a:r>
            <a:endParaRPr lang="zh-CN" sz="2800"/>
          </a:p>
          <a:p>
            <a:r>
              <a:rPr lang="zh-CN" sz="2800"/>
              <a:t>Ⅰ类评价——发明专利（含国防专利）、植物新品种、国家级农作物品种、国家新药、国家一级中药保护品种、集成电路布图设计专有权等；</a:t>
            </a:r>
            <a:endParaRPr lang="zh-CN" sz="2800"/>
          </a:p>
          <a:p>
            <a:r>
              <a:rPr lang="zh-CN" sz="2800"/>
              <a:t>Ⅱ类评价——实用新型专利、外观设计专利、软件著作权等（不含商标）。</a:t>
            </a:r>
            <a:endParaRPr lang="zh-CN" sz="2800"/>
          </a:p>
          <a:p>
            <a:r>
              <a:rPr lang="zh-CN" sz="2800"/>
              <a:t>Ⅰ类比Ⅱ类显示创新能力强，Ⅰ类评分更高。</a:t>
            </a:r>
            <a:endParaRPr lang="zh-CN" sz="2800"/>
          </a:p>
          <a:p>
            <a:r>
              <a:rPr lang="zh-CN" sz="2800"/>
              <a:t>知识产权不是只重视数量，必须要注重质量，以及与主要产品（服务）有无直接关系。</a:t>
            </a:r>
            <a:endParaRPr lang="zh-CN" sz="280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3．对企业主要产品（服务）发挥核心支持作用的技术属于《国家重点支持的高新技术领域》规定的范围；以技术来判断，非最终产品；</a:t>
            </a:r>
            <a:endParaRPr lang="zh-CN" sz="2800"/>
          </a:p>
          <a:p>
            <a:r>
              <a:rPr lang="zh-CN" sz="2800"/>
              <a:t>4．企业从事研发和相关技术创新活动的科技人员占企业当年职工总数的比例不低于10%；</a:t>
            </a:r>
            <a:endParaRPr lang="zh-CN" sz="2800"/>
          </a:p>
          <a:p>
            <a:r>
              <a:rPr lang="zh-CN" sz="2800"/>
              <a:t>（1）科技人员：指直接从事研发和相关技术创新活动，以及专门从事上述活动的管理和提供直接技术服务的，累计实际工作时间在183天以上的人员，包括在职、兼职和临时聘用人员。</a:t>
            </a:r>
            <a:endParaRPr lang="zh-CN" sz="2800"/>
          </a:p>
          <a:p>
            <a:pPr marL="0" indent="0">
              <a:buNone/>
            </a:pPr>
            <a:endParaRPr lang="zh-CN" sz="28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（2）职工总数：包括企业在职、兼职和临时聘用人员。在职人员可以通过企业是否签订了劳动合同或缴纳社会保险费来鉴别；兼职、临时聘用人员全年须在企业累计工作183天以上。</a:t>
            </a:r>
            <a:endParaRPr lang="zh-CN" sz="2800"/>
          </a:p>
          <a:p>
            <a:r>
              <a:rPr lang="zh-CN" sz="2800"/>
              <a:t>（3）统计方法</a:t>
            </a:r>
            <a:endParaRPr lang="zh-CN" sz="2800"/>
          </a:p>
          <a:p>
            <a:r>
              <a:rPr lang="zh-CN" sz="2800"/>
              <a:t>企业当年职工总数、科技人员数均按照全年月平均数计算。</a:t>
            </a:r>
            <a:endParaRPr lang="zh-CN" sz="2800"/>
          </a:p>
          <a:p>
            <a:r>
              <a:rPr lang="zh-CN" sz="2800"/>
              <a:t>月平均数＝（月初数＋月末数）÷2</a:t>
            </a:r>
            <a:endParaRPr lang="zh-CN" sz="2800"/>
          </a:p>
          <a:p>
            <a:r>
              <a:rPr lang="zh-CN" sz="2800"/>
              <a:t>全年月平均数＝全年各月平均数之和÷12</a:t>
            </a:r>
            <a:endParaRPr lang="zh-CN" sz="2800"/>
          </a:p>
          <a:p>
            <a:r>
              <a:rPr lang="zh-CN" sz="2800"/>
              <a:t>年度中间开业或者终止经营活动的，以其实际经营期作为一个纳税年度确定上述相关指标。</a:t>
            </a:r>
            <a:endParaRPr lang="zh-CN" sz="28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5．企业近三年（或实际经营期）研究开发费用总额占同期销售收入总额的比例符合如下要求：</a:t>
            </a:r>
            <a:endParaRPr lang="zh-CN" sz="2800"/>
          </a:p>
          <a:p>
            <a:r>
              <a:rPr lang="zh-CN" sz="2800"/>
              <a:t>（1）第一档：最近一年销售收入小于5 000万元（含）的企业，比例不低于5%；</a:t>
            </a:r>
            <a:endParaRPr lang="zh-CN" sz="2800"/>
          </a:p>
          <a:p>
            <a:r>
              <a:rPr lang="zh-CN" sz="2800"/>
              <a:t>（2）第二档：最近一年销售收入在5 000万元至2亿元（含）的企业，比例不低于4%；</a:t>
            </a:r>
            <a:endParaRPr lang="zh-CN" sz="2800"/>
          </a:p>
          <a:p>
            <a:r>
              <a:rPr lang="zh-CN" sz="2800"/>
              <a:t>（3）第三档：最近一年销售收入在2亿元以上的企业，比例不低于3%。</a:t>
            </a:r>
            <a:endParaRPr lang="zh-CN" sz="2800"/>
          </a:p>
          <a:p>
            <a:pPr marL="0" indent="0">
              <a:buNone/>
            </a:pPr>
            <a:endParaRPr lang="zh-CN" sz="28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6．近一年高新技术产品（服务）收入占企业同期总收入的比例不低于60%；</a:t>
            </a:r>
            <a:endParaRPr lang="zh-CN" sz="2800"/>
          </a:p>
          <a:p>
            <a:r>
              <a:rPr lang="zh-CN" sz="2800"/>
              <a:t>（1）高新技术产品（服务）收入=高新产品（服务）收入+技术性收入</a:t>
            </a:r>
            <a:endParaRPr lang="zh-CN" sz="2800"/>
          </a:p>
          <a:p>
            <a:r>
              <a:rPr lang="zh-CN" sz="2800"/>
              <a:t>技术性收入=技术转让收入+技术服务收入+接受委托研究开发收入</a:t>
            </a:r>
            <a:endParaRPr lang="zh-CN" sz="2800"/>
          </a:p>
          <a:p>
            <a:r>
              <a:rPr lang="zh-CN" sz="2800"/>
              <a:t>（2）总收入：指收入总额减去不征税收入=（产品销售收入+提供劳务收入+转让财产收入+股息、红利、利息+租金+特许权使用费+接受捐赠收入+其他收入）-不征税收入</a:t>
            </a:r>
            <a:endParaRPr lang="zh-CN" sz="28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7．企业创新能力评价应达到相应要求；</a:t>
            </a:r>
            <a:endParaRPr lang="zh-CN" sz="2800"/>
          </a:p>
          <a:p>
            <a:r>
              <a:rPr lang="zh-CN" sz="2800"/>
              <a:t>企业创新能力主要从知识产权、科技成果转化能力、研究开发组织管理水平、企业成长性等四项指标进行评价。各级指标均按整数打分，满分为100分，综合得分达到70分以上（不含70分）为符合认定要求。四项指标分值结构详见下表：</a:t>
            </a:r>
            <a:endParaRPr lang="zh-CN" sz="2800"/>
          </a:p>
          <a:p>
            <a:r>
              <a:rPr lang="zh-CN" sz="2800"/>
              <a:t>由相关专家打分</a:t>
            </a:r>
            <a:endParaRPr lang="zh-CN" sz="2800"/>
          </a:p>
        </p:txBody>
      </p:sp>
      <p:pic>
        <p:nvPicPr>
          <p:cNvPr id="4" name="图片 3"/>
          <p:cNvPicPr/>
          <p:nvPr/>
        </p:nvPicPr>
        <p:blipFill>
          <a:blip r:embed="rId1"/>
          <a:stretch>
            <a:fillRect/>
          </a:stretch>
        </p:blipFill>
        <p:spPr>
          <a:xfrm>
            <a:off x="1068070" y="4427855"/>
            <a:ext cx="7051040" cy="1929765"/>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（1）知识产权</a:t>
            </a:r>
            <a:endParaRPr lang="zh-CN" sz="2800"/>
          </a:p>
          <a:p>
            <a:r>
              <a:rPr lang="zh-CN" sz="2800"/>
              <a:t>第5项为加分项，如果以上四项均得满分，该项不得分。</a:t>
            </a:r>
            <a:endParaRPr lang="zh-CN" sz="2800"/>
          </a:p>
          <a:p>
            <a:endParaRPr lang="zh-CN" sz="2800"/>
          </a:p>
        </p:txBody>
      </p:sp>
      <p:pic>
        <p:nvPicPr>
          <p:cNvPr id="4" name="图片 2"/>
          <p:cNvPicPr/>
          <p:nvPr/>
        </p:nvPicPr>
        <p:blipFill>
          <a:blip r:embed="rId1"/>
          <a:stretch>
            <a:fillRect/>
          </a:stretch>
        </p:blipFill>
        <p:spPr>
          <a:xfrm>
            <a:off x="1061720" y="2692400"/>
            <a:ext cx="8346440" cy="233108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（2）科技成果转化能力（≤30分）</a:t>
            </a:r>
            <a:endParaRPr lang="zh-CN" sz="2800"/>
          </a:p>
          <a:p>
            <a:r>
              <a:rPr lang="zh-CN" sz="2800"/>
              <a:t>科技成果转化：形成新产品、新工艺、新材料，发展新产业等。</a:t>
            </a:r>
            <a:endParaRPr lang="zh-CN" sz="2800"/>
          </a:p>
          <a:p>
            <a:r>
              <a:rPr lang="zh-CN" sz="2800"/>
              <a:t>科技成果转化的证据：企业以该科技成果形成了产品、服务、工艺、样品、样机等，如：有销售合同或订单、发票、检测报告、样机样品、客户试用报告、图片等。</a:t>
            </a:r>
            <a:endParaRPr lang="zh-CN" sz="2800"/>
          </a:p>
          <a:p>
            <a:r>
              <a:rPr lang="zh-CN" sz="2800"/>
              <a:t>科技成果转化形式：自行投资实施转化；向他人转让该技术成果；许可他人使用该科技成果；以该科技成果作为合作条件，与他人共同实施转化；以该科技成果作价投资、折算股份或者出资比例；以及其他协商确定的方式。</a:t>
            </a:r>
            <a:endParaRPr lang="zh-CN" sz="28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sz="2800"/>
              <a:t>同一科技成果分别在国内外转化的，或转化为多个产品、服务、工艺、样品、样机等的，只计为一项。</a:t>
            </a:r>
            <a:endParaRPr lang="zh-CN" sz="2800"/>
          </a:p>
          <a:p>
            <a:r>
              <a:rPr lang="zh-CN" sz="2800"/>
              <a:t>A.转化能力强，≥5项（25-30分）</a:t>
            </a:r>
            <a:endParaRPr lang="zh-CN" sz="2800"/>
          </a:p>
          <a:p>
            <a:r>
              <a:rPr lang="zh-CN" sz="2800"/>
              <a:t>B.转化能力较强，≥4项（19-24分）</a:t>
            </a:r>
            <a:endParaRPr lang="zh-CN" sz="2800"/>
          </a:p>
          <a:p>
            <a:r>
              <a:rPr lang="zh-CN" sz="2800"/>
              <a:t>C.转化能力一般，≥3项（13-18分）</a:t>
            </a:r>
            <a:endParaRPr lang="zh-CN" sz="2800"/>
          </a:p>
          <a:p>
            <a:r>
              <a:rPr lang="zh-CN" sz="2800"/>
              <a:t>D.转化能力较弱，≥2项（7-12分）</a:t>
            </a:r>
            <a:endParaRPr lang="zh-CN" sz="2800"/>
          </a:p>
          <a:p>
            <a:r>
              <a:rPr lang="zh-CN" sz="2800"/>
              <a:t>E.转化能力弱，≥1项（1-6分）</a:t>
            </a:r>
            <a:endParaRPr lang="zh-CN" sz="2800"/>
          </a:p>
          <a:p>
            <a:r>
              <a:rPr lang="zh-CN" sz="2800"/>
              <a:t>F.转化能力无，0项（0分）</a:t>
            </a:r>
            <a:endParaRPr lang="zh-CN" sz="28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a:xfrm>
            <a:off x="609759" y="1165861"/>
            <a:ext cx="10975658" cy="4525963"/>
          </a:xfrm>
        </p:spPr>
        <p:txBody>
          <a:bodyPr/>
          <a:lstStyle/>
          <a:p>
            <a:r>
              <a:rPr lang="zh-CN" sz="2800"/>
              <a:t>（3）研究开发组织管理水平（≤20分）</a:t>
            </a:r>
            <a:endParaRPr lang="zh-CN" sz="2800"/>
          </a:p>
          <a:p>
            <a:r>
              <a:rPr lang="zh-CN" sz="2800"/>
              <a:t>①制定了企业研究开发的组织管理制度；建立了研发投入核算体系；编制了研发费用辅助账；（≤6分）</a:t>
            </a:r>
            <a:endParaRPr lang="zh-CN" sz="2800"/>
          </a:p>
          <a:p>
            <a:r>
              <a:rPr lang="zh-CN" sz="2800"/>
              <a:t>②设立了内部科学技术研究开发机构并具备相应的科研条件，与国内外研究开发机构开展多种形式产学研合作；（≤6分）</a:t>
            </a:r>
            <a:endParaRPr lang="zh-CN" sz="2800"/>
          </a:p>
          <a:p>
            <a:r>
              <a:rPr lang="zh-CN" sz="2800"/>
              <a:t>③建立了科技成果转化的组织实施与激励奖励制度，建立开放式的创新创业平台；（≤4分）</a:t>
            </a:r>
            <a:endParaRPr lang="zh-CN" sz="2800"/>
          </a:p>
          <a:p>
            <a:r>
              <a:rPr lang="zh-CN" sz="2800"/>
              <a:t>④建立了科技人员的培养进修、职工技能培训、优秀人才引进，以及人才绩效评价奖励制度。（≤4分）</a:t>
            </a:r>
            <a:endParaRPr lang="zh-CN" sz="2800"/>
          </a:p>
          <a:p>
            <a:r>
              <a:rPr lang="zh-CN" sz="2800"/>
              <a:t>研究开发组织管理水平提供的依据：项目立项报告、研发费用及收入核算体系，研发人员绩效考核奖励制度，产学研项目合作协议，研发设备清单等。</a:t>
            </a:r>
            <a:endParaRPr lang="zh-CN" sz="28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a:xfrm>
            <a:off x="609759" y="1343026"/>
            <a:ext cx="10975658" cy="4525963"/>
          </a:xfrm>
        </p:spPr>
        <p:txBody>
          <a:bodyPr/>
          <a:lstStyle/>
          <a:p>
            <a:r>
              <a:rPr lang="zh-CN" sz="2400"/>
              <a:t>（4）企业成长性（≤20分）</a:t>
            </a:r>
            <a:endParaRPr lang="zh-CN" sz="2400"/>
          </a:p>
          <a:p>
            <a:r>
              <a:rPr lang="zh-CN" sz="2400"/>
              <a:t>①净资产增长率</a:t>
            </a:r>
            <a:endParaRPr lang="zh-CN" sz="2400"/>
          </a:p>
          <a:p>
            <a:r>
              <a:rPr lang="zh-CN" sz="2400"/>
              <a:t>净资产增长率＝1/2×（第二年末净资产÷第一年末净资产＋第三年末净资产÷第二年末净资产）－1</a:t>
            </a:r>
            <a:endParaRPr lang="zh-CN" sz="2400"/>
          </a:p>
          <a:p>
            <a:r>
              <a:rPr lang="zh-CN" sz="2400"/>
              <a:t>净资产=资产总额－负债总额</a:t>
            </a:r>
            <a:endParaRPr lang="zh-CN" sz="2400"/>
          </a:p>
          <a:p>
            <a:r>
              <a:rPr lang="zh-CN" sz="2400"/>
              <a:t>②销售收入增长率</a:t>
            </a:r>
            <a:endParaRPr lang="zh-CN" sz="2400"/>
          </a:p>
          <a:p>
            <a:r>
              <a:rPr lang="zh-CN" sz="2400"/>
              <a:t>销售收入增长率＝1/2（第二年销售收入÷第一年销售收入＋第三年销售收入÷第二年销售收入）－1</a:t>
            </a:r>
            <a:endParaRPr lang="zh-CN" sz="2400"/>
          </a:p>
          <a:p>
            <a:r>
              <a:rPr lang="zh-CN" sz="2400"/>
              <a:t>按审计后数据计算。</a:t>
            </a:r>
            <a:endParaRPr lang="zh-CN" sz="2400"/>
          </a:p>
          <a:p>
            <a:r>
              <a:rPr lang="zh-CN" sz="2400"/>
              <a:t>企业净资产增长率或销售收入增长率为负的，按0分计算。</a:t>
            </a:r>
            <a:endParaRPr lang="zh-CN" sz="2400"/>
          </a:p>
          <a:p>
            <a:r>
              <a:rPr lang="zh-CN" sz="2400"/>
              <a:t>第一年末净资产或销售收入为0的，按后两年计算；第二年末净资产或销售收入为0的，按0分计算。</a:t>
            </a:r>
            <a:endParaRPr lang="zh-CN" sz="2400"/>
          </a:p>
          <a:p>
            <a:r>
              <a:rPr lang="zh-CN" sz="2400"/>
              <a:t>成立一年的企业，为0分。</a:t>
            </a:r>
            <a:endParaRPr lang="zh-CN" sz="24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pic>
        <p:nvPicPr>
          <p:cNvPr id="4" name="图片 1"/>
          <p:cNvPicPr/>
          <p:nvPr/>
        </p:nvPicPr>
        <p:blipFill>
          <a:blip r:embed="rId1"/>
          <a:stretch>
            <a:fillRect/>
          </a:stretch>
        </p:blipFill>
        <p:spPr>
          <a:xfrm>
            <a:off x="1414145" y="1405890"/>
            <a:ext cx="7844790" cy="4045585"/>
          </a:xfrm>
          <a:prstGeom prst="rect">
            <a:avLst/>
          </a:prstGeom>
          <a:noFill/>
          <a:ln>
            <a:noFill/>
          </a:ln>
        </p:spPr>
      </p:pic>
      <p:sp>
        <p:nvSpPr>
          <p:cNvPr id="100" name="文本框 99"/>
          <p:cNvSpPr txBox="1"/>
          <p:nvPr/>
        </p:nvSpPr>
        <p:spPr>
          <a:xfrm>
            <a:off x="881380" y="5556885"/>
            <a:ext cx="10100310" cy="829945"/>
          </a:xfrm>
          <a:prstGeom prst="rect">
            <a:avLst/>
          </a:prstGeom>
          <a:noFill/>
          <a:ln>
            <a:noFill/>
          </a:ln>
        </p:spPr>
        <p:txBody>
          <a:bodyPr wrap="square">
            <a:spAutoFit/>
          </a:bodyPr>
          <a:lstStyle/>
          <a:p>
            <a:pPr indent="266700"/>
            <a:r>
              <a:rPr lang="zh-CN" sz="2400" b="0"/>
              <a:t>8．企业申请认定前一年内未发生重大安全、重大质量事故或严重环境违法行为。申请前的365天内（含申报年）</a:t>
            </a:r>
            <a:endParaRPr lang="zh-CN" sz="24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r>
              <a:rPr lang="zh-CN">
                <a:solidFill>
                  <a:srgbClr val="FF0000"/>
                </a:solidFill>
              </a:rPr>
              <a:t>（二）认定程序</a:t>
            </a:r>
            <a:endParaRPr lang="zh-CN">
              <a:solidFill>
                <a:srgbClr val="FF0000"/>
              </a:solidFill>
            </a:endParaRPr>
          </a:p>
          <a:p>
            <a:r>
              <a:rPr lang="zh-CN"/>
              <a:t>认定机构：	</a:t>
            </a:r>
            <a:endParaRPr lang="zh-CN"/>
          </a:p>
          <a:p>
            <a:r>
              <a:rPr lang="zh-CN"/>
              <a:t>各省、自治区、直辖市、计划单列市科技行政管理部门同本级财政、税务部门组成本地区高新技术企业认定管理机构（简称“认定机构”）。</a:t>
            </a:r>
            <a:endParaRPr 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normAutofit fontScale="90000"/>
          </a:bodyPr>
          <a:lstStyle/>
          <a:p>
            <a:r>
              <a:rPr lang="zh-CN"/>
              <a:t>1．自我评价</a:t>
            </a:r>
            <a:endParaRPr lang="zh-CN"/>
          </a:p>
          <a:p>
            <a:r>
              <a:rPr lang="zh-CN"/>
              <a:t>企业应根据《高新技术企业认定管理办法》和《高新技术企业认定管理工作指引》进行自我评价。</a:t>
            </a:r>
            <a:endParaRPr lang="zh-CN"/>
          </a:p>
          <a:p>
            <a:r>
              <a:rPr lang="zh-CN"/>
              <a:t>2．注册登记</a:t>
            </a:r>
            <a:endParaRPr lang="zh-CN"/>
          </a:p>
          <a:p>
            <a:r>
              <a:rPr lang="zh-CN"/>
              <a:t>（1）企业登录“高新技术企业认定管理工作网”（简称网站）；</a:t>
            </a:r>
            <a:endParaRPr lang="zh-CN"/>
          </a:p>
          <a:p>
            <a:r>
              <a:rPr lang="zh-CN"/>
              <a:t>（2）按要求填写《企业注册登记表》，并通过网络系统提交至认定机构；</a:t>
            </a:r>
            <a:endParaRPr lang="zh-CN"/>
          </a:p>
          <a:p>
            <a:r>
              <a:rPr lang="zh-CN"/>
              <a:t>（3）认定机构核对企业注册信息，在网络系统上确认激活后，企业可以开展后续申报工作。</a:t>
            </a:r>
            <a:endParaRPr lang="zh-C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normAutofit/>
          </a:bodyPr>
          <a:lstStyle/>
          <a:p>
            <a:pPr algn="l"/>
            <a:r>
              <a:rPr lang="zh-CN"/>
              <a:t>3．提交资料</a:t>
            </a:r>
            <a:endParaRPr lang="zh-CN"/>
          </a:p>
          <a:p>
            <a:pPr algn="l"/>
            <a:r>
              <a:rPr lang="zh-CN"/>
              <a:t>（1）企业登录“高新技术企业认定管理工作网”，按要求填写《高新技术企业认定申请书》，在线提交至认定机构；</a:t>
            </a:r>
            <a:endParaRPr lang="zh-CN"/>
          </a:p>
          <a:p>
            <a:pPr algn="l"/>
            <a:r>
              <a:rPr lang="zh-CN"/>
              <a:t>（2）并向认定机构提交下列书面材料：</a:t>
            </a:r>
            <a:endParaRPr lang="zh-CN"/>
          </a:p>
          <a:p>
            <a:pPr algn="l"/>
            <a:r>
              <a:rPr lang="zh-CN"/>
              <a:t>①《高新技术企业认定申请书》（在线打印并签名、加盖企业公章）；</a:t>
            </a:r>
            <a:endParaRPr lang="zh-CN"/>
          </a:p>
          <a:p>
            <a:pPr algn="l"/>
            <a:r>
              <a:rPr lang="zh-CN"/>
              <a:t>②企业的《营业执照》等相关注册登记证件的复印件；</a:t>
            </a:r>
            <a:endParaRPr 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normAutofit fontScale="90000" lnSpcReduction="10000"/>
          </a:bodyPr>
          <a:lstStyle/>
          <a:p>
            <a:pPr algn="l"/>
            <a:r>
              <a:rPr lang="zh-CN"/>
              <a:t>③高新技术证明资料；</a:t>
            </a:r>
            <a:endParaRPr lang="zh-CN"/>
          </a:p>
          <a:p>
            <a:pPr algn="l"/>
            <a:r>
              <a:rPr lang="zh-CN"/>
              <a:t>知识产权相关材料</a:t>
            </a:r>
            <a:endParaRPr lang="zh-CN"/>
          </a:p>
          <a:p>
            <a:pPr algn="l"/>
            <a:r>
              <a:rPr lang="zh-CN"/>
              <a:t>知识产权证书及反映技术水平的证明材料、参与制定标准情况等。</a:t>
            </a:r>
            <a:endParaRPr lang="zh-CN"/>
          </a:p>
          <a:p>
            <a:pPr algn="l"/>
            <a:r>
              <a:rPr lang="zh-CN"/>
              <a:t>科研项目立项证明</a:t>
            </a:r>
            <a:endParaRPr lang="zh-CN"/>
          </a:p>
          <a:p>
            <a:pPr algn="l"/>
            <a:r>
              <a:rPr lang="zh-CN"/>
              <a:t>已验收或结题项目需附验收或结题报告</a:t>
            </a:r>
            <a:endParaRPr lang="zh-CN"/>
          </a:p>
          <a:p>
            <a:pPr algn="l"/>
            <a:r>
              <a:rPr lang="zh-CN"/>
              <a:t>科技成果转化</a:t>
            </a:r>
            <a:endParaRPr lang="zh-CN"/>
          </a:p>
          <a:p>
            <a:pPr algn="l"/>
            <a:r>
              <a:rPr lang="zh-CN"/>
              <a:t>总体情况与转化形式、应用成效的逐项说明</a:t>
            </a:r>
            <a:endParaRPr lang="zh-CN"/>
          </a:p>
          <a:p>
            <a:pPr algn="l"/>
            <a:r>
              <a:rPr lang="zh-CN"/>
              <a:t>研究开发组织管理</a:t>
            </a:r>
            <a:endParaRPr lang="zh-CN"/>
          </a:p>
          <a:p>
            <a:pPr algn="l"/>
            <a:r>
              <a:rPr lang="zh-CN"/>
              <a:t>总体情况与四项指标符合情况的具体说明</a:t>
            </a:r>
            <a:endParaRPr 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normAutofit fontScale="90000"/>
          </a:bodyPr>
          <a:lstStyle/>
          <a:p>
            <a:pPr algn="l"/>
            <a:r>
              <a:rPr lang="zh-CN"/>
              <a:t>④企业高新技术产品（服务）的关键技术和技术指标的具体说明，相关的生产批文、认证认可和资质证书、产品质量检验报告等材料；</a:t>
            </a:r>
            <a:endParaRPr lang="zh-CN"/>
          </a:p>
          <a:p>
            <a:pPr algn="l"/>
            <a:r>
              <a:rPr lang="zh-CN"/>
              <a:t>⑤企业职工和科技人员情况说明材料，包括在职、兼职和临时聘用人员人数、人员学历结构、科技人员名单及其工作岗位等；</a:t>
            </a:r>
            <a:endParaRPr lang="zh-CN"/>
          </a:p>
          <a:p>
            <a:pPr algn="l"/>
            <a:r>
              <a:rPr lang="zh-CN"/>
              <a:t>⑥经具有资质并符合本《工作指引》相关条件的中介机构出具的企业近三个会计年度（实际年限不足三年的按实际经营年限，下同）研究开发费用、近一个会计年度高新技术产品（服务）收入专项审计或鉴证报告，并附研究开发活动说明材料；</a:t>
            </a:r>
            <a:endParaRPr lang="zh-C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normAutofit/>
          </a:bodyPr>
          <a:lstStyle/>
          <a:p>
            <a:pPr algn="l"/>
            <a:r>
              <a:rPr lang="zh-CN" sz="2800"/>
              <a:t>⑦经具有资质的中介机构鉴证的企业近三个会计年度的财务会计报告（包括会计报表、会计报表附注和财务情况说明书）；</a:t>
            </a:r>
            <a:endParaRPr lang="zh-CN" sz="2800"/>
          </a:p>
          <a:p>
            <a:pPr algn="l"/>
            <a:r>
              <a:rPr lang="zh-CN" sz="2800"/>
              <a:t>⑧近三个会计年度企业所得税年度纳税申报表。</a:t>
            </a:r>
            <a:endParaRPr lang="zh-CN" sz="2800"/>
          </a:p>
          <a:p>
            <a:pPr algn="l"/>
            <a:r>
              <a:rPr lang="zh-CN" sz="2800"/>
              <a:t>对涉密企业，须将申请认定高新技术企业的申报材料做脱密处理，确保涉密信息安全。</a:t>
            </a:r>
            <a:endParaRPr lang="zh-CN" sz="2800"/>
          </a:p>
          <a:p>
            <a:pPr algn="l"/>
            <a:r>
              <a:rPr lang="zh-CN" sz="2800"/>
              <a:t>审计报告</a:t>
            </a:r>
            <a:endParaRPr lang="zh-CN" sz="2800"/>
          </a:p>
        </p:txBody>
      </p:sp>
      <p:pic>
        <p:nvPicPr>
          <p:cNvPr id="6" name="图片 1"/>
          <p:cNvPicPr/>
          <p:nvPr/>
        </p:nvPicPr>
        <p:blipFill>
          <a:blip r:embed="rId1"/>
          <a:stretch>
            <a:fillRect/>
          </a:stretch>
        </p:blipFill>
        <p:spPr>
          <a:xfrm>
            <a:off x="5505450" y="3564573"/>
            <a:ext cx="5210175" cy="3133725"/>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pPr algn="l"/>
            <a:r>
              <a:rPr lang="zh-CN" sz="2400"/>
              <a:t>4．专家评审</a:t>
            </a:r>
            <a:endParaRPr lang="zh-CN" sz="2400"/>
          </a:p>
          <a:p>
            <a:pPr algn="l"/>
            <a:r>
              <a:rPr lang="zh-CN" sz="2400"/>
              <a:t>认定机构收到企业申请材料后，根据企业主营产品（服务）的核心技术所属技术领域在符合评审要求的专家中，随机抽取专家组成专家组，对每个企业的评审专家不少于5人（其中技术专家不少于60%，并至少有1名财务专家）。</a:t>
            </a:r>
            <a:endParaRPr lang="zh-CN" sz="2400"/>
          </a:p>
          <a:p>
            <a:pPr algn="l"/>
            <a:r>
              <a:rPr lang="zh-CN" sz="2400"/>
              <a:t>专家组长汇总各位专家分数，按分数平均值填写《高新技术企业认定专家组综合评价表》。</a:t>
            </a:r>
            <a:endParaRPr lang="zh-CN" sz="2400"/>
          </a:p>
          <a:p>
            <a:pPr algn="l"/>
            <a:r>
              <a:rPr lang="zh-CN" sz="2400"/>
              <a:t>具备条件的地区可进行网络评审。</a:t>
            </a:r>
            <a:endParaRPr lang="zh-CN" sz="2400"/>
          </a:p>
          <a:p>
            <a:pPr algn="l"/>
            <a:r>
              <a:rPr lang="zh-CN" sz="2400"/>
              <a:t>5．认定报备</a:t>
            </a:r>
            <a:endParaRPr lang="zh-CN" sz="2400"/>
          </a:p>
          <a:p>
            <a:pPr algn="l"/>
            <a:r>
              <a:rPr lang="zh-CN" sz="2400"/>
              <a:t>认定机构结合专家组评审意见，对申请企业申报材料进行综合审查（可视情况对部分企业进行实地核查）。</a:t>
            </a:r>
            <a:endParaRPr lang="zh-CN" sz="2400"/>
          </a:p>
          <a:p>
            <a:pPr algn="l"/>
            <a:r>
              <a:rPr lang="zh-CN" sz="2400"/>
              <a:t>确定认定高新技术企业名单，报领导小组办公室备案，报送时间不得晚于每年11月底。</a:t>
            </a:r>
            <a:endParaRPr lang="zh-CN" sz="240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pPr algn="l"/>
            <a:r>
              <a:rPr lang="zh-CN" sz="2400"/>
              <a:t>6．公示公告</a:t>
            </a:r>
            <a:endParaRPr lang="zh-CN" sz="2400"/>
          </a:p>
          <a:p>
            <a:pPr algn="l"/>
            <a:r>
              <a:rPr lang="zh-CN" sz="2400"/>
              <a:t>经认定报备的企业名单，由领导小组办公室在“高新技术企业认定管理工作网”公示10个工作日。</a:t>
            </a:r>
            <a:endParaRPr lang="zh-CN" sz="2400"/>
          </a:p>
          <a:p>
            <a:pPr algn="l"/>
            <a:r>
              <a:rPr lang="zh-CN" sz="2400"/>
              <a:t>无异议的，予以备案，并在“高新技术企业认定管理工作网”上公告企业名单，由认定机构向企业颁发统一印制的“高新技术企业证书”；</a:t>
            </a:r>
            <a:endParaRPr lang="zh-CN" sz="2400"/>
          </a:p>
          <a:p>
            <a:pPr algn="l"/>
            <a:r>
              <a:rPr lang="zh-CN" sz="2400"/>
              <a:t>有异议的，须以书面形式实名向领导小组办公室提出，由认定机构核实处理。</a:t>
            </a:r>
            <a:endParaRPr lang="zh-CN" sz="2400"/>
          </a:p>
          <a:p>
            <a:pPr algn="l"/>
            <a:r>
              <a:rPr lang="zh-CN" sz="2400"/>
              <a:t>领导小组办公室对报备企业可进行随机抽查，对存在问题的企业交由认定机构核实情况并提出处理建议。</a:t>
            </a:r>
            <a:endParaRPr lang="zh-CN" sz="24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二、高新技术企业认定</a:t>
            </a:r>
            <a:endParaRPr lang="zh-CN"/>
          </a:p>
        </p:txBody>
      </p:sp>
      <p:sp>
        <p:nvSpPr>
          <p:cNvPr id="3" name="内容占位符 2"/>
          <p:cNvSpPr/>
          <p:nvPr>
            <p:ph idx="1"/>
          </p:nvPr>
        </p:nvSpPr>
        <p:spPr/>
        <p:txBody>
          <a:bodyPr/>
          <a:lstStyle/>
          <a:p>
            <a:pPr algn="l"/>
            <a:r>
              <a:rPr lang="zh-CN">
                <a:solidFill>
                  <a:srgbClr val="FF0000"/>
                </a:solidFill>
              </a:rPr>
              <a:t>（三）后续管理</a:t>
            </a:r>
            <a:endParaRPr lang="zh-CN">
              <a:solidFill>
                <a:srgbClr val="FF0000"/>
              </a:solidFill>
            </a:endParaRPr>
          </a:p>
          <a:p>
            <a:pPr algn="l"/>
            <a:r>
              <a:rPr lang="zh-CN" sz="2400"/>
              <a:t>1．企业年报</a:t>
            </a:r>
            <a:endParaRPr lang="zh-CN" sz="2400"/>
          </a:p>
          <a:p>
            <a:pPr algn="l"/>
            <a:r>
              <a:rPr lang="zh-CN" sz="2400"/>
              <a:t>每年5月底前通过“高新技术企业认定管理工作网”，报送上一年度知识产权、科技人员、研发费用、经营收入等年度发展情况报表；</a:t>
            </a:r>
            <a:endParaRPr lang="zh-CN" sz="2400"/>
          </a:p>
          <a:p>
            <a:pPr algn="l"/>
            <a:r>
              <a:rPr lang="zh-CN" sz="2400"/>
              <a:t>在同一高新技术企业资格有效期内，企业累计两年未按规定时限报送年度发展情况报表的，由认定机构取消其高新技术企业资格。</a:t>
            </a:r>
            <a:endParaRPr lang="zh-CN" sz="2400"/>
          </a:p>
          <a:p>
            <a:pPr algn="l"/>
            <a:r>
              <a:rPr lang="zh-CN" sz="2400"/>
              <a:t>2．复审</a:t>
            </a:r>
            <a:endParaRPr lang="zh-CN" sz="2400"/>
          </a:p>
          <a:p>
            <a:pPr algn="l"/>
            <a:r>
              <a:rPr lang="zh-CN" sz="2400"/>
              <a:t>证书自认定时间起三年内有效，超过三年需办理高新证书复审，未按时办理的，该证书自动失效。</a:t>
            </a:r>
            <a:endParaRPr lang="zh-CN" sz="2400"/>
          </a:p>
          <a:p>
            <a:pPr algn="l"/>
            <a:r>
              <a:rPr lang="zh-CN" sz="2400"/>
              <a:t>高新证书认定及复审一年分两次进行，上下半年各有一次，企业在证书上的到期日前选择办理时间。</a:t>
            </a:r>
            <a:endParaRPr lang="zh-CN" sz="24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p:txBody>
          <a:bodyPr/>
          <a:lstStyle/>
          <a:p>
            <a:pPr algn="l"/>
            <a:r>
              <a:rPr lang="zh-CN"/>
              <a:t>加计扣除税收规定口径，由财政部国家税务总局科技部关于完善研究开发费用税前加计扣除政策的通知（财税〔2015〕119号）文件和国家税务总局关于企业研究开发费用税前加计扣除政策有关问题的公告（国家税务总局公告2015年第97号）、国家税务总局关于研发费用税前加计扣除归集范围有关问题的公告（国家税务总局公告2017年第40号）规范。</a:t>
            </a:r>
            <a:endParaRPr lang="zh-C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p:txBody>
          <a:bodyPr/>
          <a:lstStyle/>
          <a:p>
            <a:pPr algn="l"/>
            <a:r>
              <a:rPr lang="zh-CN"/>
              <a:t>（二）研发费的加计扣除</a:t>
            </a:r>
            <a:endParaRPr lang="zh-CN"/>
          </a:p>
          <a:p>
            <a:pPr algn="l"/>
            <a:r>
              <a:rPr lang="zh-CN"/>
              <a:t>1.研发费加计扣除优惠政策</a:t>
            </a:r>
            <a:endParaRPr lang="zh-CN"/>
          </a:p>
          <a:p>
            <a:pPr algn="l"/>
            <a:r>
              <a:rPr lang="zh-CN"/>
              <a:t>财政部税务总局科技部关于提高研究开发费用税前加计扣除比例的通知（财税〔2018〕99号）</a:t>
            </a:r>
            <a:endParaRPr lang="zh-CN"/>
          </a:p>
          <a:p>
            <a:pPr algn="l"/>
            <a:r>
              <a:rPr lang="zh-CN"/>
              <a:t>一、企业开展研发活动中实际发生的研发费用，未形成无形资产计入当期损益的，在按规定据实扣除的基础上，在2018年1月1日至2020年12月31日期间，再按照实际发生额的75%在税前加计扣除；形成无形资产的，在上述期间按照无形资产成本的175%在税前摊销。</a:t>
            </a:r>
            <a:endParaRPr lang="zh-C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p:txBody>
          <a:bodyPr/>
          <a:lstStyle/>
          <a:p>
            <a:pPr algn="l"/>
            <a:r>
              <a:rPr lang="zh-CN"/>
              <a:t>2．允许研发费加计扣除的企业</a:t>
            </a:r>
            <a:endParaRPr lang="zh-CN"/>
          </a:p>
          <a:p>
            <a:pPr algn="l"/>
            <a:r>
              <a:rPr lang="zh-CN"/>
              <a:t>除规定不适用加计扣除的6个行业外，其余企业均可以享受优惠政策。</a:t>
            </a:r>
            <a:endParaRPr lang="zh-CN"/>
          </a:p>
          <a:p>
            <a:pPr algn="l"/>
            <a:r>
              <a:rPr lang="zh-CN"/>
              <a:t>烟草制造业、住宿和餐饮业、批发和零售业、房地产业、租赁和商务服务业、娱乐业。以6个行业业务为主营业务的企业（当年的主营业务收入占按收入总额（不含不征税收入）大于50%）。</a:t>
            </a:r>
            <a:endParaRPr lang="zh-C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503681"/>
            <a:ext cx="10975658" cy="4525963"/>
          </a:xfrm>
        </p:spPr>
        <p:txBody>
          <a:bodyPr/>
          <a:lstStyle/>
          <a:p>
            <a:pPr algn="l"/>
            <a:r>
              <a:rPr lang="zh-CN"/>
              <a:t>3．研发活动</a:t>
            </a:r>
            <a:endParaRPr lang="zh-CN"/>
          </a:p>
          <a:p>
            <a:pPr algn="l"/>
            <a:r>
              <a:rPr lang="zh-CN"/>
              <a:t>企业研发活动一般分为自主研发、委托研发、合作研发、集中研发以及以上方式的组合。</a:t>
            </a:r>
            <a:endParaRPr lang="zh-CN"/>
          </a:p>
          <a:p>
            <a:pPr algn="l"/>
            <a:r>
              <a:rPr lang="zh-CN"/>
              <a:t>委托研发：</a:t>
            </a:r>
            <a:endParaRPr lang="zh-CN"/>
          </a:p>
          <a:p>
            <a:pPr algn="l"/>
            <a:r>
              <a:rPr lang="zh-CN"/>
              <a:t>企业委托外部机构或个人开展研发活动发生的费用，可按规定税前扣除；加计扣除时按照研发活动发生费用的80%作为加计扣除基数。</a:t>
            </a:r>
            <a:endParaRPr lang="zh-CN"/>
          </a:p>
          <a:p>
            <a:pPr algn="l"/>
            <a:r>
              <a:rPr lang="zh-CN"/>
              <a:t>委托方部分或全部拥有知识产权时，才可按照委托研发享受加计扣除政策。若知识产权最后属于受托方，则不能按照委托研发享受加计扣除政策。</a:t>
            </a:r>
            <a:endParaRPr lang="zh-C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311276"/>
            <a:ext cx="10975658" cy="4525963"/>
          </a:xfrm>
        </p:spPr>
        <p:txBody>
          <a:bodyPr/>
          <a:lstStyle/>
          <a:p>
            <a:pPr algn="l"/>
            <a:r>
              <a:rPr lang="zh-CN" sz="2800"/>
              <a:t>无论委托方是否享受研发费用税前加计扣除政策，受托方均不得加计扣除</a:t>
            </a:r>
            <a:endParaRPr lang="zh-CN" sz="2800"/>
          </a:p>
          <a:p>
            <a:pPr algn="l"/>
            <a:r>
              <a:rPr lang="zh-CN" sz="2800"/>
              <a:t>委托境外研发费用不超过境内符合条件的研发费用三分之二的部分，可以加计扣除。</a:t>
            </a:r>
            <a:endParaRPr lang="zh-CN" sz="2800"/>
          </a:p>
          <a:p>
            <a:pPr algn="l"/>
            <a:r>
              <a:rPr lang="zh-CN" sz="2800"/>
              <a:t>合作研发:在合同中应注明，双方分别投入、各自承担费用、知识产权双方共有或各自拥有自己的研究成果的知识产权。合作各方就自身实际承担的研发费用分别计算加计扣除。</a:t>
            </a:r>
            <a:endParaRPr lang="zh-CN" sz="2800"/>
          </a:p>
          <a:p>
            <a:pPr algn="l"/>
            <a:r>
              <a:rPr lang="zh-CN" sz="2800"/>
              <a:t>合作研发、委托研发的合同需经科技主管部门登记。</a:t>
            </a:r>
            <a:endParaRPr lang="zh-CN" sz="2800"/>
          </a:p>
          <a:p>
            <a:pPr algn="l"/>
            <a:r>
              <a:rPr lang="zh-CN" sz="2800"/>
              <a:t>集中研发是指集团企业根据生产经营和科技开发的实际情况，对技术要求高、投资数额大，单个企业难以独立承担，或者研发力量集中在集团公司、由其统筹管理集团研发活动的研发项目进行集中研发。</a:t>
            </a:r>
            <a:endParaRPr lang="zh-CN" sz="28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503681"/>
            <a:ext cx="10975658" cy="4525963"/>
          </a:xfrm>
        </p:spPr>
        <p:txBody>
          <a:bodyPr/>
          <a:lstStyle/>
          <a:p>
            <a:pPr algn="l"/>
            <a:r>
              <a:rPr lang="zh-CN"/>
              <a:t>4．不适用加计扣除的情况</a:t>
            </a:r>
            <a:endParaRPr lang="zh-CN"/>
          </a:p>
          <a:p>
            <a:pPr algn="l"/>
            <a:r>
              <a:rPr lang="zh-CN"/>
              <a:t>企业发生的以下一般的知识性、技术性活动不适用研发费用加计扣除优惠政策：</a:t>
            </a:r>
            <a:endParaRPr lang="zh-CN"/>
          </a:p>
          <a:p>
            <a:pPr algn="l"/>
            <a:r>
              <a:rPr lang="zh-CN"/>
              <a:t>（1）企业产品（服务）的常规性升级。</a:t>
            </a:r>
            <a:endParaRPr lang="zh-CN"/>
          </a:p>
          <a:p>
            <a:pPr algn="l"/>
            <a:r>
              <a:rPr lang="zh-CN"/>
              <a:t>（2）对某项科研成果的直接应用，如直接采用公开的新工艺、材料、装置、产品、服务或知识等。</a:t>
            </a:r>
            <a:endParaRPr lang="zh-CN"/>
          </a:p>
          <a:p>
            <a:pPr algn="l"/>
            <a:r>
              <a:rPr lang="zh-CN"/>
              <a:t>（3）企业在商品化后为顾客提供的技术支持活动。</a:t>
            </a:r>
            <a:endParaRPr 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503681"/>
            <a:ext cx="10975658" cy="4525963"/>
          </a:xfrm>
        </p:spPr>
        <p:txBody>
          <a:bodyPr/>
          <a:lstStyle/>
          <a:p>
            <a:pPr algn="l"/>
            <a:r>
              <a:rPr lang="zh-CN"/>
              <a:t>（4）对现存产品、服务、技术、材料或工艺流程进行的重复或简单改变。</a:t>
            </a:r>
            <a:endParaRPr lang="zh-CN"/>
          </a:p>
          <a:p>
            <a:pPr algn="l"/>
            <a:r>
              <a:rPr lang="zh-CN"/>
              <a:t>（5）市场调查研究、效率调查或管理研究。</a:t>
            </a:r>
            <a:endParaRPr lang="zh-CN"/>
          </a:p>
          <a:p>
            <a:pPr algn="l"/>
            <a:r>
              <a:rPr lang="zh-CN"/>
              <a:t>（6）作为工业（服务）流程环节或常规的质量控制、测试分析、维修维护。</a:t>
            </a:r>
            <a:endParaRPr lang="zh-CN"/>
          </a:p>
          <a:p>
            <a:pPr algn="l"/>
            <a:r>
              <a:rPr lang="zh-CN"/>
              <a:t>（7）社会科学、艺术或人文学方面的研究。</a:t>
            </a:r>
            <a:endParaRPr lang="zh-CN"/>
          </a:p>
          <a:p>
            <a:pPr algn="l"/>
            <a:r>
              <a:rPr lang="zh-CN"/>
              <a:t>注：高新认定研发活动：不包括上述1、2、7项。</a:t>
            </a:r>
            <a:endParaRPr 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417956"/>
            <a:ext cx="10975658" cy="4525963"/>
          </a:xfrm>
        </p:spPr>
        <p:txBody>
          <a:bodyPr/>
          <a:lstStyle/>
          <a:p>
            <a:pPr algn="l"/>
            <a:r>
              <a:rPr lang="zh-CN"/>
              <a:t>5．研发费的范围</a:t>
            </a:r>
            <a:endParaRPr lang="zh-CN"/>
          </a:p>
          <a:p>
            <a:pPr algn="l"/>
            <a:r>
              <a:rPr lang="zh-CN"/>
              <a:t>（1）人员人工费用。</a:t>
            </a:r>
            <a:endParaRPr lang="zh-CN"/>
          </a:p>
          <a:p>
            <a:pPr algn="l"/>
            <a:r>
              <a:rPr lang="zh-CN"/>
              <a:t>直接从事研发活动人员的工资薪金、基本养老保险费、基本医疗保险费、失业保险费、工伤保险费、生育保险费和住房公积金，以及外聘研发人员的劳务费用。</a:t>
            </a:r>
            <a:endParaRPr lang="zh-CN"/>
          </a:p>
          <a:p>
            <a:pPr algn="l"/>
            <a:r>
              <a:rPr lang="zh-CN"/>
              <a:t>研发活动人员分为研究人员、技术人员和辅助人员三类。</a:t>
            </a:r>
            <a:endParaRPr lang="zh-CN"/>
          </a:p>
          <a:p>
            <a:pPr algn="l"/>
            <a:r>
              <a:rPr lang="zh-CN"/>
              <a:t>研究人员是指主要从事研究开发项目的专业人员；技术人员是指具有工程技术、自然科学和生命科学中一个或一个以上领域的技术知识和经验，在研究人员指导下参与研发工作的人员；辅助人员是指参与研究开发活动的技工。</a:t>
            </a:r>
            <a:endParaRPr lang="zh-C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165861"/>
            <a:ext cx="10975658" cy="4525963"/>
          </a:xfrm>
        </p:spPr>
        <p:txBody>
          <a:bodyPr/>
          <a:lstStyle/>
          <a:p>
            <a:pPr algn="l"/>
            <a:r>
              <a:rPr lang="zh-CN"/>
              <a:t>研究开发人员既可以是本企业的员工，也可以是外聘研发人员。</a:t>
            </a:r>
            <a:endParaRPr lang="zh-CN"/>
          </a:p>
          <a:p>
            <a:pPr algn="l"/>
            <a:r>
              <a:rPr lang="zh-CN"/>
              <a:t>外聘研发人员是指与本企业或劳务派遣企业签订劳务用工协议（合同）和临时聘用的研究人员、技术人员、辅助人员。</a:t>
            </a:r>
            <a:endParaRPr lang="zh-CN"/>
          </a:p>
          <a:p>
            <a:pPr algn="l"/>
            <a:r>
              <a:rPr lang="zh-CN"/>
              <a:t>接受劳务派遣的企业按照协议（合同）约定支付给劳务派遣企业，且由劳务派遣企业实际支付给外聘研发人员的工资薪金等费用，属于外聘研发人员的劳务费用。</a:t>
            </a:r>
            <a:endParaRPr lang="zh-CN"/>
          </a:p>
          <a:p>
            <a:pPr algn="l"/>
            <a:r>
              <a:rPr lang="zh-CN"/>
              <a:t>直接从事研发活动的人员、外聘研发人员同时从事非研发活动的，企业按实际工时占比等合理方法在研发费用和生产经营费用间分配，未分配的不得加计扣除。</a:t>
            </a:r>
            <a:endParaRPr lang="zh-C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417956"/>
            <a:ext cx="10975658" cy="4525963"/>
          </a:xfrm>
        </p:spPr>
        <p:txBody>
          <a:bodyPr/>
          <a:lstStyle/>
          <a:p>
            <a:pPr algn="l"/>
            <a:r>
              <a:rPr lang="zh-CN"/>
              <a:t>【案例四】</a:t>
            </a:r>
            <a:endParaRPr lang="zh-CN"/>
          </a:p>
          <a:p>
            <a:pPr algn="l"/>
            <a:r>
              <a:rPr lang="zh-CN"/>
              <a:t>甲公司1月份人员工资、五险一金数据见表</a:t>
            </a:r>
            <a:endParaRPr lang="zh-CN"/>
          </a:p>
        </p:txBody>
      </p:sp>
      <p:graphicFrame>
        <p:nvGraphicFramePr>
          <p:cNvPr id="4" name="表格 3"/>
          <p:cNvGraphicFramePr/>
          <p:nvPr/>
        </p:nvGraphicFramePr>
        <p:xfrm>
          <a:off x="860425" y="2703195"/>
          <a:ext cx="9585960" cy="3093085"/>
        </p:xfrm>
        <a:graphic>
          <a:graphicData uri="http://schemas.openxmlformats.org/drawingml/2006/table">
            <a:tbl>
              <a:tblPr firstRow="1" bandRow="1">
                <a:tableStyleId>{5940675A-B579-460E-94D1-54222C63F5DA}</a:tableStyleId>
              </a:tblPr>
              <a:tblGrid>
                <a:gridCol w="1747520"/>
                <a:gridCol w="1781175"/>
                <a:gridCol w="2145030"/>
                <a:gridCol w="2014855"/>
                <a:gridCol w="1897380"/>
              </a:tblGrid>
              <a:tr h="764540">
                <a:tc gridSpan="5">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项目人员工时表——1月　　　　　　　　　　　　　　　　表1</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87985">
                <a:tc rowSpan="2">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姓名</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工时分配（研发部门提供）</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8798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项目A</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项目B</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生产经营</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合计</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7985">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张一</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90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80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170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8620">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李二</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60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80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30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170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7985">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王三</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50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68</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52</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170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7985">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赵四</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48</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36</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86</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3200" b="0">
                          <a:solidFill>
                            <a:srgbClr val="333333"/>
                          </a:solidFill>
                          <a:latin typeface="宋体" panose="02010600030101010101" pitchFamily="2" charset="-122"/>
                          <a:ea typeface="宋体" panose="02010600030101010101" pitchFamily="2" charset="-122"/>
                        </a:rPr>
                        <a:t>170</a:t>
                      </a:r>
                      <a:endParaRPr lang="en-US" sz="32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4" name="内容占位符 3"/>
          <p:cNvSpPr/>
          <p:nvPr>
            <p:ph idx="1"/>
          </p:nvPr>
        </p:nvSpPr>
        <p:spPr/>
        <p:txBody>
          <a:bodyPr/>
          <a:lstStyle/>
          <a:p>
            <a:r>
              <a:rPr lang="zh-CN"/>
              <a:t>人事部门计算人员费用分摊</a:t>
            </a:r>
            <a:endParaRPr lang="zh-CN"/>
          </a:p>
        </p:txBody>
      </p:sp>
      <p:graphicFrame>
        <p:nvGraphicFramePr>
          <p:cNvPr id="5" name="表格 4"/>
          <p:cNvGraphicFramePr/>
          <p:nvPr/>
        </p:nvGraphicFramePr>
        <p:xfrm>
          <a:off x="688340" y="2204720"/>
          <a:ext cx="10367010" cy="4343400"/>
        </p:xfrm>
        <a:graphic>
          <a:graphicData uri="http://schemas.openxmlformats.org/drawingml/2006/table">
            <a:tbl>
              <a:tblPr firstRow="1" bandRow="1">
                <a:tableStyleId>{5940675A-B579-460E-94D1-54222C63F5DA}</a:tableStyleId>
              </a:tblPr>
              <a:tblGrid>
                <a:gridCol w="1279525"/>
                <a:gridCol w="1957705"/>
                <a:gridCol w="2553970"/>
                <a:gridCol w="2304415"/>
                <a:gridCol w="2271395"/>
              </a:tblGrid>
              <a:tr h="436245">
                <a:tc rowSpan="2">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姓名</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工资分配（人事部门计算）</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65151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月工资</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项目A</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项目B</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生产经营</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087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张一</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50 000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26 470.59</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23 529.41</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087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李二</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40 000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14 117.65</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18 823.53</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7 058.82</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15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王三</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30 000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8 823.53</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12 000.00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9 176.47</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087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赵四</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20 000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5 647.05</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4 235.30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10 117.65</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15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合计</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140 000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55 058.82</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58 588.24</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26 352.94</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graphicFrame>
        <p:nvGraphicFramePr>
          <p:cNvPr id="6" name="表格 5"/>
          <p:cNvGraphicFramePr/>
          <p:nvPr/>
        </p:nvGraphicFramePr>
        <p:xfrm>
          <a:off x="742950" y="1407160"/>
          <a:ext cx="10570210" cy="3707130"/>
        </p:xfrm>
        <a:graphic>
          <a:graphicData uri="http://schemas.openxmlformats.org/drawingml/2006/table">
            <a:tbl>
              <a:tblPr firstRow="1" bandRow="1">
                <a:tableStyleId>{5940675A-B579-460E-94D1-54222C63F5DA}</a:tableStyleId>
              </a:tblPr>
              <a:tblGrid>
                <a:gridCol w="1336040"/>
                <a:gridCol w="2042795"/>
                <a:gridCol w="2593975"/>
                <a:gridCol w="2318385"/>
                <a:gridCol w="2279015"/>
              </a:tblGrid>
              <a:tr h="529590">
                <a:tc rowSpan="2">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姓名</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社保分配（人事部门计算）</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2959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月社保</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项目A</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项目B</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生产经营</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95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张一</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7 800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4 129.41</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3 670.59</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95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李二</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7 800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2 752.94</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3 670.59</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1 376.47</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95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王三</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7 800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2 294.12</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3 120.00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2 385.88</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95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赵四</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6 800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1 920.00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1 440.00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3 440.00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95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合计</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30 200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11 096.47</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11 901.18</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7 202.35</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graphicFrame>
        <p:nvGraphicFramePr>
          <p:cNvPr id="3" name="表格 2"/>
          <p:cNvGraphicFramePr/>
          <p:nvPr/>
        </p:nvGraphicFramePr>
        <p:xfrm>
          <a:off x="852170" y="1385570"/>
          <a:ext cx="10395585" cy="4810125"/>
        </p:xfrm>
        <a:graphic>
          <a:graphicData uri="http://schemas.openxmlformats.org/drawingml/2006/table">
            <a:tbl>
              <a:tblPr firstRow="1" bandRow="1">
                <a:tableStyleId>{5940675A-B579-460E-94D1-54222C63F5DA}</a:tableStyleId>
              </a:tblPr>
              <a:tblGrid>
                <a:gridCol w="890270"/>
                <a:gridCol w="1046480"/>
                <a:gridCol w="305435"/>
                <a:gridCol w="2684145"/>
                <a:gridCol w="2734310"/>
                <a:gridCol w="2734945"/>
              </a:tblGrid>
              <a:tr h="354330">
                <a:tc row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姓名</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5">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公积金分配（人事部门计算）</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5433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月公积金</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项目A</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项目B</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生产经营</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3695">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张一</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2 774</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1 468.59</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1 305.41</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330">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李二</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2 774</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979.06</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1 305.41</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489.53</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330">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王三</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2 774</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815.88</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1 109.60</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848.52</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330">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赵四</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2 400</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677.65</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508.24</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1 214.11</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330">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合计</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10 722</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3 941.18</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4 228.66</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2 552.16</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105">
                <a:tc gridSpan="6">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研发项目人员费用表——1月　　　　　　　　　　　　　　　　表2</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54330">
                <a:tc rowSpan="2"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项目名</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tcPr>
                </a:tc>
                <a:tc gridSpan="4">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研发人员费用合计</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54330">
                <a:tc vMerge="1" gridSpan="2">
                  <a:tcPr>
                    <a:lnL w="12700" cap="flat" cmpd="sng">
                      <a:solidFill>
                        <a:srgbClr val="080000"/>
                      </a:solidFill>
                      <a:prstDash val="solid"/>
                      <a:headEnd type="none" w="med" len="med"/>
                      <a:tailEnd type="none" w="med" len="med"/>
                    </a:lnL>
                    <a:lnB w="12700" cap="flat" cmpd="sng">
                      <a:solidFill>
                        <a:srgbClr val="080000"/>
                      </a:solidFill>
                      <a:prstDash val="solid"/>
                      <a:headEnd type="none" w="med" len="med"/>
                      <a:tailEnd type="none" w="med" len="med"/>
                    </a:lnB>
                  </a:tcPr>
                </a:tc>
                <a:tc vMerge="1" hMerge="1">
                  <a:tcPr>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工资</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社保</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公积金</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330">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项目A</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55 058.82</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11 096.47</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3 941.18</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3695">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项目B</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58 588.24</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11 901.18</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4 228.66</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330">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生产经营</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26 352.94</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7 202.35</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2 552.16</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330">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合计</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140 000.00</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30 200.00</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10 722.00</a:t>
                      </a:r>
                      <a:endParaRPr lang="en-US" sz="24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graphicFrame>
        <p:nvGraphicFramePr>
          <p:cNvPr id="4" name="表格 3"/>
          <p:cNvGraphicFramePr/>
          <p:nvPr/>
        </p:nvGraphicFramePr>
        <p:xfrm>
          <a:off x="881380" y="1540510"/>
          <a:ext cx="10474325" cy="4602480"/>
        </p:xfrm>
        <a:graphic>
          <a:graphicData uri="http://schemas.openxmlformats.org/drawingml/2006/table">
            <a:tbl>
              <a:tblPr firstRow="1" bandRow="1">
                <a:tableStyleId>{5940675A-B579-460E-94D1-54222C63F5DA}</a:tableStyleId>
              </a:tblPr>
              <a:tblGrid>
                <a:gridCol w="2590800"/>
                <a:gridCol w="2280920"/>
                <a:gridCol w="2794000"/>
                <a:gridCol w="2808605"/>
              </a:tblGrid>
              <a:tr h="575310">
                <a:tc gridSpan="4">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工资表——1月　　　　　　　　　　　　　　　　　　　　表3</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753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部门</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工资</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社保</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公积金</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研发部——研发项目</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113 647.06</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22 997.65</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8 169.84</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研发部——生产经营</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26 352.94</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7 202.35</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2 552.16</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生产部</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120 000.00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40 800.00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14 400.00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财务部</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50 000.00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17 000.00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6 000.00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行政部</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30 000.00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10 200.00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3 600.00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合计</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340 000.00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98 200.00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34 722.00</a:t>
                      </a:r>
                      <a:endParaRPr lang="en-US" sz="2800" b="0">
                        <a:solidFill>
                          <a:srgbClr val="333333"/>
                        </a:solidFill>
                        <a:latin typeface="宋体" panose="02010600030101010101" pitchFamily="2" charset="-122"/>
                        <a:ea typeface="宋体" panose="02010600030101010101" pitchFamily="2" charset="-122"/>
                      </a:endParaRPr>
                    </a:p>
                  </a:txBody>
                  <a:tcPr marL="9525" marR="9525" marT="9525"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graphicFrame>
        <p:nvGraphicFramePr>
          <p:cNvPr id="3" name="表格 2"/>
          <p:cNvGraphicFramePr/>
          <p:nvPr/>
        </p:nvGraphicFramePr>
        <p:xfrm>
          <a:off x="1042670" y="1530985"/>
          <a:ext cx="10542270" cy="5010150"/>
        </p:xfrm>
        <a:graphic>
          <a:graphicData uri="http://schemas.openxmlformats.org/drawingml/2006/table">
            <a:tbl>
              <a:tblPr firstRow="1" bandRow="1">
                <a:tableStyleId>{5940675A-B579-460E-94D1-54222C63F5DA}</a:tableStyleId>
              </a:tblPr>
              <a:tblGrid>
                <a:gridCol w="1888490"/>
                <a:gridCol w="2232660"/>
                <a:gridCol w="2146300"/>
                <a:gridCol w="1939925"/>
                <a:gridCol w="2334895"/>
              </a:tblGrid>
              <a:tr h="518160">
                <a:tc gridSpan="5">
                  <a:txBody>
                    <a:bodyPr/>
                    <a:lstStyle/>
                    <a:p>
                      <a:pPr indent="0" algn="ctr">
                        <a:buNone/>
                      </a:pPr>
                      <a:r>
                        <a:rPr lang="en-US" sz="2800" b="1">
                          <a:solidFill>
                            <a:srgbClr val="333333"/>
                          </a:solidFill>
                          <a:latin typeface="宋体" panose="02010600030101010101" pitchFamily="2" charset="-122"/>
                          <a:ea typeface="宋体" panose="02010600030101010101" pitchFamily="2" charset="-122"/>
                        </a:rPr>
                        <a:t>财务部记录人员费用</a:t>
                      </a:r>
                      <a:endParaRPr lang="en-US" sz="2800" b="1">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74866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部门</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工资</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社保</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公积金</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五险一金合计</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4866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研发项目A</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55 058.82</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11 096.47</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3 941.18</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15 037.65</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4866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研发项目B</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58 588.24</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11 901.18</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4 228.66</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16 129.84</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4866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生产成本</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146 352.94</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48 002.35</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16 952.16</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64 954.51</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4866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管理费用</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80 000.00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27 200.00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9 600.00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36 800.00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48665">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合计</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340 000.00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98 200.00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34 722.00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132 922.00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934720" y="1321435"/>
            <a:ext cx="10304145" cy="4523105"/>
          </a:xfrm>
          <a:prstGeom prst="rect">
            <a:avLst/>
          </a:prstGeom>
          <a:noFill/>
          <a:ln>
            <a:noFill/>
          </a:ln>
        </p:spPr>
        <p:txBody>
          <a:bodyPr wrap="square">
            <a:spAutoFit/>
          </a:bodyPr>
          <a:lstStyle/>
          <a:p>
            <a:pPr indent="200025"/>
            <a:r>
              <a:rPr lang="zh-CN" sz="2400" b="0">
                <a:solidFill>
                  <a:srgbClr val="3F3F3F"/>
                </a:solidFill>
                <a:ea typeface="宋体" panose="02010600030101010101" pitchFamily="2" charset="-122"/>
              </a:rPr>
              <a:t>【解析】
借：研发支出—费用化支出—人工费用（工资薪金项目A）       55 058.82
—人工费用（工资薪金项目B）　　　　　　　　　　　</a:t>
            </a:r>
            <a:r>
              <a:rPr lang="en-US" sz="2400" b="0">
                <a:solidFill>
                  <a:srgbClr val="3F3F3F"/>
                </a:solidFill>
                <a:ea typeface="宋体" panose="02010600030101010101" pitchFamily="2" charset="-122"/>
              </a:rPr>
              <a:t>	</a:t>
            </a:r>
            <a:r>
              <a:rPr lang="zh-CN" sz="2400" b="0">
                <a:solidFill>
                  <a:srgbClr val="3F3F3F"/>
                </a:solidFill>
                <a:ea typeface="宋体" panose="02010600030101010101" pitchFamily="2" charset="-122"/>
              </a:rPr>
              <a:t>58 588.24
—人工费用（五险一金项目A）　　　　　　　　　　　</a:t>
            </a:r>
            <a:r>
              <a:rPr lang="en-US" sz="2400" b="0">
                <a:solidFill>
                  <a:srgbClr val="3F3F3F"/>
                </a:solidFill>
                <a:ea typeface="宋体" panose="02010600030101010101" pitchFamily="2" charset="-122"/>
              </a:rPr>
              <a:t>	</a:t>
            </a:r>
            <a:r>
              <a:rPr lang="zh-CN" sz="2400" b="0">
                <a:solidFill>
                  <a:srgbClr val="3F3F3F"/>
                </a:solidFill>
                <a:ea typeface="宋体" panose="02010600030101010101" pitchFamily="2" charset="-122"/>
              </a:rPr>
              <a:t>15 037.65
—人工费用（五险一金项目B）　　　　　　　　　　　</a:t>
            </a:r>
            <a:r>
              <a:rPr lang="en-US" sz="2400" b="0">
                <a:solidFill>
                  <a:srgbClr val="3F3F3F"/>
                </a:solidFill>
                <a:ea typeface="宋体" panose="02010600030101010101" pitchFamily="2" charset="-122"/>
              </a:rPr>
              <a:t>	</a:t>
            </a:r>
            <a:r>
              <a:rPr lang="zh-CN" sz="2400" b="0">
                <a:solidFill>
                  <a:srgbClr val="3F3F3F"/>
                </a:solidFill>
                <a:ea typeface="宋体" panose="02010600030101010101" pitchFamily="2" charset="-122"/>
              </a:rPr>
              <a:t>16 129.84
生产成本——工资薪金　　　　　　　　　　　　　　　　　146 352.94
——五险一金　　　　　　　　　　　　　　　　　　</a:t>
            </a:r>
            <a:r>
              <a:rPr lang="en-US" sz="2400" b="0">
                <a:solidFill>
                  <a:srgbClr val="3F3F3F"/>
                </a:solidFill>
                <a:ea typeface="宋体" panose="02010600030101010101" pitchFamily="2" charset="-122"/>
              </a:rPr>
              <a:t>		</a:t>
            </a:r>
            <a:r>
              <a:rPr lang="zh-CN" sz="2400" b="0">
                <a:solidFill>
                  <a:srgbClr val="3F3F3F"/>
                </a:solidFill>
                <a:ea typeface="宋体" panose="02010600030101010101" pitchFamily="2" charset="-122"/>
              </a:rPr>
              <a:t>64 954.51
管理费用——工资薪金　　　　　　　　　　　　　　　　　 80 000
——五险一金　　　　　　　　　　　　　　　　　　 </a:t>
            </a:r>
            <a:r>
              <a:rPr lang="en-US" sz="2400" b="0">
                <a:solidFill>
                  <a:srgbClr val="3F3F3F"/>
                </a:solidFill>
                <a:ea typeface="宋体" panose="02010600030101010101" pitchFamily="2" charset="-122"/>
              </a:rPr>
              <a:t>	</a:t>
            </a:r>
            <a:r>
              <a:rPr lang="zh-CN" sz="2400" b="0">
                <a:solidFill>
                  <a:srgbClr val="3F3F3F"/>
                </a:solidFill>
                <a:ea typeface="宋体" panose="02010600030101010101" pitchFamily="2" charset="-122"/>
              </a:rPr>
              <a:t>36 800
贷：应付职工薪酬——工资　　　　　　　　　　　　　　　 340 000
——社会保险费　　　　　　　　　　　　　　　　　　　      98 200
——住房公积金　　　　　　　　　　　　　　　　　　　      34 722</a:t>
            </a:r>
            <a:endParaRPr lang="zh-CN" sz="240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417955"/>
            <a:ext cx="10401300" cy="3538220"/>
          </a:xfrm>
          <a:prstGeom prst="rect">
            <a:avLst/>
          </a:prstGeom>
          <a:noFill/>
          <a:ln>
            <a:noFill/>
          </a:ln>
        </p:spPr>
        <p:txBody>
          <a:bodyPr wrap="square">
            <a:spAutoFit/>
          </a:bodyPr>
          <a:lstStyle/>
          <a:p>
            <a:pPr marL="342900" indent="-342900" algn="l">
              <a:spcBef>
                <a:spcPct val="20000"/>
              </a:spcBef>
              <a:buFont typeface="Arial" panose="020B0604020202020204" pitchFamily="34" charset="0"/>
            </a:pPr>
            <a:r>
              <a:rPr lang="zh-CN" sz="3200" b="0"/>
              <a:t>高新认定与研发费加计扣除，对人员费用的区别
高新研发费用：人员定义为企业科技人员，要求累计实际工作时间在183天以上。除研发部门以外，还包括如质检部、设计部、生产技术部等。
研发费用加计扣除：人员是直接从事研发活动的人员（研究人员、技术人员和辅助人员），一般对应的是研发部门。</a:t>
            </a:r>
            <a:endParaRPr lang="zh-CN" sz="320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内容占位符 2"/>
          <p:cNvSpPr/>
          <p:nvPr>
            <p:ph idx="1"/>
          </p:nvPr>
        </p:nvSpPr>
        <p:spPr>
          <a:xfrm>
            <a:off x="609759" y="1090931"/>
            <a:ext cx="10975658" cy="4525963"/>
          </a:xfrm>
        </p:spPr>
        <p:txBody>
          <a:bodyPr/>
          <a:lstStyle/>
          <a:p>
            <a:pPr algn="l"/>
            <a:r>
              <a:rPr lang="zh-CN"/>
              <a:t>（2）直接投入费用</a:t>
            </a:r>
            <a:endParaRPr lang="zh-CN"/>
          </a:p>
          <a:p>
            <a:pPr algn="l"/>
            <a:r>
              <a:rPr lang="zh-CN"/>
              <a:t>①研发活动直接消耗的材料、燃料和动力费用。</a:t>
            </a:r>
            <a:endParaRPr lang="zh-CN"/>
          </a:p>
          <a:p>
            <a:pPr algn="l"/>
            <a:r>
              <a:rPr lang="zh-CN"/>
              <a:t>②用于中间试验和产品试制的模具、工艺装备开发及制造费，不构成固定资产的样品、样机及一般测试手段购置费，试制产品的检验费。</a:t>
            </a:r>
            <a:endParaRPr lang="zh-CN"/>
          </a:p>
          <a:p>
            <a:pPr algn="l"/>
            <a:r>
              <a:rPr lang="zh-CN"/>
              <a:t>③用于研发活动的仪器、设备的运行维护、调整、检验、维修等费用，以及通过经营租赁方式租入的用于研发活动的仪器、设备租赁费。</a:t>
            </a:r>
            <a:endParaRPr lang="zh-CN"/>
          </a:p>
          <a:p>
            <a:pPr algn="l"/>
            <a:r>
              <a:rPr lang="zh-CN"/>
              <a:t>研发过程中形成的下脚料、残次品、中间试制品等特殊收入，应从已归集研发费用中扣减该特殊收入，不足扣减的，加计扣除研发费用按零计算。</a:t>
            </a:r>
            <a:endParaRPr lang="zh-C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166495"/>
            <a:ext cx="10401300" cy="5691505"/>
          </a:xfrm>
          <a:prstGeom prst="rect">
            <a:avLst/>
          </a:prstGeom>
          <a:noFill/>
          <a:ln>
            <a:noFill/>
          </a:ln>
        </p:spPr>
        <p:txBody>
          <a:bodyPr wrap="square">
            <a:spAutoFit/>
          </a:bodyPr>
          <a:lstStyle/>
          <a:p>
            <a:pPr marL="342900" indent="-342900" algn="l">
              <a:spcBef>
                <a:spcPct val="20000"/>
              </a:spcBef>
              <a:buFont typeface="Arial" panose="020B0604020202020204" pitchFamily="34" charset="0"/>
            </a:pPr>
            <a:r>
              <a:rPr lang="zh-CN" sz="2800" b="0"/>
              <a:t>（3）折旧费用</a:t>
            </a:r>
            <a:endParaRPr lang="zh-CN" sz="2800" b="0"/>
          </a:p>
          <a:p>
            <a:pPr marL="342900" indent="-342900" algn="l">
              <a:spcBef>
                <a:spcPct val="20000"/>
              </a:spcBef>
              <a:buFont typeface="Arial" panose="020B0604020202020204" pitchFamily="34" charset="0"/>
            </a:pPr>
            <a:r>
              <a:rPr lang="zh-CN" sz="2800" b="0"/>
              <a:t>用于研发活动的仪器、设备的折旧费，是税收上享受加速折旧额部分。</a:t>
            </a:r>
            <a:endParaRPr lang="zh-CN" sz="2800" b="0"/>
          </a:p>
          <a:p>
            <a:pPr marL="342900" indent="-342900" algn="l">
              <a:spcBef>
                <a:spcPct val="20000"/>
              </a:spcBef>
              <a:buFont typeface="Arial" panose="020B0604020202020204" pitchFamily="34" charset="0"/>
            </a:pPr>
            <a:r>
              <a:rPr lang="zh-CN" sz="2800" b="0"/>
              <a:t>用于研发活动的仪器、设备也用于非研发活动，企业应对仪器、设备的使用情况做必要记录，并将其实际发生的相关费用按实际工时占比等合理方法在研发费用和生产经营费用间分配，未分配的不得加计扣除。</a:t>
            </a:r>
            <a:endParaRPr lang="zh-CN" sz="2800" b="0"/>
          </a:p>
          <a:p>
            <a:pPr marL="342900" indent="-342900" algn="l">
              <a:spcBef>
                <a:spcPct val="20000"/>
              </a:spcBef>
              <a:buFont typeface="Arial" panose="020B0604020202020204" pitchFamily="34" charset="0"/>
            </a:pPr>
            <a:r>
              <a:rPr lang="zh-CN" sz="2800" b="0"/>
              <a:t>与高新认定中研发费的异同</a:t>
            </a:r>
            <a:endParaRPr lang="zh-CN" sz="2800" b="0"/>
          </a:p>
          <a:p>
            <a:pPr marL="342900" indent="-342900" algn="l">
              <a:spcBef>
                <a:spcPct val="20000"/>
              </a:spcBef>
              <a:buFont typeface="Arial" panose="020B0604020202020204" pitchFamily="34" charset="0"/>
            </a:pPr>
            <a:r>
              <a:rPr lang="zh-CN" sz="2800" b="0"/>
              <a:t>高新研发费用：用于研究开发活动的仪器、设备和在用建筑物的折旧费；研发设施的改建、改装、装修和修理过程中发生的长期待摊费用。</a:t>
            </a:r>
            <a:endParaRPr lang="zh-CN" sz="2800" b="0"/>
          </a:p>
          <a:p>
            <a:pPr marL="342900" indent="-342900" algn="l">
              <a:spcBef>
                <a:spcPct val="20000"/>
              </a:spcBef>
              <a:buFont typeface="Arial" panose="020B0604020202020204" pitchFamily="34" charset="0"/>
            </a:pPr>
            <a:r>
              <a:rPr lang="zh-CN" sz="2800" b="0"/>
              <a:t>研发费用加计扣除：不包括建筑物的折旧费；无长期待摊费用。</a:t>
            </a:r>
            <a:endParaRPr lang="zh-CN" sz="2800" b="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417955"/>
            <a:ext cx="10401300" cy="1174115"/>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3200" b="0"/>
              <a:t>【案例五】</a:t>
            </a:r>
            <a:endParaRPr lang="zh-CN" sz="3200" b="0"/>
          </a:p>
          <a:p>
            <a:pPr marL="342900" indent="-342900">
              <a:spcBef>
                <a:spcPct val="20000"/>
              </a:spcBef>
              <a:buFont typeface="Arial" panose="020B0604020202020204" pitchFamily="34" charset="0"/>
            </a:pPr>
            <a:r>
              <a:rPr lang="zh-CN" sz="3200" b="0"/>
              <a:t>甲公司1月份固定资产折旧数据见表</a:t>
            </a:r>
            <a:endParaRPr lang="zh-CN" sz="3200" b="0"/>
          </a:p>
        </p:txBody>
      </p:sp>
      <p:graphicFrame>
        <p:nvGraphicFramePr>
          <p:cNvPr id="3" name="表格 2"/>
          <p:cNvGraphicFramePr/>
          <p:nvPr/>
        </p:nvGraphicFramePr>
        <p:xfrm>
          <a:off x="1080135" y="2750820"/>
          <a:ext cx="10217785" cy="3618230"/>
        </p:xfrm>
        <a:graphic>
          <a:graphicData uri="http://schemas.openxmlformats.org/drawingml/2006/table">
            <a:tbl>
              <a:tblPr firstRow="1" bandRow="1">
                <a:tableStyleId>{5940675A-B579-460E-94D1-54222C63F5DA}</a:tableStyleId>
              </a:tblPr>
              <a:tblGrid>
                <a:gridCol w="3081655"/>
                <a:gridCol w="4575810"/>
                <a:gridCol w="2560320"/>
              </a:tblGrid>
              <a:tr h="516890">
                <a:tc gridSpan="3">
                  <a:txBody>
                    <a:bodyPr/>
                    <a:lstStyle/>
                    <a:p>
                      <a:pPr indent="0" algn="ctr">
                        <a:buNone/>
                      </a:pPr>
                      <a:r>
                        <a:rPr lang="en-US" sz="2800" b="1">
                          <a:solidFill>
                            <a:srgbClr val="333333"/>
                          </a:solidFill>
                          <a:latin typeface="宋体" panose="02010600030101010101" pitchFamily="2" charset="-122"/>
                          <a:ea typeface="宋体" panose="02010600030101010101" pitchFamily="2" charset="-122"/>
                        </a:rPr>
                        <a:t>折旧表——1月</a:t>
                      </a:r>
                      <a:endParaRPr lang="en-US" sz="2800" b="1">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5168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固定资产名称</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使用部门</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折旧额</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68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服务器</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研发部——项目</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16 550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68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服务器</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研发部——生产经营</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450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68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办公家具</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行政部</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400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68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电子产品</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销售部</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300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6890">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合计</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800" b="0">
                          <a:solidFill>
                            <a:srgbClr val="333333"/>
                          </a:solidFill>
                          <a:latin typeface="Calibri" panose="020F0502020204030204"/>
                        </a:rPr>
                        <a:t> </a:t>
                      </a:r>
                      <a:endParaRPr lang="en-US" sz="2800" b="0">
                        <a:solidFill>
                          <a:srgbClr val="333333"/>
                        </a:solidFill>
                        <a:latin typeface="Calibri" panose="020F0502020204030204"/>
                        <a:ea typeface="Calibri" panose="020F0502020204030204"/>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800" b="0">
                          <a:solidFill>
                            <a:srgbClr val="333333"/>
                          </a:solidFill>
                          <a:latin typeface="宋体" panose="02010600030101010101" pitchFamily="2" charset="-122"/>
                          <a:ea typeface="宋体" panose="02010600030101010101" pitchFamily="2" charset="-122"/>
                        </a:rPr>
                        <a:t>17 700</a:t>
                      </a:r>
                      <a:endParaRPr lang="en-US" sz="28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graphicFrame>
        <p:nvGraphicFramePr>
          <p:cNvPr id="4" name="表格 3"/>
          <p:cNvGraphicFramePr/>
          <p:nvPr/>
        </p:nvGraphicFramePr>
        <p:xfrm>
          <a:off x="880745" y="1461770"/>
          <a:ext cx="10775950" cy="4297680"/>
        </p:xfrm>
        <a:graphic>
          <a:graphicData uri="http://schemas.openxmlformats.org/drawingml/2006/table">
            <a:tbl>
              <a:tblPr firstRow="1" bandRow="1">
                <a:tableStyleId>{5940675A-B579-460E-94D1-54222C63F5DA}</a:tableStyleId>
              </a:tblPr>
              <a:tblGrid>
                <a:gridCol w="1450340"/>
                <a:gridCol w="1489075"/>
                <a:gridCol w="1419225"/>
                <a:gridCol w="1216025"/>
                <a:gridCol w="1419225"/>
                <a:gridCol w="1216660"/>
                <a:gridCol w="1348740"/>
                <a:gridCol w="1216660"/>
              </a:tblGrid>
              <a:tr h="793115">
                <a:tc gridSpan="8">
                  <a:txBody>
                    <a:bodyPr/>
                    <a:lstStyle/>
                    <a:p>
                      <a:pPr indent="0" algn="ctr">
                        <a:buNone/>
                      </a:pPr>
                      <a:r>
                        <a:rPr lang="en-US" sz="2400" b="1">
                          <a:solidFill>
                            <a:srgbClr val="333333"/>
                          </a:solidFill>
                          <a:latin typeface="宋体" panose="02010600030101010101" pitchFamily="2" charset="-122"/>
                          <a:ea typeface="宋体" panose="02010600030101010101" pitchFamily="2" charset="-122"/>
                        </a:rPr>
                        <a:t>折旧分配表——1月</a:t>
                      </a:r>
                      <a:endParaRPr lang="en-US" sz="2400" b="1">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793115">
                <a:tc row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设备、仪器名称</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400" b="0">
                          <a:solidFill>
                            <a:srgbClr val="333333"/>
                          </a:solidFill>
                          <a:latin typeface="Calibri" panose="020F0502020204030204"/>
                        </a:rPr>
                        <a:t> </a:t>
                      </a:r>
                      <a:endParaRPr lang="en-US" sz="2400" b="0">
                        <a:solidFill>
                          <a:srgbClr val="333333"/>
                        </a:solidFill>
                        <a:latin typeface="Calibri" panose="020F0502020204030204"/>
                        <a:ea typeface="Calibri" panose="020F0502020204030204"/>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项目A</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项目B</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生产经营</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112522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折旧总额</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工时占比</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折旧额</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工时占比</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折旧额</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工时占比</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折旧额</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93115">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服务器1</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9 000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60%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5 400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35%</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3 150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5%</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450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93115">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服务器2</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8 000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40%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3 200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60%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4 800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257300"/>
            <a:ext cx="10401300" cy="3562350"/>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2400" b="0"/>
              <a:t>【解析】</a:t>
            </a:r>
            <a:endParaRPr lang="zh-CN" sz="2400" b="0"/>
          </a:p>
          <a:p>
            <a:pPr marL="342900" indent="-342900">
              <a:spcBef>
                <a:spcPct val="20000"/>
              </a:spcBef>
              <a:buFont typeface="Arial" panose="020B0604020202020204" pitchFamily="34" charset="0"/>
            </a:pPr>
            <a:r>
              <a:rPr lang="zh-CN" sz="2400" b="0"/>
              <a:t>借：研发支出—费用化支出—折旧费用（设备折旧项目A）　　　　 8 600</a:t>
            </a:r>
            <a:endParaRPr lang="zh-CN" sz="2400" b="0"/>
          </a:p>
          <a:p>
            <a:pPr marL="342900" indent="-342900">
              <a:spcBef>
                <a:spcPct val="20000"/>
              </a:spcBef>
              <a:buFont typeface="Arial" panose="020B0604020202020204" pitchFamily="34" charset="0"/>
            </a:pPr>
            <a:r>
              <a:rPr lang="zh-CN" sz="2400" b="0"/>
              <a:t>—折旧费用（设备折旧项目B）　　　　　</a:t>
            </a:r>
            <a:r>
              <a:rPr lang="en-US" sz="2400" b="0"/>
              <a:t>				</a:t>
            </a:r>
            <a:r>
              <a:rPr lang="zh-CN" sz="2400" b="0"/>
              <a:t>7 950</a:t>
            </a:r>
            <a:endParaRPr lang="zh-CN" sz="2400" b="0"/>
          </a:p>
          <a:p>
            <a:pPr marL="342900" indent="-342900">
              <a:spcBef>
                <a:spcPct val="20000"/>
              </a:spcBef>
              <a:buFont typeface="Arial" panose="020B0604020202020204" pitchFamily="34" charset="0"/>
            </a:pPr>
            <a:r>
              <a:rPr lang="zh-CN" sz="2400" b="0"/>
              <a:t>销售费用——折旧费用　　　　　　　　　　　　　　　　　　　　300</a:t>
            </a:r>
            <a:endParaRPr lang="zh-CN" sz="2400" b="0"/>
          </a:p>
          <a:p>
            <a:pPr marL="342900" indent="-342900">
              <a:spcBef>
                <a:spcPct val="20000"/>
              </a:spcBef>
              <a:buFont typeface="Arial" panose="020B0604020202020204" pitchFamily="34" charset="0"/>
            </a:pPr>
            <a:r>
              <a:rPr lang="zh-CN" sz="2400" b="0"/>
              <a:t>管理费用——折旧费用　　　　　　　　　　　　　　　　　　　　850</a:t>
            </a:r>
            <a:endParaRPr lang="zh-CN" sz="2400" b="0"/>
          </a:p>
          <a:p>
            <a:pPr marL="342900" indent="-342900">
              <a:spcBef>
                <a:spcPct val="20000"/>
              </a:spcBef>
              <a:buFont typeface="Arial" panose="020B0604020202020204" pitchFamily="34" charset="0"/>
            </a:pPr>
            <a:r>
              <a:rPr lang="zh-CN" sz="2400" b="0"/>
              <a:t>贷：累计折旧——设备　　　　　　　　　　　　　　　　　　　　 17 000</a:t>
            </a:r>
            <a:endParaRPr lang="zh-CN" sz="2400" b="0"/>
          </a:p>
          <a:p>
            <a:pPr marL="342900" indent="-342900">
              <a:spcBef>
                <a:spcPct val="20000"/>
              </a:spcBef>
              <a:buFont typeface="Arial" panose="020B0604020202020204" pitchFamily="34" charset="0"/>
            </a:pPr>
            <a:r>
              <a:rPr lang="zh-CN" sz="2400" b="0"/>
              <a:t>——办公家具　　　　　　　　　　　　　　　　　　　　</a:t>
            </a:r>
            <a:r>
              <a:rPr lang="en-US" sz="2400" b="0"/>
              <a:t>		</a:t>
            </a:r>
            <a:r>
              <a:rPr lang="zh-CN" sz="2400" b="0"/>
              <a:t>400</a:t>
            </a:r>
            <a:endParaRPr lang="zh-CN" sz="2400" b="0"/>
          </a:p>
          <a:p>
            <a:pPr marL="342900" indent="-342900">
              <a:spcBef>
                <a:spcPct val="20000"/>
              </a:spcBef>
              <a:buFont typeface="Arial" panose="020B0604020202020204" pitchFamily="34" charset="0"/>
            </a:pPr>
            <a:r>
              <a:rPr lang="zh-CN" sz="2400" b="0"/>
              <a:t>——电子产品　　　　　　　　　　　　　　　　　　　　</a:t>
            </a:r>
            <a:r>
              <a:rPr lang="en-US" sz="2400" b="0"/>
              <a:t>		</a:t>
            </a:r>
            <a:r>
              <a:rPr lang="zh-CN" sz="2400" b="0"/>
              <a:t>300</a:t>
            </a:r>
            <a:endParaRPr lang="zh-CN" sz="2400" b="0"/>
          </a:p>
        </p:txBody>
      </p:sp>
      <p:sp>
        <p:nvSpPr>
          <p:cNvPr id="4" name="文本框 3"/>
          <p:cNvSpPr txBox="1"/>
          <p:nvPr/>
        </p:nvSpPr>
        <p:spPr>
          <a:xfrm>
            <a:off x="896620" y="4919980"/>
            <a:ext cx="10518140" cy="1938020"/>
          </a:xfrm>
          <a:prstGeom prst="rect">
            <a:avLst/>
          </a:prstGeom>
          <a:noFill/>
          <a:ln>
            <a:noFill/>
          </a:ln>
        </p:spPr>
        <p:txBody>
          <a:bodyPr wrap="square">
            <a:spAutoFit/>
          </a:bodyPr>
          <a:lstStyle/>
          <a:p>
            <a:pPr indent="266700"/>
            <a:r>
              <a:rPr lang="zh-CN" sz="2400" b="0">
                <a:solidFill>
                  <a:srgbClr val="3F3F3F"/>
                </a:solidFill>
                <a:ea typeface="宋体" panose="02010600030101010101" pitchFamily="2" charset="-122"/>
              </a:rPr>
              <a:t>固定资产加速折旧
《关于设备器具扣除有关企业所得税政策的通知》（财税〔2018〕54号）规定企业在2018年1月1日至2020年12月31日期间新购进的除房屋、建筑物以外的固定资产，单位价值不超过500万元的，允许一次性计入当期成本费用在计算应纳税所得额时扣除。不需要审批，也不需要备案。</a:t>
            </a:r>
            <a:endParaRPr lang="zh-CN" sz="240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257300"/>
            <a:ext cx="10401300" cy="2085340"/>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2400" b="0"/>
              <a:t>【案例六】</a:t>
            </a:r>
            <a:endParaRPr lang="zh-CN" sz="2400" b="0"/>
          </a:p>
          <a:p>
            <a:pPr marL="342900" indent="-342900">
              <a:spcBef>
                <a:spcPct val="20000"/>
              </a:spcBef>
              <a:buFont typeface="Arial" panose="020B0604020202020204" pitchFamily="34" charset="0"/>
            </a:pPr>
            <a:r>
              <a:rPr lang="zh-CN" sz="2400" b="0"/>
              <a:t>甲公司2018年3月1日购入专门用于研发的设备，单位价值240万元，会计处理按6年折旧，不考虑残值。2018年、2019年在研发费加计扣除计算时，对应的此设备折旧费金额分别是多少？</a:t>
            </a:r>
            <a:endParaRPr lang="zh-CN" sz="2400" b="0"/>
          </a:p>
          <a:p>
            <a:pPr marL="342900" indent="-342900">
              <a:spcBef>
                <a:spcPct val="20000"/>
              </a:spcBef>
              <a:buFont typeface="Arial" panose="020B0604020202020204" pitchFamily="34" charset="0"/>
            </a:pPr>
            <a:r>
              <a:rPr lang="zh-CN" sz="2400" b="0"/>
              <a:t>根据企业是否选择加速折旧政策：</a:t>
            </a:r>
            <a:endParaRPr lang="zh-CN" sz="2400" b="0"/>
          </a:p>
        </p:txBody>
      </p:sp>
      <p:graphicFrame>
        <p:nvGraphicFramePr>
          <p:cNvPr id="3" name="表格 2"/>
          <p:cNvGraphicFramePr/>
          <p:nvPr/>
        </p:nvGraphicFramePr>
        <p:xfrm>
          <a:off x="1127125" y="3385185"/>
          <a:ext cx="9790430" cy="1491615"/>
        </p:xfrm>
        <a:graphic>
          <a:graphicData uri="http://schemas.openxmlformats.org/drawingml/2006/table">
            <a:tbl>
              <a:tblPr firstRow="1" bandRow="1">
                <a:tableStyleId>{5940675A-B579-460E-94D1-54222C63F5DA}</a:tableStyleId>
              </a:tblPr>
              <a:tblGrid>
                <a:gridCol w="1621155"/>
                <a:gridCol w="3582035"/>
                <a:gridCol w="2933700"/>
                <a:gridCol w="1653540"/>
              </a:tblGrid>
              <a:tr h="497205">
                <a:tc>
                  <a:txBody>
                    <a:bodyPr/>
                    <a:lstStyle/>
                    <a:p>
                      <a:pPr indent="0" algn="ctr">
                        <a:buNone/>
                      </a:pPr>
                      <a:r>
                        <a:rPr lang="en-US" sz="2400" b="1">
                          <a:solidFill>
                            <a:srgbClr val="333333"/>
                          </a:solidFill>
                          <a:latin typeface="宋体" panose="02010600030101010101" pitchFamily="2" charset="-122"/>
                          <a:ea typeface="宋体" panose="02010600030101010101" pitchFamily="2" charset="-122"/>
                        </a:rPr>
                        <a:t>年度</a:t>
                      </a:r>
                      <a:endParaRPr lang="en-US" sz="2400" b="1">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333333"/>
                          </a:solidFill>
                          <a:latin typeface="宋体" panose="02010600030101010101" pitchFamily="2" charset="-122"/>
                          <a:ea typeface="宋体" panose="02010600030101010101" pitchFamily="2" charset="-122"/>
                        </a:rPr>
                        <a:t>税法规定（不少于10年）</a:t>
                      </a:r>
                      <a:endParaRPr lang="en-US" sz="2400" b="1">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333333"/>
                          </a:solidFill>
                          <a:latin typeface="宋体" panose="02010600030101010101" pitchFamily="2" charset="-122"/>
                          <a:ea typeface="宋体" panose="02010600030101010101" pitchFamily="2" charset="-122"/>
                        </a:rPr>
                        <a:t>加速折旧优惠政策</a:t>
                      </a:r>
                      <a:endParaRPr lang="en-US" sz="2400" b="1">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333333"/>
                          </a:solidFill>
                          <a:latin typeface="宋体" panose="02010600030101010101" pitchFamily="2" charset="-122"/>
                          <a:ea typeface="宋体" panose="02010600030101010101" pitchFamily="2" charset="-122"/>
                        </a:rPr>
                        <a:t>会计处理</a:t>
                      </a:r>
                      <a:endParaRPr lang="en-US" sz="2400" b="1">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7205">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2018年</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18</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240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30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7205">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2019年</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24</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0">
                          <a:solidFill>
                            <a:srgbClr val="333333"/>
                          </a:solidFill>
                          <a:latin typeface="宋体" panose="02010600030101010101" pitchFamily="2" charset="-122"/>
                          <a:ea typeface="宋体" panose="02010600030101010101" pitchFamily="2" charset="-122"/>
                        </a:rPr>
                        <a:t>40</a:t>
                      </a:r>
                      <a:endParaRPr lang="en-US" sz="2400" b="0">
                        <a:solidFill>
                          <a:srgbClr val="333333"/>
                        </a:solidFill>
                        <a:latin typeface="宋体" panose="02010600030101010101" pitchFamily="2" charset="-122"/>
                        <a:ea typeface="宋体" panose="02010600030101010101" pitchFamily="2" charset="-122"/>
                      </a:endParaRPr>
                    </a:p>
                  </a:txBody>
                  <a:tcPr marL="91439" marR="91439" marT="45719" marB="45719"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257300"/>
            <a:ext cx="10401300" cy="4817745"/>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3200" b="0"/>
              <a:t>（4）无形资产摊销</a:t>
            </a:r>
            <a:endParaRPr lang="zh-CN" sz="3200" b="0"/>
          </a:p>
          <a:p>
            <a:pPr marL="342900" indent="-342900">
              <a:spcBef>
                <a:spcPct val="20000"/>
              </a:spcBef>
              <a:buFont typeface="Arial" panose="020B0604020202020204" pitchFamily="34" charset="0"/>
            </a:pPr>
            <a:r>
              <a:rPr lang="zh-CN" sz="3200" b="0"/>
              <a:t>用于研发活动的软件、专利权、非专利技术（包括许可证、专有技术、设计和计算方法等）的摊销费用。</a:t>
            </a:r>
            <a:endParaRPr lang="zh-CN" sz="3200" b="0"/>
          </a:p>
          <a:p>
            <a:pPr marL="342900" indent="-342900">
              <a:spcBef>
                <a:spcPct val="20000"/>
              </a:spcBef>
              <a:buFont typeface="Arial" panose="020B0604020202020204" pitchFamily="34" charset="0"/>
            </a:pPr>
            <a:r>
              <a:rPr lang="zh-CN" sz="3200" b="0"/>
              <a:t>用于研发活动无形资产同时也会用于非研发活动，企业应对此类无形资产的使用情况做必要记录，并将其实际发生的摊销费按实际工时占比等合理方法在研发费用和生产经营费用间分配，未分配的不得加计扣除。</a:t>
            </a:r>
            <a:endParaRPr lang="zh-CN" sz="3200" b="0"/>
          </a:p>
          <a:p>
            <a:pPr marL="342900" indent="-342900">
              <a:spcBef>
                <a:spcPct val="20000"/>
              </a:spcBef>
              <a:buFont typeface="Arial" panose="020B0604020202020204" pitchFamily="34" charset="0"/>
            </a:pPr>
            <a:r>
              <a:rPr lang="zh-CN" sz="3200" b="0"/>
              <a:t>（5）新产品设计费、新工艺规程制定费、新药研制的临床试验费、勘探开发技术的现场试验费。</a:t>
            </a:r>
            <a:endParaRPr lang="zh-CN" sz="3200" b="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257300"/>
            <a:ext cx="10401300" cy="4128770"/>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3200" b="0"/>
              <a:t>（6）其他相关费用。</a:t>
            </a:r>
            <a:endParaRPr lang="zh-CN" sz="3200" b="0"/>
          </a:p>
          <a:p>
            <a:pPr marL="342900" indent="-342900">
              <a:spcBef>
                <a:spcPct val="20000"/>
              </a:spcBef>
              <a:buFont typeface="Arial" panose="020B0604020202020204" pitchFamily="34" charset="0"/>
            </a:pPr>
            <a:r>
              <a:rPr lang="zh-CN" sz="3200" b="0"/>
              <a:t>与研发活动直接相关的其他费用，如技术图书资料费、资料翻译费、专家咨询费、高新科技研发保险费，研发成果的检索、分析、评议、论证、鉴定、评审、评估、验收费用，知识产权的申请费、注册费、代理费，差旅费、会议费，职工福利费、补充养老保险费、补充医疗保险费。此项费用总额不得超过可加计扣除研发费用总额的10%。</a:t>
            </a:r>
            <a:endParaRPr lang="zh-CN" sz="3200" b="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268095"/>
            <a:ext cx="10401300" cy="3340100"/>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3200" b="0"/>
              <a:t>应按项目分别计算限额</a:t>
            </a:r>
            <a:endParaRPr lang="zh-CN" sz="3200" b="0"/>
          </a:p>
          <a:p>
            <a:pPr marL="342900" indent="-342900">
              <a:spcBef>
                <a:spcPct val="20000"/>
              </a:spcBef>
              <a:buFont typeface="Arial" panose="020B0604020202020204" pitchFamily="34" charset="0"/>
            </a:pPr>
            <a:r>
              <a:rPr lang="zh-CN" sz="3200" b="0"/>
              <a:t>限额计算：［（1-5）项费用+限额］×10%=限额即（1-5项）费用×10%）÷（1-10%）。</a:t>
            </a:r>
            <a:endParaRPr lang="zh-CN" sz="3200" b="0"/>
          </a:p>
          <a:p>
            <a:pPr marL="342900" indent="-342900">
              <a:spcBef>
                <a:spcPct val="20000"/>
              </a:spcBef>
              <a:buFont typeface="Arial" panose="020B0604020202020204" pitchFamily="34" charset="0"/>
            </a:pPr>
            <a:r>
              <a:rPr lang="zh-CN" sz="3200" b="0"/>
              <a:t>如：1-5项的费用合计为810万元，则第6项的限额=（810÷90%）×10%=90（万元）</a:t>
            </a:r>
            <a:endParaRPr lang="zh-CN" sz="3200" b="0"/>
          </a:p>
          <a:p>
            <a:pPr marL="342900" indent="-342900">
              <a:spcBef>
                <a:spcPct val="20000"/>
              </a:spcBef>
              <a:buFont typeface="Arial" panose="020B0604020202020204" pitchFamily="34" charset="0"/>
            </a:pPr>
            <a:endParaRPr lang="zh-CN" sz="3200" b="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100" name="文本框 99"/>
          <p:cNvSpPr txBox="1"/>
          <p:nvPr/>
        </p:nvSpPr>
        <p:spPr>
          <a:xfrm>
            <a:off x="896620" y="1268095"/>
            <a:ext cx="10401300" cy="5604510"/>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3200" b="0"/>
              <a:t>总结：不允许研发费加计扣除的情形</a:t>
            </a:r>
            <a:endParaRPr lang="zh-CN" sz="3200" b="0"/>
          </a:p>
          <a:p>
            <a:pPr marL="342900" indent="-342900">
              <a:spcBef>
                <a:spcPct val="20000"/>
              </a:spcBef>
              <a:buFont typeface="Arial" panose="020B0604020202020204" pitchFamily="34" charset="0"/>
            </a:pPr>
            <a:r>
              <a:rPr lang="zh-CN" sz="3200" b="0"/>
              <a:t>（1）核定征收企业不得加计扣除；</a:t>
            </a:r>
            <a:endParaRPr lang="zh-CN" sz="3200" b="0"/>
          </a:p>
          <a:p>
            <a:pPr marL="342900" indent="-342900">
              <a:spcBef>
                <a:spcPct val="20000"/>
              </a:spcBef>
              <a:buFont typeface="Arial" panose="020B0604020202020204" pitchFamily="34" charset="0"/>
            </a:pPr>
            <a:r>
              <a:rPr lang="zh-CN" sz="3200" b="0"/>
              <a:t>（2）研发费用和生产经营费用未分别核算，划分不清不得加计扣除；</a:t>
            </a:r>
            <a:endParaRPr lang="zh-CN" sz="3200" b="0"/>
          </a:p>
          <a:p>
            <a:pPr marL="342900" indent="-342900">
              <a:spcBef>
                <a:spcPct val="20000"/>
              </a:spcBef>
              <a:buFont typeface="Arial" panose="020B0604020202020204" pitchFamily="34" charset="0"/>
            </a:pPr>
            <a:r>
              <a:rPr lang="zh-CN" sz="3200" b="0"/>
              <a:t>（3）超出人员人工费用范围的支出，不得加计扣除；</a:t>
            </a:r>
            <a:endParaRPr lang="zh-CN" sz="3200" b="0"/>
          </a:p>
          <a:p>
            <a:pPr marL="342900" indent="-342900">
              <a:spcBef>
                <a:spcPct val="20000"/>
              </a:spcBef>
              <a:buFont typeface="Arial" panose="020B0604020202020204" pitchFamily="34" charset="0"/>
            </a:pPr>
            <a:r>
              <a:rPr lang="zh-CN" sz="3200" b="0"/>
              <a:t>（4）6个行业不得加计扣除；</a:t>
            </a:r>
            <a:endParaRPr lang="zh-CN" sz="3200" b="0"/>
          </a:p>
          <a:p>
            <a:pPr marL="342900" indent="-342900">
              <a:spcBef>
                <a:spcPct val="20000"/>
              </a:spcBef>
              <a:buFont typeface="Arial" panose="020B0604020202020204" pitchFamily="34" charset="0"/>
            </a:pPr>
            <a:r>
              <a:rPr lang="zh-CN" sz="3200" b="0"/>
              <a:t>（5）第6项（其他相关费用）总额超过可加计扣除研发费用总额的10%部分不得加计扣除；</a:t>
            </a:r>
            <a:endParaRPr lang="zh-CN" sz="3200" b="0"/>
          </a:p>
          <a:p>
            <a:pPr marL="342900" indent="-342900">
              <a:spcBef>
                <a:spcPct val="20000"/>
              </a:spcBef>
              <a:buFont typeface="Arial" panose="020B0604020202020204" pitchFamily="34" charset="0"/>
            </a:pPr>
            <a:r>
              <a:rPr lang="zh-CN" sz="3200" b="0"/>
              <a:t>（6）委托研发项目，委托方研发费用超出80%部分不得加计扣除。</a:t>
            </a:r>
            <a:endParaRPr lang="zh-CN" sz="3200" b="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文本框 2"/>
          <p:cNvSpPr txBox="1"/>
          <p:nvPr/>
        </p:nvSpPr>
        <p:spPr>
          <a:xfrm>
            <a:off x="896620" y="1268095"/>
            <a:ext cx="10401300" cy="4977130"/>
          </a:xfrm>
          <a:prstGeom prst="rect">
            <a:avLst/>
          </a:prstGeom>
          <a:noFill/>
          <a:ln>
            <a:noFill/>
          </a:ln>
        </p:spPr>
        <p:txBody>
          <a:bodyPr wrap="square">
            <a:spAutoFit/>
          </a:bodyPr>
          <a:lstStyle/>
          <a:p>
            <a:pPr marL="342900" indent="-342900" algn="l">
              <a:spcBef>
                <a:spcPct val="20000"/>
              </a:spcBef>
              <a:buFont typeface="Arial" panose="020B0604020202020204" pitchFamily="34" charset="0"/>
            </a:pPr>
            <a:r>
              <a:rPr lang="zh-CN" sz="2800" b="0"/>
              <a:t>8．享受优惠的方式</a:t>
            </a:r>
            <a:endParaRPr lang="zh-CN" sz="2800" b="0"/>
          </a:p>
          <a:p>
            <a:pPr marL="342900" indent="-342900" algn="l">
              <a:spcBef>
                <a:spcPct val="20000"/>
              </a:spcBef>
              <a:buFont typeface="Arial" panose="020B0604020202020204" pitchFamily="34" charset="0"/>
            </a:pPr>
            <a:r>
              <a:rPr lang="zh-CN" sz="2800" b="0"/>
              <a:t>自行判别、申报享受、相关资料留存备查。</a:t>
            </a:r>
            <a:endParaRPr lang="zh-CN" sz="2800" b="0"/>
          </a:p>
          <a:p>
            <a:pPr marL="342900" indent="-342900" algn="l">
              <a:spcBef>
                <a:spcPct val="20000"/>
              </a:spcBef>
              <a:buFont typeface="Arial" panose="020B0604020202020204" pitchFamily="34" charset="0"/>
            </a:pPr>
            <a:r>
              <a:rPr lang="zh-CN" sz="2800" b="0"/>
              <a:t>无需再履行备案手续、也无需再报送备案资料。</a:t>
            </a:r>
            <a:endParaRPr lang="zh-CN" sz="2800" b="0"/>
          </a:p>
          <a:p>
            <a:pPr marL="342900" indent="-342900" algn="l">
              <a:spcBef>
                <a:spcPct val="20000"/>
              </a:spcBef>
              <a:buFont typeface="Arial" panose="020B0604020202020204" pitchFamily="34" charset="0"/>
            </a:pPr>
            <a:r>
              <a:rPr lang="zh-CN" sz="2800" b="0"/>
              <a:t>在完成年度汇算清缴后，将留存备查资料归集齐全并整理完成，以备税务机关核查。</a:t>
            </a:r>
            <a:endParaRPr lang="zh-CN" sz="2800" b="0"/>
          </a:p>
          <a:p>
            <a:pPr marL="342900" indent="-342900" algn="l">
              <a:spcBef>
                <a:spcPct val="20000"/>
              </a:spcBef>
              <a:buFont typeface="Arial" panose="020B0604020202020204" pitchFamily="34" charset="0"/>
            </a:pPr>
            <a:r>
              <a:rPr lang="zh-CN" sz="2800" b="0"/>
              <a:t>企业应保留下列留存备查资料：</a:t>
            </a:r>
            <a:endParaRPr lang="zh-CN" sz="2800" b="0"/>
          </a:p>
          <a:p>
            <a:pPr marL="342900" indent="-342900" algn="l">
              <a:spcBef>
                <a:spcPct val="20000"/>
              </a:spcBef>
              <a:buFont typeface="Arial" panose="020B0604020202020204" pitchFamily="34" charset="0"/>
            </a:pPr>
            <a:r>
              <a:rPr lang="zh-CN" sz="2800" b="0"/>
              <a:t>（1）自主、委托、合作研究开发项目计划书和企业有权部门关于自主、委托、合作研究开发项目立项的决议文件；</a:t>
            </a:r>
            <a:endParaRPr lang="zh-CN" sz="2800" b="0"/>
          </a:p>
          <a:p>
            <a:pPr marL="342900" indent="-342900" algn="l">
              <a:spcBef>
                <a:spcPct val="20000"/>
              </a:spcBef>
              <a:buFont typeface="Arial" panose="020B0604020202020204" pitchFamily="34" charset="0"/>
            </a:pPr>
            <a:r>
              <a:rPr lang="zh-CN" sz="2800" b="0"/>
              <a:t>（2）自主、委托、合作研究开发专门机构或项目组的编制情况和研发人员名单</a:t>
            </a:r>
            <a:r>
              <a:rPr lang="zh-CN" sz="3200" b="0"/>
              <a:t>；</a:t>
            </a:r>
            <a:endParaRPr lang="zh-CN" sz="3200" b="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文本框 2"/>
          <p:cNvSpPr txBox="1"/>
          <p:nvPr/>
        </p:nvSpPr>
        <p:spPr>
          <a:xfrm>
            <a:off x="896620" y="1268095"/>
            <a:ext cx="10401300" cy="5346700"/>
          </a:xfrm>
          <a:prstGeom prst="rect">
            <a:avLst/>
          </a:prstGeom>
          <a:noFill/>
          <a:ln>
            <a:noFill/>
          </a:ln>
        </p:spPr>
        <p:txBody>
          <a:bodyPr wrap="square">
            <a:spAutoFit/>
          </a:bodyPr>
          <a:lstStyle/>
          <a:p>
            <a:pPr marL="342900" indent="-342900">
              <a:spcBef>
                <a:spcPct val="20000"/>
              </a:spcBef>
              <a:buFont typeface="Arial" panose="020B0604020202020204" pitchFamily="34" charset="0"/>
            </a:pPr>
            <a:r>
              <a:rPr lang="zh-CN" sz="2800" b="0"/>
              <a:t>（3）经科技行政主管部门登记的委托、合作研究开发项目的合同；</a:t>
            </a:r>
            <a:endParaRPr lang="zh-CN" sz="2800" b="0"/>
          </a:p>
          <a:p>
            <a:pPr marL="342900" indent="-342900">
              <a:spcBef>
                <a:spcPct val="20000"/>
              </a:spcBef>
              <a:buFont typeface="Arial" panose="020B0604020202020204" pitchFamily="34" charset="0"/>
            </a:pPr>
            <a:r>
              <a:rPr lang="zh-CN" sz="2800" b="0"/>
              <a:t>（4）从事研发活动的人员和用于研发活动的仪器、设备、无形资产的费用分配说明（包括工作使用情况记录）；</a:t>
            </a:r>
            <a:endParaRPr lang="zh-CN" sz="2800" b="0"/>
          </a:p>
          <a:p>
            <a:pPr marL="342900" indent="-342900">
              <a:spcBef>
                <a:spcPct val="20000"/>
              </a:spcBef>
              <a:buFont typeface="Arial" panose="020B0604020202020204" pitchFamily="34" charset="0"/>
            </a:pPr>
            <a:r>
              <a:rPr lang="zh-CN" sz="2800" b="0"/>
              <a:t>（5）集中研发项目研发费用决算表、集中研发项目费用分摊明细情况表和实际分享收益比例等资料；</a:t>
            </a:r>
            <a:endParaRPr lang="zh-CN" sz="2800" b="0"/>
          </a:p>
          <a:p>
            <a:pPr marL="342900" indent="-342900">
              <a:spcBef>
                <a:spcPct val="20000"/>
              </a:spcBef>
              <a:buFont typeface="Arial" panose="020B0604020202020204" pitchFamily="34" charset="0"/>
            </a:pPr>
            <a:r>
              <a:rPr lang="zh-CN" sz="2800" b="0"/>
              <a:t>（6）“研发支出”辅助账；</a:t>
            </a:r>
            <a:endParaRPr lang="zh-CN" sz="2800" b="0"/>
          </a:p>
          <a:p>
            <a:pPr marL="342900" indent="-342900">
              <a:spcBef>
                <a:spcPct val="20000"/>
              </a:spcBef>
              <a:buFont typeface="Arial" panose="020B0604020202020204" pitchFamily="34" charset="0"/>
            </a:pPr>
            <a:r>
              <a:rPr lang="zh-CN" sz="2800" b="0"/>
              <a:t>（7）企业如果已取得地市级（含）以上科技行政主管部门出具的鉴定意见，应作为资料留存备查；</a:t>
            </a:r>
            <a:endParaRPr lang="zh-CN" sz="2800" b="0"/>
          </a:p>
          <a:p>
            <a:pPr marL="342900" indent="-342900">
              <a:spcBef>
                <a:spcPct val="20000"/>
              </a:spcBef>
              <a:buFont typeface="Arial" panose="020B0604020202020204" pitchFamily="34" charset="0"/>
            </a:pPr>
            <a:r>
              <a:rPr lang="zh-CN" sz="2800" b="0"/>
              <a:t>（8）委托境外研发的银行支付凭证和受托方开具的收款凭据、当年委托研发项目的进展情况两项留存备查资料；</a:t>
            </a:r>
            <a:endParaRPr lang="zh-CN" sz="2800" b="0"/>
          </a:p>
          <a:p>
            <a:pPr marL="342900" indent="-342900">
              <a:spcBef>
                <a:spcPct val="20000"/>
              </a:spcBef>
              <a:buFont typeface="Arial" panose="020B0604020202020204" pitchFamily="34" charset="0"/>
            </a:pPr>
            <a:r>
              <a:rPr lang="zh-CN" sz="2800" b="0"/>
              <a:t>（9）省税务机关规定的其他资料。</a:t>
            </a:r>
            <a:endParaRPr lang="zh-CN" sz="2800" b="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四、研发费加计扣除</a:t>
            </a:r>
            <a:endParaRPr lang="zh-CN"/>
          </a:p>
        </p:txBody>
      </p:sp>
      <p:sp>
        <p:nvSpPr>
          <p:cNvPr id="3" name="文本框 2"/>
          <p:cNvSpPr txBox="1"/>
          <p:nvPr/>
        </p:nvSpPr>
        <p:spPr>
          <a:xfrm>
            <a:off x="896620" y="1268095"/>
            <a:ext cx="10401300" cy="2503170"/>
          </a:xfrm>
          <a:prstGeom prst="rect">
            <a:avLst/>
          </a:prstGeom>
          <a:noFill/>
          <a:ln>
            <a:noFill/>
          </a:ln>
        </p:spPr>
        <p:txBody>
          <a:bodyPr wrap="square">
            <a:spAutoFit/>
          </a:bodyPr>
          <a:lstStyle/>
          <a:p>
            <a:pPr marL="342900" indent="-342900" algn="l">
              <a:spcBef>
                <a:spcPct val="20000"/>
              </a:spcBef>
              <a:buFont typeface="Arial" panose="020B0604020202020204" pitchFamily="34" charset="0"/>
            </a:pPr>
            <a:r>
              <a:rPr lang="zh-CN" sz="2800" b="0"/>
              <a:t>9．科技部门鉴定、立项</a:t>
            </a:r>
            <a:endParaRPr lang="zh-CN" sz="2800" b="0"/>
          </a:p>
          <a:p>
            <a:pPr marL="342900" indent="-342900" algn="l">
              <a:spcBef>
                <a:spcPct val="20000"/>
              </a:spcBef>
              <a:buFont typeface="Arial" panose="020B0604020202020204" pitchFamily="34" charset="0"/>
            </a:pPr>
            <a:r>
              <a:rPr lang="zh-CN" sz="2800" b="0"/>
              <a:t>企业自主研发的项目，不需经过科技部门和税务部门进行立项备案，只需企业内部有决策权的部门，如董事会等做出决议即可。</a:t>
            </a:r>
            <a:endParaRPr lang="zh-CN" sz="2800" b="0"/>
          </a:p>
          <a:p>
            <a:pPr marL="342900" indent="-342900" algn="l">
              <a:spcBef>
                <a:spcPct val="20000"/>
              </a:spcBef>
              <a:buFont typeface="Arial" panose="020B0604020202020204" pitchFamily="34" charset="0"/>
            </a:pPr>
            <a:r>
              <a:rPr lang="zh-CN" sz="2800" b="0"/>
              <a:t>委托研发及合作研发的项目立项则需要科技部门登记。</a:t>
            </a:r>
            <a:endParaRPr lang="zh-CN" sz="2800" b="0"/>
          </a:p>
          <a:p>
            <a:pPr marL="342900" indent="-342900" algn="l">
              <a:spcBef>
                <a:spcPct val="20000"/>
              </a:spcBef>
              <a:buFont typeface="Arial" panose="020B0604020202020204" pitchFamily="34" charset="0"/>
            </a:pPr>
            <a:r>
              <a:rPr lang="zh-CN" sz="2800" b="0"/>
              <a:t>未申请认定登记和未予登记的技术合同，不得享受优惠政策。</a:t>
            </a:r>
            <a:endParaRPr lang="zh-CN" sz="2800" b="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pPr algn="l"/>
            <a:r>
              <a:rPr lang="zh-CN"/>
              <a:t>六、申报</a:t>
            </a:r>
            <a:endParaRPr lang="zh-CN"/>
          </a:p>
        </p:txBody>
      </p:sp>
      <p:sp>
        <p:nvSpPr>
          <p:cNvPr id="3" name="内容占位符 2"/>
          <p:cNvSpPr/>
          <p:nvPr>
            <p:ph idx="1"/>
          </p:nvPr>
        </p:nvSpPr>
        <p:spPr/>
        <p:txBody>
          <a:bodyPr/>
          <a:lstStyle/>
          <a:p>
            <a:r>
              <a:rPr lang="zh-CN">
                <a:solidFill>
                  <a:srgbClr val="FF0000"/>
                </a:solidFill>
              </a:rPr>
              <a:t>（一）企业所得税预缴</a:t>
            </a:r>
            <a:endParaRPr lang="zh-CN">
              <a:solidFill>
                <a:srgbClr val="FF0000"/>
              </a:solidFill>
            </a:endParaRPr>
          </a:p>
          <a:p>
            <a:r>
              <a:rPr lang="zh-CN"/>
              <a:t>根据《国家税务总局关于发布〈企业所得税优惠事项办理办法〉的公告》（国家税务总局公告2015年第76号）的规定，研发费用税前加计扣除政策属汇缴享受优惠项目，因此企业实际发生的研发费用，在年度中间预缴所得税时，允许据实计算扣除，在年度终了进行所得税年度汇算清缴纳税申报时，再依照规定享受加计扣除优惠政策。</a:t>
            </a:r>
            <a:endParaRPr lang="zh-C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p:nvPr>
            <p:ph idx="1"/>
          </p:nvPr>
        </p:nvSpPr>
        <p:spPr/>
        <p:txBody>
          <a:bodyPr>
            <a:normAutofit fontScale="92500" lnSpcReduction="10000"/>
          </a:bodyPr>
          <a:lstStyle/>
          <a:p>
            <a:r>
              <a:rPr lang="zh-CN">
                <a:solidFill>
                  <a:srgbClr val="FF0000"/>
                </a:solidFill>
              </a:rPr>
              <a:t>（二）企业所得税汇算清缴：</a:t>
            </a:r>
            <a:endParaRPr lang="zh-CN">
              <a:solidFill>
                <a:srgbClr val="FF0000"/>
              </a:solidFill>
            </a:endParaRPr>
          </a:p>
          <a:p>
            <a:r>
              <a:rPr lang="zh-CN"/>
              <a:t>企业年度纳税申报时，根据研发支出辅助账汇总表填报研发项目可加计扣除研发费用情况归集表（见附件），在年度纳税申报时随申报表一并报送；研发费用加计扣除实行备案管理，除“备案资料”和“主要留存备查资料”按照本公告规定执行外，其他备案管理要求按照《国家税务总局关于发布〈企业所得税优惠政策事项办理办法〉的公告》（国家税务总局公告2015年第76号）的规定执行。</a:t>
            </a:r>
            <a:endParaRPr lang="zh-CN"/>
          </a:p>
          <a:p>
            <a:r>
              <a:rPr lang="zh-CN"/>
              <a:t>针对本企业具体情况和可能遇到的实际问题向当地科技局或税务局沟通</a:t>
            </a:r>
            <a:endParaRPr lang="zh-CN"/>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占位符 36"/>
          <p:cNvSpPr/>
          <p:nvPr>
            <p:ph type="body" idx="10"/>
          </p:nvPr>
        </p:nvSpPr>
        <p:spPr>
          <a:xfrm>
            <a:off x="169907" y="366713"/>
            <a:ext cx="5640268" cy="723900"/>
          </a:xfrm>
        </p:spPr>
        <p:txBody>
          <a:bodyPr/>
          <a:lstStyle/>
          <a:p>
            <a:pPr>
              <a:spcAft>
                <a:spcPts val="0"/>
              </a:spcAft>
            </a:pPr>
            <a:r>
              <a:rPr>
                <a:solidFill>
                  <a:srgbClr val="FF0000"/>
                </a:solidFill>
              </a:rPr>
              <a:t>（三）调整及填报情况详解</a:t>
            </a:r>
            <a:endParaRPr>
              <a:solidFill>
                <a:srgbClr val="FF0000"/>
              </a:solidFill>
            </a:endParaRPr>
          </a:p>
        </p:txBody>
      </p:sp>
      <p:sp>
        <p:nvSpPr>
          <p:cNvPr id="3" name="矩形 2"/>
          <p:cNvSpPr/>
          <p:nvPr/>
        </p:nvSpPr>
        <p:spPr>
          <a:xfrm>
            <a:off x="84953" y="1084464"/>
            <a:ext cx="12025268" cy="6602415"/>
          </a:xfrm>
          <a:prstGeom prst="rect">
            <a:avLst/>
          </a:prstGeom>
          <a:solidFill>
            <a:srgbClr val="FFFFFF">
              <a:alpha val="85098"/>
            </a:srgbClr>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grpSp>
        <p:nvGrpSpPr>
          <p:cNvPr id="5" name="组合 4"/>
          <p:cNvGrpSpPr/>
          <p:nvPr/>
        </p:nvGrpSpPr>
        <p:grpSpPr>
          <a:xfrm>
            <a:off x="408955" y="1340768"/>
            <a:ext cx="11059816" cy="2390776"/>
            <a:chOff x="492254" y="4211638"/>
            <a:chExt cx="11059816" cy="2390776"/>
          </a:xfrm>
        </p:grpSpPr>
        <p:sp>
          <p:nvSpPr>
            <p:cNvPr id="20" name="矩形 19"/>
            <p:cNvSpPr/>
            <p:nvPr/>
          </p:nvSpPr>
          <p:spPr>
            <a:xfrm>
              <a:off x="492254" y="4428618"/>
              <a:ext cx="1055962" cy="987425"/>
            </a:xfrm>
            <a:prstGeom prst="rect">
              <a:avLst/>
            </a:prstGeom>
            <a:solidFill>
              <a:srgbClr val="005DA2"/>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21" name="矩形 20"/>
            <p:cNvSpPr/>
            <p:nvPr/>
          </p:nvSpPr>
          <p:spPr>
            <a:xfrm>
              <a:off x="1038495" y="4935539"/>
              <a:ext cx="10513575" cy="1666875"/>
            </a:xfrm>
            <a:prstGeom prst="rect">
              <a:avLst/>
            </a:prstGeom>
            <a:noFill/>
            <a:ln w="25400">
              <a:solidFill>
                <a:srgbClr val="005DA2"/>
              </a:solidFill>
              <a:prstDash val="solid"/>
            </a:ln>
          </p:spPr>
          <p:txBody>
            <a:bodyPr anchor="ctr"/>
            <a:lstStyle/>
            <a:p>
              <a:pPr>
                <a:spcBef>
                  <a:spcPts val="0"/>
                </a:spcBef>
                <a:spcAft>
                  <a:spcPts val="0"/>
                </a:spcAft>
                <a:defRPr>
                  <a:solidFill>
                    <a:schemeClr val="lt1"/>
                  </a:solidFill>
                </a:defRPr>
              </a:pPr>
              <a:endParaRPr lang="zh-CN">
                <a:solidFill>
                  <a:schemeClr val="lt1"/>
                </a:solidFill>
              </a:endParaRPr>
            </a:p>
          </p:txBody>
        </p:sp>
        <p:grpSp>
          <p:nvGrpSpPr>
            <p:cNvPr id="41998" name="组合 21"/>
            <p:cNvGrpSpPr/>
            <p:nvPr/>
          </p:nvGrpSpPr>
          <p:grpSpPr>
            <a:xfrm>
              <a:off x="1548216" y="4446588"/>
              <a:ext cx="5263932" cy="965200"/>
              <a:chOff x="1604501" y="1473366"/>
              <a:chExt cx="5263621" cy="977226"/>
            </a:xfrm>
          </p:grpSpPr>
          <p:sp>
            <p:nvSpPr>
              <p:cNvPr id="23" name="矩形 22"/>
              <p:cNvSpPr/>
              <p:nvPr/>
            </p:nvSpPr>
            <p:spPr>
              <a:xfrm>
                <a:off x="1604501" y="1473366"/>
                <a:ext cx="3993365" cy="977226"/>
              </a:xfrm>
              <a:prstGeom prst="rect">
                <a:avLst/>
              </a:prstGeom>
              <a:solidFill>
                <a:schemeClr val="bg1"/>
              </a:solidFill>
              <a:ln w="25400">
                <a:solidFill>
                  <a:srgbClr val="005DA2"/>
                </a:solidFill>
                <a:prstDash val="solid"/>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42003" name="文本框 23"/>
              <p:cNvSpPr txBox="1"/>
              <p:nvPr/>
            </p:nvSpPr>
            <p:spPr>
              <a:xfrm>
                <a:off x="1883957" y="1638916"/>
                <a:ext cx="4984165" cy="467417"/>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r>
                  <a:rPr lang="zh-CN" sz="2400">
                    <a:ea typeface="微软雅黑" panose="020B0503020204020204" charset="-122"/>
                  </a:rPr>
                  <a:t>内容优化</a:t>
                </a:r>
                <a:endParaRPr lang="zh-CN" sz="2400">
                  <a:ea typeface="微软雅黑" panose="020B0503020204020204" charset="-122"/>
                </a:endParaRPr>
              </a:p>
            </p:txBody>
          </p:sp>
        </p:grpSp>
        <p:sp>
          <p:nvSpPr>
            <p:cNvPr id="41999" name="文本框 24"/>
            <p:cNvSpPr txBox="1"/>
            <p:nvPr/>
          </p:nvSpPr>
          <p:spPr>
            <a:xfrm>
              <a:off x="1976953" y="5584826"/>
              <a:ext cx="5927680" cy="458459"/>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lnSpc>
                  <a:spcPct val="150000"/>
                </a:lnSpc>
              </a:pPr>
              <a:r>
                <a:rPr lang="en-US">
                  <a:ea typeface="微软雅黑" panose="020B0503020204020204" charset="-122"/>
                </a:rPr>
                <a:t>《</a:t>
              </a:r>
              <a:r>
                <a:rPr lang="zh-CN">
                  <a:ea typeface="微软雅黑" panose="020B0503020204020204" charset="-122"/>
                </a:rPr>
                <a:t>企业所得税年度纳税申报表填报表单</a:t>
              </a:r>
              <a:r>
                <a:rPr lang="en-US">
                  <a:ea typeface="微软雅黑" panose="020B0503020204020204" charset="-122"/>
                </a:rPr>
                <a:t>》</a:t>
              </a:r>
              <a:endParaRPr lang="zh-CN">
                <a:ea typeface="微软雅黑" panose="020B0503020204020204" charset="-122"/>
              </a:endParaRPr>
            </a:p>
          </p:txBody>
        </p:sp>
        <p:sp>
          <p:nvSpPr>
            <p:cNvPr id="26" name="椭圆 25"/>
            <p:cNvSpPr/>
            <p:nvPr/>
          </p:nvSpPr>
          <p:spPr>
            <a:xfrm>
              <a:off x="5271872" y="4211638"/>
              <a:ext cx="539891" cy="539750"/>
            </a:xfrm>
            <a:prstGeom prst="ellipse">
              <a:avLst/>
            </a:prstGeom>
            <a:solidFill>
              <a:srgbClr val="FF0000"/>
            </a:solidFill>
            <a:ln>
              <a:noFill/>
            </a:ln>
          </p:spPr>
          <p:txBody>
            <a:bodyPr anchor="ctr"/>
            <a:lstStyle/>
            <a:p>
              <a:pPr>
                <a:spcBef>
                  <a:spcPts val="0"/>
                </a:spcBef>
                <a:spcAft>
                  <a:spcPts val="0"/>
                </a:spcAft>
                <a:defRPr>
                  <a:solidFill>
                    <a:schemeClr val="lt1"/>
                  </a:solidFill>
                </a:defRPr>
              </a:pPr>
              <a:r>
                <a:rPr lang="en-US" sz="3600">
                  <a:solidFill>
                    <a:schemeClr val="lt1"/>
                  </a:solidFill>
                </a:rPr>
                <a:t>1</a:t>
              </a:r>
              <a:endParaRPr lang="zh-CN" sz="3600">
                <a:solidFill>
                  <a:schemeClr val="lt1"/>
                </a:solidFill>
              </a:endParaRPr>
            </a:p>
          </p:txBody>
        </p:sp>
        <p:pic>
          <p:nvPicPr>
            <p:cNvPr id="42001" name="图形 8"/>
            <p:cNvPicPr/>
            <p:nvPr/>
          </p:nvPicPr>
          <p:blipFill>
            <a:blip r:embed="rId1"/>
            <a:stretch>
              <a:fillRect/>
            </a:stretch>
          </p:blipFill>
          <p:spPr>
            <a:xfrm>
              <a:off x="612935" y="4478338"/>
              <a:ext cx="914638" cy="914400"/>
            </a:xfrm>
            <a:prstGeom prst="rect">
              <a:avLst/>
            </a:prstGeom>
            <a:noFill/>
            <a:ln>
              <a:noFill/>
            </a:ln>
          </p:spPr>
        </p:pic>
      </p:grpSp>
      <p:grpSp>
        <p:nvGrpSpPr>
          <p:cNvPr id="22" name="组合 21"/>
          <p:cNvGrpSpPr/>
          <p:nvPr/>
        </p:nvGrpSpPr>
        <p:grpSpPr>
          <a:xfrm>
            <a:off x="408955" y="4165681"/>
            <a:ext cx="11059816" cy="2390776"/>
            <a:chOff x="492254" y="4211638"/>
            <a:chExt cx="11059816" cy="2390776"/>
          </a:xfrm>
        </p:grpSpPr>
        <p:sp>
          <p:nvSpPr>
            <p:cNvPr id="24" name="矩形 23"/>
            <p:cNvSpPr/>
            <p:nvPr/>
          </p:nvSpPr>
          <p:spPr>
            <a:xfrm>
              <a:off x="492254" y="4428618"/>
              <a:ext cx="1055962" cy="987425"/>
            </a:xfrm>
            <a:prstGeom prst="rect">
              <a:avLst/>
            </a:prstGeom>
            <a:solidFill>
              <a:srgbClr val="005DA2"/>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25" name="矩形 24"/>
            <p:cNvSpPr/>
            <p:nvPr/>
          </p:nvSpPr>
          <p:spPr>
            <a:xfrm>
              <a:off x="1038495" y="4935539"/>
              <a:ext cx="10513575" cy="1666875"/>
            </a:xfrm>
            <a:prstGeom prst="rect">
              <a:avLst/>
            </a:prstGeom>
            <a:noFill/>
            <a:ln w="25400">
              <a:solidFill>
                <a:srgbClr val="005DA2"/>
              </a:solidFill>
              <a:prstDash val="solid"/>
            </a:ln>
          </p:spPr>
          <p:txBody>
            <a:bodyPr anchor="ctr"/>
            <a:lstStyle/>
            <a:p>
              <a:pPr>
                <a:spcBef>
                  <a:spcPts val="0"/>
                </a:spcBef>
                <a:spcAft>
                  <a:spcPts val="0"/>
                </a:spcAft>
                <a:defRPr>
                  <a:solidFill>
                    <a:schemeClr val="lt1"/>
                  </a:solidFill>
                </a:defRPr>
              </a:pPr>
              <a:endParaRPr lang="zh-CN">
                <a:solidFill>
                  <a:schemeClr val="lt1"/>
                </a:solidFill>
              </a:endParaRPr>
            </a:p>
          </p:txBody>
        </p:sp>
        <p:grpSp>
          <p:nvGrpSpPr>
            <p:cNvPr id="27" name="组合 21"/>
            <p:cNvGrpSpPr/>
            <p:nvPr/>
          </p:nvGrpSpPr>
          <p:grpSpPr>
            <a:xfrm>
              <a:off x="1548216" y="4446588"/>
              <a:ext cx="5263932" cy="965200"/>
              <a:chOff x="1604501" y="1473366"/>
              <a:chExt cx="5263621" cy="977226"/>
            </a:xfrm>
          </p:grpSpPr>
          <p:sp>
            <p:nvSpPr>
              <p:cNvPr id="31" name="矩形 30"/>
              <p:cNvSpPr/>
              <p:nvPr/>
            </p:nvSpPr>
            <p:spPr>
              <a:xfrm>
                <a:off x="1604501" y="1473366"/>
                <a:ext cx="3993365" cy="977226"/>
              </a:xfrm>
              <a:prstGeom prst="rect">
                <a:avLst/>
              </a:prstGeom>
              <a:solidFill>
                <a:schemeClr val="bg1"/>
              </a:solidFill>
              <a:ln w="25400">
                <a:solidFill>
                  <a:srgbClr val="005DA2"/>
                </a:solidFill>
                <a:prstDash val="solid"/>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32" name="文本框 23"/>
              <p:cNvSpPr txBox="1"/>
              <p:nvPr/>
            </p:nvSpPr>
            <p:spPr>
              <a:xfrm>
                <a:off x="1883957" y="1638916"/>
                <a:ext cx="4984165" cy="467417"/>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r>
                  <a:rPr lang="zh-CN" sz="2400">
                    <a:ea typeface="微软雅黑" panose="020B0503020204020204" charset="-122"/>
                  </a:rPr>
                  <a:t>报送资料要求变化</a:t>
                </a:r>
                <a:endParaRPr lang="zh-CN" sz="2400">
                  <a:ea typeface="微软雅黑" panose="020B0503020204020204" charset="-122"/>
                </a:endParaRPr>
              </a:p>
            </p:txBody>
          </p:sp>
        </p:grpSp>
        <p:sp>
          <p:nvSpPr>
            <p:cNvPr id="28" name="文本框 24"/>
            <p:cNvSpPr txBox="1"/>
            <p:nvPr/>
          </p:nvSpPr>
          <p:spPr>
            <a:xfrm>
              <a:off x="1976953" y="5584826"/>
              <a:ext cx="5927680" cy="869533"/>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nSpc>
                  <a:spcPct val="150000"/>
                </a:lnSpc>
              </a:pPr>
              <a:r>
                <a:rPr lang="zh-CN">
                  <a:ea typeface="微软雅黑" panose="020B0503020204020204" charset="-122"/>
                </a:rPr>
                <a:t>《研发项目可加计扣除研究开发费用情况归集表》</a:t>
              </a:r>
              <a:endParaRPr lang="en-US">
                <a:ea typeface="微软雅黑" panose="020B0503020204020204" charset="-122"/>
              </a:endParaRPr>
            </a:p>
            <a:p>
              <a:pPr>
                <a:lnSpc>
                  <a:spcPct val="150000"/>
                </a:lnSpc>
              </a:pPr>
              <a:r>
                <a:rPr lang="zh-CN">
                  <a:ea typeface="微软雅黑" panose="020B0503020204020204" charset="-122"/>
                </a:rPr>
                <a:t>《</a:t>
              </a:r>
              <a:r>
                <a:rPr lang="en-US">
                  <a:ea typeface="微软雅黑" panose="020B0503020204020204" charset="-122"/>
                </a:rPr>
                <a:t>“</a:t>
              </a:r>
              <a:r>
                <a:rPr lang="zh-CN">
                  <a:ea typeface="微软雅黑" panose="020B0503020204020204" charset="-122"/>
                </a:rPr>
                <a:t>研发支出</a:t>
              </a:r>
              <a:r>
                <a:rPr lang="en-US">
                  <a:ea typeface="微软雅黑" panose="020B0503020204020204" charset="-122"/>
                </a:rPr>
                <a:t>”</a:t>
              </a:r>
              <a:r>
                <a:rPr lang="zh-CN">
                  <a:ea typeface="微软雅黑" panose="020B0503020204020204" charset="-122"/>
                </a:rPr>
                <a:t>辅助账汇总表》</a:t>
              </a:r>
              <a:endParaRPr lang="zh-CN">
                <a:ea typeface="微软雅黑" panose="020B0503020204020204" charset="-122"/>
              </a:endParaRPr>
            </a:p>
          </p:txBody>
        </p:sp>
        <p:sp>
          <p:nvSpPr>
            <p:cNvPr id="29" name="椭圆 28"/>
            <p:cNvSpPr/>
            <p:nvPr/>
          </p:nvSpPr>
          <p:spPr>
            <a:xfrm>
              <a:off x="5271872" y="4211638"/>
              <a:ext cx="539891" cy="539750"/>
            </a:xfrm>
            <a:prstGeom prst="ellipse">
              <a:avLst/>
            </a:prstGeom>
            <a:solidFill>
              <a:srgbClr val="FF0000"/>
            </a:solidFill>
            <a:ln>
              <a:noFill/>
            </a:ln>
          </p:spPr>
          <p:txBody>
            <a:bodyPr anchor="ctr"/>
            <a:lstStyle/>
            <a:p>
              <a:pPr>
                <a:spcBef>
                  <a:spcPts val="0"/>
                </a:spcBef>
                <a:spcAft>
                  <a:spcPts val="0"/>
                </a:spcAft>
                <a:defRPr>
                  <a:solidFill>
                    <a:schemeClr val="lt1"/>
                  </a:solidFill>
                </a:defRPr>
              </a:pPr>
              <a:r>
                <a:rPr lang="en-US" sz="3600">
                  <a:solidFill>
                    <a:schemeClr val="lt1"/>
                  </a:solidFill>
                </a:rPr>
                <a:t>2</a:t>
              </a:r>
              <a:endParaRPr lang="zh-CN" sz="3600">
                <a:solidFill>
                  <a:schemeClr val="lt1"/>
                </a:solidFill>
              </a:endParaRPr>
            </a:p>
          </p:txBody>
        </p:sp>
        <p:pic>
          <p:nvPicPr>
            <p:cNvPr id="30" name="图形 8"/>
            <p:cNvPicPr/>
            <p:nvPr/>
          </p:nvPicPr>
          <p:blipFill>
            <a:blip r:embed="rId1"/>
            <a:stretch>
              <a:fillRect/>
            </a:stretch>
          </p:blipFill>
          <p:spPr>
            <a:xfrm>
              <a:off x="612935" y="4478338"/>
              <a:ext cx="914638" cy="914400"/>
            </a:xfrm>
            <a:prstGeom prst="rect">
              <a:avLst/>
            </a:prstGeom>
            <a:noFill/>
            <a:ln>
              <a:noFill/>
            </a:ln>
          </p:spPr>
        </p:pic>
      </p:grpSp>
      <p:sp>
        <p:nvSpPr>
          <p:cNvPr id="43" name="右大括号 42"/>
          <p:cNvSpPr/>
          <p:nvPr/>
        </p:nvSpPr>
        <p:spPr>
          <a:xfrm>
            <a:off x="7177707" y="5673868"/>
            <a:ext cx="212226" cy="734534"/>
          </a:xfrm>
          <a:prstGeom prst="rightBrace">
            <a:avLst>
              <a:gd name="adj1" fmla="val 0"/>
              <a:gd name="adj2" fmla="val 50000"/>
            </a:avLst>
          </a:prstGeom>
          <a:ln w="76200">
            <a:solidFill>
              <a:schemeClr val="accent1">
                <a:shade val="95000"/>
              </a:schemeClr>
            </a:solidFill>
            <a:prstDash val="solid"/>
          </a:ln>
        </p:spPr>
        <p:txBody>
          <a:bodyPr anchor="ctr"/>
          <a:lstStyle/>
          <a:p>
            <a:pPr algn="ctr"/>
            <a:endParaRPr lang="zh-CN">
              <a:solidFill>
                <a:schemeClr val="tx1"/>
              </a:solidFill>
            </a:endParaRPr>
          </a:p>
        </p:txBody>
      </p:sp>
      <p:sp>
        <p:nvSpPr>
          <p:cNvPr id="44" name="圆角矩形 47"/>
          <p:cNvSpPr/>
          <p:nvPr/>
        </p:nvSpPr>
        <p:spPr>
          <a:xfrm>
            <a:off x="7609755" y="5773536"/>
            <a:ext cx="1870638" cy="558801"/>
          </a:xfrm>
          <a:prstGeom prst="roundRect">
            <a:avLst/>
          </a:prstGeom>
          <a:solidFill>
            <a:srgbClr val="0070C0"/>
          </a:solidFill>
          <a:ln w="25400" cap="flat" cmpd="sng">
            <a:solidFill>
              <a:schemeClr val="accent3">
                <a:shade val="50000"/>
              </a:schemeClr>
            </a:solidFill>
            <a:prstDash val="solid"/>
          </a:ln>
        </p:spPr>
        <p:txBody>
          <a:bodyPr anchor="ctr"/>
          <a:lstStyle/>
          <a:p>
            <a:pPr algn="ctr"/>
            <a:r>
              <a:rPr lang="zh-CN" sz="2400">
                <a:solidFill>
                  <a:srgbClr val="FFFFFF"/>
                </a:solidFill>
                <a:latin typeface="华文新魏" panose="02010800040101010101" charset="-122"/>
                <a:ea typeface="华文新魏" panose="02010800040101010101" charset="-122"/>
              </a:rPr>
              <a:t>留存备查</a:t>
            </a:r>
            <a:endParaRPr lang="zh-CN" sz="2400">
              <a:solidFill>
                <a:srgbClr val="FFFFFF"/>
              </a:solidFill>
              <a:latin typeface="华文新魏" panose="02010800040101010101" charset="-122"/>
              <a:ea typeface="华文新魏" panose="020108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90614"/>
            <a:ext cx="12195175" cy="5799137"/>
          </a:xfrm>
          <a:prstGeom prst="rect">
            <a:avLst/>
          </a:prstGeom>
          <a:solidFill>
            <a:srgbClr val="FFFFFF">
              <a:alpha val="85098"/>
            </a:srgbClr>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12" name="矩形 11"/>
          <p:cNvSpPr/>
          <p:nvPr/>
        </p:nvSpPr>
        <p:spPr>
          <a:xfrm>
            <a:off x="595468" y="1049339"/>
            <a:ext cx="1055962" cy="987425"/>
          </a:xfrm>
          <a:prstGeom prst="rect">
            <a:avLst/>
          </a:prstGeom>
          <a:solidFill>
            <a:srgbClr val="005DA2"/>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grpSp>
        <p:nvGrpSpPr>
          <p:cNvPr id="54279" name="组合 17"/>
          <p:cNvGrpSpPr/>
          <p:nvPr/>
        </p:nvGrpSpPr>
        <p:grpSpPr>
          <a:xfrm>
            <a:off x="1614908" y="1049338"/>
            <a:ext cx="9521129" cy="976312"/>
            <a:chOff x="1604502" y="1473366"/>
            <a:chExt cx="9695403" cy="977226"/>
          </a:xfrm>
        </p:grpSpPr>
        <p:sp>
          <p:nvSpPr>
            <p:cNvPr id="15" name="矩形 14"/>
            <p:cNvSpPr/>
            <p:nvPr/>
          </p:nvSpPr>
          <p:spPr>
            <a:xfrm>
              <a:off x="1604502" y="1473366"/>
              <a:ext cx="9672765" cy="977226"/>
            </a:xfrm>
            <a:prstGeom prst="rect">
              <a:avLst/>
            </a:prstGeom>
            <a:solidFill>
              <a:schemeClr val="bg1"/>
            </a:solidFill>
            <a:ln w="25400">
              <a:solidFill>
                <a:srgbClr val="005DA2"/>
              </a:solidFill>
              <a:prstDash val="solid"/>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54357" name="文本框 15"/>
            <p:cNvSpPr txBox="1"/>
            <p:nvPr/>
          </p:nvSpPr>
          <p:spPr>
            <a:xfrm>
              <a:off x="1627631" y="1638813"/>
              <a:ext cx="9672274" cy="461665"/>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r>
                <a:rPr lang="zh-CN" sz="2400">
                  <a:ea typeface="微软雅黑" panose="020B0503020204020204" charset="-122"/>
                </a:rPr>
                <a:t>企业所得税年度纳税申报基础信息表</a:t>
              </a:r>
              <a:r>
                <a:rPr lang="en-US" sz="2400">
                  <a:ea typeface="微软雅黑" panose="020B0503020204020204" charset="-122"/>
                </a:rPr>
                <a:t>A000000</a:t>
              </a:r>
              <a:endParaRPr lang="zh-CN" sz="2400">
                <a:ea typeface="微软雅黑" panose="020B0503020204020204" charset="-122"/>
              </a:endParaRPr>
            </a:p>
          </p:txBody>
        </p:sp>
      </p:grpSp>
      <p:pic>
        <p:nvPicPr>
          <p:cNvPr id="54280" name="图形 4"/>
          <p:cNvPicPr/>
          <p:nvPr/>
        </p:nvPicPr>
        <p:blipFill>
          <a:blip r:embed="rId1"/>
          <a:stretch>
            <a:fillRect/>
          </a:stretch>
        </p:blipFill>
        <p:spPr>
          <a:xfrm>
            <a:off x="695506" y="1081088"/>
            <a:ext cx="914638" cy="914400"/>
          </a:xfrm>
          <a:prstGeom prst="rect">
            <a:avLst/>
          </a:prstGeom>
          <a:noFill/>
          <a:ln>
            <a:noFill/>
          </a:ln>
        </p:spPr>
      </p:pic>
      <p:graphicFrame>
        <p:nvGraphicFramePr>
          <p:cNvPr id="89184" name="Group 96"/>
          <p:cNvGraphicFramePr/>
          <p:nvPr/>
        </p:nvGraphicFramePr>
        <p:xfrm>
          <a:off x="435088" y="1785939"/>
          <a:ext cx="10869268" cy="1860868"/>
        </p:xfrm>
        <a:graphic>
          <a:graphicData uri="http://schemas.openxmlformats.org/drawingml/2006/table">
            <a:tbl>
              <a:tblPr/>
              <a:tblGrid>
                <a:gridCol w="4876483"/>
                <a:gridCol w="1570446"/>
                <a:gridCol w="2916997"/>
                <a:gridCol w="377923"/>
                <a:gridCol w="1127419"/>
              </a:tblGrid>
              <a:tr h="392430">
                <a:tc gridSpan="5">
                  <a:txBody>
                    <a:bodyPr/>
                    <a:lstStyle/>
                    <a:p>
                      <a:pPr marL="0" lvl="0" indent="0" algn="ctr" defTabSz="914400">
                        <a:lnSpc>
                          <a:spcPts val="1800"/>
                        </a:lnSpc>
                        <a:spcBef>
                          <a:spcPct val="0"/>
                        </a:spcBef>
                        <a:spcAft>
                          <a:spcPct val="0"/>
                        </a:spcAft>
                        <a:buNone/>
                      </a:pPr>
                      <a:r>
                        <a:rPr lang="zh-CN" sz="1400" b="1" i="0" u="none" strike="noStrike" baseline="0">
                          <a:solidFill>
                            <a:srgbClr val="FFFF00"/>
                          </a:solidFill>
                          <a:latin typeface="Arial" panose="020B0604020202020204"/>
                          <a:ea typeface="微软雅黑" panose="020B0503020204020204" charset="-122"/>
                        </a:rPr>
                        <a:t>基本经营情况（必填项目）</a:t>
                      </a:r>
                      <a:endParaRPr lang="zh-CN" sz="1400" b="1" i="0" u="none" strike="noStrike" baseline="0">
                        <a:solidFill>
                          <a:srgbClr val="FFFF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381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hMerge="1">
                  <a:tcPr/>
                </a:tc>
              </a:tr>
              <a:tr h="288925">
                <a:tc>
                  <a:txBody>
                    <a:bodyPr/>
                    <a:lstStyle/>
                    <a:p>
                      <a:pPr marL="0" lvl="0" indent="0" algn="l" defTabSz="914400">
                        <a:lnSpc>
                          <a:spcPts val="1800"/>
                        </a:lnSpc>
                        <a:spcBef>
                          <a:spcPct val="0"/>
                        </a:spcBef>
                        <a:spcAft>
                          <a:spcPct val="0"/>
                        </a:spcAft>
                        <a:buNone/>
                      </a:pPr>
                      <a:r>
                        <a:rPr lang="en-US" sz="1000" b="1" i="0" u="none" strike="noStrike" baseline="0">
                          <a:solidFill>
                            <a:schemeClr val="bg1"/>
                          </a:solidFill>
                          <a:latin typeface="Arial" panose="020B0604020202020204"/>
                          <a:ea typeface="微软雅黑" panose="020B0503020204020204" charset="-122"/>
                        </a:rPr>
                        <a:t>101</a:t>
                      </a:r>
                      <a:r>
                        <a:rPr lang="zh-CN" sz="1000" b="1" i="0" u="none" strike="noStrike" baseline="0">
                          <a:solidFill>
                            <a:schemeClr val="bg1"/>
                          </a:solidFill>
                          <a:latin typeface="Arial" panose="020B0604020202020204"/>
                          <a:ea typeface="微软雅黑" panose="020B0503020204020204" charset="-122"/>
                        </a:rPr>
                        <a:t>纳税申报企业类型（填写代码）</a:t>
                      </a:r>
                      <a:endParaRPr lang="zh-CN" sz="1000" b="1" i="0" u="none" strike="noStrike" baseline="0">
                        <a:solidFill>
                          <a:schemeClr val="bg1"/>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lvl="0" indent="0" algn="just" defTabSz="914400">
                        <a:lnSpc>
                          <a:spcPts val="1800"/>
                        </a:lnSpc>
                        <a:spcBef>
                          <a:spcPct val="0"/>
                        </a:spcBef>
                        <a:spcAft>
                          <a:spcPct val="0"/>
                        </a:spcAft>
                        <a:buNone/>
                      </a:pPr>
                      <a:r>
                        <a:rPr lang="zh-CN" sz="1000" b="0" i="0" u="none" strike="noStrike" baseline="0">
                          <a:solidFill>
                            <a:srgbClr val="005DA2"/>
                          </a:solidFill>
                          <a:latin typeface="Arial" panose="020B0604020202020204"/>
                          <a:ea typeface="微软雅黑" panose="020B0503020204020204" charset="-122"/>
                        </a:rPr>
                        <a:t>跨地区经营企业类型代码</a:t>
                      </a:r>
                      <a:endParaRPr lang="zh-CN" sz="1000" b="0" i="0" u="none" strike="noStrike" baseline="0">
                        <a:solidFill>
                          <a:srgbClr val="005DA2"/>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2">
                  <a:txBody>
                    <a:bodyPr/>
                    <a:lstStyle/>
                    <a:p>
                      <a:pPr marL="0" lvl="0" indent="0" algn="l" defTabSz="914400">
                        <a:lnSpc>
                          <a:spcPts val="1800"/>
                        </a:lnSpc>
                        <a:spcBef>
                          <a:spcPct val="0"/>
                        </a:spcBef>
                        <a:spcAft>
                          <a:spcPct val="0"/>
                        </a:spcAft>
                        <a:buNone/>
                      </a:pPr>
                      <a:r>
                        <a:rPr lang="en-US" sz="1000" b="0" i="0" u="none" strike="noStrike" baseline="0">
                          <a:solidFill>
                            <a:srgbClr val="000000"/>
                          </a:solidFill>
                          <a:latin typeface="Arial" panose="020B0604020202020204"/>
                          <a:ea typeface="微软雅黑" panose="020B0503020204020204" charset="-122"/>
                        </a:rPr>
                        <a:t>102</a:t>
                      </a:r>
                      <a:r>
                        <a:rPr lang="zh-CN" sz="1000" b="0" i="0" u="none" strike="noStrike" baseline="0">
                          <a:solidFill>
                            <a:srgbClr val="000000"/>
                          </a:solidFill>
                          <a:latin typeface="Arial" panose="020B0604020202020204"/>
                          <a:ea typeface="微软雅黑" panose="020B0503020204020204" charset="-122"/>
                        </a:rPr>
                        <a:t>分支机构就地纳税比例（</a:t>
                      </a:r>
                      <a:r>
                        <a:rPr lang="en-US" sz="1000" b="0" i="0" u="none" strike="noStrike" baseline="0">
                          <a:solidFill>
                            <a:srgbClr val="000000"/>
                          </a:solidFill>
                          <a:latin typeface="Arial" panose="020B0604020202020204"/>
                          <a:ea typeface="微软雅黑" panose="020B0503020204020204" charset="-122"/>
                        </a:rPr>
                        <a:t>%</a:t>
                      </a:r>
                      <a:r>
                        <a:rPr lang="zh-CN" sz="1000" b="0" i="0" u="none" strike="noStrike" baseline="0">
                          <a:solidFill>
                            <a:srgbClr val="000000"/>
                          </a:solidFill>
                          <a:latin typeface="Arial" panose="020B0604020202020204"/>
                          <a:ea typeface="微软雅黑" panose="020B0503020204020204" charset="-122"/>
                        </a:rPr>
                        <a:t>）</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a:txBody>
                    <a:bodyPr/>
                    <a:lstStyle/>
                    <a:p>
                      <a:pPr marL="0" lvl="0" indent="0" algn="just" defTabSz="914400">
                        <a:lnSpc>
                          <a:spcPts val="1800"/>
                        </a:lnSpc>
                        <a:spcBef>
                          <a:spcPct val="0"/>
                        </a:spcBef>
                        <a:spcAft>
                          <a:spcPct val="0"/>
                        </a:spcAft>
                        <a:buNone/>
                      </a:pPr>
                      <a:r>
                        <a:rPr lang="en-US" sz="1000" b="0" i="0" u="none" strike="noStrike" baseline="0">
                          <a:solidFill>
                            <a:srgbClr val="000000"/>
                          </a:solidFill>
                          <a:latin typeface="Arial" panose="020B0604020202020204"/>
                          <a:ea typeface="微软雅黑" panose="020B0503020204020204" charset="-122"/>
                        </a:rPr>
                        <a:t> </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288925">
                <a:tc>
                  <a:txBody>
                    <a:bodyPr/>
                    <a:lstStyle/>
                    <a:p>
                      <a:pPr marL="0" lvl="0" indent="0" algn="l" defTabSz="914400">
                        <a:lnSpc>
                          <a:spcPts val="1800"/>
                        </a:lnSpc>
                        <a:spcBef>
                          <a:spcPct val="0"/>
                        </a:spcBef>
                        <a:spcAft>
                          <a:spcPct val="0"/>
                        </a:spcAft>
                        <a:buNone/>
                      </a:pPr>
                      <a:r>
                        <a:rPr lang="en-US" sz="1000" b="1" i="0" u="none" strike="noStrike" baseline="0">
                          <a:solidFill>
                            <a:schemeClr val="tx1"/>
                          </a:solidFill>
                          <a:latin typeface="Arial" panose="020B0604020202020204"/>
                          <a:ea typeface="微软雅黑" panose="020B0503020204020204" charset="-122"/>
                        </a:rPr>
                        <a:t>103</a:t>
                      </a:r>
                      <a:r>
                        <a:rPr lang="zh-CN" sz="1000" b="1" i="0" u="none" strike="noStrike" baseline="0">
                          <a:solidFill>
                            <a:schemeClr val="tx1"/>
                          </a:solidFill>
                          <a:latin typeface="Arial" panose="020B0604020202020204"/>
                          <a:ea typeface="微软雅黑" panose="020B0503020204020204" charset="-122"/>
                        </a:rPr>
                        <a:t>资产总额（填写平均值，单位：万元）</a:t>
                      </a:r>
                      <a:endParaRPr lang="zh-CN" sz="1000" b="1" i="0" u="none" strike="noStrike" baseline="0">
                        <a:solidFill>
                          <a:schemeClr val="tx1"/>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0" lvl="0" indent="0" algn="just" defTabSz="914400">
                        <a:lnSpc>
                          <a:spcPts val="1800"/>
                        </a:lnSpc>
                        <a:spcBef>
                          <a:spcPct val="0"/>
                        </a:spcBef>
                        <a:spcAft>
                          <a:spcPct val="0"/>
                        </a:spcAft>
                        <a:buNone/>
                      </a:pPr>
                      <a:r>
                        <a:rPr lang="en-US" sz="1000" b="0" i="0" u="none" strike="noStrike" baseline="0">
                          <a:solidFill>
                            <a:srgbClr val="000000"/>
                          </a:solidFill>
                          <a:latin typeface="Arial" panose="020B0604020202020204"/>
                          <a:ea typeface="微软雅黑" panose="020B0503020204020204" charset="-122"/>
                        </a:rPr>
                        <a:t> </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gridSpan="2">
                  <a:txBody>
                    <a:bodyPr/>
                    <a:lstStyle/>
                    <a:p>
                      <a:pPr marL="0" lvl="0" indent="0" algn="l" defTabSz="914400">
                        <a:lnSpc>
                          <a:spcPts val="1800"/>
                        </a:lnSpc>
                        <a:spcBef>
                          <a:spcPct val="0"/>
                        </a:spcBef>
                        <a:spcAft>
                          <a:spcPct val="0"/>
                        </a:spcAft>
                        <a:buNone/>
                      </a:pPr>
                      <a:r>
                        <a:rPr lang="en-US" sz="1000" b="1" i="0" u="none" strike="noStrike" baseline="0">
                          <a:solidFill>
                            <a:srgbClr val="000000"/>
                          </a:solidFill>
                          <a:latin typeface="Arial" panose="020B0604020202020204"/>
                          <a:ea typeface="微软雅黑" panose="020B0503020204020204" charset="-122"/>
                        </a:rPr>
                        <a:t>104</a:t>
                      </a:r>
                      <a:r>
                        <a:rPr lang="zh-CN" sz="1000" b="1" i="0" u="none" strike="noStrike" baseline="0">
                          <a:solidFill>
                            <a:srgbClr val="000000"/>
                          </a:solidFill>
                          <a:latin typeface="Arial" panose="020B0604020202020204"/>
                          <a:ea typeface="微软雅黑" panose="020B0503020204020204" charset="-122"/>
                        </a:rPr>
                        <a:t>从业人数（填写平均值，单位：人）</a:t>
                      </a:r>
                      <a:endParaRPr lang="zh-CN" sz="1000" b="1"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a:txBody>
                    <a:bodyPr/>
                    <a:lstStyle/>
                    <a:p>
                      <a:pPr marL="0" lvl="0" indent="0" algn="just" defTabSz="914400">
                        <a:lnSpc>
                          <a:spcPts val="1800"/>
                        </a:lnSpc>
                        <a:spcBef>
                          <a:spcPct val="0"/>
                        </a:spcBef>
                        <a:spcAft>
                          <a:spcPct val="0"/>
                        </a:spcAft>
                        <a:buNone/>
                      </a:pPr>
                      <a:r>
                        <a:rPr lang="en-US" sz="1000" b="0" i="0" u="none" strike="noStrike" baseline="0">
                          <a:solidFill>
                            <a:srgbClr val="000000"/>
                          </a:solidFill>
                          <a:latin typeface="Arial" panose="020B0604020202020204"/>
                          <a:ea typeface="微软雅黑" panose="020B0503020204020204" charset="-122"/>
                        </a:rPr>
                        <a:t> </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r h="312738">
                <a:tc>
                  <a:txBody>
                    <a:bodyPr/>
                    <a:lstStyle/>
                    <a:p>
                      <a:pPr marL="0" lvl="0" indent="0" algn="just" defTabSz="914400">
                        <a:lnSpc>
                          <a:spcPts val="1800"/>
                        </a:lnSpc>
                        <a:spcBef>
                          <a:spcPct val="0"/>
                        </a:spcBef>
                        <a:spcAft>
                          <a:spcPct val="0"/>
                        </a:spcAft>
                        <a:buNone/>
                      </a:pPr>
                      <a:r>
                        <a:rPr lang="en-US" sz="1000" b="1" i="0" u="none" strike="noStrike" baseline="0">
                          <a:solidFill>
                            <a:srgbClr val="FFFFFF"/>
                          </a:solidFill>
                          <a:latin typeface="Arial" panose="020B0604020202020204"/>
                          <a:ea typeface="微软雅黑" panose="020B0503020204020204" charset="-122"/>
                        </a:rPr>
                        <a:t>105</a:t>
                      </a:r>
                      <a:r>
                        <a:rPr lang="zh-CN" sz="1000" b="1" i="0" u="none" strike="noStrike" baseline="0">
                          <a:solidFill>
                            <a:srgbClr val="FFFFFF"/>
                          </a:solidFill>
                          <a:latin typeface="Arial" panose="020B0604020202020204"/>
                          <a:ea typeface="微软雅黑" panose="020B0503020204020204" charset="-122"/>
                        </a:rPr>
                        <a:t>所属国民经济行业（填写代码）</a:t>
                      </a:r>
                      <a:endParaRPr lang="zh-CN" sz="1000" b="1" i="0" u="none" strike="noStrike" baseline="0">
                        <a:solidFill>
                          <a:srgbClr val="FFFFFF"/>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lvl="0" indent="0" algn="just" defTabSz="914400">
                        <a:lnSpc>
                          <a:spcPts val="1800"/>
                        </a:lnSpc>
                        <a:spcBef>
                          <a:spcPct val="0"/>
                        </a:spcBef>
                        <a:spcAft>
                          <a:spcPct val="0"/>
                        </a:spcAft>
                        <a:buNone/>
                      </a:pPr>
                      <a:r>
                        <a:rPr lang="en-US" sz="1000" b="0" i="0" u="none" strike="noStrike" baseline="0">
                          <a:solidFill>
                            <a:srgbClr val="005DA2"/>
                          </a:solidFill>
                          <a:latin typeface="Arial" panose="020B0604020202020204"/>
                          <a:ea typeface="微软雅黑" panose="020B0503020204020204" charset="-122"/>
                        </a:rPr>
                        <a:t> </a:t>
                      </a:r>
                      <a:r>
                        <a:rPr lang="zh-CN" sz="1000" b="0" i="0" u="none" strike="noStrike" baseline="0">
                          <a:solidFill>
                            <a:srgbClr val="005DA2"/>
                          </a:solidFill>
                          <a:latin typeface="Arial" panose="020B0604020202020204"/>
                          <a:ea typeface="微软雅黑" panose="020B0503020204020204" charset="-122"/>
                        </a:rPr>
                        <a:t>代码</a:t>
                      </a:r>
                      <a:endParaRPr lang="zh-CN" sz="1000" b="0" i="0" u="none" strike="noStrike" baseline="0">
                        <a:solidFill>
                          <a:srgbClr val="005DA2"/>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2">
                  <a:txBody>
                    <a:bodyPr/>
                    <a:lstStyle/>
                    <a:p>
                      <a:pPr marL="0" lvl="0" indent="0" algn="l" defTabSz="914400">
                        <a:lnSpc>
                          <a:spcPts val="1800"/>
                        </a:lnSpc>
                        <a:spcBef>
                          <a:spcPct val="0"/>
                        </a:spcBef>
                        <a:spcAft>
                          <a:spcPct val="0"/>
                        </a:spcAft>
                        <a:buNone/>
                      </a:pPr>
                      <a:r>
                        <a:rPr lang="en-US" sz="1000" b="0" i="0" u="none" strike="noStrike" baseline="0">
                          <a:solidFill>
                            <a:srgbClr val="000000"/>
                          </a:solidFill>
                          <a:latin typeface="Arial" panose="020B0604020202020204"/>
                          <a:ea typeface="微软雅黑" panose="020B0503020204020204" charset="-122"/>
                        </a:rPr>
                        <a:t>106</a:t>
                      </a:r>
                      <a:r>
                        <a:rPr lang="zh-CN" sz="1000" b="0" i="0" u="none" strike="noStrike" baseline="0">
                          <a:solidFill>
                            <a:srgbClr val="000000"/>
                          </a:solidFill>
                          <a:latin typeface="Arial" panose="020B0604020202020204"/>
                          <a:ea typeface="微软雅黑" panose="020B0503020204020204" charset="-122"/>
                        </a:rPr>
                        <a:t>从事国家限制或禁止行业</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a:txBody>
                    <a:bodyPr/>
                    <a:lstStyle/>
                    <a:p>
                      <a:pPr marL="0" lvl="0" indent="0" algn="just" defTabSz="914400">
                        <a:lnSpc>
                          <a:spcPts val="1800"/>
                        </a:lnSpc>
                        <a:spcBef>
                          <a:spcPct val="0"/>
                        </a:spcBef>
                        <a:spcAft>
                          <a:spcPct val="0"/>
                        </a:spcAft>
                        <a:buNone/>
                      </a:pPr>
                      <a:r>
                        <a:rPr lang="zh-CN" sz="1000" b="0" i="0" u="none" strike="noStrike" baseline="0">
                          <a:solidFill>
                            <a:srgbClr val="000000"/>
                          </a:solidFill>
                          <a:latin typeface="Arial" panose="020B0604020202020204"/>
                          <a:ea typeface="微软雅黑" panose="020B0503020204020204" charset="-122"/>
                        </a:rPr>
                        <a:t>□是    □否</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288925">
                <a:tc>
                  <a:txBody>
                    <a:bodyPr/>
                    <a:lstStyle/>
                    <a:p>
                      <a:pPr marL="0" lvl="0" indent="0" algn="l" defTabSz="914400">
                        <a:lnSpc>
                          <a:spcPts val="1800"/>
                        </a:lnSpc>
                        <a:spcBef>
                          <a:spcPct val="0"/>
                        </a:spcBef>
                        <a:spcAft>
                          <a:spcPct val="0"/>
                        </a:spcAft>
                        <a:buNone/>
                      </a:pPr>
                      <a:r>
                        <a:rPr lang="en-US" sz="1000" b="1" i="0" u="none" strike="noStrike" baseline="0">
                          <a:solidFill>
                            <a:schemeClr val="bg1"/>
                          </a:solidFill>
                          <a:latin typeface="Arial" panose="020B0604020202020204"/>
                          <a:ea typeface="微软雅黑" panose="020B0503020204020204" charset="-122"/>
                        </a:rPr>
                        <a:t>107</a:t>
                      </a:r>
                      <a:r>
                        <a:rPr lang="zh-CN" sz="1000" b="1" i="0" u="none" strike="noStrike" baseline="0">
                          <a:solidFill>
                            <a:schemeClr val="bg1"/>
                          </a:solidFill>
                          <a:latin typeface="Arial" panose="020B0604020202020204"/>
                          <a:ea typeface="微软雅黑" panose="020B0503020204020204" charset="-122"/>
                        </a:rPr>
                        <a:t>适用会计准则或会计制度（填写代码）</a:t>
                      </a:r>
                      <a:endParaRPr lang="zh-CN" sz="1000" b="1" i="0" u="none" strike="noStrike" baseline="0">
                        <a:solidFill>
                          <a:schemeClr val="bg1"/>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lvl="0" indent="0" algn="just" defTabSz="914400">
                        <a:lnSpc>
                          <a:spcPts val="1800"/>
                        </a:lnSpc>
                        <a:spcBef>
                          <a:spcPct val="0"/>
                        </a:spcBef>
                        <a:spcAft>
                          <a:spcPct val="0"/>
                        </a:spcAft>
                        <a:buNone/>
                      </a:pPr>
                      <a:r>
                        <a:rPr lang="en-US" sz="1000" b="0" i="0" u="none" strike="noStrike" baseline="0">
                          <a:solidFill>
                            <a:srgbClr val="000000"/>
                          </a:solidFill>
                          <a:latin typeface="Arial" panose="020B0604020202020204"/>
                          <a:ea typeface="微软雅黑" panose="020B0503020204020204" charset="-122"/>
                        </a:rPr>
                        <a:t> </a:t>
                      </a:r>
                      <a:r>
                        <a:rPr lang="zh-CN" sz="1000" b="0" i="0" u="none" strike="noStrike" baseline="0">
                          <a:solidFill>
                            <a:srgbClr val="005DA2"/>
                          </a:solidFill>
                          <a:latin typeface="Arial" panose="020B0604020202020204"/>
                          <a:ea typeface="微软雅黑" panose="020B0503020204020204" charset="-122"/>
                        </a:rPr>
                        <a:t>代码</a:t>
                      </a:r>
                      <a:endParaRPr lang="zh-CN" sz="1000" b="0" i="0" u="none" strike="noStrike" baseline="0">
                        <a:solidFill>
                          <a:srgbClr val="005DA2"/>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2">
                  <a:txBody>
                    <a:bodyPr/>
                    <a:lstStyle/>
                    <a:p>
                      <a:pPr marL="0" lvl="0" indent="0" algn="l" defTabSz="914400">
                        <a:lnSpc>
                          <a:spcPts val="1800"/>
                        </a:lnSpc>
                        <a:spcBef>
                          <a:spcPct val="0"/>
                        </a:spcBef>
                        <a:spcAft>
                          <a:spcPct val="0"/>
                        </a:spcAft>
                        <a:buNone/>
                      </a:pPr>
                      <a:r>
                        <a:rPr lang="en-US" sz="1200" b="0" i="0" u="none" strike="noStrike" baseline="0">
                          <a:solidFill>
                            <a:srgbClr val="FF0000"/>
                          </a:solidFill>
                          <a:latin typeface="Arial" panose="020B0604020202020204"/>
                          <a:ea typeface="微软雅黑" panose="020B0503020204020204" charset="-122"/>
                        </a:rPr>
                        <a:t>108</a:t>
                      </a:r>
                      <a:r>
                        <a:rPr lang="zh-CN" sz="1200" b="0" i="0" u="none" strike="noStrike" baseline="0">
                          <a:solidFill>
                            <a:srgbClr val="FF0000"/>
                          </a:solidFill>
                          <a:latin typeface="Arial" panose="020B0604020202020204"/>
                          <a:ea typeface="微软雅黑" panose="020B0503020204020204" charset="-122"/>
                        </a:rPr>
                        <a:t>采用一般企业财务报表格式（</a:t>
                      </a:r>
                      <a:r>
                        <a:rPr lang="en-US" sz="1200" b="0" i="0" u="none" strike="noStrike" baseline="0">
                          <a:solidFill>
                            <a:srgbClr val="FF0000"/>
                          </a:solidFill>
                          <a:latin typeface="Arial" panose="020B0604020202020204"/>
                          <a:ea typeface="微软雅黑" panose="020B0503020204020204" charset="-122"/>
                        </a:rPr>
                        <a:t>2019</a:t>
                      </a:r>
                      <a:r>
                        <a:rPr lang="zh-CN" sz="1200" b="0" i="0" u="none" strike="noStrike" baseline="0">
                          <a:solidFill>
                            <a:srgbClr val="FF0000"/>
                          </a:solidFill>
                          <a:latin typeface="Arial" panose="020B0604020202020204"/>
                          <a:ea typeface="微软雅黑" panose="020B0503020204020204" charset="-122"/>
                        </a:rPr>
                        <a:t>年版）</a:t>
                      </a:r>
                      <a:endParaRPr lang="zh-CN" sz="1200" b="0" i="0" u="none" strike="noStrike" baseline="0">
                        <a:solidFill>
                          <a:srgbClr val="FF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c hMerge="1">
                  <a:tcPr/>
                </a:tc>
                <a:tc>
                  <a:txBody>
                    <a:bodyPr/>
                    <a:lstStyle/>
                    <a:p>
                      <a:pPr marL="0" lvl="0" indent="0" algn="just" defTabSz="914400">
                        <a:lnSpc>
                          <a:spcPts val="1800"/>
                        </a:lnSpc>
                        <a:spcBef>
                          <a:spcPct val="0"/>
                        </a:spcBef>
                        <a:spcAft>
                          <a:spcPct val="0"/>
                        </a:spcAft>
                        <a:buNone/>
                      </a:pPr>
                      <a:r>
                        <a:rPr lang="zh-CN" sz="1000" b="0" i="0" u="none" strike="noStrike" baseline="0">
                          <a:solidFill>
                            <a:srgbClr val="000000"/>
                          </a:solidFill>
                          <a:latin typeface="Arial" panose="020B0604020202020204"/>
                          <a:ea typeface="微软雅黑" panose="020B0503020204020204" charset="-122"/>
                        </a:rPr>
                        <a:t>□是    □否</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r h="288925">
                <a:tc>
                  <a:txBody>
                    <a:bodyPr/>
                    <a:lstStyle/>
                    <a:p>
                      <a:pPr marL="0" lvl="0" indent="0" algn="l" defTabSz="914400">
                        <a:lnSpc>
                          <a:spcPts val="1800"/>
                        </a:lnSpc>
                        <a:spcBef>
                          <a:spcPct val="0"/>
                        </a:spcBef>
                        <a:spcAft>
                          <a:spcPct val="0"/>
                        </a:spcAft>
                        <a:buNone/>
                      </a:pPr>
                      <a:r>
                        <a:rPr lang="en-US" sz="1200" b="1" i="0" u="none" strike="noStrike" baseline="0">
                          <a:solidFill>
                            <a:srgbClr val="FFFF00"/>
                          </a:solidFill>
                          <a:latin typeface="Arial" panose="020B0604020202020204"/>
                          <a:ea typeface="微软雅黑" panose="020B0503020204020204" charset="-122"/>
                        </a:rPr>
                        <a:t>109</a:t>
                      </a:r>
                      <a:r>
                        <a:rPr lang="zh-CN" sz="1200" b="1" i="0" u="none" strike="noStrike" baseline="0">
                          <a:solidFill>
                            <a:srgbClr val="FFFF00"/>
                          </a:solidFill>
                          <a:latin typeface="Arial" panose="020B0604020202020204"/>
                          <a:ea typeface="微软雅黑" panose="020B0503020204020204" charset="-122"/>
                        </a:rPr>
                        <a:t>小型微利企业</a:t>
                      </a:r>
                      <a:endParaRPr lang="zh-CN" sz="1200" b="1" i="0" u="none" strike="noStrike" baseline="0">
                        <a:solidFill>
                          <a:srgbClr val="FFFF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lvl="0" indent="0" algn="just" defTabSz="914400">
                        <a:lnSpc>
                          <a:spcPts val="1800"/>
                        </a:lnSpc>
                        <a:spcBef>
                          <a:spcPct val="0"/>
                        </a:spcBef>
                        <a:spcAft>
                          <a:spcPct val="0"/>
                        </a:spcAft>
                        <a:buNone/>
                      </a:pPr>
                      <a:r>
                        <a:rPr lang="zh-CN" sz="1000" b="0" i="0" u="none" strike="noStrike" baseline="0">
                          <a:solidFill>
                            <a:srgbClr val="000000"/>
                          </a:solidFill>
                          <a:latin typeface="Arial" panose="020B0604020202020204"/>
                          <a:ea typeface="微软雅黑" panose="020B0503020204020204" charset="-122"/>
                        </a:rPr>
                        <a:t>□是□否</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l" defTabSz="914400">
                        <a:lnSpc>
                          <a:spcPts val="1800"/>
                        </a:lnSpc>
                        <a:spcBef>
                          <a:spcPct val="0"/>
                        </a:spcBef>
                        <a:spcAft>
                          <a:spcPct val="0"/>
                        </a:spcAft>
                        <a:buNone/>
                      </a:pPr>
                      <a:r>
                        <a:rPr lang="en-US" sz="1000" b="0" i="0" u="none" strike="noStrike" baseline="0">
                          <a:solidFill>
                            <a:srgbClr val="000000"/>
                          </a:solidFill>
                          <a:latin typeface="Arial" panose="020B0604020202020204"/>
                          <a:ea typeface="微软雅黑" panose="020B0503020204020204" charset="-122"/>
                        </a:rPr>
                        <a:t>110</a:t>
                      </a:r>
                      <a:r>
                        <a:rPr lang="zh-CN" sz="1000" b="0" i="0" u="none" strike="noStrike" baseline="0">
                          <a:solidFill>
                            <a:srgbClr val="000000"/>
                          </a:solidFill>
                          <a:latin typeface="Arial" panose="020B0604020202020204"/>
                          <a:ea typeface="微软雅黑" panose="020B0503020204020204" charset="-122"/>
                        </a:rPr>
                        <a:t>上市公司</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2">
                  <a:txBody>
                    <a:bodyPr/>
                    <a:lstStyle/>
                    <a:p>
                      <a:pPr marL="0" lvl="0" indent="0" algn="just" defTabSz="914400">
                        <a:lnSpc>
                          <a:spcPts val="1800"/>
                        </a:lnSpc>
                        <a:spcBef>
                          <a:spcPct val="0"/>
                        </a:spcBef>
                        <a:spcAft>
                          <a:spcPct val="0"/>
                        </a:spcAft>
                        <a:buNone/>
                      </a:pPr>
                      <a:r>
                        <a:rPr lang="zh-CN" sz="1000" b="0" i="0" u="none" strike="noStrike" baseline="0">
                          <a:solidFill>
                            <a:srgbClr val="000000"/>
                          </a:solidFill>
                          <a:latin typeface="Arial" panose="020B0604020202020204"/>
                          <a:ea typeface="微软雅黑" panose="020B0503020204020204" charset="-122"/>
                        </a:rPr>
                        <a:t>是（□境内□境外）□否</a:t>
                      </a:r>
                      <a:endParaRPr lang="zh-CN" sz="10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r>
            </a:tbl>
          </a:graphicData>
        </a:graphic>
      </p:graphicFrame>
      <p:sp>
        <p:nvSpPr>
          <p:cNvPr id="21" name="椭圆 20"/>
          <p:cNvSpPr/>
          <p:nvPr/>
        </p:nvSpPr>
        <p:spPr>
          <a:xfrm>
            <a:off x="11096339" y="1828800"/>
            <a:ext cx="925754" cy="909638"/>
          </a:xfrm>
          <a:prstGeom prst="ellipse">
            <a:avLst/>
          </a:prstGeom>
          <a:solidFill>
            <a:srgbClr val="FFFF00"/>
          </a:solidFill>
          <a:ln w="25400">
            <a:solidFill>
              <a:schemeClr val="tx1">
                <a:lumMod val="75000"/>
                <a:lumOff val="25000"/>
              </a:schemeClr>
            </a:solidFill>
            <a:prstDash val="solid"/>
          </a:ln>
        </p:spPr>
        <p:txBody>
          <a:bodyPr anchor="ctr"/>
          <a:lstStyle/>
          <a:p>
            <a:pPr>
              <a:spcBef>
                <a:spcPts val="0"/>
              </a:spcBef>
              <a:spcAft>
                <a:spcPts val="0"/>
              </a:spcAft>
              <a:defRPr>
                <a:solidFill>
                  <a:schemeClr val="lt1"/>
                </a:solidFill>
              </a:defRPr>
            </a:pPr>
            <a:r>
              <a:rPr lang="zh-CN" sz="4000">
                <a:solidFill>
                  <a:schemeClr val="tx1"/>
                </a:solidFill>
              </a:rPr>
              <a:t>新</a:t>
            </a:r>
            <a:endParaRPr lang="zh-CN" sz="4000">
              <a:solidFill>
                <a:schemeClr val="tx1"/>
              </a:solidFill>
            </a:endParaRPr>
          </a:p>
        </p:txBody>
      </p:sp>
      <p:graphicFrame>
        <p:nvGraphicFramePr>
          <p:cNvPr id="16" name="Group 106"/>
          <p:cNvGraphicFramePr/>
          <p:nvPr/>
        </p:nvGraphicFramePr>
        <p:xfrm>
          <a:off x="446205" y="3421061"/>
          <a:ext cx="11180498" cy="3704464"/>
        </p:xfrm>
        <a:graphic>
          <a:graphicData uri="http://schemas.openxmlformats.org/drawingml/2006/table">
            <a:tbl>
              <a:tblPr/>
              <a:tblGrid>
                <a:gridCol w="1117891"/>
                <a:gridCol w="2246897"/>
                <a:gridCol w="2248485"/>
                <a:gridCol w="209605"/>
                <a:gridCol w="735204"/>
                <a:gridCol w="2246897"/>
                <a:gridCol w="520836"/>
                <a:gridCol w="771726"/>
                <a:gridCol w="1082957"/>
              </a:tblGrid>
              <a:tr h="275464">
                <a:tc gridSpan="9">
                  <a:txBody>
                    <a:bodyPr/>
                    <a:lstStyle/>
                    <a:p>
                      <a:pPr marL="0" lvl="0" indent="0" algn="ctr" defTabSz="914400">
                        <a:lnSpc>
                          <a:spcPts val="1800"/>
                        </a:lnSpc>
                        <a:spcBef>
                          <a:spcPct val="0"/>
                        </a:spcBef>
                        <a:spcAft>
                          <a:spcPct val="0"/>
                        </a:spcAft>
                        <a:buNone/>
                      </a:pPr>
                      <a:r>
                        <a:rPr lang="zh-CN" sz="1400" b="1" i="0" u="none" strike="noStrike" kern="1200" baseline="0">
                          <a:solidFill>
                            <a:srgbClr val="FFFF00"/>
                          </a:solidFill>
                          <a:latin typeface="Arial" panose="020B0604020202020204"/>
                          <a:ea typeface="微软雅黑" panose="020B0503020204020204" charset="-122"/>
                        </a:rPr>
                        <a:t>有关涉税事项情况（存在或者发生下列事项时必填）</a:t>
                      </a:r>
                      <a:endParaRPr lang="zh-CN" sz="1400" b="1" i="0" u="none" strike="noStrike" kern="1200" baseline="0">
                        <a:solidFill>
                          <a:srgbClr val="FFFF00"/>
                        </a:solidFill>
                        <a:latin typeface="Arial" panose="020B0604020202020204"/>
                        <a:ea typeface="微软雅黑" panose="020B0503020204020204"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381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hMerge="1">
                  <a:tcPr/>
                </a:tc>
                <a:tc hMerge="1">
                  <a:tcPr/>
                </a:tc>
                <a:tc hMerge="1">
                  <a:tcPr/>
                </a:tc>
                <a:tc hMerge="1">
                  <a:tcPr/>
                </a:tc>
                <a:tc hMerge="1">
                  <a:tcPr/>
                </a:tc>
              </a:tr>
              <a:tr h="173880">
                <a:tc gridSpan="3">
                  <a:txBody>
                    <a:bodyPr/>
                    <a:lstStyle/>
                    <a:p>
                      <a:pPr marL="0" lvl="0" indent="0" algn="l"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201</a:t>
                      </a:r>
                      <a:r>
                        <a:rPr lang="zh-CN" sz="1200" b="0" i="0" u="none" strike="noStrike" baseline="0">
                          <a:solidFill>
                            <a:schemeClr val="tx1"/>
                          </a:solidFill>
                          <a:latin typeface="Arial" panose="020B0604020202020204"/>
                          <a:ea typeface="微软雅黑" panose="020B0503020204020204" charset="-122"/>
                        </a:rPr>
                        <a:t>从事股权投资业务</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hMerge="1">
                  <a:tcPr/>
                </a:tc>
                <a:tc gridSpan="2">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gridSpan="3">
                  <a:txBody>
                    <a:bodyPr/>
                    <a:lstStyle/>
                    <a:p>
                      <a:pPr marL="0" lvl="0" indent="0" algn="l"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202</a:t>
                      </a:r>
                      <a:r>
                        <a:rPr lang="zh-CN" sz="1200" b="0" i="0" u="none" strike="noStrike" baseline="0">
                          <a:solidFill>
                            <a:srgbClr val="000000"/>
                          </a:solidFill>
                          <a:latin typeface="Arial" panose="020B0604020202020204"/>
                          <a:ea typeface="微软雅黑" panose="020B0503020204020204" charset="-122"/>
                        </a:rPr>
                        <a:t>存在境外关联交易</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173880">
                <a:tc gridSpan="3">
                  <a:txBody>
                    <a:bodyPr/>
                    <a:lstStyle/>
                    <a:p>
                      <a:pPr marL="0" lvl="0" indent="0" algn="l" defTabSz="914400">
                        <a:lnSpc>
                          <a:spcPts val="1800"/>
                        </a:lnSpc>
                        <a:spcBef>
                          <a:spcPct val="0"/>
                        </a:spcBef>
                        <a:spcAft>
                          <a:spcPct val="0"/>
                        </a:spcAft>
                        <a:buNone/>
                      </a:pPr>
                      <a:r>
                        <a:rPr lang="en-US" sz="1200" b="0" i="0" u="none" strike="noStrike" baseline="0">
                          <a:solidFill>
                            <a:schemeClr val="bg1"/>
                          </a:solidFill>
                          <a:latin typeface="Arial" panose="020B0604020202020204"/>
                          <a:ea typeface="微软雅黑" panose="020B0503020204020204" charset="-122"/>
                        </a:rPr>
                        <a:t>203</a:t>
                      </a:r>
                      <a:r>
                        <a:rPr lang="zh-CN" sz="1200" b="0" i="0" u="none" strike="noStrike" baseline="0">
                          <a:solidFill>
                            <a:schemeClr val="bg1"/>
                          </a:solidFill>
                          <a:latin typeface="Arial" panose="020B0604020202020204"/>
                          <a:ea typeface="微软雅黑" panose="020B0503020204020204" charset="-122"/>
                        </a:rPr>
                        <a:t>选择采用的境外所得抵免方式</a:t>
                      </a:r>
                      <a:endParaRPr lang="zh-CN" sz="1200" b="0" i="0" u="none" strike="noStrike" baseline="0">
                        <a:solidFill>
                          <a:schemeClr val="bg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gridSpan="6">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□分国（地区）不分项</a:t>
                      </a:r>
                      <a:r>
                        <a:rPr lang="en-US" sz="1200" b="0" i="0" u="none" strike="noStrike" baseline="0">
                          <a:solidFill>
                            <a:srgbClr val="000000"/>
                          </a:solidFill>
                          <a:latin typeface="Arial" panose="020B0604020202020204"/>
                          <a:ea typeface="微软雅黑" panose="020B0503020204020204" charset="-122"/>
                        </a:rPr>
                        <a:t>  </a:t>
                      </a:r>
                      <a:r>
                        <a:rPr lang="zh-CN" sz="1200" b="0" i="0" u="none" strike="noStrike" baseline="0">
                          <a:solidFill>
                            <a:srgbClr val="000000"/>
                          </a:solidFill>
                          <a:latin typeface="Arial" panose="020B0604020202020204"/>
                          <a:ea typeface="微软雅黑" panose="020B0503020204020204" charset="-122"/>
                        </a:rPr>
                        <a:t>□不分国（地区）不分项</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hMerge="1">
                  <a:tcPr/>
                </a:tc>
                <a:tc hMerge="1">
                  <a:tcPr/>
                </a:tc>
                <a:tc hMerge="1">
                  <a:tcPr/>
                </a:tc>
              </a:tr>
              <a:tr h="173880">
                <a:tc gridSpan="3">
                  <a:txBody>
                    <a:bodyPr/>
                    <a:lstStyle/>
                    <a:p>
                      <a:pPr marL="0" lvl="0" indent="0" algn="l" defTabSz="914400">
                        <a:lnSpc>
                          <a:spcPts val="1800"/>
                        </a:lnSpc>
                        <a:spcBef>
                          <a:spcPct val="0"/>
                        </a:spcBef>
                        <a:spcAft>
                          <a:spcPct val="0"/>
                        </a:spcAft>
                        <a:buNone/>
                      </a:pPr>
                      <a:r>
                        <a:rPr lang="en-US" sz="1200" b="1" i="0" u="none" strike="noStrike" baseline="0">
                          <a:solidFill>
                            <a:schemeClr val="bg1"/>
                          </a:solidFill>
                          <a:latin typeface="Arial" panose="020B0604020202020204"/>
                          <a:ea typeface="微软雅黑" panose="020B0503020204020204" charset="-122"/>
                        </a:rPr>
                        <a:t>204</a:t>
                      </a:r>
                      <a:r>
                        <a:rPr lang="zh-CN" sz="1200" b="1" i="0" u="none" strike="noStrike" baseline="0">
                          <a:solidFill>
                            <a:schemeClr val="bg1"/>
                          </a:solidFill>
                          <a:latin typeface="Arial" panose="020B0604020202020204"/>
                          <a:ea typeface="微软雅黑" panose="020B0503020204020204" charset="-122"/>
                        </a:rPr>
                        <a:t>有限合伙制创业投资企业的法人合伙人</a:t>
                      </a:r>
                      <a:endParaRPr lang="zh-CN" sz="1200" b="1" i="0" u="none" strike="noStrike" baseline="0">
                        <a:solidFill>
                          <a:schemeClr val="bg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gridSpan="2">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gridSpan="3">
                  <a:txBody>
                    <a:bodyPr/>
                    <a:lstStyle/>
                    <a:p>
                      <a:pPr marL="0" lvl="0" indent="0" algn="l"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205</a:t>
                      </a:r>
                      <a:r>
                        <a:rPr lang="zh-CN" sz="1200" b="0" i="0" u="none" strike="noStrike" baseline="0">
                          <a:solidFill>
                            <a:schemeClr val="tx1"/>
                          </a:solidFill>
                          <a:latin typeface="Arial" panose="020B0604020202020204"/>
                          <a:ea typeface="微软雅黑" panose="020B0503020204020204" charset="-122"/>
                        </a:rPr>
                        <a:t>创业投资企业</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173880">
                <a:tc gridSpan="3">
                  <a:txBody>
                    <a:bodyPr/>
                    <a:lstStyle/>
                    <a:p>
                      <a:pPr marL="0" lvl="0" indent="0" algn="l"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206</a:t>
                      </a:r>
                      <a:r>
                        <a:rPr lang="zh-CN" sz="1200" b="0" i="0" u="none" strike="noStrike" baseline="0">
                          <a:solidFill>
                            <a:schemeClr val="tx1"/>
                          </a:solidFill>
                          <a:latin typeface="Arial" panose="020B0604020202020204"/>
                          <a:ea typeface="微软雅黑" panose="020B0503020204020204" charset="-122"/>
                        </a:rPr>
                        <a:t>技术先进型服务企业类型（填写代码）</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hMerge="1">
                  <a:tcPr/>
                </a:tc>
                <a:tc gridSpan="2">
                  <a:txBody>
                    <a:bodyPr/>
                    <a:lstStyle/>
                    <a:p>
                      <a:pPr marL="0" lvl="0" indent="0" algn="l"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gridSpan="3">
                  <a:txBody>
                    <a:bodyPr/>
                    <a:lstStyle/>
                    <a:p>
                      <a:pPr marL="0" lvl="0" indent="0" algn="l"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207</a:t>
                      </a:r>
                      <a:r>
                        <a:rPr lang="zh-CN" sz="1200" b="0" i="0" u="none" strike="noStrike" baseline="0">
                          <a:solidFill>
                            <a:schemeClr val="tx1"/>
                          </a:solidFill>
                          <a:latin typeface="Arial" panose="020B0604020202020204"/>
                          <a:ea typeface="微软雅黑" panose="020B0503020204020204" charset="-122"/>
                        </a:rPr>
                        <a:t>非营利组织</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chemeClr val="tx1"/>
                          </a:solidFill>
                          <a:latin typeface="Arial" panose="020B0604020202020204"/>
                          <a:ea typeface="微软雅黑" panose="020B0503020204020204" charset="-122"/>
                        </a:rPr>
                        <a:t>□是</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r>
              <a:tr h="173880">
                <a:tc gridSpan="3">
                  <a:txBody>
                    <a:bodyPr/>
                    <a:lstStyle/>
                    <a:p>
                      <a:pPr marL="0" lvl="0" indent="0" algn="l" defTabSz="914400">
                        <a:lnSpc>
                          <a:spcPts val="1800"/>
                        </a:lnSpc>
                        <a:spcBef>
                          <a:spcPct val="0"/>
                        </a:spcBef>
                        <a:spcAft>
                          <a:spcPct val="0"/>
                        </a:spcAft>
                        <a:buNone/>
                      </a:pPr>
                      <a:r>
                        <a:rPr lang="en-US" sz="1200" b="1" i="0" u="none" strike="noStrike" baseline="0">
                          <a:solidFill>
                            <a:schemeClr val="bg1"/>
                          </a:solidFill>
                          <a:latin typeface="Arial" panose="020B0604020202020204"/>
                          <a:ea typeface="微软雅黑" panose="020B0503020204020204" charset="-122"/>
                        </a:rPr>
                        <a:t>208</a:t>
                      </a:r>
                      <a:r>
                        <a:rPr lang="zh-CN" sz="1200" b="1" i="0" u="none" strike="noStrike" baseline="0">
                          <a:solidFill>
                            <a:schemeClr val="bg1"/>
                          </a:solidFill>
                          <a:latin typeface="Arial" panose="020B0604020202020204"/>
                          <a:ea typeface="微软雅黑" panose="020B0503020204020204" charset="-122"/>
                        </a:rPr>
                        <a:t>软件、集成电路企业类型（填写代码）</a:t>
                      </a:r>
                      <a:endParaRPr lang="zh-CN" sz="1200" b="1" i="0" u="none" strike="noStrike" baseline="0">
                        <a:solidFill>
                          <a:schemeClr val="bg1"/>
                        </a:solidFill>
                        <a:latin typeface="Times New Roman" panose="02020603050405020304"/>
                        <a:ea typeface="宋体" panose="02010600030101010101" pitchFamily="2" charset="-122"/>
                      </a:endParaRPr>
                    </a:p>
                  </a:txBody>
                  <a:tcPr marL="59351" marR="59351" marT="0" marB="0">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gridSpan="2">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gridSpan="2">
                  <a:txBody>
                    <a:bodyPr/>
                    <a:lstStyle/>
                    <a:p>
                      <a:pPr marL="0" lvl="0" indent="0" algn="just"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209</a:t>
                      </a:r>
                      <a:r>
                        <a:rPr lang="zh-CN" sz="1200" b="0" i="0" u="none" strike="noStrike" baseline="0">
                          <a:solidFill>
                            <a:schemeClr val="tx1"/>
                          </a:solidFill>
                          <a:latin typeface="Arial" panose="020B0604020202020204"/>
                          <a:ea typeface="微软雅黑" panose="020B0503020204020204" charset="-122"/>
                        </a:rPr>
                        <a:t>集成电路生产项目类型</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gridSpan="2">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a:t>
                      </a:r>
                      <a:r>
                        <a:rPr lang="en-US" sz="1200" b="0" i="0" u="none" strike="noStrike" baseline="0">
                          <a:solidFill>
                            <a:srgbClr val="000000"/>
                          </a:solidFill>
                          <a:latin typeface="Arial" panose="020B0604020202020204"/>
                          <a:ea typeface="微软雅黑" panose="020B0503020204020204" charset="-122"/>
                        </a:rPr>
                        <a:t>130</a:t>
                      </a:r>
                      <a:r>
                        <a:rPr lang="zh-CN" sz="1200" b="0" i="0" u="none" strike="noStrike" baseline="0">
                          <a:solidFill>
                            <a:srgbClr val="000000"/>
                          </a:solidFill>
                          <a:latin typeface="Arial" panose="020B0604020202020204"/>
                          <a:ea typeface="微软雅黑" panose="020B0503020204020204" charset="-122"/>
                        </a:rPr>
                        <a:t>纳米 □</a:t>
                      </a:r>
                      <a:r>
                        <a:rPr lang="en-US" sz="1200" b="0" i="0" u="none" strike="noStrike" baseline="0">
                          <a:solidFill>
                            <a:srgbClr val="000000"/>
                          </a:solidFill>
                          <a:latin typeface="Arial" panose="020B0604020202020204"/>
                          <a:ea typeface="微软雅黑" panose="020B0503020204020204" charset="-122"/>
                        </a:rPr>
                        <a:t>65</a:t>
                      </a:r>
                      <a:r>
                        <a:rPr lang="zh-CN" sz="1200" b="0" i="0" u="none" strike="noStrike" baseline="0">
                          <a:solidFill>
                            <a:srgbClr val="000000"/>
                          </a:solidFill>
                          <a:latin typeface="Arial" panose="020B0604020202020204"/>
                          <a:ea typeface="微软雅黑" panose="020B0503020204020204" charset="-122"/>
                        </a:rPr>
                        <a:t>纳米</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r>
              <a:tr h="173880">
                <a:tc rowSpan="2">
                  <a:txBody>
                    <a:bodyPr/>
                    <a:lstStyle/>
                    <a:p>
                      <a:pPr marL="0" lvl="0" indent="0" algn="l" defTabSz="914400">
                        <a:lnSpc>
                          <a:spcPts val="1800"/>
                        </a:lnSpc>
                        <a:spcBef>
                          <a:spcPct val="0"/>
                        </a:spcBef>
                        <a:spcAft>
                          <a:spcPct val="0"/>
                        </a:spcAft>
                        <a:buNone/>
                      </a:pPr>
                      <a:r>
                        <a:rPr lang="en-US" sz="1100" b="1" i="0" u="none" strike="noStrike" baseline="0">
                          <a:solidFill>
                            <a:schemeClr val="bg1"/>
                          </a:solidFill>
                          <a:latin typeface="Arial" panose="020B0604020202020204"/>
                          <a:ea typeface="微软雅黑" panose="020B0503020204020204" charset="-122"/>
                        </a:rPr>
                        <a:t>210</a:t>
                      </a:r>
                      <a:r>
                        <a:rPr lang="zh-CN" sz="1100" b="1" i="0" u="none" strike="noStrike" baseline="0">
                          <a:solidFill>
                            <a:schemeClr val="bg1"/>
                          </a:solidFill>
                          <a:latin typeface="Arial" panose="020B0604020202020204"/>
                          <a:ea typeface="微软雅黑" panose="020B0503020204020204" charset="-122"/>
                        </a:rPr>
                        <a:t>科技型中小企业</a:t>
                      </a:r>
                      <a:endParaRPr lang="zh-CN" sz="1100" b="1" i="0" u="none" strike="noStrike" baseline="0">
                        <a:solidFill>
                          <a:schemeClr val="bg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gridSpan="4">
                  <a:txBody>
                    <a:bodyPr/>
                    <a:lstStyle/>
                    <a:p>
                      <a:pPr marL="0" lvl="0" indent="0" algn="just" defTabSz="914400">
                        <a:lnSpc>
                          <a:spcPts val="1800"/>
                        </a:lnSpc>
                        <a:spcBef>
                          <a:spcPct val="0"/>
                        </a:spcBef>
                        <a:spcAft>
                          <a:spcPct val="0"/>
                        </a:spcAft>
                        <a:buNone/>
                      </a:pPr>
                      <a:r>
                        <a:rPr lang="en-US" sz="1100" b="0" i="0" u="none" strike="noStrike" baseline="0">
                          <a:solidFill>
                            <a:schemeClr val="tx1"/>
                          </a:solidFill>
                          <a:latin typeface="Arial" panose="020B0604020202020204"/>
                          <a:ea typeface="微软雅黑" panose="020B0503020204020204" charset="-122"/>
                        </a:rPr>
                        <a:t>210-1</a:t>
                      </a:r>
                      <a:r>
                        <a:rPr lang="en-US" sz="1100" b="0" i="0" u="sng" strike="noStrike" baseline="0">
                          <a:solidFill>
                            <a:schemeClr val="tx1"/>
                          </a:solidFill>
                          <a:latin typeface="Arial" panose="020B0604020202020204"/>
                          <a:ea typeface="微软雅黑" panose="020B0503020204020204" charset="-122"/>
                        </a:rPr>
                        <a:t>    </a:t>
                      </a:r>
                      <a:r>
                        <a:rPr lang="zh-CN" sz="1100" b="0" i="0" u="none" strike="noStrike" baseline="0">
                          <a:solidFill>
                            <a:schemeClr val="tx1"/>
                          </a:solidFill>
                          <a:latin typeface="Arial" panose="020B0604020202020204"/>
                          <a:ea typeface="微软雅黑" panose="020B0503020204020204" charset="-122"/>
                        </a:rPr>
                        <a:t>年（申报所属期年度）入库编号</a:t>
                      </a:r>
                      <a:r>
                        <a:rPr lang="en-US" sz="1100" b="0" i="0" u="none" strike="noStrike" baseline="0">
                          <a:solidFill>
                            <a:schemeClr val="tx1"/>
                          </a:solidFill>
                          <a:latin typeface="Arial" panose="020B0604020202020204"/>
                          <a:ea typeface="微软雅黑" panose="020B0503020204020204" charset="-122"/>
                        </a:rPr>
                        <a:t>1</a:t>
                      </a:r>
                      <a:endParaRPr lang="zh-CN" sz="11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hMerge="1">
                  <a:tcPr/>
                </a:tc>
                <a:tc>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2">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210-2</a:t>
                      </a:r>
                      <a:r>
                        <a:rPr lang="zh-CN" sz="1200" b="0" i="0" u="none" strike="noStrike" baseline="0">
                          <a:solidFill>
                            <a:srgbClr val="000000"/>
                          </a:solidFill>
                          <a:latin typeface="Arial" panose="020B0604020202020204"/>
                          <a:ea typeface="微软雅黑" panose="020B0503020204020204" charset="-122"/>
                        </a:rPr>
                        <a:t>入库时间</a:t>
                      </a:r>
                      <a:r>
                        <a:rPr lang="en-US" sz="1200" b="0" i="0" u="none" strike="noStrike" baseline="0">
                          <a:solidFill>
                            <a:srgbClr val="000000"/>
                          </a:solidFill>
                          <a:latin typeface="Arial" panose="020B0604020202020204"/>
                          <a:ea typeface="微软雅黑" panose="020B0503020204020204" charset="-122"/>
                        </a:rPr>
                        <a:t>1</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c hMerge="1">
                  <a:tcPr/>
                </a:tc>
                <a:tc>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r h="173880">
                <a:tc vMerge="1">
                  <a:tcPr/>
                </a:tc>
                <a:tc gridSpan="4">
                  <a:txBody>
                    <a:bodyPr/>
                    <a:lstStyle/>
                    <a:p>
                      <a:pPr marL="0" lvl="0" indent="0" algn="just" defTabSz="914400">
                        <a:lnSpc>
                          <a:spcPts val="1800"/>
                        </a:lnSpc>
                        <a:spcBef>
                          <a:spcPct val="0"/>
                        </a:spcBef>
                        <a:spcAft>
                          <a:spcPct val="0"/>
                        </a:spcAft>
                        <a:buNone/>
                      </a:pPr>
                      <a:r>
                        <a:rPr lang="en-US" sz="1100" b="0" i="0" u="none" strike="noStrike" baseline="0">
                          <a:solidFill>
                            <a:schemeClr val="tx1"/>
                          </a:solidFill>
                          <a:latin typeface="Arial" panose="020B0604020202020204"/>
                          <a:ea typeface="微软雅黑" panose="020B0503020204020204" charset="-122"/>
                        </a:rPr>
                        <a:t>210-3</a:t>
                      </a:r>
                      <a:r>
                        <a:rPr lang="en-US" sz="1100" b="0" i="0" u="sng" strike="noStrike" baseline="0">
                          <a:solidFill>
                            <a:schemeClr val="tx1"/>
                          </a:solidFill>
                          <a:latin typeface="Arial" panose="020B0604020202020204"/>
                          <a:ea typeface="微软雅黑" panose="020B0503020204020204" charset="-122"/>
                        </a:rPr>
                        <a:t>    </a:t>
                      </a:r>
                      <a:r>
                        <a:rPr lang="zh-CN" sz="1100" b="0" i="0" u="none" strike="noStrike" baseline="0">
                          <a:solidFill>
                            <a:schemeClr val="tx1"/>
                          </a:solidFill>
                          <a:latin typeface="Arial" panose="020B0604020202020204"/>
                          <a:ea typeface="微软雅黑" panose="020B0503020204020204" charset="-122"/>
                        </a:rPr>
                        <a:t>年（所属期下一年度）入库编号</a:t>
                      </a:r>
                      <a:r>
                        <a:rPr lang="en-US" sz="1100" b="0" i="0" u="none" strike="noStrike" baseline="0">
                          <a:solidFill>
                            <a:schemeClr val="tx1"/>
                          </a:solidFill>
                          <a:latin typeface="Arial" panose="020B0604020202020204"/>
                          <a:ea typeface="微软雅黑" panose="020B0503020204020204" charset="-122"/>
                        </a:rPr>
                        <a:t>2</a:t>
                      </a:r>
                      <a:endParaRPr lang="zh-CN" sz="11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hMerge="1">
                  <a:tcPr/>
                </a:tc>
                <a:tc>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2">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210-4</a:t>
                      </a:r>
                      <a:r>
                        <a:rPr lang="zh-CN" sz="1200" b="0" i="0" u="none" strike="noStrike" baseline="0">
                          <a:solidFill>
                            <a:srgbClr val="000000"/>
                          </a:solidFill>
                          <a:latin typeface="Arial" panose="020B0604020202020204"/>
                          <a:ea typeface="微软雅黑" panose="020B0503020204020204" charset="-122"/>
                        </a:rPr>
                        <a:t>入库时间</a:t>
                      </a:r>
                      <a:r>
                        <a:rPr lang="en-US" sz="1200" b="0" i="0" u="none" strike="noStrike" baseline="0">
                          <a:solidFill>
                            <a:srgbClr val="000000"/>
                          </a:solidFill>
                          <a:latin typeface="Arial" panose="020B0604020202020204"/>
                          <a:ea typeface="微软雅黑" panose="020B0503020204020204" charset="-122"/>
                        </a:rPr>
                        <a:t>2</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173880">
                <a:tc rowSpan="2" gridSpan="2">
                  <a:txBody>
                    <a:bodyPr/>
                    <a:lstStyle/>
                    <a:p>
                      <a:pPr marL="0" lvl="0" indent="0" algn="l" defTabSz="914400">
                        <a:lnSpc>
                          <a:spcPts val="1800"/>
                        </a:lnSpc>
                        <a:spcBef>
                          <a:spcPct val="0"/>
                        </a:spcBef>
                        <a:spcAft>
                          <a:spcPct val="0"/>
                        </a:spcAft>
                        <a:buNone/>
                      </a:pPr>
                      <a:r>
                        <a:rPr lang="en-US" sz="1100" b="0" i="0" u="none" strike="noStrike" baseline="0">
                          <a:solidFill>
                            <a:schemeClr val="tx1"/>
                          </a:solidFill>
                          <a:latin typeface="Arial" panose="020B0604020202020204"/>
                          <a:ea typeface="微软雅黑" panose="020B0503020204020204" charset="-122"/>
                        </a:rPr>
                        <a:t>211</a:t>
                      </a:r>
                      <a:r>
                        <a:rPr lang="zh-CN" sz="1100" b="0" i="0" u="none" strike="noStrike" baseline="0">
                          <a:solidFill>
                            <a:schemeClr val="tx1"/>
                          </a:solidFill>
                          <a:latin typeface="Arial" panose="020B0604020202020204"/>
                          <a:ea typeface="微软雅黑" panose="020B0503020204020204" charset="-122"/>
                        </a:rPr>
                        <a:t>高新技术企业申报所属期年度有效的高新技术企业证书</a:t>
                      </a:r>
                      <a:endParaRPr lang="zh-CN" sz="11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rowSpan="2" hMerge="1">
                  <a:tcPr/>
                </a:tc>
                <a:tc gridSpan="3">
                  <a:txBody>
                    <a:bodyPr/>
                    <a:lstStyle/>
                    <a:p>
                      <a:pPr marL="0" lvl="0" indent="0" algn="l"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211-1 </a:t>
                      </a:r>
                      <a:r>
                        <a:rPr lang="zh-CN" sz="1200" b="0" i="0" u="none" strike="noStrike" baseline="0">
                          <a:solidFill>
                            <a:srgbClr val="000000"/>
                          </a:solidFill>
                          <a:latin typeface="Arial" panose="020B0604020202020204"/>
                          <a:ea typeface="微软雅黑" panose="020B0503020204020204" charset="-122"/>
                        </a:rPr>
                        <a:t>证书编号</a:t>
                      </a:r>
                      <a:r>
                        <a:rPr lang="en-US" sz="1200" b="0" i="0" u="none" strike="noStrike" baseline="0">
                          <a:solidFill>
                            <a:srgbClr val="000000"/>
                          </a:solidFill>
                          <a:latin typeface="Arial" panose="020B0604020202020204"/>
                          <a:ea typeface="微软雅黑" panose="020B0503020204020204" charset="-122"/>
                        </a:rPr>
                        <a:t>1</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hMerge="1">
                  <a:tcPr/>
                </a:tc>
                <a:tc>
                  <a:txBody>
                    <a:bodyPr/>
                    <a:lstStyle/>
                    <a:p>
                      <a:pPr marL="0" lvl="0" indent="0" algn="l"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gridSpan="2">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211-2</a:t>
                      </a:r>
                      <a:r>
                        <a:rPr lang="zh-CN" sz="1200" b="0" i="0" u="none" strike="noStrike" baseline="0">
                          <a:solidFill>
                            <a:srgbClr val="000000"/>
                          </a:solidFill>
                          <a:latin typeface="Arial" panose="020B0604020202020204"/>
                          <a:ea typeface="微软雅黑" panose="020B0503020204020204" charset="-122"/>
                        </a:rPr>
                        <a:t>发证时间</a:t>
                      </a:r>
                      <a:r>
                        <a:rPr lang="en-US" sz="1200" b="0" i="0" u="none" strike="noStrike" baseline="0">
                          <a:solidFill>
                            <a:srgbClr val="000000"/>
                          </a:solidFill>
                          <a:latin typeface="Arial" panose="020B0604020202020204"/>
                          <a:ea typeface="微软雅黑" panose="020B0503020204020204" charset="-122"/>
                        </a:rPr>
                        <a:t>1</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r>
              <a:tr h="173880">
                <a:tc vMerge="1" gridSpan="2">
                  <a:tcPr/>
                </a:tc>
                <a:tc vMerge="1" hMerge="1">
                  <a:tcPr/>
                </a:tc>
                <a:tc gridSpan="3">
                  <a:txBody>
                    <a:bodyPr/>
                    <a:lstStyle/>
                    <a:p>
                      <a:pPr marL="0" lvl="0" indent="0" algn="l"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211-3 </a:t>
                      </a:r>
                      <a:r>
                        <a:rPr lang="zh-CN" sz="1200" b="0" i="0" u="none" strike="noStrike" baseline="0">
                          <a:solidFill>
                            <a:srgbClr val="000000"/>
                          </a:solidFill>
                          <a:latin typeface="Arial" panose="020B0604020202020204"/>
                          <a:ea typeface="微软雅黑" panose="020B0503020204020204" charset="-122"/>
                        </a:rPr>
                        <a:t>证书编号</a:t>
                      </a:r>
                      <a:r>
                        <a:rPr lang="en-US" sz="1200" b="0" i="0" u="none" strike="noStrike" baseline="0">
                          <a:solidFill>
                            <a:srgbClr val="000000"/>
                          </a:solidFill>
                          <a:latin typeface="Arial" panose="020B0604020202020204"/>
                          <a:ea typeface="微软雅黑" panose="020B0503020204020204" charset="-122"/>
                        </a:rPr>
                        <a:t>2</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hMerge="1">
                  <a:tcPr/>
                </a:tc>
                <a:tc>
                  <a:txBody>
                    <a:bodyPr/>
                    <a:lstStyle/>
                    <a:p>
                      <a:pPr marL="0" lvl="0" indent="0" algn="l"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gridSpan="2">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211-4</a:t>
                      </a:r>
                      <a:r>
                        <a:rPr lang="zh-CN" sz="1200" b="0" i="0" u="none" strike="noStrike" baseline="0">
                          <a:solidFill>
                            <a:srgbClr val="000000"/>
                          </a:solidFill>
                          <a:latin typeface="Arial" panose="020B0604020202020204"/>
                          <a:ea typeface="微软雅黑" panose="020B0503020204020204" charset="-122"/>
                        </a:rPr>
                        <a:t>发证时间</a:t>
                      </a:r>
                      <a:r>
                        <a:rPr lang="en-US" sz="1200" b="0" i="0" u="none" strike="noStrike" baseline="0">
                          <a:solidFill>
                            <a:srgbClr val="000000"/>
                          </a:solidFill>
                          <a:latin typeface="Arial" panose="020B0604020202020204"/>
                          <a:ea typeface="微软雅黑" panose="020B0503020204020204" charset="-122"/>
                        </a:rPr>
                        <a:t>2</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c hMerge="1">
                  <a:tcPr/>
                </a:tc>
                <a:tc>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FFFF00"/>
                    </a:solidFill>
                  </a:tcPr>
                </a:tc>
              </a:tr>
              <a:tr h="173880">
                <a:tc gridSpan="2">
                  <a:txBody>
                    <a:bodyPr/>
                    <a:lstStyle/>
                    <a:p>
                      <a:pPr marL="0" lvl="0" indent="0" algn="l" defTabSz="914400">
                        <a:lnSpc>
                          <a:spcPts val="1800"/>
                        </a:lnSpc>
                        <a:spcBef>
                          <a:spcPct val="0"/>
                        </a:spcBef>
                        <a:spcAft>
                          <a:spcPct val="0"/>
                        </a:spcAft>
                        <a:buNone/>
                      </a:pPr>
                      <a:r>
                        <a:rPr lang="en-US" sz="1200" b="1" i="0" u="none" strike="noStrike" baseline="0">
                          <a:solidFill>
                            <a:srgbClr val="FFFFFF"/>
                          </a:solidFill>
                          <a:latin typeface="Arial" panose="020B0604020202020204"/>
                          <a:ea typeface="微软雅黑" panose="020B0503020204020204" charset="-122"/>
                        </a:rPr>
                        <a:t>212</a:t>
                      </a:r>
                      <a:r>
                        <a:rPr lang="zh-CN" sz="1200" b="1" i="0" u="none" strike="noStrike" baseline="0">
                          <a:solidFill>
                            <a:srgbClr val="FFFFFF"/>
                          </a:solidFill>
                          <a:latin typeface="Arial" panose="020B0604020202020204"/>
                          <a:ea typeface="微软雅黑" panose="020B0503020204020204" charset="-122"/>
                        </a:rPr>
                        <a:t>重组事项税务处理方式</a:t>
                      </a:r>
                      <a:endParaRPr lang="zh-CN" sz="1200" b="1" i="0" u="none" strike="noStrike" baseline="0">
                        <a:solidFill>
                          <a:srgbClr val="FFFFFF"/>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gridSpan="3">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□一般性    □特殊性</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c hMerge="1">
                  <a:tcPr/>
                </a:tc>
                <a:tc hMerge="1">
                  <a:tcPr/>
                </a:tc>
                <a:tc gridSpan="3">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213</a:t>
                      </a:r>
                      <a:r>
                        <a:rPr lang="zh-CN" sz="1200" b="0" i="0" u="none" strike="noStrike" baseline="0">
                          <a:solidFill>
                            <a:srgbClr val="000000"/>
                          </a:solidFill>
                          <a:latin typeface="Arial" panose="020B0604020202020204"/>
                          <a:ea typeface="微软雅黑" panose="020B0503020204020204" charset="-122"/>
                        </a:rPr>
                        <a:t>重组交易类型（填写代码）</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r h="173880">
                <a:tc gridSpan="2">
                  <a:txBody>
                    <a:bodyPr/>
                    <a:lstStyle/>
                    <a:p>
                      <a:pPr marL="0" lvl="0" indent="0" algn="l" defTabSz="914400">
                        <a:lnSpc>
                          <a:spcPts val="1800"/>
                        </a:lnSpc>
                        <a:spcBef>
                          <a:spcPct val="0"/>
                        </a:spcBef>
                        <a:spcAft>
                          <a:spcPct val="0"/>
                        </a:spcAft>
                        <a:buNone/>
                      </a:pPr>
                      <a:r>
                        <a:rPr lang="en-US" sz="1200" b="1" i="0" u="none" strike="noStrike" baseline="0">
                          <a:solidFill>
                            <a:srgbClr val="FFFFFF"/>
                          </a:solidFill>
                          <a:latin typeface="Arial" panose="020B0604020202020204"/>
                          <a:ea typeface="微软雅黑" panose="020B0503020204020204" charset="-122"/>
                        </a:rPr>
                        <a:t>214</a:t>
                      </a:r>
                      <a:r>
                        <a:rPr lang="zh-CN" sz="1200" b="1" i="0" u="none" strike="noStrike" baseline="0">
                          <a:solidFill>
                            <a:srgbClr val="FFFFFF"/>
                          </a:solidFill>
                          <a:latin typeface="Arial" panose="020B0604020202020204"/>
                          <a:ea typeface="微软雅黑" panose="020B0503020204020204" charset="-122"/>
                        </a:rPr>
                        <a:t>重组当事方类型（填写代码）</a:t>
                      </a:r>
                      <a:endParaRPr lang="zh-CN" sz="1200" b="1" i="0" u="none" strike="noStrike" baseline="0">
                        <a:solidFill>
                          <a:srgbClr val="FFFFFF"/>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gridSpan="3">
                  <a:txBody>
                    <a:bodyPr/>
                    <a:lstStyle/>
                    <a:p>
                      <a:pPr marL="0" lvl="0" indent="0" algn="just" defTabSz="914400">
                        <a:lnSpc>
                          <a:spcPts val="1800"/>
                        </a:lnSpc>
                        <a:spcBef>
                          <a:spcPct val="0"/>
                        </a:spcBef>
                        <a:spcAft>
                          <a:spcPct val="0"/>
                        </a:spcAft>
                        <a:buNone/>
                      </a:pPr>
                      <a:r>
                        <a:rPr lang="en-US" sz="1200" b="0" i="0" u="none" strike="noStrike" baseline="0">
                          <a:solidFill>
                            <a:srgbClr val="000000"/>
                          </a:solidFill>
                          <a:latin typeface="Arial" panose="020B0604020202020204"/>
                          <a:ea typeface="微软雅黑" panose="020B0503020204020204" charset="-122"/>
                        </a:rPr>
                        <a:t> </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gridSpan="3">
                  <a:txBody>
                    <a:bodyPr/>
                    <a:lstStyle/>
                    <a:p>
                      <a:pPr marL="0" lvl="0" indent="0" algn="just"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215</a:t>
                      </a:r>
                      <a:r>
                        <a:rPr lang="zh-CN" sz="1200" b="0" i="0" u="none" strike="noStrike" baseline="0">
                          <a:solidFill>
                            <a:schemeClr val="tx1"/>
                          </a:solidFill>
                          <a:latin typeface="Arial" panose="020B0604020202020204"/>
                          <a:ea typeface="微软雅黑" panose="020B0503020204020204" charset="-122"/>
                        </a:rPr>
                        <a:t>政策性搬迁开始时间</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en-US" sz="1200" b="0" i="0" u="sng" strike="noStrike" baseline="0">
                          <a:solidFill>
                            <a:srgbClr val="000000"/>
                          </a:solidFill>
                          <a:latin typeface="Arial" panose="020B0604020202020204"/>
                          <a:ea typeface="微软雅黑" panose="020B0503020204020204" charset="-122"/>
                        </a:rPr>
                        <a:t>  </a:t>
                      </a:r>
                      <a:r>
                        <a:rPr lang="zh-CN" sz="1200" b="0" i="0" u="none" strike="noStrike" baseline="0">
                          <a:solidFill>
                            <a:srgbClr val="000000"/>
                          </a:solidFill>
                          <a:latin typeface="Arial" panose="020B0604020202020204"/>
                          <a:ea typeface="微软雅黑" panose="020B0503020204020204" charset="-122"/>
                        </a:rPr>
                        <a:t>年</a:t>
                      </a:r>
                      <a:r>
                        <a:rPr lang="en-US" sz="1200" b="0" i="0" u="sng" strike="noStrike" baseline="0">
                          <a:solidFill>
                            <a:srgbClr val="000000"/>
                          </a:solidFill>
                          <a:latin typeface="Arial" panose="020B0604020202020204"/>
                          <a:ea typeface="微软雅黑" panose="020B0503020204020204" charset="-122"/>
                        </a:rPr>
                        <a:t>  </a:t>
                      </a:r>
                      <a:r>
                        <a:rPr lang="zh-CN" sz="1200" b="0" i="0" u="none" strike="noStrike" baseline="0">
                          <a:solidFill>
                            <a:srgbClr val="000000"/>
                          </a:solidFill>
                          <a:latin typeface="Arial" panose="020B0604020202020204"/>
                          <a:ea typeface="微软雅黑" panose="020B0503020204020204" charset="-122"/>
                        </a:rPr>
                        <a:t>月</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173880">
                <a:tc gridSpan="4">
                  <a:txBody>
                    <a:bodyPr/>
                    <a:lstStyle/>
                    <a:p>
                      <a:pPr marL="0" lvl="0" indent="0" algn="l" defTabSz="914400">
                        <a:lnSpc>
                          <a:spcPts val="1800"/>
                        </a:lnSpc>
                        <a:spcBef>
                          <a:spcPct val="0"/>
                        </a:spcBef>
                        <a:spcAft>
                          <a:spcPct val="0"/>
                        </a:spcAft>
                        <a:buNone/>
                      </a:pPr>
                      <a:r>
                        <a:rPr lang="en-US" sz="1200" b="1" i="0" u="none" strike="noStrike" baseline="0">
                          <a:solidFill>
                            <a:schemeClr val="bg1"/>
                          </a:solidFill>
                          <a:latin typeface="Arial" panose="020B0604020202020204"/>
                          <a:ea typeface="微软雅黑" panose="020B0503020204020204" charset="-122"/>
                        </a:rPr>
                        <a:t>216</a:t>
                      </a:r>
                      <a:r>
                        <a:rPr lang="zh-CN" sz="1200" b="1" i="0" u="none" strike="noStrike" baseline="0">
                          <a:solidFill>
                            <a:schemeClr val="bg1"/>
                          </a:solidFill>
                          <a:latin typeface="Arial" panose="020B0604020202020204"/>
                          <a:ea typeface="微软雅黑" panose="020B0503020204020204" charset="-122"/>
                        </a:rPr>
                        <a:t>发生政策性搬迁且停止生产经营无所得年度</a:t>
                      </a:r>
                      <a:endParaRPr lang="zh-CN" sz="1200" b="1" i="0" u="none" strike="noStrike" baseline="0">
                        <a:solidFill>
                          <a:schemeClr val="bg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c gridSpan="3">
                  <a:txBody>
                    <a:bodyPr/>
                    <a:lstStyle/>
                    <a:p>
                      <a:pPr marL="0" lvl="0" indent="0" algn="just"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217</a:t>
                      </a:r>
                      <a:r>
                        <a:rPr lang="zh-CN" sz="1200" b="0" i="0" u="none" strike="noStrike" baseline="0">
                          <a:solidFill>
                            <a:schemeClr val="tx1"/>
                          </a:solidFill>
                          <a:latin typeface="Arial" panose="020B0604020202020204"/>
                          <a:ea typeface="微软雅黑" panose="020B0503020204020204" charset="-122"/>
                        </a:rPr>
                        <a:t>政策性搬迁损失分期扣除年度</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r h="173880">
                <a:tc gridSpan="4">
                  <a:txBody>
                    <a:bodyPr/>
                    <a:lstStyle/>
                    <a:p>
                      <a:pPr marL="0" lvl="0" indent="0" algn="l" defTabSz="914400">
                        <a:lnSpc>
                          <a:spcPts val="1800"/>
                        </a:lnSpc>
                        <a:spcBef>
                          <a:spcPct val="0"/>
                        </a:spcBef>
                        <a:spcAft>
                          <a:spcPct val="0"/>
                        </a:spcAft>
                        <a:buNone/>
                      </a:pPr>
                      <a:r>
                        <a:rPr lang="en-US" sz="1200" b="1" i="0" u="none" strike="noStrike" baseline="0">
                          <a:solidFill>
                            <a:schemeClr val="bg1"/>
                          </a:solidFill>
                          <a:latin typeface="Arial" panose="020B0604020202020204"/>
                          <a:ea typeface="微软雅黑" panose="020B0503020204020204" charset="-122"/>
                        </a:rPr>
                        <a:t>218</a:t>
                      </a:r>
                      <a:r>
                        <a:rPr lang="zh-CN" sz="1200" b="1" i="0" u="none" strike="noStrike" baseline="0">
                          <a:solidFill>
                            <a:schemeClr val="bg1"/>
                          </a:solidFill>
                          <a:latin typeface="Arial" panose="020B0604020202020204"/>
                          <a:ea typeface="微软雅黑" panose="020B0503020204020204" charset="-122"/>
                        </a:rPr>
                        <a:t>发生非货币性资产对外投资递延纳税事项</a:t>
                      </a:r>
                      <a:endParaRPr lang="zh-CN" sz="1200" b="1" i="0" u="none" strike="noStrike" baseline="0">
                        <a:solidFill>
                          <a:schemeClr val="bg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3">
                  <a:txBody>
                    <a:bodyPr/>
                    <a:lstStyle/>
                    <a:p>
                      <a:pPr marL="0" lvl="0" indent="0" algn="just"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219</a:t>
                      </a:r>
                      <a:r>
                        <a:rPr lang="zh-CN" sz="1200" b="0" i="0" u="none" strike="noStrike" baseline="0">
                          <a:solidFill>
                            <a:schemeClr val="tx1"/>
                          </a:solidFill>
                          <a:latin typeface="Arial" panose="020B0604020202020204"/>
                          <a:ea typeface="微软雅黑" panose="020B0503020204020204" charset="-122"/>
                        </a:rPr>
                        <a:t>非货币性资产转让所得递延纳税年度</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173880">
                <a:tc gridSpan="4">
                  <a:txBody>
                    <a:bodyPr/>
                    <a:lstStyle/>
                    <a:p>
                      <a:pPr marL="0" lvl="0" indent="0" algn="l" defTabSz="914400">
                        <a:lnSpc>
                          <a:spcPts val="1800"/>
                        </a:lnSpc>
                        <a:spcBef>
                          <a:spcPct val="0"/>
                        </a:spcBef>
                        <a:spcAft>
                          <a:spcPct val="0"/>
                        </a:spcAft>
                        <a:buNone/>
                      </a:pPr>
                      <a:r>
                        <a:rPr lang="en-US" sz="1200" b="1" i="0" u="none" strike="noStrike" baseline="0">
                          <a:solidFill>
                            <a:schemeClr val="bg1"/>
                          </a:solidFill>
                          <a:latin typeface="Arial" panose="020B0604020202020204"/>
                          <a:ea typeface="微软雅黑" panose="020B0503020204020204" charset="-122"/>
                        </a:rPr>
                        <a:t>220</a:t>
                      </a:r>
                      <a:r>
                        <a:rPr lang="zh-CN" sz="1200" b="1" i="0" u="none" strike="noStrike" baseline="0">
                          <a:solidFill>
                            <a:schemeClr val="bg1"/>
                          </a:solidFill>
                          <a:latin typeface="Arial" panose="020B0604020202020204"/>
                          <a:ea typeface="微软雅黑" panose="020B0503020204020204" charset="-122"/>
                        </a:rPr>
                        <a:t>发生技术成果投资入股递延纳税事项</a:t>
                      </a:r>
                      <a:endParaRPr lang="zh-CN" sz="1200" b="1" i="0" u="none" strike="noStrike" baseline="0">
                        <a:solidFill>
                          <a:schemeClr val="bg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c gridSpan="3">
                  <a:txBody>
                    <a:bodyPr/>
                    <a:lstStyle/>
                    <a:p>
                      <a:pPr marL="0" lvl="0" indent="0" algn="just"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221</a:t>
                      </a:r>
                      <a:r>
                        <a:rPr lang="zh-CN" sz="1200" b="0" i="0" u="none" strike="noStrike" baseline="0">
                          <a:solidFill>
                            <a:schemeClr val="tx1"/>
                          </a:solidFill>
                          <a:latin typeface="Arial" panose="020B0604020202020204"/>
                          <a:ea typeface="微软雅黑" panose="020B0503020204020204" charset="-122"/>
                        </a:rPr>
                        <a:t>技术成果投资入股递延纳税年度</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r h="173880">
                <a:tc gridSpan="4">
                  <a:txBody>
                    <a:bodyPr/>
                    <a:lstStyle/>
                    <a:p>
                      <a:pPr marL="0" lvl="0" indent="0" algn="l" defTabSz="914400">
                        <a:lnSpc>
                          <a:spcPts val="1800"/>
                        </a:lnSpc>
                        <a:spcBef>
                          <a:spcPct val="0"/>
                        </a:spcBef>
                        <a:spcAft>
                          <a:spcPct val="0"/>
                        </a:spcAft>
                        <a:buNone/>
                      </a:pPr>
                      <a:r>
                        <a:rPr lang="en-US" sz="1200" b="1" i="0" u="none" strike="noStrike" baseline="0">
                          <a:solidFill>
                            <a:schemeClr val="bg1"/>
                          </a:solidFill>
                          <a:latin typeface="Arial" panose="020B0604020202020204"/>
                          <a:ea typeface="微软雅黑" panose="020B0503020204020204" charset="-122"/>
                        </a:rPr>
                        <a:t>222</a:t>
                      </a:r>
                      <a:r>
                        <a:rPr lang="zh-CN" sz="1200" b="1" i="0" u="none" strike="noStrike" baseline="0">
                          <a:solidFill>
                            <a:schemeClr val="bg1"/>
                          </a:solidFill>
                          <a:latin typeface="Arial" panose="020B0604020202020204"/>
                          <a:ea typeface="微软雅黑" panose="020B0503020204020204" charset="-122"/>
                        </a:rPr>
                        <a:t>发生资产（股权）划转特殊性税务处理事项</a:t>
                      </a:r>
                      <a:endParaRPr lang="zh-CN" sz="1200" b="1" i="0" u="none" strike="noStrike" baseline="0">
                        <a:solidFill>
                          <a:schemeClr val="bg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gridSpan="3">
                  <a:txBody>
                    <a:bodyPr/>
                    <a:lstStyle/>
                    <a:p>
                      <a:pPr marL="0" lvl="0" indent="0" algn="just" defTabSz="914400">
                        <a:lnSpc>
                          <a:spcPts val="1800"/>
                        </a:lnSpc>
                        <a:spcBef>
                          <a:spcPct val="0"/>
                        </a:spcBef>
                        <a:spcAft>
                          <a:spcPct val="0"/>
                        </a:spcAft>
                        <a:buNone/>
                      </a:pPr>
                      <a:r>
                        <a:rPr lang="en-US" sz="1200" b="0" i="0" u="none" strike="noStrike" baseline="0">
                          <a:solidFill>
                            <a:schemeClr val="tx1"/>
                          </a:solidFill>
                          <a:latin typeface="Arial" panose="020B0604020202020204"/>
                          <a:ea typeface="微软雅黑" panose="020B0503020204020204" charset="-122"/>
                        </a:rPr>
                        <a:t>223</a:t>
                      </a:r>
                      <a:r>
                        <a:rPr lang="zh-CN" sz="1200" b="0" i="0" u="none" strike="noStrike" baseline="0">
                          <a:solidFill>
                            <a:schemeClr val="tx1"/>
                          </a:solidFill>
                          <a:latin typeface="Arial" panose="020B0604020202020204"/>
                          <a:ea typeface="微软雅黑" panose="020B0503020204020204" charset="-122"/>
                        </a:rPr>
                        <a:t>债务重组所得递延纳税年度</a:t>
                      </a:r>
                      <a:endParaRPr lang="zh-CN" sz="1200" b="0" i="0" u="none" strike="noStrike" baseline="0">
                        <a:solidFill>
                          <a:schemeClr val="tx1"/>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hMerge="1">
                  <a:tcPr/>
                </a:tc>
                <a:tc hMerge="1">
                  <a:tcPr/>
                </a:tc>
                <a:tc>
                  <a:txBody>
                    <a:bodyPr/>
                    <a:lstStyle/>
                    <a:p>
                      <a:pPr marL="0" lvl="0" indent="0" algn="just" defTabSz="914400">
                        <a:lnSpc>
                          <a:spcPts val="1800"/>
                        </a:lnSpc>
                        <a:spcBef>
                          <a:spcPct val="0"/>
                        </a:spcBef>
                        <a:spcAft>
                          <a:spcPct val="0"/>
                        </a:spcAft>
                        <a:buNone/>
                      </a:pPr>
                      <a:r>
                        <a:rPr lang="zh-CN" sz="1200" b="0" i="0" u="none" strike="noStrike" baseline="0">
                          <a:solidFill>
                            <a:srgbClr val="000000"/>
                          </a:solidFill>
                          <a:latin typeface="Arial" panose="020B0604020202020204"/>
                          <a:ea typeface="微软雅黑" panose="020B0503020204020204" charset="-122"/>
                        </a:rPr>
                        <a:t>□是</a:t>
                      </a:r>
                      <a:endParaRPr lang="zh-CN" sz="1200" b="0" i="0" u="none" strike="noStrike" baseline="0">
                        <a:solidFill>
                          <a:srgbClr val="000000"/>
                        </a:solidFill>
                        <a:latin typeface="Times New Roman" panose="02020603050405020304"/>
                        <a:ea typeface="宋体" panose="02010600030101010101" pitchFamily="2" charset="-122"/>
                      </a:endParaRPr>
                    </a:p>
                  </a:txBody>
                  <a:tcPr marL="59351" marR="59351"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bl>
          </a:graphicData>
        </a:graphic>
      </p:graphicFrame>
      <p:sp>
        <p:nvSpPr>
          <p:cNvPr id="17" name="矩形: 圆角 16"/>
          <p:cNvSpPr/>
          <p:nvPr/>
        </p:nvSpPr>
        <p:spPr>
          <a:xfrm>
            <a:off x="3145259" y="3627146"/>
            <a:ext cx="6667077" cy="2016224"/>
          </a:xfrm>
          <a:prstGeom prst="roundRect">
            <a:avLst/>
          </a:prstGeom>
          <a:solidFill>
            <a:schemeClr val="bg1"/>
          </a:solidFill>
          <a:ln w="25400" cap="flat" cmpd="sng">
            <a:solidFill>
              <a:schemeClr val="accent1">
                <a:shade val="50000"/>
              </a:schemeClr>
            </a:solidFill>
            <a:prstDash val="solid"/>
          </a:ln>
        </p:spPr>
        <p:txBody>
          <a:bodyPr anchor="ctr"/>
          <a:lstStyle/>
          <a:p>
            <a:pPr algn="ctr"/>
            <a:r>
              <a:rPr lang="zh-CN" sz="2400" b="1">
                <a:solidFill>
                  <a:schemeClr val="tx1"/>
                </a:solidFill>
              </a:rPr>
              <a:t>按照国税函</a:t>
            </a:r>
            <a:r>
              <a:rPr lang="en-US" sz="2400" b="1">
                <a:solidFill>
                  <a:schemeClr val="tx1"/>
                </a:solidFill>
              </a:rPr>
              <a:t>【2010】79</a:t>
            </a:r>
            <a:r>
              <a:rPr lang="zh-CN" sz="2400" b="1">
                <a:solidFill>
                  <a:schemeClr val="tx1"/>
                </a:solidFill>
              </a:rPr>
              <a:t>号文第八条规定：对从事股权投资业务的企业（包括集团公司总部、创业投资企业等），其从被投资企业所分配的股息、红利以及股权转让收入，可以按规定的比例计算业务招待费扣除限额。</a:t>
            </a:r>
            <a:endParaRPr 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7"/>
                                        </p:tgtEl>
                                        <p:attrNameLst>
                                          <p:attrName>ppt_x</p:attrName>
                                        </p:attrNameLst>
                                      </p:cBhvr>
                                      <p:tavLst>
                                        <p:tav tm="0">
                                          <p:val>
                                            <p:strVal val="ppt_x"/>
                                          </p:val>
                                        </p:tav>
                                        <p:tav tm="100000">
                                          <p:val>
                                            <p:strVal val="ppt_x"/>
                                          </p:val>
                                        </p:tav>
                                      </p:tavLst>
                                    </p:anim>
                                    <p:anim calcmode="lin" valueType="num">
                                      <p:cBhvr additive="base">
                                        <p:cTn id="13" dur="500"/>
                                        <p:tgtEl>
                                          <p:spTgt spid="17"/>
                                        </p:tgtEl>
                                        <p:attrNameLst>
                                          <p:attrName>ppt_y</p:attrName>
                                        </p:attrNameLst>
                                      </p:cBhvr>
                                      <p:tavLst>
                                        <p:tav tm="0">
                                          <p:val>
                                            <p:strVal val="ppt_y"/>
                                          </p:val>
                                        </p:tav>
                                        <p:tav tm="100000">
                                          <p:val>
                                            <p:strVal val="1+ppt_h/2"/>
                                          </p:val>
                                        </p:tav>
                                      </p:tavLst>
                                    </p:anim>
                                    <p:set>
                                      <p:cBhvr>
                                        <p:cTn id="14"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58864"/>
            <a:ext cx="12195175" cy="5799137"/>
          </a:xfrm>
          <a:prstGeom prst="rect">
            <a:avLst/>
          </a:prstGeom>
          <a:solidFill>
            <a:srgbClr val="FFFFFF">
              <a:alpha val="85098"/>
            </a:srgbClr>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12" name="矩形 11"/>
          <p:cNvSpPr/>
          <p:nvPr/>
        </p:nvSpPr>
        <p:spPr>
          <a:xfrm>
            <a:off x="595468" y="1049339"/>
            <a:ext cx="1055962" cy="987425"/>
          </a:xfrm>
          <a:prstGeom prst="rect">
            <a:avLst/>
          </a:prstGeom>
          <a:solidFill>
            <a:srgbClr val="005DA2"/>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grpSp>
        <p:nvGrpSpPr>
          <p:cNvPr id="1038" name="组合 17"/>
          <p:cNvGrpSpPr/>
          <p:nvPr/>
        </p:nvGrpSpPr>
        <p:grpSpPr>
          <a:xfrm>
            <a:off x="1614908" y="1049338"/>
            <a:ext cx="9521129" cy="976312"/>
            <a:chOff x="1604502" y="1473366"/>
            <a:chExt cx="9695403" cy="977226"/>
          </a:xfrm>
        </p:grpSpPr>
        <p:sp>
          <p:nvSpPr>
            <p:cNvPr id="15" name="矩形 14"/>
            <p:cNvSpPr/>
            <p:nvPr/>
          </p:nvSpPr>
          <p:spPr>
            <a:xfrm>
              <a:off x="1604502" y="1473366"/>
              <a:ext cx="9672765" cy="977226"/>
            </a:xfrm>
            <a:prstGeom prst="rect">
              <a:avLst/>
            </a:prstGeom>
            <a:solidFill>
              <a:schemeClr val="bg1"/>
            </a:solidFill>
            <a:ln w="25400">
              <a:solidFill>
                <a:srgbClr val="005DA2"/>
              </a:solidFill>
              <a:prstDash val="solid"/>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1064" name="文本框 15"/>
            <p:cNvSpPr txBox="1"/>
            <p:nvPr/>
          </p:nvSpPr>
          <p:spPr>
            <a:xfrm>
              <a:off x="1627631" y="1638813"/>
              <a:ext cx="9672274" cy="461665"/>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r>
                <a:rPr lang="zh-CN" sz="2400">
                  <a:ea typeface="微软雅黑" panose="020B0503020204020204" charset="-122"/>
                </a:rPr>
                <a:t>企业所得税年度纳税申报基础信息表</a:t>
              </a:r>
              <a:r>
                <a:rPr lang="en-US" sz="2400">
                  <a:ea typeface="微软雅黑" panose="020B0503020204020204" charset="-122"/>
                </a:rPr>
                <a:t>A000000</a:t>
              </a:r>
              <a:endParaRPr lang="zh-CN" sz="2400">
                <a:ea typeface="微软雅黑" panose="020B0503020204020204" charset="-122"/>
              </a:endParaRPr>
            </a:p>
          </p:txBody>
        </p:sp>
      </p:grpSp>
      <p:pic>
        <p:nvPicPr>
          <p:cNvPr id="1039" name="图形 4"/>
          <p:cNvPicPr/>
          <p:nvPr/>
        </p:nvPicPr>
        <p:blipFill>
          <a:blip r:embed="rId1"/>
          <a:stretch>
            <a:fillRect/>
          </a:stretch>
        </p:blipFill>
        <p:spPr>
          <a:xfrm>
            <a:off x="695506" y="1081088"/>
            <a:ext cx="914638" cy="914400"/>
          </a:xfrm>
          <a:prstGeom prst="rect">
            <a:avLst/>
          </a:prstGeom>
          <a:noFill/>
          <a:ln>
            <a:noFill/>
          </a:ln>
        </p:spPr>
      </p:pic>
      <p:graphicFrame>
        <p:nvGraphicFramePr>
          <p:cNvPr id="105520" name="Group 48"/>
          <p:cNvGraphicFramePr/>
          <p:nvPr/>
        </p:nvGraphicFramePr>
        <p:xfrm>
          <a:off x="882880" y="2211388"/>
          <a:ext cx="10197579" cy="1050926"/>
        </p:xfrm>
        <a:graphic>
          <a:graphicData uri="http://schemas.openxmlformats.org/drawingml/2006/table">
            <a:tbl>
              <a:tblPr/>
              <a:tblGrid>
                <a:gridCol w="1225869"/>
                <a:gridCol w="4107932"/>
                <a:gridCol w="2200848"/>
                <a:gridCol w="1602204"/>
                <a:gridCol w="1060726"/>
              </a:tblGrid>
              <a:tr h="368300">
                <a:tc gridSpan="5">
                  <a:txBody>
                    <a:bodyPr/>
                    <a:lstStyle/>
                    <a:p>
                      <a:pPr marL="0" lvl="0" indent="0" algn="ctr" defTabSz="914400">
                        <a:lnSpc>
                          <a:spcPts val="1800"/>
                        </a:lnSpc>
                        <a:spcBef>
                          <a:spcPct val="0"/>
                        </a:spcBef>
                        <a:spcAft>
                          <a:spcPct val="0"/>
                        </a:spcAft>
                        <a:buNone/>
                      </a:pPr>
                      <a:r>
                        <a:rPr lang="zh-CN" sz="1400" b="1" i="0" u="none" strike="noStrike" baseline="0">
                          <a:solidFill>
                            <a:srgbClr val="FFFFFF"/>
                          </a:solidFill>
                          <a:latin typeface="Arial" panose="020B0604020202020204"/>
                          <a:ea typeface="微软雅黑" panose="020B0503020204020204" charset="-122"/>
                        </a:rPr>
                        <a:t>有关涉税事项情况（存在或者发生下列事项时必填）</a:t>
                      </a:r>
                      <a:endParaRPr lang="zh-CN" sz="1400" b="1" i="0" u="none" strike="noStrike" baseline="0">
                        <a:solidFill>
                          <a:srgbClr val="FFFFFF"/>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381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hMerge="1">
                  <a:tcPr/>
                </a:tc>
              </a:tr>
              <a:tr h="357188">
                <a:tc rowSpan="2">
                  <a:txBody>
                    <a:bodyPr/>
                    <a:lstStyle/>
                    <a:p>
                      <a:pPr marL="0" lvl="0" indent="0" algn="l" defTabSz="914400">
                        <a:lnSpc>
                          <a:spcPts val="1800"/>
                        </a:lnSpc>
                        <a:spcBef>
                          <a:spcPct val="0"/>
                        </a:spcBef>
                        <a:spcAft>
                          <a:spcPct val="0"/>
                        </a:spcAft>
                        <a:buNone/>
                      </a:pPr>
                      <a:r>
                        <a:rPr lang="en-US" sz="1400" b="1" i="0" u="none" strike="noStrike" baseline="0">
                          <a:solidFill>
                            <a:srgbClr val="FFFFFF"/>
                          </a:solidFill>
                          <a:latin typeface="Arial" panose="020B0604020202020204"/>
                          <a:ea typeface="微软雅黑" panose="020B0503020204020204" charset="-122"/>
                        </a:rPr>
                        <a:t>210</a:t>
                      </a:r>
                      <a:r>
                        <a:rPr lang="zh-CN" sz="1400" b="1" i="0" u="none" strike="noStrike" baseline="0">
                          <a:solidFill>
                            <a:srgbClr val="FFFFFF"/>
                          </a:solidFill>
                          <a:latin typeface="Arial" panose="020B0604020202020204"/>
                          <a:ea typeface="微软雅黑" panose="020B0503020204020204" charset="-122"/>
                        </a:rPr>
                        <a:t>科技型中小企业</a:t>
                      </a:r>
                      <a:endParaRPr lang="zh-CN" sz="1400" b="1" i="0" u="none" strike="noStrike" baseline="0">
                        <a:solidFill>
                          <a:srgbClr val="FFFFFF"/>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lvl="0" indent="0" algn="l" defTabSz="914400">
                        <a:lnSpc>
                          <a:spcPct val="90000"/>
                        </a:lnSpc>
                        <a:spcBef>
                          <a:spcPts val="1000"/>
                        </a:spcBef>
                        <a:spcAft>
                          <a:spcPct val="0"/>
                        </a:spcAft>
                        <a:buFont typeface="Arial" panose="020B0604020202020204" pitchFamily="34" charset="0"/>
                        <a:buNone/>
                      </a:pPr>
                      <a:r>
                        <a:rPr lang="en-US" sz="1600" b="0" i="0" u="none" strike="noStrike" baseline="0">
                          <a:solidFill>
                            <a:schemeClr val="tx1"/>
                          </a:solidFill>
                          <a:latin typeface="Arial" panose="020B0604020202020204"/>
                          <a:ea typeface="微软雅黑" panose="020B0503020204020204" charset="-122"/>
                        </a:rPr>
                        <a:t>210-1 </a:t>
                      </a:r>
                      <a:r>
                        <a:rPr lang="en-US" sz="1600" b="0" i="0" u="sng" strike="noStrike" baseline="0">
                          <a:solidFill>
                            <a:schemeClr val="tx1"/>
                          </a:solidFill>
                          <a:latin typeface="Arial" panose="020B0604020202020204"/>
                          <a:ea typeface="微软雅黑" panose="020B0503020204020204" charset="-122"/>
                        </a:rPr>
                        <a:t>   </a:t>
                      </a:r>
                      <a:r>
                        <a:rPr lang="zh-CN" sz="1600" b="0" i="0" u="none" strike="noStrike" baseline="0">
                          <a:solidFill>
                            <a:schemeClr val="tx1"/>
                          </a:solidFill>
                          <a:latin typeface="Arial" panose="020B0604020202020204"/>
                          <a:ea typeface="微软雅黑" panose="020B0503020204020204" charset="-122"/>
                        </a:rPr>
                        <a:t>年（申报所属期年度）入库编号</a:t>
                      </a:r>
                      <a:r>
                        <a:rPr lang="en-US" sz="1600" b="0" i="0" u="none" strike="noStrike" baseline="0">
                          <a:solidFill>
                            <a:schemeClr val="tx1"/>
                          </a:solidFill>
                          <a:latin typeface="Arial" panose="020B0604020202020204"/>
                          <a:ea typeface="微软雅黑" panose="020B0503020204020204" charset="-122"/>
                        </a:rPr>
                        <a:t>1</a:t>
                      </a:r>
                      <a:endParaRPr lang="zh-CN" sz="1600" b="0" i="0" u="none" strike="noStrike" baseline="0">
                        <a:solidFill>
                          <a:schemeClr val="tx1"/>
                        </a:solidFill>
                        <a:latin typeface="Arial" panose="020B0604020202020204"/>
                        <a:ea typeface="微软雅黑" panose="020B0503020204020204"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l"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l" defTabSz="914400">
                        <a:lnSpc>
                          <a:spcPct val="90000"/>
                        </a:lnSpc>
                        <a:spcBef>
                          <a:spcPts val="1000"/>
                        </a:spcBef>
                        <a:spcAft>
                          <a:spcPct val="0"/>
                        </a:spcAft>
                        <a:buFont typeface="Arial" panose="020B0604020202020204" pitchFamily="34" charset="0"/>
                        <a:buNone/>
                      </a:pPr>
                      <a:r>
                        <a:rPr lang="en-US" sz="1600" b="0" i="0" u="none" strike="noStrike" baseline="0">
                          <a:solidFill>
                            <a:schemeClr val="tx1"/>
                          </a:solidFill>
                          <a:latin typeface="Arial" panose="020B0604020202020204"/>
                          <a:ea typeface="微软雅黑" panose="020B0503020204020204" charset="-122"/>
                        </a:rPr>
                        <a:t>210-2</a:t>
                      </a:r>
                      <a:r>
                        <a:rPr lang="zh-CN" sz="1600" b="0" i="0" u="none" strike="noStrike" baseline="0">
                          <a:solidFill>
                            <a:schemeClr val="tx1"/>
                          </a:solidFill>
                          <a:latin typeface="Arial" panose="020B0604020202020204"/>
                          <a:ea typeface="微软雅黑" panose="020B0503020204020204" charset="-122"/>
                        </a:rPr>
                        <a:t>入库时间</a:t>
                      </a:r>
                      <a:r>
                        <a:rPr lang="en-US" sz="1600" b="0" i="0" u="none" strike="noStrike" baseline="0">
                          <a:solidFill>
                            <a:schemeClr val="tx1"/>
                          </a:solidFill>
                          <a:latin typeface="Arial" panose="020B0604020202020204"/>
                          <a:ea typeface="微软雅黑" panose="020B0503020204020204" charset="-122"/>
                        </a:rPr>
                        <a:t>1</a:t>
                      </a:r>
                      <a:endParaRPr lang="zh-CN" sz="1600" b="0" i="0" u="none" strike="noStrike" baseline="0">
                        <a:solidFill>
                          <a:schemeClr val="tx1"/>
                        </a:solidFill>
                        <a:latin typeface="Arial" panose="020B0604020202020204"/>
                        <a:ea typeface="微软雅黑" panose="020B0503020204020204"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just"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325438">
                <a:tc vMerge="1">
                  <a:tcPr/>
                </a:tc>
                <a:tc>
                  <a:txBody>
                    <a:bodyPr/>
                    <a:lstStyle/>
                    <a:p>
                      <a:pPr marL="0" lvl="0" indent="0" algn="l" defTabSz="914400">
                        <a:lnSpc>
                          <a:spcPct val="90000"/>
                        </a:lnSpc>
                        <a:spcBef>
                          <a:spcPts val="1000"/>
                        </a:spcBef>
                        <a:spcAft>
                          <a:spcPct val="0"/>
                        </a:spcAft>
                        <a:buFont typeface="Arial" panose="020B0604020202020204" pitchFamily="34" charset="0"/>
                        <a:buNone/>
                      </a:pPr>
                      <a:r>
                        <a:rPr lang="en-US" sz="1600" b="0" i="0" u="none" strike="noStrike" baseline="0">
                          <a:solidFill>
                            <a:schemeClr val="tx1"/>
                          </a:solidFill>
                          <a:latin typeface="Arial" panose="020B0604020202020204"/>
                          <a:ea typeface="微软雅黑" panose="020B0503020204020204" charset="-122"/>
                        </a:rPr>
                        <a:t>210-3 </a:t>
                      </a:r>
                      <a:r>
                        <a:rPr lang="en-US" sz="1600" b="0" i="0" u="sng" strike="noStrike" baseline="0">
                          <a:solidFill>
                            <a:schemeClr val="tx1"/>
                          </a:solidFill>
                          <a:latin typeface="Arial" panose="020B0604020202020204"/>
                          <a:ea typeface="微软雅黑" panose="020B0503020204020204" charset="-122"/>
                        </a:rPr>
                        <a:t>   </a:t>
                      </a:r>
                      <a:r>
                        <a:rPr lang="zh-CN" sz="1600" b="0" i="0" u="none" strike="noStrike" baseline="0">
                          <a:solidFill>
                            <a:schemeClr val="tx1"/>
                          </a:solidFill>
                          <a:latin typeface="Arial" panose="020B0604020202020204"/>
                          <a:ea typeface="微软雅黑" panose="020B0503020204020204" charset="-122"/>
                        </a:rPr>
                        <a:t>年（所属期下一年度）入库编号</a:t>
                      </a:r>
                      <a:r>
                        <a:rPr lang="en-US" sz="1600" b="0" i="0" u="none" strike="noStrike" baseline="0">
                          <a:solidFill>
                            <a:schemeClr val="tx1"/>
                          </a:solidFill>
                          <a:latin typeface="Arial" panose="020B0604020202020204"/>
                          <a:ea typeface="微软雅黑" panose="020B0503020204020204" charset="-122"/>
                        </a:rPr>
                        <a:t>2</a:t>
                      </a:r>
                      <a:endParaRPr lang="zh-CN" sz="1600" b="0" i="0" u="none" strike="noStrike" baseline="0">
                        <a:solidFill>
                          <a:schemeClr val="tx1"/>
                        </a:solidFill>
                        <a:latin typeface="Arial" panose="020B0604020202020204"/>
                        <a:ea typeface="微软雅黑" panose="020B0503020204020204"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l"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c>
                  <a:txBody>
                    <a:bodyPr/>
                    <a:lstStyle/>
                    <a:p>
                      <a:pPr marL="0" lvl="0" indent="0" algn="l" defTabSz="914400">
                        <a:lnSpc>
                          <a:spcPct val="90000"/>
                        </a:lnSpc>
                        <a:spcBef>
                          <a:spcPts val="1000"/>
                        </a:spcBef>
                        <a:spcAft>
                          <a:spcPct val="0"/>
                        </a:spcAft>
                        <a:buFont typeface="Arial" panose="020B0604020202020204" pitchFamily="34" charset="0"/>
                        <a:buNone/>
                      </a:pPr>
                      <a:r>
                        <a:rPr lang="en-US" sz="1600" b="0" i="0" u="none" strike="noStrike" baseline="0">
                          <a:solidFill>
                            <a:schemeClr val="tx1"/>
                          </a:solidFill>
                          <a:latin typeface="Arial" panose="020B0604020202020204"/>
                          <a:ea typeface="微软雅黑" panose="020B0503020204020204" charset="-122"/>
                        </a:rPr>
                        <a:t>210-4</a:t>
                      </a:r>
                      <a:r>
                        <a:rPr lang="zh-CN" sz="1600" b="0" i="0" u="none" strike="noStrike" baseline="0">
                          <a:solidFill>
                            <a:schemeClr val="tx1"/>
                          </a:solidFill>
                          <a:latin typeface="Arial" panose="020B0604020202020204"/>
                          <a:ea typeface="微软雅黑" panose="020B0503020204020204" charset="-122"/>
                        </a:rPr>
                        <a:t>入库时间</a:t>
                      </a:r>
                      <a:r>
                        <a:rPr lang="en-US" sz="1600" b="0" i="0" u="none" strike="noStrike" baseline="0">
                          <a:solidFill>
                            <a:schemeClr val="tx1"/>
                          </a:solidFill>
                          <a:latin typeface="Arial" panose="020B0604020202020204"/>
                          <a:ea typeface="微软雅黑" panose="020B0503020204020204" charset="-122"/>
                        </a:rPr>
                        <a:t>2</a:t>
                      </a:r>
                      <a:endParaRPr lang="zh-CN" sz="1600" b="0" i="0" u="none" strike="noStrike" baseline="0">
                        <a:solidFill>
                          <a:schemeClr val="tx1"/>
                        </a:solidFill>
                        <a:latin typeface="Arial" panose="020B0604020202020204"/>
                        <a:ea typeface="微软雅黑" panose="020B0503020204020204"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just"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bl>
          </a:graphicData>
        </a:graphic>
      </p:graphicFrame>
      <p:sp>
        <p:nvSpPr>
          <p:cNvPr id="1061" name="文本框 5"/>
          <p:cNvSpPr txBox="1"/>
          <p:nvPr/>
        </p:nvSpPr>
        <p:spPr>
          <a:xfrm>
            <a:off x="482726" y="3336926"/>
            <a:ext cx="8369892" cy="1338828"/>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lnSpc>
                <a:spcPct val="150000"/>
              </a:lnSpc>
            </a:pPr>
            <a:r>
              <a:rPr lang="zh-CN">
                <a:latin typeface="微软雅黑" panose="020B0503020204020204" charset="-122"/>
                <a:ea typeface="微软雅黑" panose="020B0503020204020204" charset="-122"/>
              </a:rPr>
              <a:t>        纳税人根据申报所属期年度和申报所属期下一年度取得的科技型中小企业入库登记编号情况，填报本项目下的“</a:t>
            </a:r>
            <a:r>
              <a:rPr lang="en-US">
                <a:latin typeface="微软雅黑" panose="020B0503020204020204" charset="-122"/>
                <a:ea typeface="微软雅黑" panose="020B0503020204020204" charset="-122"/>
              </a:rPr>
              <a:t>210-1”“210-2”“210-3”“210-4”</a:t>
            </a:r>
            <a:r>
              <a:rPr lang="zh-CN">
                <a:latin typeface="微软雅黑" panose="020B0503020204020204" charset="-122"/>
                <a:ea typeface="微软雅黑" panose="020B0503020204020204" charset="-122"/>
              </a:rPr>
              <a:t>。</a:t>
            </a:r>
            <a:endParaRPr lang="zh-CN">
              <a:latin typeface="微软雅黑" panose="020B0503020204020204" charset="-122"/>
              <a:ea typeface="微软雅黑" panose="020B0503020204020204" charset="-122"/>
            </a:endParaRPr>
          </a:p>
          <a:p>
            <a:pPr algn="l">
              <a:lnSpc>
                <a:spcPct val="150000"/>
              </a:lnSpc>
            </a:pPr>
            <a:r>
              <a:rPr lang="zh-CN">
                <a:latin typeface="微软雅黑" panose="020B0503020204020204" charset="-122"/>
                <a:ea typeface="微软雅黑" panose="020B0503020204020204" charset="-122"/>
              </a:rPr>
              <a:t>       纳税人符合填报要求的，无论是否享受企业所得税优惠政策，均应填报本项。</a:t>
            </a:r>
            <a:endParaRPr lang="zh-CN">
              <a:latin typeface="微软雅黑" panose="020B0503020204020204" charset="-122"/>
              <a:ea typeface="微软雅黑" panose="020B0503020204020204" charset="-122"/>
            </a:endParaRPr>
          </a:p>
        </p:txBody>
      </p:sp>
      <p:sp>
        <p:nvSpPr>
          <p:cNvPr id="19" name="矩形 18"/>
          <p:cNvSpPr/>
          <p:nvPr/>
        </p:nvSpPr>
        <p:spPr>
          <a:xfrm>
            <a:off x="10373326" y="519609"/>
            <a:ext cx="1826617" cy="584775"/>
          </a:xfrm>
          <a:prstGeom prst="rect">
            <a:avLst/>
          </a:prstGeom>
          <a:solidFill>
            <a:srgbClr val="FFFF00"/>
          </a:solidFill>
        </p:spPr>
        <p:txBody>
          <a:bodyPr wrap="none">
            <a:spAutoFit/>
          </a:bodyPr>
          <a:lstStyle/>
          <a:p>
            <a:pPr>
              <a:spcBef>
                <a:spcPts val="0"/>
              </a:spcBef>
              <a:spcAft>
                <a:spcPts val="0"/>
              </a:spcAft>
            </a:pPr>
            <a:r>
              <a:rPr lang="zh-CN" sz="3200" b="1">
                <a:latin typeface="Calibri" panose="020F0502020204030204"/>
                <a:ea typeface="宋体" panose="02010600030101010101" pitchFamily="2" charset="-122"/>
              </a:rPr>
              <a:t>填报解析</a:t>
            </a:r>
            <a:endParaRPr lang="zh-CN" sz="3200" b="1">
              <a:latin typeface="Calibri" panose="020F0502020204030204"/>
              <a:ea typeface="宋体" panose="02010600030101010101" pitchFamily="2" charset="-122"/>
            </a:endParaRPr>
          </a:p>
        </p:txBody>
      </p:sp>
      <p:pic>
        <p:nvPicPr>
          <p:cNvPr id="4" name="图示 3"/>
          <p:cNvPicPr/>
          <p:nvPr/>
        </p:nvPicPr>
        <p:blipFill>
          <a:blip/>
          <a:stretch>
            <a:fillRect/>
          </a:stretch>
        </p:blipFill>
        <p:spPr>
          <a:xfrm>
            <a:off x="9041580" y="3530600"/>
            <a:ext cx="2627997" cy="2973388"/>
          </a:xfrm>
          <a:prstGeom prst="rect">
            <a:avLst/>
          </a:prstGeom>
        </p:spPr>
      </p:pic>
      <p:sp>
        <p:nvSpPr>
          <p:cNvPr id="5" name="笑脸 4">
            <a:hlinkClick r:id="" action="ppaction://hlinkfile"/>
          </p:cNvPr>
          <p:cNvSpPr/>
          <p:nvPr/>
        </p:nvSpPr>
        <p:spPr>
          <a:xfrm>
            <a:off x="6601643" y="2636912"/>
            <a:ext cx="288032" cy="339113"/>
          </a:xfrm>
          <a:prstGeom prst="smileyFace">
            <a:avLst/>
          </a:prstGeom>
          <a:solidFill>
            <a:srgbClr val="FFFF00"/>
          </a:solidFill>
          <a:ln w="25400" cap="flat" cmpd="sng">
            <a:solidFill>
              <a:schemeClr val="accent1">
                <a:shade val="50000"/>
              </a:schemeClr>
            </a:solidFill>
            <a:prstDash val="solid"/>
          </a:ln>
        </p:spPr>
        <p:txBody>
          <a:bodyPr anchor="ctr"/>
          <a:lstStyle/>
          <a:p>
            <a:pPr algn="ctr"/>
            <a:endParaRPr lang="zh-CN">
              <a:solidFill>
                <a:schemeClr val="lt1"/>
              </a:solidFill>
            </a:endParaRPr>
          </a:p>
        </p:txBody>
      </p:sp>
      <p:sp>
        <p:nvSpPr>
          <p:cNvPr id="6" name="对话气泡: 矩形 5"/>
          <p:cNvSpPr/>
          <p:nvPr/>
        </p:nvSpPr>
        <p:spPr>
          <a:xfrm>
            <a:off x="6169595" y="1295697"/>
            <a:ext cx="1647849" cy="864096"/>
          </a:xfrm>
          <a:prstGeom prst="wedgeRectCallout">
            <a:avLst>
              <a:gd name="adj1" fmla="val -64609"/>
              <a:gd name="adj2" fmla="val 127169"/>
            </a:avLst>
          </a:prstGeom>
          <a:solidFill>
            <a:schemeClr val="bg1"/>
          </a:solidFill>
          <a:ln w="25400" cap="flat" cmpd="sng">
            <a:solidFill>
              <a:schemeClr val="accent1">
                <a:shade val="50000"/>
              </a:schemeClr>
            </a:solidFill>
            <a:prstDash val="solid"/>
          </a:ln>
        </p:spPr>
        <p:txBody>
          <a:bodyPr anchor="ctr"/>
          <a:lstStyle/>
          <a:p>
            <a:pPr algn="ctr"/>
            <a:r>
              <a:rPr lang="zh-CN">
                <a:solidFill>
                  <a:schemeClr val="tx1"/>
                </a:solidFill>
              </a:rPr>
              <a:t>享受结转</a:t>
            </a:r>
            <a:r>
              <a:rPr lang="en-US">
                <a:solidFill>
                  <a:schemeClr val="tx1"/>
                </a:solidFill>
              </a:rPr>
              <a:t>10</a:t>
            </a:r>
            <a:r>
              <a:rPr lang="zh-CN">
                <a:solidFill>
                  <a:schemeClr val="tx1"/>
                </a:solidFill>
              </a:rPr>
              <a:t>年弥补亏损政策</a:t>
            </a:r>
            <a:endParaRPr lang="zh-CN">
              <a:solidFill>
                <a:schemeClr val="tx1"/>
              </a:solidFill>
            </a:endParaRPr>
          </a:p>
        </p:txBody>
      </p:sp>
      <p:sp>
        <p:nvSpPr>
          <p:cNvPr id="16" name="对话气泡: 矩形 15"/>
          <p:cNvSpPr/>
          <p:nvPr/>
        </p:nvSpPr>
        <p:spPr>
          <a:xfrm>
            <a:off x="6722206" y="3764013"/>
            <a:ext cx="1647849" cy="864096"/>
          </a:xfrm>
          <a:prstGeom prst="wedgeRectCallout">
            <a:avLst>
              <a:gd name="adj1" fmla="val -91738"/>
              <a:gd name="adj2" fmla="val -117397"/>
            </a:avLst>
          </a:prstGeom>
          <a:solidFill>
            <a:schemeClr val="bg1"/>
          </a:solidFill>
          <a:ln w="25400" cap="flat" cmpd="sng">
            <a:solidFill>
              <a:schemeClr val="accent1">
                <a:shade val="50000"/>
              </a:schemeClr>
            </a:solidFill>
            <a:prstDash val="solid"/>
          </a:ln>
        </p:spPr>
        <p:txBody>
          <a:bodyPr anchor="ctr"/>
          <a:lstStyle/>
          <a:p>
            <a:pPr algn="ctr"/>
            <a:r>
              <a:rPr lang="zh-CN">
                <a:solidFill>
                  <a:schemeClr val="tx1"/>
                </a:solidFill>
              </a:rPr>
              <a:t>享受研发费用加计扣除政策</a:t>
            </a:r>
            <a:endParaRPr lang="zh-CN">
              <a:solidFill>
                <a:schemeClr val="tx1"/>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90614"/>
            <a:ext cx="12195175" cy="5799137"/>
          </a:xfrm>
          <a:prstGeom prst="rect">
            <a:avLst/>
          </a:prstGeom>
          <a:solidFill>
            <a:srgbClr val="FFFFFF">
              <a:alpha val="85098"/>
            </a:srgbClr>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12" name="矩形 11"/>
          <p:cNvSpPr/>
          <p:nvPr/>
        </p:nvSpPr>
        <p:spPr>
          <a:xfrm>
            <a:off x="595468" y="1049339"/>
            <a:ext cx="1055962" cy="987425"/>
          </a:xfrm>
          <a:prstGeom prst="rect">
            <a:avLst/>
          </a:prstGeom>
          <a:solidFill>
            <a:srgbClr val="005DA2"/>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grpSp>
        <p:nvGrpSpPr>
          <p:cNvPr id="2062" name="组合 17"/>
          <p:cNvGrpSpPr/>
          <p:nvPr/>
        </p:nvGrpSpPr>
        <p:grpSpPr>
          <a:xfrm>
            <a:off x="1614908" y="1049338"/>
            <a:ext cx="9521129" cy="976312"/>
            <a:chOff x="1604502" y="1473366"/>
            <a:chExt cx="9695403" cy="977226"/>
          </a:xfrm>
        </p:grpSpPr>
        <p:sp>
          <p:nvSpPr>
            <p:cNvPr id="15" name="矩形 14"/>
            <p:cNvSpPr/>
            <p:nvPr/>
          </p:nvSpPr>
          <p:spPr>
            <a:xfrm>
              <a:off x="1604502" y="1473366"/>
              <a:ext cx="9672765" cy="977226"/>
            </a:xfrm>
            <a:prstGeom prst="rect">
              <a:avLst/>
            </a:prstGeom>
            <a:solidFill>
              <a:schemeClr val="bg1"/>
            </a:solidFill>
            <a:ln w="25400">
              <a:solidFill>
                <a:srgbClr val="005DA2"/>
              </a:solidFill>
              <a:prstDash val="solid"/>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2088" name="文本框 15"/>
            <p:cNvSpPr txBox="1"/>
            <p:nvPr/>
          </p:nvSpPr>
          <p:spPr>
            <a:xfrm>
              <a:off x="1627631" y="1638813"/>
              <a:ext cx="9672274" cy="461665"/>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r>
                <a:rPr lang="zh-CN" sz="2400">
                  <a:ea typeface="微软雅黑" panose="020B0503020204020204" charset="-122"/>
                </a:rPr>
                <a:t>企业所得税年度纳税申报基础信息表</a:t>
              </a:r>
              <a:r>
                <a:rPr lang="en-US" sz="2400">
                  <a:ea typeface="微软雅黑" panose="020B0503020204020204" charset="-122"/>
                </a:rPr>
                <a:t>A000000</a:t>
              </a:r>
              <a:endParaRPr lang="zh-CN" sz="2400">
                <a:ea typeface="微软雅黑" panose="020B0503020204020204" charset="-122"/>
              </a:endParaRPr>
            </a:p>
          </p:txBody>
        </p:sp>
      </p:grpSp>
      <p:pic>
        <p:nvPicPr>
          <p:cNvPr id="2063" name="图形 4"/>
          <p:cNvPicPr/>
          <p:nvPr/>
        </p:nvPicPr>
        <p:blipFill>
          <a:blip r:embed="rId1"/>
          <a:stretch>
            <a:fillRect/>
          </a:stretch>
        </p:blipFill>
        <p:spPr>
          <a:xfrm>
            <a:off x="695506" y="1081088"/>
            <a:ext cx="914638" cy="914400"/>
          </a:xfrm>
          <a:prstGeom prst="rect">
            <a:avLst/>
          </a:prstGeom>
          <a:noFill/>
          <a:ln>
            <a:noFill/>
          </a:ln>
        </p:spPr>
      </p:pic>
      <p:graphicFrame>
        <p:nvGraphicFramePr>
          <p:cNvPr id="13" name="表格 12"/>
          <p:cNvGraphicFramePr/>
          <p:nvPr/>
        </p:nvGraphicFramePr>
        <p:xfrm>
          <a:off x="882880" y="2211388"/>
          <a:ext cx="10197579" cy="1050926"/>
        </p:xfrm>
        <a:graphic>
          <a:graphicData uri="http://schemas.openxmlformats.org/drawingml/2006/table">
            <a:tbl>
              <a:tblPr/>
              <a:tblGrid>
                <a:gridCol w="3131365"/>
                <a:gridCol w="2202436"/>
                <a:gridCol w="2200848"/>
                <a:gridCol w="1602204"/>
                <a:gridCol w="1060726"/>
              </a:tblGrid>
              <a:tr h="368300">
                <a:tc gridSpan="5">
                  <a:txBody>
                    <a:bodyPr/>
                    <a:lstStyle/>
                    <a:p>
                      <a:pPr marL="0" lvl="0" indent="0" algn="ctr" defTabSz="914400">
                        <a:lnSpc>
                          <a:spcPts val="1800"/>
                        </a:lnSpc>
                        <a:spcBef>
                          <a:spcPct val="0"/>
                        </a:spcBef>
                        <a:spcAft>
                          <a:spcPct val="0"/>
                        </a:spcAft>
                        <a:buNone/>
                      </a:pPr>
                      <a:r>
                        <a:rPr lang="zh-CN" sz="1400" b="1" i="0" u="none" strike="noStrike" baseline="0">
                          <a:solidFill>
                            <a:srgbClr val="FFFFFF"/>
                          </a:solidFill>
                          <a:latin typeface="Arial" panose="020B0604020202020204"/>
                          <a:ea typeface="微软雅黑" panose="020B0503020204020204" charset="-122"/>
                        </a:rPr>
                        <a:t>有关涉税事项情况（存在或者发生下列事项时必填）</a:t>
                      </a:r>
                      <a:endParaRPr lang="zh-CN" sz="1400" b="1" i="0" u="none" strike="noStrike" baseline="0">
                        <a:solidFill>
                          <a:srgbClr val="FFFFFF"/>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38100" cap="flat" cmpd="sng">
                      <a:solidFill>
                        <a:schemeClr val="bg1"/>
                      </a:solidFill>
                      <a:prstDash val="solid"/>
                      <a:round/>
                      <a:headEnd type="none" w="med" len="med"/>
                      <a:tailEnd type="none" w="med" len="med"/>
                    </a:lnB>
                    <a:lnTlToBr>
                      <a:noFill/>
                    </a:lnTlToBr>
                    <a:lnBlToTr>
                      <a:noFill/>
                    </a:lnBlToTr>
                    <a:solidFill>
                      <a:schemeClr val="accent1"/>
                    </a:solidFill>
                  </a:tcPr>
                </a:tc>
                <a:tc hMerge="1">
                  <a:tcPr/>
                </a:tc>
                <a:tc hMerge="1">
                  <a:tcPr/>
                </a:tc>
                <a:tc hMerge="1">
                  <a:tcPr/>
                </a:tc>
                <a:tc hMerge="1">
                  <a:tcPr/>
                </a:tc>
              </a:tr>
              <a:tr h="357188">
                <a:tc rowSpan="2">
                  <a:txBody>
                    <a:bodyPr/>
                    <a:lstStyle/>
                    <a:p>
                      <a:pPr marL="0" lvl="0" indent="0" algn="l" defTabSz="914400">
                        <a:lnSpc>
                          <a:spcPts val="1800"/>
                        </a:lnSpc>
                        <a:spcBef>
                          <a:spcPct val="0"/>
                        </a:spcBef>
                        <a:spcAft>
                          <a:spcPct val="0"/>
                        </a:spcAft>
                        <a:buNone/>
                      </a:pPr>
                      <a:r>
                        <a:rPr lang="en-US" sz="1400" b="1" i="0" u="none" strike="noStrike" baseline="0">
                          <a:solidFill>
                            <a:srgbClr val="FFFFFF"/>
                          </a:solidFill>
                          <a:latin typeface="Arial" panose="020B0604020202020204"/>
                          <a:ea typeface="微软雅黑" panose="020B0503020204020204" charset="-122"/>
                        </a:rPr>
                        <a:t>211</a:t>
                      </a:r>
                      <a:r>
                        <a:rPr lang="zh-CN" sz="1400" b="1" i="0" u="none" strike="noStrike" baseline="0">
                          <a:solidFill>
                            <a:srgbClr val="FFFFFF"/>
                          </a:solidFill>
                          <a:latin typeface="Arial" panose="020B0604020202020204"/>
                          <a:ea typeface="微软雅黑" panose="020B0503020204020204" charset="-122"/>
                        </a:rPr>
                        <a:t>高新技术企业申报所属期年度有效的高新技术企业证书</a:t>
                      </a:r>
                      <a:endParaRPr lang="zh-CN" sz="1400" b="1" i="0" u="none" strike="noStrike" baseline="0">
                        <a:solidFill>
                          <a:srgbClr val="FFFFFF"/>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lvl="0" indent="0" algn="l"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211-1 </a:t>
                      </a:r>
                      <a:r>
                        <a:rPr lang="zh-CN" sz="1400" b="0" i="0" u="none" strike="noStrike" baseline="0">
                          <a:solidFill>
                            <a:srgbClr val="000000"/>
                          </a:solidFill>
                          <a:latin typeface="Arial" panose="020B0604020202020204"/>
                          <a:ea typeface="微软雅黑" panose="020B0503020204020204" charset="-122"/>
                        </a:rPr>
                        <a:t>证书编号</a:t>
                      </a:r>
                      <a:r>
                        <a:rPr lang="en-US" sz="1400" b="0" i="0" u="none" strike="noStrike" baseline="0">
                          <a:solidFill>
                            <a:srgbClr val="000000"/>
                          </a:solidFill>
                          <a:latin typeface="Arial" panose="020B0604020202020204"/>
                          <a:ea typeface="微软雅黑" panose="020B0503020204020204" charset="-122"/>
                        </a:rPr>
                        <a:t>1</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l"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just"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211-2</a:t>
                      </a:r>
                      <a:r>
                        <a:rPr lang="zh-CN" sz="1400" b="0" i="0" u="none" strike="noStrike" baseline="0">
                          <a:solidFill>
                            <a:srgbClr val="000000"/>
                          </a:solidFill>
                          <a:latin typeface="Arial" panose="020B0604020202020204"/>
                          <a:ea typeface="微软雅黑" panose="020B0503020204020204" charset="-122"/>
                        </a:rPr>
                        <a:t>发证时间</a:t>
                      </a:r>
                      <a:r>
                        <a:rPr lang="en-US" sz="1400" b="0" i="0" u="none" strike="noStrike" baseline="0">
                          <a:solidFill>
                            <a:srgbClr val="000000"/>
                          </a:solidFill>
                          <a:latin typeface="Arial" panose="020B0604020202020204"/>
                          <a:ea typeface="微软雅黑" panose="020B0503020204020204" charset="-122"/>
                        </a:rPr>
                        <a:t>1</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just"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381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r>
              <a:tr h="325438">
                <a:tc vMerge="1">
                  <a:tcPr/>
                </a:tc>
                <a:tc>
                  <a:txBody>
                    <a:bodyPr/>
                    <a:lstStyle/>
                    <a:p>
                      <a:pPr marL="0" lvl="0" indent="0" algn="l"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211-3 </a:t>
                      </a:r>
                      <a:r>
                        <a:rPr lang="zh-CN" sz="1400" b="0" i="0" u="none" strike="noStrike" baseline="0">
                          <a:solidFill>
                            <a:srgbClr val="000000"/>
                          </a:solidFill>
                          <a:latin typeface="Arial" panose="020B0604020202020204"/>
                          <a:ea typeface="微软雅黑" panose="020B0503020204020204" charset="-122"/>
                        </a:rPr>
                        <a:t>证书编号</a:t>
                      </a:r>
                      <a:r>
                        <a:rPr lang="en-US" sz="1400" b="0" i="0" u="none" strike="noStrike" baseline="0">
                          <a:solidFill>
                            <a:srgbClr val="000000"/>
                          </a:solidFill>
                          <a:latin typeface="Arial" panose="020B0604020202020204"/>
                          <a:ea typeface="微软雅黑" panose="020B0503020204020204" charset="-122"/>
                        </a:rPr>
                        <a:t>2</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l"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c>
                  <a:txBody>
                    <a:bodyPr/>
                    <a:lstStyle/>
                    <a:p>
                      <a:pPr marL="0" lvl="0" indent="0" algn="just"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211-4</a:t>
                      </a:r>
                      <a:r>
                        <a:rPr lang="zh-CN" sz="1400" b="0" i="0" u="none" strike="noStrike" baseline="0">
                          <a:solidFill>
                            <a:srgbClr val="000000"/>
                          </a:solidFill>
                          <a:latin typeface="Arial" panose="020B0604020202020204"/>
                          <a:ea typeface="微软雅黑" panose="020B0503020204020204" charset="-122"/>
                        </a:rPr>
                        <a:t>发证时间</a:t>
                      </a:r>
                      <a:r>
                        <a:rPr lang="en-US" sz="1400" b="0" i="0" u="none" strike="noStrike" baseline="0">
                          <a:solidFill>
                            <a:srgbClr val="000000"/>
                          </a:solidFill>
                          <a:latin typeface="Arial" panose="020B0604020202020204"/>
                          <a:ea typeface="微软雅黑" panose="020B0503020204020204" charset="-122"/>
                        </a:rPr>
                        <a:t>2</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CBD2E0"/>
                    </a:solidFill>
                  </a:tcPr>
                </a:tc>
                <a:tc>
                  <a:txBody>
                    <a:bodyPr/>
                    <a:lstStyle/>
                    <a:p>
                      <a:pPr marL="0" lvl="0" indent="0" algn="just" defTabSz="914400">
                        <a:lnSpc>
                          <a:spcPts val="1800"/>
                        </a:lnSpc>
                        <a:spcBef>
                          <a:spcPct val="0"/>
                        </a:spcBef>
                        <a:spcAft>
                          <a:spcPct val="0"/>
                        </a:spcAft>
                        <a:buNone/>
                      </a:pPr>
                      <a:r>
                        <a:rPr lang="en-US" sz="1400" b="0" i="0" u="none" strike="noStrike" baseline="0">
                          <a:solidFill>
                            <a:srgbClr val="000000"/>
                          </a:solidFill>
                          <a:latin typeface="Arial" panose="020B0604020202020204"/>
                          <a:ea typeface="微软雅黑" panose="020B0503020204020204" charset="-122"/>
                        </a:rPr>
                        <a:t> </a:t>
                      </a:r>
                      <a:endParaRPr lang="zh-CN" sz="1400" b="0" i="0" u="none" strike="noStrike" baseline="0">
                        <a:solidFill>
                          <a:srgbClr val="000000"/>
                        </a:solidFill>
                        <a:latin typeface="Times New Roman" panose="02020603050405020304"/>
                        <a:ea typeface="宋体" panose="02010600030101010101" pitchFamily="2" charset="-122"/>
                      </a:endParaRPr>
                    </a:p>
                  </a:txBody>
                  <a:tcPr marL="68598" marR="68598" marT="0" marB="0" anchor="ctr">
                    <a:lnL w="12700" cap="flat" cmpd="sng">
                      <a:solidFill>
                        <a:schemeClr val="bg1"/>
                      </a:solidFill>
                      <a:prstDash val="solid"/>
                      <a:round/>
                      <a:headEnd type="none" w="med" len="med"/>
                      <a:tailEnd type="none" w="med" len="med"/>
                    </a:lnL>
                    <a:lnR w="12700" cap="flat" cmpd="sng">
                      <a:solidFill>
                        <a:schemeClr val="bg1"/>
                      </a:solidFill>
                      <a:prstDash val="solid"/>
                      <a:round/>
                      <a:headEnd type="none" w="med" len="med"/>
                      <a:tailEnd type="none" w="med" len="med"/>
                    </a:lnR>
                    <a:lnT w="12700" cap="flat" cmpd="sng">
                      <a:solidFill>
                        <a:schemeClr val="bg1"/>
                      </a:solidFill>
                      <a:prstDash val="solid"/>
                      <a:round/>
                      <a:headEnd type="none" w="med" len="med"/>
                      <a:tailEnd type="none" w="med" len="med"/>
                    </a:lnT>
                    <a:lnB w="12700" cap="flat" cmpd="sng">
                      <a:solidFill>
                        <a:schemeClr val="bg1"/>
                      </a:solidFill>
                      <a:prstDash val="solid"/>
                      <a:round/>
                      <a:headEnd type="none" w="med" len="med"/>
                      <a:tailEnd type="none" w="med" len="med"/>
                    </a:lnB>
                    <a:lnTlToBr>
                      <a:noFill/>
                    </a:lnTlToBr>
                    <a:lnBlToTr>
                      <a:noFill/>
                    </a:lnBlToTr>
                    <a:solidFill>
                      <a:srgbClr val="E7EAF0"/>
                    </a:solidFill>
                  </a:tcPr>
                </a:tc>
              </a:tr>
            </a:tbl>
          </a:graphicData>
        </a:graphic>
      </p:graphicFrame>
      <p:sp>
        <p:nvSpPr>
          <p:cNvPr id="2085" name="文本框 5"/>
          <p:cNvSpPr txBox="1"/>
          <p:nvPr/>
        </p:nvSpPr>
        <p:spPr>
          <a:xfrm>
            <a:off x="482726" y="3336926"/>
            <a:ext cx="8369892" cy="3394075"/>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lnSpc>
                <a:spcPct val="150000"/>
              </a:lnSpc>
            </a:pPr>
            <a:r>
              <a:rPr lang="zh-CN">
                <a:latin typeface="微软雅黑" panose="020B0503020204020204" charset="-122"/>
                <a:ea typeface="微软雅黑" panose="020B0503020204020204" charset="-122"/>
              </a:rPr>
              <a:t>        纳税人根据申报所属期年度拥有的有效期内的高新技术企业证书情况，填报本项目下的“</a:t>
            </a:r>
            <a:r>
              <a:rPr lang="en-US">
                <a:latin typeface="微软雅黑" panose="020B0503020204020204" charset="-122"/>
                <a:ea typeface="微软雅黑" panose="020B0503020204020204" charset="-122"/>
              </a:rPr>
              <a:t>211-1”“211-2”“211-3”“211-4”</a:t>
            </a:r>
            <a:r>
              <a:rPr lang="zh-CN">
                <a:latin typeface="微软雅黑" panose="020B0503020204020204" charset="-122"/>
                <a:ea typeface="微软雅黑" panose="020B0503020204020204" charset="-122"/>
              </a:rPr>
              <a:t>。</a:t>
            </a:r>
            <a:endParaRPr lang="zh-CN">
              <a:latin typeface="微软雅黑" panose="020B0503020204020204" charset="-122"/>
              <a:ea typeface="微软雅黑" panose="020B0503020204020204" charset="-122"/>
            </a:endParaRPr>
          </a:p>
          <a:p>
            <a:pPr algn="l">
              <a:lnSpc>
                <a:spcPct val="150000"/>
              </a:lnSpc>
            </a:pPr>
            <a:r>
              <a:rPr lang="zh-CN">
                <a:latin typeface="微软雅黑" panose="020B0503020204020204" charset="-122"/>
                <a:ea typeface="微软雅黑" panose="020B0503020204020204" charset="-122"/>
              </a:rPr>
              <a:t>        在申报所属期年度，如企业同时拥有两个高新技术企业证书，则两个证书情况均应填报。如：纳税人</a:t>
            </a:r>
            <a:r>
              <a:rPr lang="en-US">
                <a:latin typeface="微软雅黑" panose="020B0503020204020204" charset="-122"/>
                <a:ea typeface="微软雅黑" panose="020B0503020204020204" charset="-122"/>
              </a:rPr>
              <a:t>2016</a:t>
            </a:r>
            <a:r>
              <a:rPr lang="zh-CN">
                <a:latin typeface="微软雅黑" panose="020B0503020204020204" charset="-122"/>
                <a:ea typeface="微软雅黑" panose="020B0503020204020204" charset="-122"/>
              </a:rPr>
              <a:t>年</a:t>
            </a:r>
            <a:r>
              <a:rPr lang="en-US">
                <a:latin typeface="微软雅黑" panose="020B0503020204020204" charset="-122"/>
                <a:ea typeface="微软雅黑" panose="020B0503020204020204" charset="-122"/>
              </a:rPr>
              <a:t>10</a:t>
            </a:r>
            <a:r>
              <a:rPr lang="zh-CN">
                <a:latin typeface="微软雅黑" panose="020B0503020204020204" charset="-122"/>
                <a:ea typeface="微软雅黑" panose="020B0503020204020204" charset="-122"/>
              </a:rPr>
              <a:t>月取得高新技术企业证书，有效期</a:t>
            </a:r>
            <a:r>
              <a:rPr lang="en-US">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年，</a:t>
            </a:r>
            <a:r>
              <a:rPr lang="en-US">
                <a:latin typeface="微软雅黑" panose="020B0503020204020204" charset="-122"/>
                <a:ea typeface="微软雅黑" panose="020B0503020204020204" charset="-122"/>
              </a:rPr>
              <a:t>2019</a:t>
            </a:r>
            <a:r>
              <a:rPr lang="zh-CN">
                <a:latin typeface="微软雅黑" panose="020B0503020204020204" charset="-122"/>
                <a:ea typeface="微软雅黑" panose="020B0503020204020204" charset="-122"/>
              </a:rPr>
              <a:t>年再次参加认定并于</a:t>
            </a:r>
            <a:r>
              <a:rPr lang="en-US">
                <a:latin typeface="微软雅黑" panose="020B0503020204020204" charset="-122"/>
                <a:ea typeface="微软雅黑" panose="020B0503020204020204" charset="-122"/>
              </a:rPr>
              <a:t>2019</a:t>
            </a:r>
            <a:r>
              <a:rPr lang="zh-CN">
                <a:latin typeface="微软雅黑" panose="020B0503020204020204" charset="-122"/>
                <a:ea typeface="微软雅黑" panose="020B0503020204020204" charset="-122"/>
              </a:rPr>
              <a:t>年</a:t>
            </a:r>
            <a:r>
              <a:rPr lang="en-US">
                <a:latin typeface="微软雅黑" panose="020B0503020204020204" charset="-122"/>
                <a:ea typeface="微软雅黑" panose="020B0503020204020204" charset="-122"/>
              </a:rPr>
              <a:t>11</a:t>
            </a:r>
            <a:r>
              <a:rPr lang="zh-CN">
                <a:latin typeface="微软雅黑" panose="020B0503020204020204" charset="-122"/>
                <a:ea typeface="微软雅黑" panose="020B0503020204020204" charset="-122"/>
              </a:rPr>
              <a:t>月取得新高新技术企业证书，纳税人在进行</a:t>
            </a:r>
            <a:r>
              <a:rPr lang="en-US">
                <a:latin typeface="微软雅黑" panose="020B0503020204020204" charset="-122"/>
                <a:ea typeface="微软雅黑" panose="020B0503020204020204" charset="-122"/>
              </a:rPr>
              <a:t>2019</a:t>
            </a:r>
            <a:r>
              <a:rPr lang="zh-CN">
                <a:latin typeface="微软雅黑" panose="020B0503020204020204" charset="-122"/>
                <a:ea typeface="微软雅黑" panose="020B0503020204020204" charset="-122"/>
              </a:rPr>
              <a:t>年度企业所得税汇算清缴纳税申报时，应将两个证书的“编号”及“发证时间”分别填入“</a:t>
            </a:r>
            <a:r>
              <a:rPr lang="en-US">
                <a:latin typeface="微软雅黑" panose="020B0503020204020204" charset="-122"/>
                <a:ea typeface="微软雅黑" panose="020B0503020204020204" charset="-122"/>
              </a:rPr>
              <a:t>211-1”“211-2”“211-3”“211-4”</a:t>
            </a:r>
            <a:r>
              <a:rPr lang="zh-CN">
                <a:latin typeface="微软雅黑" panose="020B0503020204020204" charset="-122"/>
                <a:ea typeface="微软雅黑" panose="020B0503020204020204" charset="-122"/>
              </a:rPr>
              <a:t>项目中。纳税人符合上述填报要求的，无论是否享受企业所得税优惠政策，均应填报本项。</a:t>
            </a:r>
            <a:endParaRPr lang="zh-CN">
              <a:latin typeface="微软雅黑" panose="020B0503020204020204" charset="-122"/>
              <a:ea typeface="微软雅黑" panose="020B0503020204020204" charset="-122"/>
            </a:endParaRPr>
          </a:p>
        </p:txBody>
      </p:sp>
      <p:sp>
        <p:nvSpPr>
          <p:cNvPr id="19" name="矩形 18"/>
          <p:cNvSpPr/>
          <p:nvPr/>
        </p:nvSpPr>
        <p:spPr>
          <a:xfrm>
            <a:off x="10373326" y="519609"/>
            <a:ext cx="1826617" cy="584775"/>
          </a:xfrm>
          <a:prstGeom prst="rect">
            <a:avLst/>
          </a:prstGeom>
          <a:solidFill>
            <a:srgbClr val="FFFF00"/>
          </a:solidFill>
        </p:spPr>
        <p:txBody>
          <a:bodyPr wrap="none">
            <a:spAutoFit/>
          </a:bodyPr>
          <a:lstStyle/>
          <a:p>
            <a:pPr>
              <a:spcBef>
                <a:spcPts val="0"/>
              </a:spcBef>
              <a:spcAft>
                <a:spcPts val="0"/>
              </a:spcAft>
            </a:pPr>
            <a:r>
              <a:rPr lang="zh-CN" sz="3200" b="1">
                <a:latin typeface="Calibri" panose="020F0502020204030204"/>
                <a:ea typeface="宋体" panose="02010600030101010101" pitchFamily="2" charset="-122"/>
              </a:rPr>
              <a:t>填报解析</a:t>
            </a:r>
            <a:endParaRPr lang="zh-CN" sz="3200" b="1">
              <a:latin typeface="Calibri" panose="020F0502020204030204"/>
              <a:ea typeface="宋体" panose="02010600030101010101" pitchFamily="2" charset="-122"/>
            </a:endParaRPr>
          </a:p>
        </p:txBody>
      </p:sp>
      <p:pic>
        <p:nvPicPr>
          <p:cNvPr id="4" name="图示 3"/>
          <p:cNvPicPr/>
          <p:nvPr/>
        </p:nvPicPr>
        <p:blipFill>
          <a:blip/>
          <a:stretch>
            <a:fillRect/>
          </a:stretch>
        </p:blipFill>
        <p:spPr>
          <a:xfrm>
            <a:off x="9041580" y="3530600"/>
            <a:ext cx="2627997" cy="2973388"/>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42988"/>
            <a:ext cx="12195175" cy="5846762"/>
          </a:xfrm>
          <a:prstGeom prst="rect">
            <a:avLst/>
          </a:prstGeom>
          <a:solidFill>
            <a:srgbClr val="FFFFFF">
              <a:alpha val="85098"/>
            </a:srgbClr>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sp>
        <p:nvSpPr>
          <p:cNvPr id="12" name="矩形 11"/>
          <p:cNvSpPr/>
          <p:nvPr/>
        </p:nvSpPr>
        <p:spPr>
          <a:xfrm>
            <a:off x="2035705" y="2959101"/>
            <a:ext cx="1055963" cy="987425"/>
          </a:xfrm>
          <a:prstGeom prst="rect">
            <a:avLst/>
          </a:prstGeom>
          <a:solidFill>
            <a:srgbClr val="005DA2"/>
          </a:solidFill>
          <a:ln>
            <a:noFill/>
          </a:ln>
        </p:spPr>
        <p:txBody>
          <a:bodyPr anchor="ctr"/>
          <a:lstStyle/>
          <a:p>
            <a:pPr>
              <a:spcBef>
                <a:spcPts val="0"/>
              </a:spcBef>
              <a:spcAft>
                <a:spcPts val="0"/>
              </a:spcAft>
              <a:defRPr>
                <a:solidFill>
                  <a:schemeClr val="lt1"/>
                </a:solidFill>
              </a:defRPr>
            </a:pPr>
            <a:endParaRPr lang="zh-CN">
              <a:solidFill>
                <a:schemeClr val="lt1"/>
              </a:solidFill>
            </a:endParaRPr>
          </a:p>
        </p:txBody>
      </p:sp>
      <p:grpSp>
        <p:nvGrpSpPr>
          <p:cNvPr id="126983" name="组合 17"/>
          <p:cNvGrpSpPr/>
          <p:nvPr/>
        </p:nvGrpSpPr>
        <p:grpSpPr>
          <a:xfrm>
            <a:off x="3055145" y="2959101"/>
            <a:ext cx="7032869" cy="955675"/>
            <a:chOff x="1604501" y="1473366"/>
            <a:chExt cx="5263621" cy="1013265"/>
          </a:xfrm>
        </p:grpSpPr>
        <p:sp>
          <p:nvSpPr>
            <p:cNvPr id="15" name="矩形 14"/>
            <p:cNvSpPr/>
            <p:nvPr/>
          </p:nvSpPr>
          <p:spPr>
            <a:xfrm>
              <a:off x="1604501" y="1473366"/>
              <a:ext cx="5263621" cy="977919"/>
            </a:xfrm>
            <a:prstGeom prst="rect">
              <a:avLst/>
            </a:prstGeom>
            <a:solidFill>
              <a:schemeClr val="bg1"/>
            </a:solidFill>
            <a:ln w="25400">
              <a:solidFill>
                <a:srgbClr val="005DA2"/>
              </a:solidFill>
              <a:prstDash val="solid"/>
            </a:ln>
          </p:spPr>
          <p:txBody>
            <a:bodyPr anchor="ctr"/>
            <a:lstStyle/>
            <a:p>
              <a:pPr>
                <a:spcBef>
                  <a:spcPts val="0"/>
                </a:spcBef>
                <a:spcAft>
                  <a:spcPts val="0"/>
                </a:spcAft>
                <a:defRPr>
                  <a:solidFill>
                    <a:schemeClr val="lt1"/>
                  </a:solidFill>
                </a:defRPr>
              </a:pPr>
              <a:endParaRPr lang="zh-CN" sz="2000">
                <a:solidFill>
                  <a:schemeClr val="lt1"/>
                </a:solidFill>
              </a:endParaRPr>
            </a:p>
          </p:txBody>
        </p:sp>
        <p:sp>
          <p:nvSpPr>
            <p:cNvPr id="126987" name="文本框 15"/>
            <p:cNvSpPr txBox="1"/>
            <p:nvPr/>
          </p:nvSpPr>
          <p:spPr>
            <a:xfrm>
              <a:off x="1883664" y="1638813"/>
              <a:ext cx="4984458" cy="847818"/>
            </a:xfrm>
            <a:prstGeom prst="rect">
              <a:avLst/>
            </a:prstGeom>
            <a:noFill/>
            <a:ln>
              <a:noFill/>
            </a:ln>
          </p:spPr>
          <p:txBody>
            <a:bodyPr>
              <a:spAutoFit/>
            </a:bodyPr>
            <a:lstStyle>
              <a:lvl1pPr lvl="0">
                <a:defRPr>
                  <a:solidFill>
                    <a:schemeClr val="tx1"/>
                  </a:solidFill>
                  <a:latin typeface="Arial" panose="020B0604020202020204"/>
                  <a:ea typeface="宋体" panose="02010600030101010101" pitchFamily="2" charset="-122"/>
                </a:defRPr>
              </a:lvl1pPr>
              <a:lvl2pPr marL="742950" lvl="1" indent="-285750">
                <a:defRPr>
                  <a:solidFill>
                    <a:schemeClr val="tx1"/>
                  </a:solidFill>
                  <a:latin typeface="Arial" panose="020B0604020202020204"/>
                  <a:ea typeface="宋体" panose="02010600030101010101" pitchFamily="2" charset="-122"/>
                </a:defRPr>
              </a:lvl2pPr>
              <a:lvl3pPr marL="1143000" lvl="2" indent="-228600">
                <a:defRPr>
                  <a:solidFill>
                    <a:schemeClr val="tx1"/>
                  </a:solidFill>
                  <a:latin typeface="Arial" panose="020B0604020202020204"/>
                  <a:ea typeface="宋体" panose="02010600030101010101" pitchFamily="2" charset="-122"/>
                </a:defRPr>
              </a:lvl3pPr>
              <a:lvl4pPr marL="1600200" lvl="3" indent="-228600">
                <a:defRPr>
                  <a:solidFill>
                    <a:schemeClr val="tx1"/>
                  </a:solidFill>
                  <a:latin typeface="Arial" panose="020B0604020202020204"/>
                  <a:ea typeface="宋体" panose="02010600030101010101" pitchFamily="2" charset="-122"/>
                </a:defRPr>
              </a:lvl4pPr>
              <a:lvl5pPr marL="2057400" lvl="4" indent="-228600">
                <a:defRPr>
                  <a:solidFill>
                    <a:schemeClr val="tx1"/>
                  </a:solidFill>
                  <a:latin typeface="Arial" panose="020B0604020202020204"/>
                  <a:ea typeface="宋体" panose="02010600030101010101" pitchFamily="2" charset="-122"/>
                </a:defRPr>
              </a:lvl5pPr>
              <a:lvl6pPr marL="2514600" lvl="5" indent="-228600" algn="ctr">
                <a:spcBef>
                  <a:spcPct val="0"/>
                </a:spcBef>
                <a:spcAft>
                  <a:spcPct val="0"/>
                </a:spcAft>
                <a:defRPr>
                  <a:solidFill>
                    <a:schemeClr val="tx1"/>
                  </a:solidFill>
                  <a:latin typeface="Arial" panose="020B0604020202020204"/>
                  <a:ea typeface="宋体" panose="02010600030101010101" pitchFamily="2" charset="-122"/>
                </a:defRPr>
              </a:lvl6pPr>
              <a:lvl7pPr marL="2971800" lvl="6" indent="-228600" algn="ctr">
                <a:spcBef>
                  <a:spcPct val="0"/>
                </a:spcBef>
                <a:spcAft>
                  <a:spcPct val="0"/>
                </a:spcAft>
                <a:defRPr>
                  <a:solidFill>
                    <a:schemeClr val="tx1"/>
                  </a:solidFill>
                  <a:latin typeface="Arial" panose="020B0604020202020204"/>
                  <a:ea typeface="宋体" panose="02010600030101010101" pitchFamily="2" charset="-122"/>
                </a:defRPr>
              </a:lvl7pPr>
              <a:lvl8pPr marL="3429000" lvl="7" indent="-228600" algn="ctr">
                <a:spcBef>
                  <a:spcPct val="0"/>
                </a:spcBef>
                <a:spcAft>
                  <a:spcPct val="0"/>
                </a:spcAft>
                <a:defRPr>
                  <a:solidFill>
                    <a:schemeClr val="tx1"/>
                  </a:solidFill>
                  <a:latin typeface="Arial" panose="020B0604020202020204"/>
                  <a:ea typeface="宋体" panose="02010600030101010101" pitchFamily="2" charset="-122"/>
                </a:defRPr>
              </a:lvl8pPr>
              <a:lvl9pPr marL="3886200" lvl="8" indent="-228600" algn="ctr">
                <a:spcBef>
                  <a:spcPct val="0"/>
                </a:spcBef>
                <a:spcAft>
                  <a:spcPct val="0"/>
                </a:spcAft>
                <a:defRPr>
                  <a:solidFill>
                    <a:schemeClr val="tx1"/>
                  </a:solidFill>
                  <a:latin typeface="Arial" panose="020B0604020202020204"/>
                  <a:ea typeface="宋体" panose="02010600030101010101" pitchFamily="2" charset="-122"/>
                </a:defRPr>
              </a:lvl9pPr>
            </a:lstStyle>
            <a:p>
              <a:pPr algn="l"/>
              <a:r>
                <a:rPr lang="zh-CN" sz="2800" b="1">
                  <a:ea typeface="微软雅黑" panose="020B0503020204020204" charset="-122"/>
                </a:rPr>
                <a:t>研发费用加计扣除优惠明细表</a:t>
              </a:r>
              <a:endParaRPr lang="en-US" sz="2800" b="1">
                <a:ea typeface="微软雅黑" panose="020B0503020204020204" charset="-122"/>
              </a:endParaRPr>
            </a:p>
            <a:p>
              <a:pPr algn="l"/>
              <a:r>
                <a:rPr lang="en-US" b="1">
                  <a:ea typeface="微软雅黑" panose="020B0503020204020204" charset="-122"/>
                </a:rPr>
                <a:t>A107012</a:t>
              </a:r>
              <a:endParaRPr lang="en-US" b="1">
                <a:ea typeface="微软雅黑" panose="020B0503020204020204" charset="-122"/>
              </a:endParaRPr>
            </a:p>
          </p:txBody>
        </p:sp>
      </p:grpSp>
      <p:pic>
        <p:nvPicPr>
          <p:cNvPr id="126984" name="图形 4"/>
          <p:cNvPicPr/>
          <p:nvPr/>
        </p:nvPicPr>
        <p:blipFill>
          <a:blip r:embed="rId1"/>
          <a:stretch>
            <a:fillRect/>
          </a:stretch>
        </p:blipFill>
        <p:spPr>
          <a:xfrm>
            <a:off x="2088107" y="2967038"/>
            <a:ext cx="914638" cy="914400"/>
          </a:xfrm>
          <a:prstGeom prst="rect">
            <a:avLst/>
          </a:prstGeom>
          <a:noFill/>
          <a:ln>
            <a:noFill/>
          </a:ln>
        </p:spPr>
      </p:pic>
      <p:sp>
        <p:nvSpPr>
          <p:cNvPr id="126985" name="Rectangle 6"/>
          <p:cNvSpPr/>
          <p:nvPr/>
        </p:nvSpPr>
        <p:spPr>
          <a:xfrm>
            <a:off x="2909057" y="4303713"/>
            <a:ext cx="5368736" cy="400050"/>
          </a:xfrm>
          <a:prstGeom prst="rect">
            <a:avLst/>
          </a:prstGeom>
          <a:noFill/>
          <a:ln>
            <a:noFill/>
          </a:ln>
        </p:spPr>
        <p:txBody>
          <a:bodyPr anchor="ctr">
            <a:spAutoFit/>
          </a:bodyPr>
          <a:lstStyle/>
          <a:p>
            <a:pPr indent="254000"/>
            <a:endParaRPr lang="zh-CN" sz="2000">
              <a:solidFill>
                <a:srgbClr val="464646"/>
              </a:solidFill>
              <a:latin typeface="Calibri" panose="020F0502020204030204"/>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graphicFrame>
        <p:nvGraphicFramePr>
          <p:cNvPr id="6" name="表格 5"/>
          <p:cNvGraphicFramePr/>
          <p:nvPr/>
        </p:nvGraphicFramePr>
        <p:xfrm>
          <a:off x="394969" y="1107440"/>
          <a:ext cx="7744778" cy="5274945"/>
        </p:xfrm>
        <a:graphic>
          <a:graphicData uri="http://schemas.openxmlformats.org/drawingml/2006/table">
            <a:tbl>
              <a:tblPr/>
              <a:tblGrid>
                <a:gridCol w="473911"/>
                <a:gridCol w="6097387"/>
                <a:gridCol w="1173480"/>
              </a:tblGrid>
              <a:tr h="323215">
                <a:tc>
                  <a:txBody>
                    <a:bodyPr/>
                    <a:lstStyle/>
                    <a:p>
                      <a:pPr algn="ctr">
                        <a:spcAft>
                          <a:spcPts val="0"/>
                        </a:spcAft>
                      </a:pPr>
                      <a:r>
                        <a:rPr lang="zh-CN" sz="1400" b="1" kern="0">
                          <a:latin typeface="Times New Roman" panose="02020603050405020304"/>
                          <a:ea typeface="宋体" panose="02010600030101010101" pitchFamily="2" charset="-122"/>
                        </a:rPr>
                        <a:t>行次</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ctr">
                        <a:spcAft>
                          <a:spcPts val="0"/>
                        </a:spcAft>
                      </a:pPr>
                      <a:r>
                        <a:rPr lang="zh-CN" sz="1400" b="1" kern="0">
                          <a:latin typeface="Times New Roman" panose="02020603050405020304"/>
                          <a:ea typeface="宋体" panose="02010600030101010101" pitchFamily="2" charset="-122"/>
                        </a:rPr>
                        <a:t>项</a:t>
                      </a:r>
                      <a:r>
                        <a:rPr lang="en-US" sz="1400" b="1" kern="0">
                          <a:latin typeface="Times New Roman" panose="02020603050405020304"/>
                          <a:ea typeface="宋体" panose="02010600030101010101" pitchFamily="2" charset="-122"/>
                        </a:rPr>
                        <a:t>    </a:t>
                      </a:r>
                      <a:r>
                        <a:rPr lang="zh-CN" sz="1400" b="1" kern="0">
                          <a:latin typeface="Times New Roman" panose="02020603050405020304"/>
                          <a:ea typeface="宋体" panose="02010600030101010101" pitchFamily="2" charset="-122"/>
                        </a:rPr>
                        <a:t>目</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ctr">
                        <a:spcAft>
                          <a:spcPts val="0"/>
                        </a:spcAft>
                      </a:pPr>
                      <a:r>
                        <a:rPr lang="zh-CN" sz="1400" b="1" kern="0">
                          <a:latin typeface="Times New Roman" panose="02020603050405020304"/>
                          <a:ea typeface="宋体" panose="02010600030101010101" pitchFamily="2" charset="-122"/>
                        </a:rPr>
                        <a:t>金额（数量）</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1</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Times New Roman" panose="02020603050405020304"/>
                          <a:ea typeface="宋体" panose="02010600030101010101" pitchFamily="2" charset="-122"/>
                        </a:rPr>
                        <a:t>本年可享受研发费用加计扣除项目数量</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Times New Roman" panose="02020603050405020304"/>
                          <a:ea typeface="宋体" panose="02010600030101010101" pitchFamily="2" charset="-122"/>
                        </a:rPr>
                        <a:t>　</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2</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Times New Roman" panose="02020603050405020304"/>
                          <a:ea typeface="宋体" panose="02010600030101010101" pitchFamily="2" charset="-122"/>
                        </a:rPr>
                        <a:t>一、自主研发、合作研发、集中研发（</a:t>
                      </a:r>
                      <a:r>
                        <a:rPr lang="en-US" sz="1400" kern="0">
                          <a:latin typeface="Times New Roman" panose="02020603050405020304"/>
                          <a:ea typeface="宋体" panose="02010600030101010101" pitchFamily="2" charset="-122"/>
                        </a:rPr>
                        <a:t>3+7+16+19+23+34</a:t>
                      </a:r>
                      <a:r>
                        <a:rPr lang="zh-CN" sz="1400" kern="0">
                          <a:latin typeface="Times New Roman" panose="02020603050405020304"/>
                          <a:ea typeface="宋体" panose="02010600030101010101" pitchFamily="2" charset="-122"/>
                        </a:rPr>
                        <a:t>）</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3</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Times New Roman" panose="02020603050405020304"/>
                          <a:ea typeface="宋体" panose="02010600030101010101" pitchFamily="2" charset="-122"/>
                        </a:rPr>
                        <a:t>（一）人员人工费用（</a:t>
                      </a:r>
                      <a:r>
                        <a:rPr lang="en-US" sz="1400" kern="0">
                          <a:latin typeface="Times New Roman" panose="02020603050405020304"/>
                          <a:ea typeface="宋体" panose="02010600030101010101" pitchFamily="2" charset="-122"/>
                        </a:rPr>
                        <a:t>4+5+6</a:t>
                      </a:r>
                      <a:r>
                        <a:rPr lang="zh-CN" sz="1400" kern="0">
                          <a:latin typeface="Times New Roman" panose="02020603050405020304"/>
                          <a:ea typeface="宋体" panose="02010600030101010101" pitchFamily="2" charset="-122"/>
                        </a:rPr>
                        <a:t>）</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4</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1.</a:t>
                      </a:r>
                      <a:r>
                        <a:rPr lang="zh-CN" sz="1400" kern="0">
                          <a:latin typeface="Times New Roman" panose="02020603050405020304"/>
                          <a:ea typeface="宋体" panose="02010600030101010101" pitchFamily="2" charset="-122"/>
                        </a:rPr>
                        <a:t>直接从事研发活动人员工资薪金</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5</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2.</a:t>
                      </a:r>
                      <a:r>
                        <a:rPr lang="zh-CN" sz="1400" kern="0">
                          <a:latin typeface="Times New Roman" panose="02020603050405020304"/>
                          <a:ea typeface="宋体" panose="02010600030101010101" pitchFamily="2" charset="-122"/>
                        </a:rPr>
                        <a:t>直接从事研发活动人员五险一金</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6</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3.</a:t>
                      </a:r>
                      <a:r>
                        <a:rPr lang="zh-CN" sz="1400" kern="0">
                          <a:latin typeface="Times New Roman" panose="02020603050405020304"/>
                          <a:ea typeface="宋体" panose="02010600030101010101" pitchFamily="2" charset="-122"/>
                        </a:rPr>
                        <a:t>外聘研发人员的劳务费用</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7</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Times New Roman" panose="02020603050405020304"/>
                          <a:ea typeface="宋体" panose="02010600030101010101" pitchFamily="2" charset="-122"/>
                        </a:rPr>
                        <a:t>（二）直接投入费用（</a:t>
                      </a:r>
                      <a:r>
                        <a:rPr lang="en-US" sz="1400" kern="0">
                          <a:latin typeface="Times New Roman" panose="02020603050405020304"/>
                          <a:ea typeface="宋体" panose="02010600030101010101" pitchFamily="2" charset="-122"/>
                        </a:rPr>
                        <a:t>8+9+10+11+12+13+14+15</a:t>
                      </a:r>
                      <a:r>
                        <a:rPr lang="zh-CN" sz="1400" kern="0">
                          <a:latin typeface="Times New Roman" panose="02020603050405020304"/>
                          <a:ea typeface="宋体" panose="02010600030101010101" pitchFamily="2" charset="-122"/>
                        </a:rPr>
                        <a:t>）</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8</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1.</a:t>
                      </a:r>
                      <a:r>
                        <a:rPr lang="zh-CN" sz="1400" kern="0">
                          <a:latin typeface="Times New Roman" panose="02020603050405020304"/>
                          <a:ea typeface="宋体" panose="02010600030101010101" pitchFamily="2" charset="-122"/>
                        </a:rPr>
                        <a:t>研发活动直接消耗材料费用</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9</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2.</a:t>
                      </a:r>
                      <a:r>
                        <a:rPr lang="zh-CN" sz="1400" kern="0">
                          <a:latin typeface="Times New Roman" panose="02020603050405020304"/>
                          <a:ea typeface="宋体" panose="02010600030101010101" pitchFamily="2" charset="-122"/>
                        </a:rPr>
                        <a:t>研发活动直接消耗燃料费用</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10</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3.</a:t>
                      </a:r>
                      <a:r>
                        <a:rPr lang="zh-CN" sz="1400" kern="0">
                          <a:latin typeface="Times New Roman" panose="02020603050405020304"/>
                          <a:ea typeface="宋体" panose="02010600030101010101" pitchFamily="2" charset="-122"/>
                        </a:rPr>
                        <a:t>研发活动直接消耗动力费用</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11</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4.</a:t>
                      </a:r>
                      <a:r>
                        <a:rPr lang="zh-CN" sz="1400" kern="0">
                          <a:latin typeface="Times New Roman" panose="02020603050405020304"/>
                          <a:ea typeface="宋体" panose="02010600030101010101" pitchFamily="2" charset="-122"/>
                        </a:rPr>
                        <a:t>用于中间试验和产品试制的模具、工艺装备开发及制造费</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12</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5.</a:t>
                      </a:r>
                      <a:r>
                        <a:rPr lang="zh-CN" sz="1400" kern="0">
                          <a:latin typeface="Times New Roman" panose="02020603050405020304"/>
                          <a:ea typeface="宋体" panose="02010600030101010101" pitchFamily="2" charset="-122"/>
                        </a:rPr>
                        <a:t>用于不构成固定资产的样品、样机及一般测试手段购置费</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13</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6.</a:t>
                      </a:r>
                      <a:r>
                        <a:rPr lang="zh-CN" sz="1400" kern="0">
                          <a:latin typeface="Times New Roman" panose="02020603050405020304"/>
                          <a:ea typeface="宋体" panose="02010600030101010101" pitchFamily="2" charset="-122"/>
                        </a:rPr>
                        <a:t>用于试制产品的检验费</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14</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7.</a:t>
                      </a:r>
                      <a:r>
                        <a:rPr lang="zh-CN" sz="1400" kern="0">
                          <a:latin typeface="Times New Roman" panose="02020603050405020304"/>
                          <a:ea typeface="宋体" panose="02010600030101010101" pitchFamily="2" charset="-122"/>
                        </a:rPr>
                        <a:t>用于研发活动的仪器、设备的运行维护、调整、检验、维修等费用</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23215">
                <a:tc>
                  <a:txBody>
                    <a:bodyPr/>
                    <a:lstStyle/>
                    <a:p>
                      <a:pPr algn="ctr">
                        <a:spcAft>
                          <a:spcPts val="0"/>
                        </a:spcAft>
                      </a:pPr>
                      <a:r>
                        <a:rPr lang="en-US" sz="1400" kern="0">
                          <a:latin typeface="宋体" panose="02010600030101010101" pitchFamily="2" charset="-122"/>
                          <a:ea typeface="宋体" panose="02010600030101010101" pitchFamily="2" charset="-122"/>
                        </a:rPr>
                        <a:t>15</a:t>
                      </a:r>
                      <a:endParaRPr lang="zh-CN" sz="1400" kern="100">
                        <a:latin typeface="Times New Roman" panose="02020603050405020304"/>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8.</a:t>
                      </a:r>
                      <a:r>
                        <a:rPr lang="zh-CN" sz="1400" kern="0">
                          <a:latin typeface="Times New Roman" panose="02020603050405020304"/>
                          <a:ea typeface="宋体" panose="02010600030101010101" pitchFamily="2" charset="-122"/>
                        </a:rPr>
                        <a:t>通过经营租赁方式租入的用于研发活动的仪器、设备租赁费</a:t>
                      </a:r>
                      <a:endParaRPr lang="zh-CN" sz="1400" kern="100">
                        <a:latin typeface="Times New Roman" panose="02020603050405020304"/>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bl>
          </a:graphicData>
        </a:graphic>
      </p:graphicFrame>
      <p:sp>
        <p:nvSpPr>
          <p:cNvPr id="7" name="圆角矩形标注 6"/>
          <p:cNvSpPr/>
          <p:nvPr/>
        </p:nvSpPr>
        <p:spPr>
          <a:xfrm>
            <a:off x="8301247" y="1014256"/>
            <a:ext cx="3633261" cy="2506184"/>
          </a:xfrm>
          <a:prstGeom prst="wedgeRoundRectCallout">
            <a:avLst>
              <a:gd name="adj1" fmla="val -162043"/>
              <a:gd name="adj2" fmla="val 16652"/>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en-US" sz="1600"/>
              <a:t>40</a:t>
            </a:r>
            <a:r>
              <a:rPr lang="zh-CN" sz="1600"/>
              <a:t>号公告：工资薪金包括按规定可以在税前扣除的对研发人员股权激励的支出。直接从事研发活动的人员、外聘研发人员同时从事非研发活动的，企业应对其人员活动情况做必要记录，并将其实际发生的相关费用按实际工时占比等合理方法在研发费用和生产经营费用间分配，未分配的不得加计扣除。</a:t>
            </a:r>
            <a:endParaRPr lang="zh-CN" sz="1600">
              <a:latin typeface="微软雅黑" panose="020B0503020204020204" charset="-122"/>
              <a:ea typeface="微软雅黑" panose="020B0503020204020204" charset="-122"/>
            </a:endParaRPr>
          </a:p>
        </p:txBody>
      </p:sp>
      <p:sp>
        <p:nvSpPr>
          <p:cNvPr id="8" name="圆角矩形标注 7"/>
          <p:cNvSpPr/>
          <p:nvPr/>
        </p:nvSpPr>
        <p:spPr>
          <a:xfrm>
            <a:off x="8316487" y="4739640"/>
            <a:ext cx="3633261" cy="1767840"/>
          </a:xfrm>
          <a:prstGeom prst="wedgeRoundRectCallout">
            <a:avLst>
              <a:gd name="adj1" fmla="val -96607"/>
              <a:gd name="adj2" fmla="val 31267"/>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以经营租赁方式租入的用于研发活动的仪器、设备，同时用于非研发活动的，企业应对其仪器设备使用情况做必要记录，并将其实际发生的租赁费按实际工时占比等合理方法在研发费 用和生产经营费用间分配，未分配的不得加计扣除。</a:t>
            </a:r>
            <a:endParaRPr lang="zh-CN" sz="1600">
              <a:latin typeface="微软雅黑" panose="020B0503020204020204" charset="-122"/>
              <a:ea typeface="微软雅黑" panose="020B0503020204020204" charset="-122"/>
            </a:endParaRPr>
          </a:p>
        </p:txBody>
      </p:sp>
      <p:sp>
        <p:nvSpPr>
          <p:cNvPr id="9" name="圆角矩形标注 8"/>
          <p:cNvSpPr/>
          <p:nvPr/>
        </p:nvSpPr>
        <p:spPr>
          <a:xfrm>
            <a:off x="8362207" y="3703320"/>
            <a:ext cx="3633261" cy="853440"/>
          </a:xfrm>
          <a:prstGeom prst="wedgeRoundRectCallout">
            <a:avLst>
              <a:gd name="adj1" fmla="val -139812"/>
              <a:gd name="adj2" fmla="val -55586"/>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研发活动直接形成产品或作为组成部分形成的产品对外销售的，对应的材料费用不得加计扣除。</a:t>
            </a:r>
            <a:endParaRPr lang="zh-CN" sz="160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graphicFrame>
        <p:nvGraphicFramePr>
          <p:cNvPr id="7" name="表格 6"/>
          <p:cNvGraphicFramePr/>
          <p:nvPr/>
        </p:nvGraphicFramePr>
        <p:xfrm>
          <a:off x="364489" y="1038224"/>
          <a:ext cx="7379018" cy="5680254"/>
        </p:xfrm>
        <a:graphic>
          <a:graphicData uri="http://schemas.openxmlformats.org/drawingml/2006/table">
            <a:tbl>
              <a:tblPr/>
              <a:tblGrid>
                <a:gridCol w="511193"/>
                <a:gridCol w="6258225"/>
                <a:gridCol w="609600"/>
              </a:tblGrid>
              <a:tr h="291863">
                <a:tc>
                  <a:txBody>
                    <a:bodyPr/>
                    <a:lstStyle/>
                    <a:p>
                      <a:pPr algn="ctr">
                        <a:spcAft>
                          <a:spcPts val="0"/>
                        </a:spcAft>
                      </a:pPr>
                      <a:r>
                        <a:rPr lang="en-US" sz="1400" kern="0">
                          <a:latin typeface="宋体" panose="02010600030101010101" pitchFamily="2" charset="-122"/>
                          <a:ea typeface="宋体" panose="02010600030101010101" pitchFamily="2" charset="-122"/>
                        </a:rPr>
                        <a:t>16</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（三）折旧费用（</a:t>
                      </a:r>
                      <a:r>
                        <a:rPr lang="en-US" sz="1400" kern="0">
                          <a:latin typeface="宋体" panose="02010600030101010101" pitchFamily="2" charset="-122"/>
                          <a:ea typeface="宋体" panose="02010600030101010101" pitchFamily="2" charset="-122"/>
                        </a:rPr>
                        <a:t>17+18</a:t>
                      </a:r>
                      <a:r>
                        <a:rPr lang="zh-CN" sz="1400" kern="0">
                          <a:latin typeface="宋体" panose="02010600030101010101" pitchFamily="2" charset="-122"/>
                          <a:ea typeface="宋体" panose="02010600030101010101" pitchFamily="2" charset="-122"/>
                        </a:rPr>
                        <a:t>）</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17</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1.</a:t>
                      </a:r>
                      <a:r>
                        <a:rPr lang="zh-CN" sz="1400" kern="0">
                          <a:latin typeface="宋体" panose="02010600030101010101" pitchFamily="2" charset="-122"/>
                          <a:ea typeface="宋体" panose="02010600030101010101" pitchFamily="2" charset="-122"/>
                        </a:rPr>
                        <a:t>用于研发活动的仪器的折旧费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18</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2.</a:t>
                      </a:r>
                      <a:r>
                        <a:rPr lang="zh-CN" sz="1400" kern="0">
                          <a:latin typeface="宋体" panose="02010600030101010101" pitchFamily="2" charset="-122"/>
                          <a:ea typeface="宋体" panose="02010600030101010101" pitchFamily="2" charset="-122"/>
                        </a:rPr>
                        <a:t>用于研发活动的设备的折旧费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19</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（四）无形资产摊销（</a:t>
                      </a:r>
                      <a:r>
                        <a:rPr lang="en-US" sz="1400" kern="0">
                          <a:latin typeface="宋体" panose="02010600030101010101" pitchFamily="2" charset="-122"/>
                          <a:ea typeface="宋体" panose="02010600030101010101" pitchFamily="2" charset="-122"/>
                        </a:rPr>
                        <a:t>20+21+22</a:t>
                      </a:r>
                      <a:r>
                        <a:rPr lang="zh-CN" sz="1400" kern="0">
                          <a:latin typeface="宋体" panose="02010600030101010101" pitchFamily="2" charset="-122"/>
                          <a:ea typeface="宋体" panose="02010600030101010101" pitchFamily="2" charset="-122"/>
                        </a:rPr>
                        <a:t>）</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20</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1.</a:t>
                      </a:r>
                      <a:r>
                        <a:rPr lang="zh-CN" sz="1400" kern="0">
                          <a:latin typeface="宋体" panose="02010600030101010101" pitchFamily="2" charset="-122"/>
                          <a:ea typeface="宋体" panose="02010600030101010101" pitchFamily="2" charset="-122"/>
                        </a:rPr>
                        <a:t>用于研发活动的软件的摊销费用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21</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2.</a:t>
                      </a:r>
                      <a:r>
                        <a:rPr lang="zh-CN" sz="1400" kern="0">
                          <a:latin typeface="宋体" panose="02010600030101010101" pitchFamily="2" charset="-122"/>
                          <a:ea typeface="宋体" panose="02010600030101010101" pitchFamily="2" charset="-122"/>
                        </a:rPr>
                        <a:t>用于研发活动的专利权的摊销费用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352882">
                <a:tc>
                  <a:txBody>
                    <a:bodyPr/>
                    <a:lstStyle/>
                    <a:p>
                      <a:pPr algn="ctr">
                        <a:spcAft>
                          <a:spcPts val="0"/>
                        </a:spcAft>
                      </a:pPr>
                      <a:r>
                        <a:rPr lang="en-US" sz="1400" kern="0">
                          <a:latin typeface="宋体" panose="02010600030101010101" pitchFamily="2" charset="-122"/>
                          <a:ea typeface="宋体" panose="02010600030101010101" pitchFamily="2" charset="-122"/>
                        </a:rPr>
                        <a:t>22</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marL="643890" indent="-135890" algn="l">
                        <a:spcAft>
                          <a:spcPts val="0"/>
                        </a:spcAft>
                      </a:pPr>
                      <a:r>
                        <a:rPr lang="en-US" sz="1400" kern="0">
                          <a:latin typeface="宋体" panose="02010600030101010101" pitchFamily="2" charset="-122"/>
                          <a:ea typeface="宋体" panose="02010600030101010101" pitchFamily="2" charset="-122"/>
                        </a:rPr>
                        <a:t>3.</a:t>
                      </a:r>
                      <a:r>
                        <a:rPr lang="zh-CN" sz="1400" kern="0">
                          <a:latin typeface="宋体" panose="02010600030101010101" pitchFamily="2" charset="-122"/>
                          <a:ea typeface="宋体" panose="02010600030101010101" pitchFamily="2" charset="-122"/>
                        </a:rPr>
                        <a:t>用于研发活动的非专利技术（包括许可证、专有技术、设计和计算方法等）的摊销费用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23</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（五）新产品设计费等（</a:t>
                      </a:r>
                      <a:r>
                        <a:rPr lang="en-US" sz="1400" kern="0">
                          <a:latin typeface="宋体" panose="02010600030101010101" pitchFamily="2" charset="-122"/>
                          <a:ea typeface="宋体" panose="02010600030101010101" pitchFamily="2" charset="-122"/>
                        </a:rPr>
                        <a:t>24+25+26+27</a:t>
                      </a:r>
                      <a:r>
                        <a:rPr lang="zh-CN" sz="1400" kern="0">
                          <a:latin typeface="宋体" panose="02010600030101010101" pitchFamily="2" charset="-122"/>
                          <a:ea typeface="宋体" panose="02010600030101010101" pitchFamily="2" charset="-122"/>
                        </a:rPr>
                        <a:t>）</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24</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1.</a:t>
                      </a:r>
                      <a:r>
                        <a:rPr lang="zh-CN" sz="1400" kern="0">
                          <a:latin typeface="宋体" panose="02010600030101010101" pitchFamily="2" charset="-122"/>
                          <a:ea typeface="宋体" panose="02010600030101010101" pitchFamily="2" charset="-122"/>
                        </a:rPr>
                        <a:t>新产品设计费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25</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2.</a:t>
                      </a:r>
                      <a:r>
                        <a:rPr lang="zh-CN" sz="1400" kern="0">
                          <a:latin typeface="宋体" panose="02010600030101010101" pitchFamily="2" charset="-122"/>
                          <a:ea typeface="宋体" panose="02010600030101010101" pitchFamily="2" charset="-122"/>
                        </a:rPr>
                        <a:t>新工艺规程制定费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26</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3.</a:t>
                      </a:r>
                      <a:r>
                        <a:rPr lang="zh-CN" sz="1400" kern="0">
                          <a:latin typeface="宋体" panose="02010600030101010101" pitchFamily="2" charset="-122"/>
                          <a:ea typeface="宋体" panose="02010600030101010101" pitchFamily="2" charset="-122"/>
                        </a:rPr>
                        <a:t>新药研制的临床试验费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27</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4.</a:t>
                      </a:r>
                      <a:r>
                        <a:rPr lang="zh-CN" sz="1400" kern="0">
                          <a:latin typeface="宋体" panose="02010600030101010101" pitchFamily="2" charset="-122"/>
                          <a:ea typeface="宋体" panose="02010600030101010101" pitchFamily="2" charset="-122"/>
                        </a:rPr>
                        <a:t>勘探开发技术的现场试验费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28</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（六）其他相关费用</a:t>
                      </a:r>
                      <a:r>
                        <a:rPr lang="en-US" sz="1400" kern="0">
                          <a:latin typeface="宋体" panose="02010600030101010101" pitchFamily="2" charset="-122"/>
                          <a:ea typeface="宋体" panose="02010600030101010101" pitchFamily="2" charset="-122"/>
                        </a:rPr>
                        <a:t>(29+30+31+32+33)</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29</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1.</a:t>
                      </a:r>
                      <a:r>
                        <a:rPr lang="zh-CN" sz="1400" kern="0">
                          <a:latin typeface="宋体" panose="02010600030101010101" pitchFamily="2" charset="-122"/>
                          <a:ea typeface="宋体" panose="02010600030101010101" pitchFamily="2" charset="-122"/>
                        </a:rPr>
                        <a:t>技术图书资料费、资料翻译费、专家咨询费、高新科技研发保险费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30</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2.</a:t>
                      </a:r>
                      <a:r>
                        <a:rPr lang="zh-CN" sz="1400" kern="0">
                          <a:latin typeface="宋体" panose="02010600030101010101" pitchFamily="2" charset="-122"/>
                          <a:ea typeface="宋体" panose="02010600030101010101" pitchFamily="2" charset="-122"/>
                        </a:rPr>
                        <a:t>研发成果的检索、分析、评议、论证、鉴定、评审、评估、验收费用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31</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3.</a:t>
                      </a:r>
                      <a:r>
                        <a:rPr lang="zh-CN" sz="1400" kern="0">
                          <a:latin typeface="宋体" panose="02010600030101010101" pitchFamily="2" charset="-122"/>
                          <a:ea typeface="宋体" panose="02010600030101010101" pitchFamily="2" charset="-122"/>
                        </a:rPr>
                        <a:t>知识产权的申请费、注册费、代理费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32</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4.</a:t>
                      </a:r>
                      <a:r>
                        <a:rPr lang="zh-CN" sz="1400" kern="0">
                          <a:latin typeface="宋体" panose="02010600030101010101" pitchFamily="2" charset="-122"/>
                          <a:ea typeface="宋体" panose="02010600030101010101" pitchFamily="2" charset="-122"/>
                        </a:rPr>
                        <a:t>职工福利费、补充养老保险费、补充医疗保险费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33</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en-US" sz="1400" kern="0">
                          <a:latin typeface="宋体" panose="02010600030101010101" pitchFamily="2" charset="-122"/>
                          <a:ea typeface="宋体" panose="02010600030101010101" pitchFamily="2" charset="-122"/>
                        </a:rPr>
                        <a:t>5.</a:t>
                      </a:r>
                      <a:r>
                        <a:rPr lang="zh-CN" sz="1400" kern="0">
                          <a:latin typeface="宋体" panose="02010600030101010101" pitchFamily="2" charset="-122"/>
                          <a:ea typeface="宋体" panose="02010600030101010101" pitchFamily="2" charset="-122"/>
                        </a:rPr>
                        <a:t>差旅费、会议费</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291863">
                <a:tc>
                  <a:txBody>
                    <a:bodyPr/>
                    <a:lstStyle/>
                    <a:p>
                      <a:pPr algn="ctr">
                        <a:spcAft>
                          <a:spcPts val="0"/>
                        </a:spcAft>
                      </a:pPr>
                      <a:r>
                        <a:rPr lang="en-US" sz="1400" kern="0">
                          <a:latin typeface="宋体" panose="02010600030101010101" pitchFamily="2" charset="-122"/>
                          <a:ea typeface="宋体" panose="02010600030101010101" pitchFamily="2" charset="-122"/>
                        </a:rPr>
                        <a:t>34</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（七）经限额调整后的其他相关费用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bl>
          </a:graphicData>
        </a:graphic>
      </p:graphicFrame>
      <p:sp>
        <p:nvSpPr>
          <p:cNvPr id="8" name="圆角矩形标注 7"/>
          <p:cNvSpPr/>
          <p:nvPr/>
        </p:nvSpPr>
        <p:spPr>
          <a:xfrm>
            <a:off x="8301247" y="1014256"/>
            <a:ext cx="3633261" cy="1347944"/>
          </a:xfrm>
          <a:prstGeom prst="wedgeRoundRectCallout">
            <a:avLst>
              <a:gd name="adj1" fmla="val -164140"/>
              <a:gd name="adj2" fmla="val -36680"/>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企业用于研发活动的仪器、设备，符合税法规定且选择加速折旧优惠政策的，在享受研发费用税前加计扣除政策时，就税前扣除的折旧部分计算加计扣除。与税收折旧额保持一致。</a:t>
            </a:r>
            <a:endParaRPr lang="zh-CN" sz="1600">
              <a:latin typeface="微软雅黑" panose="020B0503020204020204" charset="-122"/>
              <a:ea typeface="微软雅黑" panose="020B0503020204020204" charset="-122"/>
            </a:endParaRPr>
          </a:p>
        </p:txBody>
      </p:sp>
      <p:sp>
        <p:nvSpPr>
          <p:cNvPr id="9" name="圆角矩形标注 8"/>
          <p:cNvSpPr/>
          <p:nvPr/>
        </p:nvSpPr>
        <p:spPr>
          <a:xfrm>
            <a:off x="8316487" y="2575560"/>
            <a:ext cx="3633261" cy="1325880"/>
          </a:xfrm>
          <a:prstGeom prst="wedgeRoundRectCallout">
            <a:avLst>
              <a:gd name="adj1" fmla="val -162881"/>
              <a:gd name="adj2" fmla="val -87444"/>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用于研发活动的无形资产，符合税法规定且选择缩短摊销年限的，在享受研发费用税前加计扣除政策时，就税前扣除的摊销部分计算加计扣除。与税收摊销旧额保持一致。</a:t>
            </a:r>
            <a:endParaRPr lang="zh-CN" sz="1600">
              <a:latin typeface="微软雅黑" panose="020B0503020204020204" charset="-122"/>
              <a:ea typeface="微软雅黑" panose="020B0503020204020204" charset="-122"/>
            </a:endParaRPr>
          </a:p>
        </p:txBody>
      </p:sp>
      <p:sp>
        <p:nvSpPr>
          <p:cNvPr id="10" name="圆角矩形标注 9"/>
          <p:cNvSpPr/>
          <p:nvPr/>
        </p:nvSpPr>
        <p:spPr>
          <a:xfrm>
            <a:off x="8322628" y="4251960"/>
            <a:ext cx="3657600" cy="1676400"/>
          </a:xfrm>
          <a:prstGeom prst="wedgeRoundRectCallout">
            <a:avLst>
              <a:gd name="adj1" fmla="val -161212"/>
              <a:gd name="adj2" fmla="val 89265"/>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费用总额不得超过可加计扣除研发费用总额的</a:t>
            </a:r>
            <a:r>
              <a:rPr lang="en-US" sz="1600"/>
              <a:t>10%</a:t>
            </a:r>
            <a:r>
              <a:rPr lang="zh-CN" sz="1600"/>
              <a:t>，</a:t>
            </a:r>
            <a:r>
              <a:rPr lang="en-US" sz="1600" b="1"/>
              <a:t>34</a:t>
            </a:r>
            <a:r>
              <a:rPr lang="zh-CN" sz="1600" b="1"/>
              <a:t>行</a:t>
            </a:r>
            <a:r>
              <a:rPr lang="zh-CN" sz="1600">
                <a:latin typeface="微软雅黑" panose="020B0503020204020204" charset="-122"/>
                <a:ea typeface="微软雅黑" panose="020B0503020204020204" charset="-122"/>
              </a:rPr>
              <a:t>根据研发活动分析汇总填报，即</a:t>
            </a:r>
            <a:r>
              <a:rPr lang="zh-CN" sz="1600" b="1">
                <a:latin typeface="微软雅黑" panose="020B0503020204020204" charset="-122"/>
                <a:ea typeface="微软雅黑" panose="020B0503020204020204" charset="-122"/>
              </a:rPr>
              <a:t>单个项目的</a:t>
            </a:r>
            <a:r>
              <a:rPr lang="zh-CN" sz="1600" b="1">
                <a:latin typeface="Arial" panose="020B0604020202020204"/>
              </a:rPr>
              <a:t>其他相关费用限额</a:t>
            </a:r>
            <a:r>
              <a:rPr lang="en-US" sz="1600" b="1">
                <a:latin typeface="Arial" panose="020B0604020202020204"/>
              </a:rPr>
              <a:t>=</a:t>
            </a:r>
            <a:r>
              <a:rPr lang="zh-CN" sz="1600" b="1">
                <a:latin typeface="Arial" panose="020B0604020202020204"/>
              </a:rPr>
              <a:t>单个项目第一至五项费用之和</a:t>
            </a:r>
            <a:r>
              <a:rPr lang="en-US" sz="1600" b="1">
                <a:latin typeface="Arial" panose="020B0604020202020204"/>
              </a:rPr>
              <a:t>×10%/(1-10%)</a:t>
            </a:r>
            <a:r>
              <a:rPr lang="zh-CN" sz="1600" b="1">
                <a:latin typeface="Arial" panose="020B0604020202020204"/>
              </a:rPr>
              <a:t>，再与</a:t>
            </a:r>
            <a:r>
              <a:rPr lang="en-US" sz="1600" b="1">
                <a:latin typeface="Arial" panose="020B0604020202020204"/>
              </a:rPr>
              <a:t>28</a:t>
            </a:r>
            <a:r>
              <a:rPr lang="zh-CN" sz="1600" b="1">
                <a:latin typeface="Arial" panose="020B0604020202020204"/>
              </a:rPr>
              <a:t>行比较取孰小值，最后汇总填报。</a:t>
            </a:r>
            <a:endParaRPr lang="zh-CN" sz="160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p:nvPr/>
        </p:nvGraphicFramePr>
        <p:xfrm>
          <a:off x="303530" y="1109976"/>
          <a:ext cx="5931218" cy="3198424"/>
        </p:xfrm>
        <a:graphic>
          <a:graphicData uri="http://schemas.openxmlformats.org/drawingml/2006/table">
            <a:tbl>
              <a:tblPr/>
              <a:tblGrid>
                <a:gridCol w="426759"/>
                <a:gridCol w="4788178"/>
                <a:gridCol w="716281"/>
              </a:tblGrid>
              <a:tr h="613934">
                <a:tc>
                  <a:txBody>
                    <a:bodyPr/>
                    <a:lstStyle/>
                    <a:p>
                      <a:pPr algn="ctr">
                        <a:spcAft>
                          <a:spcPts val="0"/>
                        </a:spcAft>
                      </a:pPr>
                      <a:r>
                        <a:rPr lang="en-US" sz="1400" kern="0">
                          <a:latin typeface="宋体" panose="02010600030101010101" pitchFamily="2" charset="-122"/>
                          <a:ea typeface="宋体" panose="02010600030101010101" pitchFamily="2" charset="-122"/>
                        </a:rPr>
                        <a:t>35</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二、委托研发</a:t>
                      </a:r>
                      <a:r>
                        <a:rPr lang="en-US" sz="1400" kern="0">
                          <a:latin typeface="宋体" panose="02010600030101010101" pitchFamily="2" charset="-122"/>
                          <a:ea typeface="宋体" panose="02010600030101010101" pitchFamily="2" charset="-122"/>
                        </a:rPr>
                        <a:t> (36+37+39)</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0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613934">
                <a:tc>
                  <a:txBody>
                    <a:bodyPr/>
                    <a:lstStyle/>
                    <a:p>
                      <a:pPr algn="ctr">
                        <a:spcAft>
                          <a:spcPts val="0"/>
                        </a:spcAft>
                      </a:pPr>
                      <a:r>
                        <a:rPr lang="en-US" sz="1400" kern="0">
                          <a:latin typeface="宋体" panose="02010600030101010101" pitchFamily="2" charset="-122"/>
                          <a:ea typeface="宋体" panose="02010600030101010101" pitchFamily="2" charset="-122"/>
                        </a:rPr>
                        <a:t>36</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65430" algn="l">
                        <a:spcAft>
                          <a:spcPts val="0"/>
                        </a:spcAft>
                      </a:pPr>
                      <a:r>
                        <a:rPr lang="zh-CN" sz="1400" kern="0">
                          <a:latin typeface="宋体" panose="02010600030101010101" pitchFamily="2" charset="-122"/>
                          <a:ea typeface="宋体" panose="02010600030101010101" pitchFamily="2" charset="-122"/>
                        </a:rPr>
                        <a:t>（一）委托境内机构或个人进行研发活动所发生的费用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0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613934">
                <a:tc>
                  <a:txBody>
                    <a:bodyPr/>
                    <a:lstStyle/>
                    <a:p>
                      <a:pPr algn="ctr">
                        <a:spcAft>
                          <a:spcPts val="0"/>
                        </a:spcAft>
                      </a:pPr>
                      <a:r>
                        <a:rPr lang="en-US" sz="1400" kern="0">
                          <a:latin typeface="宋体" panose="02010600030101010101" pitchFamily="2" charset="-122"/>
                          <a:ea typeface="宋体" panose="02010600030101010101" pitchFamily="2" charset="-122"/>
                        </a:rPr>
                        <a:t>37</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65430" algn="l">
                        <a:spcAft>
                          <a:spcPts val="0"/>
                        </a:spcAft>
                      </a:pPr>
                      <a:r>
                        <a:rPr lang="zh-CN" sz="1400" kern="0">
                          <a:latin typeface="宋体" panose="02010600030101010101" pitchFamily="2" charset="-122"/>
                          <a:ea typeface="宋体" panose="02010600030101010101" pitchFamily="2" charset="-122"/>
                        </a:rPr>
                        <a:t>（二）委托境外机构进行研发活动发生的费用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0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742688">
                <a:tc>
                  <a:txBody>
                    <a:bodyPr/>
                    <a:lstStyle/>
                    <a:p>
                      <a:pPr algn="ctr">
                        <a:spcAft>
                          <a:spcPts val="0"/>
                        </a:spcAft>
                      </a:pPr>
                      <a:r>
                        <a:rPr lang="en-US" sz="1400" kern="0">
                          <a:latin typeface="宋体" panose="02010600030101010101" pitchFamily="2" charset="-122"/>
                          <a:ea typeface="宋体" panose="02010600030101010101" pitchFamily="2" charset="-122"/>
                        </a:rPr>
                        <a:t>38</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508000" algn="l">
                        <a:spcAft>
                          <a:spcPts val="0"/>
                        </a:spcAft>
                      </a:pPr>
                      <a:r>
                        <a:rPr lang="zh-CN" sz="1400" kern="0">
                          <a:latin typeface="宋体" panose="02010600030101010101" pitchFamily="2" charset="-122"/>
                          <a:ea typeface="宋体" panose="02010600030101010101" pitchFamily="2" charset="-122"/>
                        </a:rPr>
                        <a:t>其中：允许加计扣除的委托境外机构进行研发活动发生的费用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0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613934">
                <a:tc>
                  <a:txBody>
                    <a:bodyPr/>
                    <a:lstStyle/>
                    <a:p>
                      <a:pPr algn="ctr">
                        <a:spcAft>
                          <a:spcPts val="0"/>
                        </a:spcAft>
                      </a:pPr>
                      <a:r>
                        <a:rPr lang="en-US" sz="1400" kern="0">
                          <a:latin typeface="宋体" panose="02010600030101010101" pitchFamily="2" charset="-122"/>
                          <a:ea typeface="宋体" panose="02010600030101010101" pitchFamily="2" charset="-122"/>
                        </a:rPr>
                        <a:t>39</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65430" algn="l">
                        <a:spcAft>
                          <a:spcPts val="0"/>
                        </a:spcAft>
                      </a:pPr>
                      <a:r>
                        <a:rPr lang="zh-CN" sz="1400" kern="0">
                          <a:latin typeface="宋体" panose="02010600030101010101" pitchFamily="2" charset="-122"/>
                          <a:ea typeface="宋体" panose="02010600030101010101" pitchFamily="2" charset="-122"/>
                        </a:rPr>
                        <a:t>（三）委托境外个人进行研发活动发生的费用</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0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bl>
          </a:graphicData>
        </a:graphic>
      </p:graphicFrame>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8" name="文本框 3"/>
          <p:cNvSpPr txBox="1"/>
          <p:nvPr/>
        </p:nvSpPr>
        <p:spPr>
          <a:xfrm>
            <a:off x="6597699" y="1187355"/>
            <a:ext cx="5024437" cy="5040226"/>
          </a:xfrm>
          <a:prstGeom prst="rect">
            <a:avLst/>
          </a:prstGeom>
          <a:noFill/>
          <a:ln w="9525">
            <a:solidFill>
              <a:schemeClr val="tx1"/>
            </a:solidFill>
            <a:miter/>
          </a:ln>
        </p:spPr>
        <p:txBody>
          <a:bodyPr wrap="square">
            <a:spAutoFit/>
          </a:bodyPr>
          <a:lstStyle/>
          <a:p>
            <a:pPr>
              <a:lnSpc>
                <a:spcPts val="3000"/>
              </a:lnSpc>
            </a:pPr>
            <a:r>
              <a:rPr lang="zh-CN" sz="1400" b="1">
                <a:latin typeface="微软雅黑" panose="020B0503020204020204" charset="-122"/>
                <a:ea typeface="微软雅黑" panose="020B0503020204020204" charset="-122"/>
              </a:rPr>
              <a:t>（一）第</a:t>
            </a:r>
            <a:r>
              <a:rPr lang="en-US" sz="1400" b="1">
                <a:latin typeface="微软雅黑" panose="020B0503020204020204" charset="-122"/>
                <a:ea typeface="微软雅黑" panose="020B0503020204020204" charset="-122"/>
              </a:rPr>
              <a:t>37</a:t>
            </a:r>
            <a:r>
              <a:rPr lang="zh-CN" sz="1400" b="1">
                <a:latin typeface="微软雅黑" panose="020B0503020204020204" charset="-122"/>
                <a:ea typeface="微软雅黑" panose="020B0503020204020204" charset="-122"/>
              </a:rPr>
              <a:t>行“（二）委托境外机构进行研发活动发生的费用”：</a:t>
            </a:r>
            <a:r>
              <a:rPr lang="zh-CN" sz="1400">
                <a:latin typeface="微软雅黑" panose="020B0503020204020204" charset="-122"/>
                <a:ea typeface="微软雅黑" panose="020B0503020204020204" charset="-122"/>
              </a:rPr>
              <a:t>根据“委托境外进行研发活动所发生的费用，按照费用实际发生额的</a:t>
            </a:r>
            <a:r>
              <a:rPr lang="en-US" sz="1400">
                <a:latin typeface="微软雅黑" panose="020B0503020204020204" charset="-122"/>
                <a:ea typeface="微软雅黑" panose="020B0503020204020204" charset="-122"/>
              </a:rPr>
              <a:t>80%</a:t>
            </a:r>
            <a:r>
              <a:rPr lang="zh-CN" sz="1400">
                <a:latin typeface="微软雅黑" panose="020B0503020204020204" charset="-122"/>
                <a:ea typeface="微软雅黑" panose="020B0503020204020204" charset="-122"/>
              </a:rPr>
              <a:t>计入委托方的委托境外研发费用”的规定，本行规则是填报“</a:t>
            </a:r>
            <a:r>
              <a:rPr lang="zh-CN" sz="1400" b="1">
                <a:latin typeface="微软雅黑" panose="020B0503020204020204" charset="-122"/>
                <a:ea typeface="微软雅黑" panose="020B0503020204020204" charset="-122"/>
              </a:rPr>
              <a:t>费用实际发生额</a:t>
            </a:r>
            <a:r>
              <a:rPr lang="zh-CN" sz="1400">
                <a:latin typeface="微软雅黑" panose="020B0503020204020204" charset="-122"/>
                <a:ea typeface="微软雅黑" panose="020B0503020204020204" charset="-122"/>
              </a:rPr>
              <a:t>”（</a:t>
            </a:r>
            <a:r>
              <a:rPr lang="en-US" sz="1400">
                <a:latin typeface="微软雅黑" panose="020B0503020204020204" charset="-122"/>
                <a:ea typeface="微软雅黑" panose="020B0503020204020204" charset="-122"/>
              </a:rPr>
              <a:t>100%</a:t>
            </a:r>
            <a:r>
              <a:rPr lang="zh-CN" sz="1400">
                <a:latin typeface="微软雅黑" panose="020B0503020204020204" charset="-122"/>
                <a:ea typeface="微软雅黑" panose="020B0503020204020204" charset="-122"/>
              </a:rPr>
              <a:t>），而不是“费用实际发生额的</a:t>
            </a:r>
            <a:r>
              <a:rPr lang="en-US" sz="1400">
                <a:latin typeface="微软雅黑" panose="020B0503020204020204" charset="-122"/>
                <a:ea typeface="微软雅黑" panose="020B0503020204020204" charset="-122"/>
              </a:rPr>
              <a:t>80%”</a:t>
            </a:r>
            <a:r>
              <a:rPr lang="zh-CN" sz="1400">
                <a:latin typeface="微软雅黑" panose="020B0503020204020204" charset="-122"/>
                <a:ea typeface="微软雅黑" panose="020B0503020204020204" charset="-122"/>
              </a:rPr>
              <a:t>。</a:t>
            </a:r>
            <a:endParaRPr lang="zh-CN" sz="1400">
              <a:latin typeface="微软雅黑" panose="020B0503020204020204" charset="-122"/>
              <a:ea typeface="微软雅黑" panose="020B0503020204020204" charset="-122"/>
            </a:endParaRPr>
          </a:p>
          <a:p>
            <a:pPr>
              <a:lnSpc>
                <a:spcPts val="3000"/>
              </a:lnSpc>
            </a:pPr>
            <a:r>
              <a:rPr lang="zh-CN" sz="1400" b="1">
                <a:latin typeface="微软雅黑" panose="020B0503020204020204" charset="-122"/>
                <a:ea typeface="微软雅黑" panose="020B0503020204020204" charset="-122"/>
              </a:rPr>
              <a:t>（二）第</a:t>
            </a:r>
            <a:r>
              <a:rPr lang="en-US" sz="1400" b="1">
                <a:latin typeface="微软雅黑" panose="020B0503020204020204" charset="-122"/>
                <a:ea typeface="微软雅黑" panose="020B0503020204020204" charset="-122"/>
              </a:rPr>
              <a:t>38</a:t>
            </a:r>
            <a:r>
              <a:rPr lang="zh-CN" sz="1400" b="1">
                <a:latin typeface="微软雅黑" panose="020B0503020204020204" charset="-122"/>
                <a:ea typeface="微软雅黑" panose="020B0503020204020204" charset="-122"/>
              </a:rPr>
              <a:t>行“其中：允许加计扣除的委托境外机构进行研发活动发生的费用”：</a:t>
            </a:r>
            <a:r>
              <a:rPr lang="zh-CN" sz="1400">
                <a:latin typeface="微软雅黑" panose="020B0503020204020204" charset="-122"/>
                <a:ea typeface="微软雅黑" panose="020B0503020204020204" charset="-122"/>
              </a:rPr>
              <a:t>根据“委托境外进行研发活动所发生的费用，按照费用实际发生额的</a:t>
            </a:r>
            <a:r>
              <a:rPr lang="en-US" sz="1400" b="1">
                <a:latin typeface="微软雅黑" panose="020B0503020204020204" charset="-122"/>
                <a:ea typeface="微软雅黑" panose="020B0503020204020204" charset="-122"/>
              </a:rPr>
              <a:t>80%</a:t>
            </a:r>
            <a:r>
              <a:rPr lang="zh-CN" sz="1400">
                <a:latin typeface="微软雅黑" panose="020B0503020204020204" charset="-122"/>
                <a:ea typeface="微软雅黑" panose="020B0503020204020204" charset="-122"/>
              </a:rPr>
              <a:t>计入委托方的委托境外研发费用”以及 “委托境外研发费用不超过</a:t>
            </a:r>
            <a:r>
              <a:rPr lang="zh-CN" sz="1400" b="1">
                <a:latin typeface="微软雅黑" panose="020B0503020204020204" charset="-122"/>
                <a:ea typeface="微软雅黑" panose="020B0503020204020204" charset="-122"/>
              </a:rPr>
              <a:t>境内符合条件的研发费用三分之二</a:t>
            </a:r>
            <a:r>
              <a:rPr lang="zh-CN" sz="1400">
                <a:latin typeface="微软雅黑" panose="020B0503020204020204" charset="-122"/>
                <a:ea typeface="微软雅黑" panose="020B0503020204020204" charset="-122"/>
              </a:rPr>
              <a:t>的部分”的规定，</a:t>
            </a:r>
            <a:r>
              <a:rPr lang="zh-CN" sz="1400" b="1">
                <a:latin typeface="微软雅黑" panose="020B0503020204020204" charset="-122"/>
                <a:ea typeface="微软雅黑" panose="020B0503020204020204" charset="-122"/>
              </a:rPr>
              <a:t>本行需要分析填报。</a:t>
            </a:r>
            <a:r>
              <a:rPr lang="zh-CN" sz="1400">
                <a:latin typeface="微软雅黑" panose="020B0503020204020204" charset="-122"/>
                <a:ea typeface="微软雅黑" panose="020B0503020204020204" charset="-122"/>
              </a:rPr>
              <a:t>填报“第</a:t>
            </a:r>
            <a:r>
              <a:rPr lang="en-US" sz="1400">
                <a:latin typeface="微软雅黑" panose="020B0503020204020204" charset="-122"/>
                <a:ea typeface="微软雅黑" panose="020B0503020204020204" charset="-122"/>
              </a:rPr>
              <a:t>37</a:t>
            </a:r>
            <a:r>
              <a:rPr lang="zh-CN" sz="1400">
                <a:latin typeface="微软雅黑" panose="020B0503020204020204" charset="-122"/>
                <a:ea typeface="微软雅黑" panose="020B0503020204020204" charset="-122"/>
              </a:rPr>
              <a:t>行</a:t>
            </a:r>
            <a:r>
              <a:rPr lang="en-US" sz="1400">
                <a:latin typeface="微软雅黑" panose="020B0503020204020204" charset="-122"/>
                <a:ea typeface="微软雅黑" panose="020B0503020204020204" charset="-122"/>
              </a:rPr>
              <a:t>×80%”</a:t>
            </a:r>
            <a:r>
              <a:rPr lang="zh-CN" sz="1400">
                <a:latin typeface="微软雅黑" panose="020B0503020204020204" charset="-122"/>
                <a:ea typeface="微软雅黑" panose="020B0503020204020204" charset="-122"/>
              </a:rPr>
              <a:t>与“（第</a:t>
            </a:r>
            <a:r>
              <a:rPr lang="en-US" sz="1400">
                <a:latin typeface="微软雅黑" panose="020B0503020204020204" charset="-122"/>
                <a:ea typeface="微软雅黑" panose="020B0503020204020204" charset="-122"/>
              </a:rPr>
              <a:t>2</a:t>
            </a:r>
            <a:r>
              <a:rPr lang="zh-CN" sz="1400">
                <a:latin typeface="微软雅黑" panose="020B0503020204020204" charset="-122"/>
                <a:ea typeface="微软雅黑" panose="020B0503020204020204" charset="-122"/>
              </a:rPr>
              <a:t>行</a:t>
            </a:r>
            <a:r>
              <a:rPr lang="en-US" sz="1400">
                <a:latin typeface="微软雅黑" panose="020B0503020204020204" charset="-122"/>
                <a:ea typeface="微软雅黑" panose="020B0503020204020204" charset="-122"/>
              </a:rPr>
              <a:t>+</a:t>
            </a:r>
            <a:r>
              <a:rPr lang="zh-CN" sz="1400">
                <a:latin typeface="微软雅黑" panose="020B0503020204020204" charset="-122"/>
                <a:ea typeface="微软雅黑" panose="020B0503020204020204" charset="-122"/>
              </a:rPr>
              <a:t>第</a:t>
            </a:r>
            <a:r>
              <a:rPr lang="en-US" sz="1400">
                <a:latin typeface="微软雅黑" panose="020B0503020204020204" charset="-122"/>
                <a:ea typeface="微软雅黑" panose="020B0503020204020204" charset="-122"/>
              </a:rPr>
              <a:t>36</a:t>
            </a:r>
            <a:r>
              <a:rPr lang="zh-CN" sz="1400">
                <a:latin typeface="微软雅黑" panose="020B0503020204020204" charset="-122"/>
                <a:ea typeface="微软雅黑" panose="020B0503020204020204" charset="-122"/>
              </a:rPr>
              <a:t>行</a:t>
            </a:r>
            <a:r>
              <a:rPr lang="en-US" sz="1400">
                <a:latin typeface="微软雅黑" panose="020B0503020204020204" charset="-122"/>
                <a:ea typeface="微软雅黑" panose="020B0503020204020204" charset="-122"/>
              </a:rPr>
              <a:t>×80%</a:t>
            </a:r>
            <a:r>
              <a:rPr lang="zh-CN" sz="1400">
                <a:latin typeface="微软雅黑" panose="020B0503020204020204" charset="-122"/>
                <a:ea typeface="微软雅黑" panose="020B0503020204020204" charset="-122"/>
              </a:rPr>
              <a:t>）</a:t>
            </a:r>
            <a:r>
              <a:rPr lang="en-US" sz="1400">
                <a:latin typeface="微软雅黑" panose="020B0503020204020204" charset="-122"/>
                <a:ea typeface="微软雅黑" panose="020B0503020204020204" charset="-122"/>
              </a:rPr>
              <a:t>×2/3”</a:t>
            </a:r>
            <a:r>
              <a:rPr lang="zh-CN" sz="1400">
                <a:latin typeface="微软雅黑" panose="020B0503020204020204" charset="-122"/>
                <a:ea typeface="微软雅黑" panose="020B0503020204020204" charset="-122"/>
              </a:rPr>
              <a:t> 的</a:t>
            </a:r>
            <a:r>
              <a:rPr lang="zh-CN" sz="1400" b="1">
                <a:latin typeface="微软雅黑" panose="020B0503020204020204" charset="-122"/>
                <a:ea typeface="微软雅黑" panose="020B0503020204020204" charset="-122"/>
              </a:rPr>
              <a:t>孰小值。</a:t>
            </a:r>
            <a:endParaRPr lang="zh-CN" sz="1400" b="1">
              <a:latin typeface="微软雅黑" panose="020B0503020204020204" charset="-122"/>
              <a:ea typeface="微软雅黑" panose="020B0503020204020204" charset="-122"/>
            </a:endParaRPr>
          </a:p>
          <a:p>
            <a:pPr>
              <a:lnSpc>
                <a:spcPts val="3000"/>
              </a:lnSpc>
            </a:pPr>
            <a:r>
              <a:rPr lang="zh-CN" sz="1400" b="1">
                <a:latin typeface="微软雅黑" panose="020B0503020204020204" charset="-122"/>
                <a:ea typeface="微软雅黑" panose="020B0503020204020204" charset="-122"/>
              </a:rPr>
              <a:t>（三）第</a:t>
            </a:r>
            <a:r>
              <a:rPr lang="en-US" sz="1400" b="1">
                <a:latin typeface="微软雅黑" panose="020B0503020204020204" charset="-122"/>
                <a:ea typeface="微软雅黑" panose="020B0503020204020204" charset="-122"/>
              </a:rPr>
              <a:t>39</a:t>
            </a:r>
            <a:r>
              <a:rPr lang="zh-CN" sz="1400" b="1">
                <a:latin typeface="微软雅黑" panose="020B0503020204020204" charset="-122"/>
                <a:ea typeface="微软雅黑" panose="020B0503020204020204" charset="-122"/>
              </a:rPr>
              <a:t>行“（三）委托境外个人进行研发活动发生的费用”：</a:t>
            </a:r>
            <a:r>
              <a:rPr lang="zh-CN" sz="1400">
                <a:latin typeface="微软雅黑" panose="020B0503020204020204" charset="-122"/>
                <a:ea typeface="微软雅黑" panose="020B0503020204020204" charset="-122"/>
              </a:rPr>
              <a:t>填报委托境外个人进行研发活动发生的费用。</a:t>
            </a:r>
            <a:endParaRPr lang="zh-CN" sz="140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graphicFrame>
        <p:nvGraphicFramePr>
          <p:cNvPr id="7" name="表格 6"/>
          <p:cNvGraphicFramePr/>
          <p:nvPr/>
        </p:nvGraphicFramePr>
        <p:xfrm>
          <a:off x="394969" y="1097597"/>
          <a:ext cx="6540818" cy="5333682"/>
        </p:xfrm>
        <a:graphic>
          <a:graphicData uri="http://schemas.openxmlformats.org/drawingml/2006/table">
            <a:tbl>
              <a:tblPr/>
              <a:tblGrid>
                <a:gridCol w="484876"/>
                <a:gridCol w="5397541"/>
                <a:gridCol w="658401"/>
              </a:tblGrid>
              <a:tr h="334937">
                <a:tc>
                  <a:txBody>
                    <a:bodyPr/>
                    <a:lstStyle/>
                    <a:p>
                      <a:pPr algn="ctr">
                        <a:spcAft>
                          <a:spcPts val="0"/>
                        </a:spcAft>
                      </a:pPr>
                      <a:r>
                        <a:rPr lang="en-US" sz="1400" kern="0">
                          <a:latin typeface="宋体" panose="02010600030101010101" pitchFamily="2" charset="-122"/>
                          <a:ea typeface="宋体" panose="02010600030101010101" pitchFamily="2" charset="-122"/>
                        </a:rPr>
                        <a:t>40</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三、年度研发费用小计</a:t>
                      </a:r>
                      <a:r>
                        <a:rPr lang="en-US" sz="1400" kern="0">
                          <a:latin typeface="宋体" panose="02010600030101010101" pitchFamily="2" charset="-122"/>
                          <a:ea typeface="宋体" panose="02010600030101010101" pitchFamily="2" charset="-122"/>
                        </a:rPr>
                        <a:t>(2+36</a:t>
                      </a:r>
                      <a:r>
                        <a:rPr lang="zh-CN" sz="1400" kern="0">
                          <a:latin typeface="宋体" panose="02010600030101010101" pitchFamily="2" charset="-122"/>
                          <a:ea typeface="宋体" panose="02010600030101010101" pitchFamily="2" charset="-122"/>
                        </a:rPr>
                        <a:t>×</a:t>
                      </a:r>
                      <a:r>
                        <a:rPr lang="en-US" sz="1400" kern="0">
                          <a:latin typeface="宋体" panose="02010600030101010101" pitchFamily="2" charset="-122"/>
                          <a:ea typeface="宋体" panose="02010600030101010101" pitchFamily="2" charset="-122"/>
                        </a:rPr>
                        <a:t>80%+38)</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41</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（一）本年费用化金额</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42</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（二）本年资本化金额</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43</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四、本年形成无形资产摊销额</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44</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五、以前年度形成无形资产本年摊销额</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45</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六、允许扣除的研发费用合计（</a:t>
                      </a:r>
                      <a:r>
                        <a:rPr lang="en-US" sz="1400" kern="0">
                          <a:latin typeface="宋体" panose="02010600030101010101" pitchFamily="2" charset="-122"/>
                          <a:ea typeface="宋体" panose="02010600030101010101" pitchFamily="2" charset="-122"/>
                        </a:rPr>
                        <a:t>41+43+44</a:t>
                      </a:r>
                      <a:r>
                        <a:rPr lang="zh-CN" sz="1400" kern="0">
                          <a:latin typeface="宋体" panose="02010600030101010101" pitchFamily="2" charset="-122"/>
                          <a:ea typeface="宋体" panose="02010600030101010101" pitchFamily="2" charset="-122"/>
                        </a:rPr>
                        <a:t>）</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46</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减：特殊收入部分</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47</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七、允许扣除的研发费用抵减特殊收入后的金额</a:t>
                      </a:r>
                      <a:r>
                        <a:rPr lang="en-US" sz="1400" kern="0">
                          <a:latin typeface="宋体" panose="02010600030101010101" pitchFamily="2" charset="-122"/>
                          <a:ea typeface="宋体" panose="02010600030101010101" pitchFamily="2" charset="-122"/>
                        </a:rPr>
                        <a:t>(45-46)</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566946">
                <a:tc>
                  <a:txBody>
                    <a:bodyPr/>
                    <a:lstStyle/>
                    <a:p>
                      <a:pPr algn="ctr">
                        <a:spcAft>
                          <a:spcPts val="0"/>
                        </a:spcAft>
                      </a:pPr>
                      <a:r>
                        <a:rPr lang="en-US" sz="1400" kern="0">
                          <a:latin typeface="宋体" panose="02010600030101010101" pitchFamily="2" charset="-122"/>
                          <a:ea typeface="宋体" panose="02010600030101010101" pitchFamily="2" charset="-122"/>
                        </a:rPr>
                        <a:t>48</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减：当年销售研发活动直接形成产品（包括组成部分）对应的材料部分</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566946">
                <a:tc>
                  <a:txBody>
                    <a:bodyPr/>
                    <a:lstStyle/>
                    <a:p>
                      <a:pPr algn="ctr">
                        <a:spcAft>
                          <a:spcPts val="0"/>
                        </a:spcAft>
                      </a:pPr>
                      <a:r>
                        <a:rPr lang="en-US" sz="1400" kern="0">
                          <a:latin typeface="宋体" panose="02010600030101010101" pitchFamily="2" charset="-122"/>
                          <a:ea typeface="宋体" panose="02010600030101010101" pitchFamily="2" charset="-122"/>
                        </a:rPr>
                        <a:t>49</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indent="254000" algn="l">
                        <a:spcAft>
                          <a:spcPts val="0"/>
                        </a:spcAft>
                      </a:pPr>
                      <a:r>
                        <a:rPr lang="zh-CN" sz="1400" kern="0">
                          <a:latin typeface="宋体" panose="02010600030101010101" pitchFamily="2" charset="-122"/>
                          <a:ea typeface="宋体" panose="02010600030101010101" pitchFamily="2" charset="-122"/>
                        </a:rPr>
                        <a:t>减：以前年度销售研发活动直接形成产品（包括组成部分）对应材料部分结转金额</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50</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八、加计扣除比例（</a:t>
                      </a:r>
                      <a:r>
                        <a:rPr lang="en-US" sz="1400" kern="0">
                          <a:latin typeface="宋体" panose="02010600030101010101" pitchFamily="2" charset="-122"/>
                          <a:ea typeface="宋体" panose="02010600030101010101" pitchFamily="2" charset="-122"/>
                        </a:rPr>
                        <a:t>%</a:t>
                      </a:r>
                      <a:r>
                        <a:rPr lang="zh-CN" sz="1400" kern="0">
                          <a:latin typeface="宋体" panose="02010600030101010101" pitchFamily="2" charset="-122"/>
                          <a:ea typeface="宋体" panose="02010600030101010101" pitchFamily="2" charset="-122"/>
                        </a:rPr>
                        <a:t>）</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r>
              <a:tr h="334937">
                <a:tc>
                  <a:txBody>
                    <a:bodyPr/>
                    <a:lstStyle/>
                    <a:p>
                      <a:pPr algn="ctr">
                        <a:spcAft>
                          <a:spcPts val="0"/>
                        </a:spcAft>
                      </a:pPr>
                      <a:r>
                        <a:rPr lang="en-US" sz="1400" kern="0">
                          <a:latin typeface="宋体" panose="02010600030101010101" pitchFamily="2" charset="-122"/>
                          <a:ea typeface="宋体" panose="02010600030101010101" pitchFamily="2" charset="-122"/>
                        </a:rPr>
                        <a:t>51</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l">
                        <a:spcAft>
                          <a:spcPts val="0"/>
                        </a:spcAft>
                      </a:pPr>
                      <a:r>
                        <a:rPr lang="zh-CN" sz="1400" kern="0">
                          <a:latin typeface="宋体" panose="02010600030101010101" pitchFamily="2" charset="-122"/>
                          <a:ea typeface="宋体" panose="02010600030101010101" pitchFamily="2" charset="-122"/>
                        </a:rPr>
                        <a:t>九、本年研发费用加计扣除总额（</a:t>
                      </a:r>
                      <a:r>
                        <a:rPr lang="en-US" sz="1400" kern="0">
                          <a:latin typeface="宋体" panose="02010600030101010101" pitchFamily="2" charset="-122"/>
                          <a:ea typeface="宋体" panose="02010600030101010101" pitchFamily="2" charset="-122"/>
                        </a:rPr>
                        <a:t>47-48-49</a:t>
                      </a:r>
                      <a:r>
                        <a:rPr lang="zh-CN" sz="1400" kern="0">
                          <a:latin typeface="宋体" panose="02010600030101010101" pitchFamily="2" charset="-122"/>
                          <a:ea typeface="宋体" panose="02010600030101010101" pitchFamily="2" charset="-122"/>
                        </a:rPr>
                        <a:t>）×</a:t>
                      </a:r>
                      <a:r>
                        <a:rPr lang="en-US" sz="1400" kern="0">
                          <a:latin typeface="宋体" panose="02010600030101010101" pitchFamily="2" charset="-122"/>
                          <a:ea typeface="宋体" panose="02010600030101010101" pitchFamily="2" charset="-122"/>
                        </a:rPr>
                        <a:t>50</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2700" cap="flat" cmpd="sng">
                      <a:solidFill>
                        <a:srgbClr val="000000"/>
                      </a:solidFill>
                      <a:prstDash val="solid"/>
                      <a:round/>
                      <a:headEnd type="none" w="med" len="med"/>
                      <a:tailEnd type="none" w="med" len="med"/>
                    </a:lnB>
                  </a:tcPr>
                </a:tc>
              </a:tr>
              <a:tr h="850420">
                <a:tc>
                  <a:txBody>
                    <a:bodyPr/>
                    <a:lstStyle/>
                    <a:p>
                      <a:pPr algn="ctr">
                        <a:spcAft>
                          <a:spcPts val="0"/>
                        </a:spcAft>
                      </a:pPr>
                      <a:r>
                        <a:rPr lang="en-US" sz="1400" kern="0">
                          <a:latin typeface="宋体" panose="02010600030101010101" pitchFamily="2" charset="-122"/>
                          <a:ea typeface="宋体" panose="02010600030101010101" pitchFamily="2" charset="-122"/>
                        </a:rPr>
                        <a:t>52</a:t>
                      </a:r>
                      <a:endParaRPr lang="zh-CN" sz="1400" kern="100">
                        <a:latin typeface="宋体" panose="02010600030101010101" pitchFamily="2" charset="-122"/>
                        <a:ea typeface="宋体" panose="02010600030101010101" pitchFamily="2" charset="-122"/>
                      </a:endParaRPr>
                    </a:p>
                  </a:txBody>
                  <a:tcPr marL="68580" marR="68580" marT="0" marB="0" anchor="ctr">
                    <a:lnL w="1905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solidFill>
                      <a:srgbClr val="FFFFFF"/>
                    </a:solidFill>
                  </a:tcPr>
                </a:tc>
                <a:tc>
                  <a:txBody>
                    <a:bodyPr/>
                    <a:lstStyle/>
                    <a:p>
                      <a:pPr marL="243840" indent="-243840" algn="l">
                        <a:spcAft>
                          <a:spcPts val="0"/>
                        </a:spcAft>
                      </a:pPr>
                      <a:r>
                        <a:rPr lang="zh-CN" sz="1400" kern="0">
                          <a:latin typeface="宋体" panose="02010600030101010101" pitchFamily="2" charset="-122"/>
                          <a:ea typeface="宋体" panose="02010600030101010101" pitchFamily="2" charset="-122"/>
                        </a:rPr>
                        <a:t>十、销售研发活动直接形成产品（包括组成部分）对应材料部分结转以后年度扣减金额（当</a:t>
                      </a:r>
                      <a:r>
                        <a:rPr lang="en-US" sz="1400" kern="0">
                          <a:latin typeface="宋体" panose="02010600030101010101" pitchFamily="2" charset="-122"/>
                          <a:ea typeface="宋体" panose="02010600030101010101" pitchFamily="2" charset="-122"/>
                        </a:rPr>
                        <a:t>47-48-49</a:t>
                      </a:r>
                      <a:r>
                        <a:rPr lang="zh-CN" sz="1400" kern="0">
                          <a:latin typeface="宋体" panose="02010600030101010101" pitchFamily="2" charset="-122"/>
                          <a:ea typeface="宋体" panose="02010600030101010101" pitchFamily="2" charset="-122"/>
                        </a:rPr>
                        <a:t>≥</a:t>
                      </a:r>
                      <a:r>
                        <a:rPr lang="en-US" sz="1400" kern="0">
                          <a:latin typeface="宋体" panose="02010600030101010101" pitchFamily="2" charset="-122"/>
                          <a:ea typeface="宋体" panose="02010600030101010101" pitchFamily="2" charset="-122"/>
                        </a:rPr>
                        <a:t>0</a:t>
                      </a:r>
                      <a:r>
                        <a:rPr lang="zh-CN" sz="1400" kern="0">
                          <a:latin typeface="宋体" panose="02010600030101010101" pitchFamily="2" charset="-122"/>
                          <a:ea typeface="宋体" panose="02010600030101010101" pitchFamily="2" charset="-122"/>
                        </a:rPr>
                        <a:t>，本行＝</a:t>
                      </a:r>
                      <a:r>
                        <a:rPr lang="en-US" sz="1400" kern="0">
                          <a:latin typeface="宋体" panose="02010600030101010101" pitchFamily="2" charset="-122"/>
                          <a:ea typeface="宋体" panose="02010600030101010101" pitchFamily="2" charset="-122"/>
                        </a:rPr>
                        <a:t>0</a:t>
                      </a:r>
                      <a:r>
                        <a:rPr lang="zh-CN" sz="1400" kern="0">
                          <a:latin typeface="宋体" panose="02010600030101010101" pitchFamily="2" charset="-122"/>
                          <a:ea typeface="宋体" panose="02010600030101010101" pitchFamily="2" charset="-122"/>
                        </a:rPr>
                        <a:t>；当</a:t>
                      </a:r>
                      <a:r>
                        <a:rPr lang="en-US" sz="1400" kern="0">
                          <a:latin typeface="宋体" panose="02010600030101010101" pitchFamily="2" charset="-122"/>
                          <a:ea typeface="宋体" panose="02010600030101010101" pitchFamily="2" charset="-122"/>
                        </a:rPr>
                        <a:t>47-48-49</a:t>
                      </a:r>
                      <a:r>
                        <a:rPr lang="zh-CN" sz="1400" kern="0">
                          <a:latin typeface="宋体" panose="02010600030101010101" pitchFamily="2" charset="-122"/>
                          <a:ea typeface="宋体" panose="02010600030101010101" pitchFamily="2" charset="-122"/>
                        </a:rPr>
                        <a:t>＜</a:t>
                      </a:r>
                      <a:r>
                        <a:rPr lang="en-US" sz="1400" kern="0">
                          <a:latin typeface="宋体" panose="02010600030101010101" pitchFamily="2" charset="-122"/>
                          <a:ea typeface="宋体" panose="02010600030101010101" pitchFamily="2" charset="-122"/>
                        </a:rPr>
                        <a:t>0</a:t>
                      </a:r>
                      <a:r>
                        <a:rPr lang="zh-CN" sz="1400" kern="0">
                          <a:latin typeface="宋体" panose="02010600030101010101" pitchFamily="2" charset="-122"/>
                          <a:ea typeface="宋体" panose="02010600030101010101" pitchFamily="2" charset="-122"/>
                        </a:rPr>
                        <a:t>，本行＝</a:t>
                      </a:r>
                      <a:r>
                        <a:rPr lang="en-US" sz="1400" kern="0">
                          <a:latin typeface="宋体" panose="02010600030101010101" pitchFamily="2" charset="-122"/>
                          <a:ea typeface="宋体" panose="02010600030101010101" pitchFamily="2" charset="-122"/>
                        </a:rPr>
                        <a:t>47-48-49</a:t>
                      </a:r>
                      <a:r>
                        <a:rPr lang="zh-CN" sz="1400" kern="0">
                          <a:latin typeface="宋体" panose="02010600030101010101" pitchFamily="2" charset="-122"/>
                          <a:ea typeface="宋体" panose="02010600030101010101" pitchFamily="2" charset="-122"/>
                        </a:rPr>
                        <a:t>的绝对值</a:t>
                      </a:r>
                      <a:r>
                        <a:rPr lang="en-US" sz="1400" kern="0">
                          <a:latin typeface="宋体" panose="02010600030101010101" pitchFamily="2" charset="-122"/>
                          <a:ea typeface="宋体" panose="02010600030101010101" pitchFamily="2" charset="-122"/>
                        </a:rPr>
                        <a:t>)</a:t>
                      </a:r>
                      <a:endParaRPr lang="zh-CN" sz="1400" kern="10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270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solidFill>
                      <a:srgbClr val="FFFFFF"/>
                    </a:solidFill>
                  </a:tcPr>
                </a:tc>
                <a:tc>
                  <a:txBody>
                    <a:bodyPr/>
                    <a:lstStyle/>
                    <a:p>
                      <a:pPr algn="r">
                        <a:spcAft>
                          <a:spcPts val="0"/>
                        </a:spcAft>
                      </a:pPr>
                      <a:endParaRPr lang="en-US" sz="1400" kern="0">
                        <a:latin typeface="宋体" panose="02010600030101010101" pitchFamily="2" charset="-122"/>
                        <a:ea typeface="宋体" panose="02010600030101010101" pitchFamily="2" charset="-122"/>
                      </a:endParaRPr>
                    </a:p>
                  </a:txBody>
                  <a:tcPr marL="68580" marR="68580" marT="0" marB="0" anchor="ctr">
                    <a:lnL w="1270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270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solidFill>
                      <a:srgbClr val="FFFFFF"/>
                    </a:solidFill>
                  </a:tcPr>
                </a:tc>
              </a:tr>
            </a:tbl>
          </a:graphicData>
        </a:graphic>
      </p:graphicFrame>
      <p:sp>
        <p:nvSpPr>
          <p:cNvPr id="8" name="圆角矩形标注 7"/>
          <p:cNvSpPr/>
          <p:nvPr/>
        </p:nvSpPr>
        <p:spPr>
          <a:xfrm>
            <a:off x="7697788" y="816136"/>
            <a:ext cx="4206240" cy="1088864"/>
          </a:xfrm>
          <a:prstGeom prst="wedgeRoundRectCallout">
            <a:avLst>
              <a:gd name="adj1" fmla="val -150267"/>
              <a:gd name="adj2" fmla="val 36448"/>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分别填报研发活动本年费用化部分，和研发活动本年结转无形资产的金额。研发活动中实际发生的研发费用形成无形资产的，其资本化的时点与会计处理保持一致</a:t>
            </a:r>
            <a:endParaRPr lang="zh-CN" sz="1600">
              <a:latin typeface="微软雅黑" panose="020B0503020204020204" charset="-122"/>
              <a:ea typeface="微软雅黑" panose="020B0503020204020204" charset="-122"/>
            </a:endParaRPr>
          </a:p>
        </p:txBody>
      </p:sp>
      <p:sp>
        <p:nvSpPr>
          <p:cNvPr id="9" name="圆角矩形标注 8"/>
          <p:cNvSpPr/>
          <p:nvPr/>
        </p:nvSpPr>
        <p:spPr>
          <a:xfrm>
            <a:off x="7676407" y="2081056"/>
            <a:ext cx="4242861" cy="1363184"/>
          </a:xfrm>
          <a:prstGeom prst="wedgeRoundRectCallout">
            <a:avLst>
              <a:gd name="adj1" fmla="val -148525"/>
              <a:gd name="adj2" fmla="val 39155"/>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pPr>
              <a:spcBef>
                <a:spcPct val="30000"/>
              </a:spcBef>
            </a:pPr>
            <a:r>
              <a:rPr lang="zh-CN" sz="1600">
                <a:latin typeface="宋体" panose="02010600030101010101" pitchFamily="2" charset="-122"/>
              </a:rPr>
              <a:t>企业取得研发过程中形成的下脚料、残次品、中间试制品等特殊收入，在计算确认收入当年的加计扣除研发费用时，应从已归集研发费用中扣减该特殊收入，不足扣减的，加计扣除研发费用按零计算。</a:t>
            </a:r>
            <a:endParaRPr lang="zh-CN" sz="1600">
              <a:latin typeface="宋体" panose="02010600030101010101" pitchFamily="2" charset="-122"/>
            </a:endParaRPr>
          </a:p>
        </p:txBody>
      </p:sp>
      <p:sp>
        <p:nvSpPr>
          <p:cNvPr id="11" name="圆角矩形标注 10"/>
          <p:cNvSpPr/>
          <p:nvPr/>
        </p:nvSpPr>
        <p:spPr>
          <a:xfrm>
            <a:off x="7615447" y="3635536"/>
            <a:ext cx="4288581" cy="1591784"/>
          </a:xfrm>
          <a:prstGeom prst="wedgeRoundRectCallout">
            <a:avLst>
              <a:gd name="adj1" fmla="val -79963"/>
              <a:gd name="adj2" fmla="val -13842"/>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企业研发活动直接形成产品或作为组成部分形成的产品对外销售的，研发费用中对应的材料费用不得加计扣除。产品销售与对应的材料费用发生在不同纳税年度且材料费用已计入研发费用的，可在销售当年以对应的材料费用发生额直接冲减当年的研发费用。</a:t>
            </a:r>
            <a:endParaRPr lang="zh-CN" sz="1600"/>
          </a:p>
        </p:txBody>
      </p:sp>
      <p:sp>
        <p:nvSpPr>
          <p:cNvPr id="12" name="圆角矩形 16"/>
          <p:cNvSpPr/>
          <p:nvPr/>
        </p:nvSpPr>
        <p:spPr>
          <a:xfrm>
            <a:off x="866661" y="3817442"/>
            <a:ext cx="5413806" cy="1105078"/>
          </a:xfrm>
          <a:prstGeom prst="roundRect">
            <a:avLst/>
          </a:prstGeom>
          <a:noFill/>
          <a:ln w="38100">
            <a:solidFill>
              <a:srgbClr val="FF0000"/>
            </a:solidFill>
            <a:prstDash val="solid"/>
          </a:ln>
        </p:spPr>
        <p:txBody>
          <a:bodyPr anchor="ctr"/>
          <a:lstStyle/>
          <a:p>
            <a:pPr algn="ctr"/>
            <a:endParaRPr lang="zh-CN">
              <a:solidFill>
                <a:schemeClr val="lt1"/>
              </a:solidFill>
            </a:endParaRPr>
          </a:p>
        </p:txBody>
      </p:sp>
      <p:sp>
        <p:nvSpPr>
          <p:cNvPr id="13" name="圆角矩形标注 12"/>
          <p:cNvSpPr/>
          <p:nvPr/>
        </p:nvSpPr>
        <p:spPr>
          <a:xfrm>
            <a:off x="7682548" y="5586256"/>
            <a:ext cx="4206240" cy="723104"/>
          </a:xfrm>
          <a:prstGeom prst="wedgeRoundRectCallout">
            <a:avLst>
              <a:gd name="adj1" fmla="val -81064"/>
              <a:gd name="adj2" fmla="val 9049"/>
              <a:gd name="adj3" fmla="val 16667"/>
            </a:avLst>
          </a:prstGeom>
          <a:solidFill>
            <a:schemeClr val="accent5">
              <a:lumMod val="40000"/>
              <a:lumOff val="60000"/>
            </a:schemeClr>
          </a:solidFill>
          <a:ln w="9525">
            <a:solidFill>
              <a:schemeClr val="accent5">
                <a:lumMod val="40000"/>
                <a:lumOff val="60000"/>
              </a:schemeClr>
            </a:solidFill>
            <a:miter/>
          </a:ln>
        </p:spPr>
        <p:txBody>
          <a:bodyPr wrap="square" anchor="ctr"/>
          <a:lstStyle/>
          <a:p>
            <a:r>
              <a:rPr lang="zh-CN" sz="1600"/>
              <a:t>不足冲减的，结转以后年度继续冲减。</a:t>
            </a:r>
            <a:r>
              <a:rPr lang="en-US" sz="1600"/>
              <a:t>52</a:t>
            </a:r>
            <a:r>
              <a:rPr lang="zh-CN" sz="1600"/>
              <a:t>行就是下一年的</a:t>
            </a:r>
            <a:r>
              <a:rPr lang="en-US" sz="1600"/>
              <a:t>49</a:t>
            </a:r>
            <a:r>
              <a:rPr lang="zh-CN" sz="1600"/>
              <a:t>行，</a:t>
            </a:r>
            <a:r>
              <a:rPr lang="en-US" sz="1600"/>
              <a:t>49</a:t>
            </a:r>
            <a:r>
              <a:rPr lang="zh-CN" sz="1600"/>
              <a:t>行就是上年的</a:t>
            </a:r>
            <a:r>
              <a:rPr lang="en-US" sz="1600"/>
              <a:t>52</a:t>
            </a:r>
            <a:r>
              <a:rPr lang="zh-CN" sz="1600"/>
              <a:t>行。</a:t>
            </a:r>
            <a:endParaRPr lang="zh-CN" sz="160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sp>
        <p:nvSpPr>
          <p:cNvPr id="14" name="文本框 3"/>
          <p:cNvSpPr txBox="1"/>
          <p:nvPr/>
        </p:nvSpPr>
        <p:spPr>
          <a:xfrm>
            <a:off x="586804" y="1632101"/>
            <a:ext cx="11171355" cy="1754326"/>
          </a:xfrm>
          <a:prstGeom prst="rect">
            <a:avLst/>
          </a:prstGeom>
          <a:noFill/>
        </p:spPr>
        <p:txBody>
          <a:bodyPr wrap="square">
            <a:spAutoFit/>
          </a:bodyPr>
          <a:lstStyle/>
          <a:p>
            <a:r>
              <a:rPr lang="zh-CN"/>
              <a:t>例：某企业为科技型中小企业，</a:t>
            </a:r>
            <a:r>
              <a:rPr lang="en-US"/>
              <a:t>2019</a:t>
            </a:r>
            <a:r>
              <a:rPr lang="zh-CN"/>
              <a:t>年</a:t>
            </a:r>
            <a:r>
              <a:rPr lang="en-US"/>
              <a:t>4</a:t>
            </a:r>
            <a:r>
              <a:rPr lang="zh-CN"/>
              <a:t>月取得科技型中小企业资格（编号</a:t>
            </a:r>
            <a:r>
              <a:rPr lang="en-US"/>
              <a:t>2019XXXX</a:t>
            </a:r>
            <a:r>
              <a:rPr lang="zh-CN"/>
              <a:t>），该年度进行了三项研发活动，项目名称分别为甲项目、乙项目、丙项目。甲项目、乙项目、丙项目会计核算时进行了费用化处理，其中乙项目委托境内机构和个人研发，丙项目委托境外机构和个人进行研发。</a:t>
            </a:r>
            <a:endParaRPr lang="zh-CN"/>
          </a:p>
          <a:p>
            <a:r>
              <a:rPr lang="zh-CN"/>
              <a:t>    </a:t>
            </a:r>
            <a:r>
              <a:rPr lang="en-US"/>
              <a:t>2017</a:t>
            </a:r>
            <a:r>
              <a:rPr lang="zh-CN"/>
              <a:t>年度研发活动直接形成产品在</a:t>
            </a:r>
            <a:r>
              <a:rPr lang="en-US"/>
              <a:t>2018</a:t>
            </a:r>
            <a:r>
              <a:rPr lang="zh-CN"/>
              <a:t>年</a:t>
            </a:r>
            <a:r>
              <a:rPr lang="en-US"/>
              <a:t>6</a:t>
            </a:r>
            <a:r>
              <a:rPr lang="zh-CN"/>
              <a:t>月份当月完成销售，该产品中已计入上年度研发费用中对应的材料部分为</a:t>
            </a:r>
            <a:r>
              <a:rPr lang="en-US"/>
              <a:t>50</a:t>
            </a:r>
            <a:r>
              <a:rPr lang="zh-CN"/>
              <a:t>万元。</a:t>
            </a:r>
            <a:endParaRPr lang="zh-CN"/>
          </a:p>
          <a:p>
            <a:r>
              <a:rPr lang="zh-CN"/>
              <a:t>    具体明细费用详见下表：</a:t>
            </a:r>
            <a:endParaRPr lang="zh-CN"/>
          </a:p>
        </p:txBody>
      </p:sp>
      <p:graphicFrame>
        <p:nvGraphicFramePr>
          <p:cNvPr id="15" name="表格 14"/>
          <p:cNvGraphicFramePr/>
          <p:nvPr/>
        </p:nvGraphicFramePr>
        <p:xfrm>
          <a:off x="985019" y="3789040"/>
          <a:ext cx="9041355" cy="2357606"/>
        </p:xfrm>
        <a:graphic>
          <a:graphicData uri="http://schemas.openxmlformats.org/drawingml/2006/table">
            <a:tbl>
              <a:tblPr/>
              <a:tblGrid>
                <a:gridCol w="2991934"/>
                <a:gridCol w="1826482"/>
                <a:gridCol w="2119665"/>
                <a:gridCol w="2103274"/>
              </a:tblGrid>
              <a:tr h="261956">
                <a:tc>
                  <a:txBody>
                    <a:bodyPr/>
                    <a:lstStyle/>
                    <a:p>
                      <a:pPr algn="ctr"/>
                      <a:r>
                        <a:rPr lang="zh-CN" sz="1600" b="1" kern="1200">
                          <a:solidFill>
                            <a:srgbClr val="272727"/>
                          </a:solidFill>
                          <a:latin typeface="方正兰亭超细黑简体"/>
                          <a:ea typeface="方正兰亭超细黑简体"/>
                        </a:rPr>
                        <a:t>项目</a:t>
                      </a:r>
                      <a:endParaRPr lang="zh-CN"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600" b="1" kern="1200">
                          <a:solidFill>
                            <a:srgbClr val="272727"/>
                          </a:solidFill>
                          <a:latin typeface="方正兰亭超细黑简体"/>
                          <a:ea typeface="方正兰亭超细黑简体"/>
                        </a:rPr>
                        <a:t>甲</a:t>
                      </a:r>
                      <a:endParaRPr lang="zh-CN"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600" b="1" kern="1200">
                          <a:solidFill>
                            <a:srgbClr val="272727"/>
                          </a:solidFill>
                          <a:latin typeface="方正兰亭超细黑简体"/>
                          <a:ea typeface="方正兰亭超细黑简体"/>
                        </a:rPr>
                        <a:t>乙</a:t>
                      </a:r>
                      <a:endParaRPr lang="zh-CN"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600" b="1" kern="1200">
                          <a:solidFill>
                            <a:srgbClr val="272727"/>
                          </a:solidFill>
                          <a:latin typeface="方正兰亭超细黑简体"/>
                          <a:ea typeface="方正兰亭超细黑简体"/>
                        </a:rPr>
                        <a:t>丙</a:t>
                      </a:r>
                      <a:endParaRPr lang="zh-CN"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61956">
                <a:tc>
                  <a:txBody>
                    <a:bodyPr/>
                    <a:lstStyle/>
                    <a:p>
                      <a:pPr algn="ctr"/>
                      <a:r>
                        <a:rPr lang="zh-CN" sz="1600" b="1" kern="1200">
                          <a:solidFill>
                            <a:srgbClr val="272727"/>
                          </a:solidFill>
                          <a:latin typeface="方正兰亭超细黑简体"/>
                          <a:ea typeface="方正兰亭超细黑简体"/>
                        </a:rPr>
                        <a:t>人员人工费用</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80 </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61956">
                <a:tc>
                  <a:txBody>
                    <a:bodyPr/>
                    <a:lstStyle/>
                    <a:p>
                      <a:pPr algn="ctr"/>
                      <a:r>
                        <a:rPr lang="zh-CN" sz="1600" b="1" kern="1200">
                          <a:solidFill>
                            <a:srgbClr val="272727"/>
                          </a:solidFill>
                          <a:latin typeface="方正兰亭超细黑简体"/>
                          <a:ea typeface="方正兰亭超细黑简体"/>
                        </a:rPr>
                        <a:t>直接投入费用</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25 </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61956">
                <a:tc>
                  <a:txBody>
                    <a:bodyPr/>
                    <a:lstStyle/>
                    <a:p>
                      <a:pPr algn="ctr"/>
                      <a:r>
                        <a:rPr lang="zh-CN" sz="1600" b="1" kern="1200">
                          <a:solidFill>
                            <a:srgbClr val="272727"/>
                          </a:solidFill>
                          <a:latin typeface="方正兰亭超细黑简体"/>
                          <a:ea typeface="方正兰亭超细黑简体"/>
                        </a:rPr>
                        <a:t>折旧费用</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65 </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61956">
                <a:tc>
                  <a:txBody>
                    <a:bodyPr/>
                    <a:lstStyle/>
                    <a:p>
                      <a:pPr algn="ctr"/>
                      <a:r>
                        <a:rPr lang="zh-CN" sz="1600" b="1" kern="1200">
                          <a:solidFill>
                            <a:srgbClr val="272727"/>
                          </a:solidFill>
                          <a:latin typeface="方正兰亭超细黑简体"/>
                          <a:ea typeface="方正兰亭超细黑简体"/>
                        </a:rPr>
                        <a:t>无形资产摊销</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20 </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61956">
                <a:tc>
                  <a:txBody>
                    <a:bodyPr/>
                    <a:lstStyle/>
                    <a:p>
                      <a:pPr algn="ctr"/>
                      <a:r>
                        <a:rPr lang="zh-CN" sz="1600" b="1" kern="1200">
                          <a:solidFill>
                            <a:srgbClr val="272727"/>
                          </a:solidFill>
                          <a:latin typeface="方正兰亭超细黑简体"/>
                          <a:ea typeface="方正兰亭超细黑简体"/>
                        </a:rPr>
                        <a:t>新产品设计费等</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5 </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61956">
                <a:tc>
                  <a:txBody>
                    <a:bodyPr/>
                    <a:lstStyle/>
                    <a:p>
                      <a:pPr algn="ctr"/>
                      <a:r>
                        <a:rPr lang="zh-CN" sz="1600" b="1" kern="1200">
                          <a:solidFill>
                            <a:srgbClr val="272727"/>
                          </a:solidFill>
                          <a:latin typeface="方正兰亭超细黑简体"/>
                          <a:ea typeface="方正兰亭超细黑简体"/>
                        </a:rPr>
                        <a:t>其他相关费用</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5 </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523914">
                <a:tc>
                  <a:txBody>
                    <a:bodyPr/>
                    <a:lstStyle/>
                    <a:p>
                      <a:pPr algn="ctr"/>
                      <a:r>
                        <a:rPr lang="zh-CN" sz="1600" b="1" kern="1200">
                          <a:solidFill>
                            <a:srgbClr val="272727"/>
                          </a:solidFill>
                          <a:latin typeface="方正兰亭超细黑简体"/>
                          <a:ea typeface="方正兰亭超细黑简体"/>
                        </a:rPr>
                        <a:t>委托研发费用</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600" b="1" kern="1200">
                          <a:solidFill>
                            <a:srgbClr val="272727"/>
                          </a:solidFill>
                          <a:latin typeface="方正兰亭超细黑简体"/>
                          <a:ea typeface="方正兰亭超细黑简体"/>
                        </a:rPr>
                        <a:t>　</a:t>
                      </a:r>
                      <a:endParaRPr lang="zh-CN"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200</a:t>
                      </a:r>
                      <a:r>
                        <a:rPr lang="zh-CN" sz="1600" b="1" kern="1200">
                          <a:solidFill>
                            <a:srgbClr val="272727"/>
                          </a:solidFill>
                          <a:latin typeface="方正兰亭超细黑简体"/>
                          <a:ea typeface="方正兰亭超细黑简体"/>
                        </a:rPr>
                        <a:t>（机构</a:t>
                      </a:r>
                      <a:r>
                        <a:rPr lang="en-US" sz="1600" b="1" kern="1200">
                          <a:solidFill>
                            <a:srgbClr val="272727"/>
                          </a:solidFill>
                          <a:latin typeface="方正兰亭超细黑简体"/>
                          <a:ea typeface="方正兰亭超细黑简体"/>
                        </a:rPr>
                        <a:t>100</a:t>
                      </a:r>
                      <a:r>
                        <a:rPr lang="zh-CN" sz="1600" b="1" kern="1200">
                          <a:solidFill>
                            <a:srgbClr val="272727"/>
                          </a:solidFill>
                          <a:latin typeface="方正兰亭超细黑简体"/>
                          <a:ea typeface="方正兰亭超细黑简体"/>
                        </a:rPr>
                        <a:t>、个人</a:t>
                      </a:r>
                      <a:r>
                        <a:rPr lang="en-US" sz="1600" b="1" kern="1200">
                          <a:solidFill>
                            <a:srgbClr val="272727"/>
                          </a:solidFill>
                          <a:latin typeface="方正兰亭超细黑简体"/>
                          <a:ea typeface="方正兰亭超细黑简体"/>
                        </a:rPr>
                        <a:t>100</a:t>
                      </a:r>
                      <a:r>
                        <a:rPr lang="zh-CN" sz="1600" b="1" kern="1200">
                          <a:solidFill>
                            <a:srgbClr val="272727"/>
                          </a:solidFill>
                          <a:latin typeface="方正兰亭超细黑简体"/>
                          <a:ea typeface="方正兰亭超细黑简体"/>
                        </a:rPr>
                        <a:t>）　</a:t>
                      </a:r>
                      <a:endParaRPr lang="zh-CN"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600" b="1" kern="1200">
                          <a:solidFill>
                            <a:srgbClr val="272727"/>
                          </a:solidFill>
                          <a:latin typeface="方正兰亭超细黑简体"/>
                          <a:ea typeface="方正兰亭超细黑简体"/>
                        </a:rPr>
                        <a:t>600</a:t>
                      </a:r>
                      <a:r>
                        <a:rPr lang="zh-CN" sz="1600" b="1" kern="1200">
                          <a:solidFill>
                            <a:srgbClr val="272727"/>
                          </a:solidFill>
                          <a:latin typeface="方正兰亭超细黑简体"/>
                          <a:ea typeface="方正兰亭超细黑简体"/>
                        </a:rPr>
                        <a:t>（机构</a:t>
                      </a:r>
                      <a:r>
                        <a:rPr lang="en-US" sz="1600" b="1" kern="1200">
                          <a:solidFill>
                            <a:srgbClr val="272727"/>
                          </a:solidFill>
                          <a:latin typeface="方正兰亭超细黑简体"/>
                          <a:ea typeface="方正兰亭超细黑简体"/>
                        </a:rPr>
                        <a:t>400</a:t>
                      </a:r>
                      <a:r>
                        <a:rPr lang="zh-CN" sz="1600" b="1" kern="1200">
                          <a:solidFill>
                            <a:srgbClr val="272727"/>
                          </a:solidFill>
                          <a:latin typeface="方正兰亭超细黑简体"/>
                          <a:ea typeface="方正兰亭超细黑简体"/>
                        </a:rPr>
                        <a:t>、个人</a:t>
                      </a:r>
                      <a:r>
                        <a:rPr lang="en-US" sz="1600" b="1" kern="1200">
                          <a:solidFill>
                            <a:srgbClr val="272727"/>
                          </a:solidFill>
                          <a:latin typeface="方正兰亭超细黑简体"/>
                          <a:ea typeface="方正兰亭超细黑简体"/>
                        </a:rPr>
                        <a:t>200</a:t>
                      </a:r>
                      <a:r>
                        <a:rPr lang="zh-CN" sz="1600" b="1" kern="1200">
                          <a:solidFill>
                            <a:srgbClr val="272727"/>
                          </a:solidFill>
                          <a:latin typeface="方正兰亭超细黑简体"/>
                          <a:ea typeface="方正兰亭超细黑简体"/>
                        </a:rPr>
                        <a:t>）</a:t>
                      </a:r>
                      <a:r>
                        <a:rPr lang="en-US" sz="1600" b="1" kern="1200">
                          <a:solidFill>
                            <a:srgbClr val="272727"/>
                          </a:solidFill>
                          <a:latin typeface="方正兰亭超细黑简体"/>
                          <a:ea typeface="方正兰亭超细黑简体"/>
                        </a:rPr>
                        <a:t> </a:t>
                      </a:r>
                      <a:endParaRPr lang="en-US" sz="16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sp>
        <p:nvSpPr>
          <p:cNvPr id="7" name="文本框 3"/>
          <p:cNvSpPr txBox="1"/>
          <p:nvPr/>
        </p:nvSpPr>
        <p:spPr>
          <a:xfrm>
            <a:off x="492333" y="1656920"/>
            <a:ext cx="11408229" cy="4461093"/>
          </a:xfrm>
          <a:prstGeom prst="rect">
            <a:avLst/>
          </a:prstGeom>
          <a:noFill/>
        </p:spPr>
        <p:txBody>
          <a:bodyPr wrap="square">
            <a:spAutoFit/>
          </a:bodyPr>
          <a:lstStyle/>
          <a:p>
            <a:pPr>
              <a:lnSpc>
                <a:spcPct val="150000"/>
              </a:lnSpc>
            </a:pPr>
            <a:r>
              <a:rPr lang="en-US" sz="2400" b="1"/>
              <a:t>1.</a:t>
            </a:r>
            <a:r>
              <a:rPr lang="zh-CN" sz="2400" b="1"/>
              <a:t>自主研发项目第一至五大类费用的计算</a:t>
            </a:r>
            <a:r>
              <a:rPr lang="en-US" sz="2400" b="1"/>
              <a:t>,</a:t>
            </a:r>
            <a:r>
              <a:rPr lang="zh-CN" sz="2400" b="1"/>
              <a:t>甲项目研发费用中第一至五项费用小计</a:t>
            </a:r>
            <a:r>
              <a:rPr lang="en-US" sz="2400" b="1"/>
              <a:t>195</a:t>
            </a:r>
            <a:r>
              <a:rPr lang="zh-CN" sz="2400" b="1"/>
              <a:t>万元；</a:t>
            </a:r>
            <a:endParaRPr lang="en-US" sz="2400" b="1"/>
          </a:p>
          <a:p>
            <a:pPr>
              <a:lnSpc>
                <a:spcPct val="150000"/>
              </a:lnSpc>
            </a:pPr>
            <a:r>
              <a:rPr lang="en-US" sz="2400" b="1"/>
              <a:t> 2.</a:t>
            </a:r>
            <a:r>
              <a:rPr lang="zh-CN" sz="2400" b="1"/>
              <a:t>自主研发项目其他相关费用的计算费用化的研发费用（甲项目），其他相关费用限额</a:t>
            </a:r>
            <a:r>
              <a:rPr lang="en-US" sz="2400" b="1"/>
              <a:t>=</a:t>
            </a:r>
            <a:r>
              <a:rPr lang="zh-CN" sz="2400" b="1"/>
              <a:t>按照甲项目第一至五项费用之和</a:t>
            </a:r>
            <a:r>
              <a:rPr lang="en-US" sz="2400" b="1"/>
              <a:t>×10%/(1-10%)=195×10%/(1-10%)=21.67</a:t>
            </a:r>
            <a:r>
              <a:rPr lang="zh-CN" sz="2400" b="1"/>
              <a:t>万元。甲项目（六）其他相关费用实际发生数</a:t>
            </a:r>
            <a:r>
              <a:rPr lang="en-US" sz="2400" b="1"/>
              <a:t>=5</a:t>
            </a:r>
            <a:r>
              <a:rPr lang="zh-CN" sz="2400" b="1"/>
              <a:t>万元。经限额调整后的其他相关费用</a:t>
            </a:r>
            <a:r>
              <a:rPr lang="en-US" sz="2400" b="1"/>
              <a:t>=</a:t>
            </a:r>
            <a:r>
              <a:rPr lang="zh-CN" sz="2400" b="1"/>
              <a:t>孰小值（</a:t>
            </a:r>
            <a:r>
              <a:rPr lang="en-US" sz="2400" b="1"/>
              <a:t>21.67</a:t>
            </a:r>
            <a:r>
              <a:rPr lang="zh-CN" sz="2400" b="1"/>
              <a:t>，</a:t>
            </a:r>
            <a:r>
              <a:rPr lang="en-US" sz="2400" b="1"/>
              <a:t>5</a:t>
            </a:r>
            <a:r>
              <a:rPr lang="zh-CN" sz="2400" b="1"/>
              <a:t>）</a:t>
            </a:r>
            <a:r>
              <a:rPr lang="en-US" sz="2400" b="1"/>
              <a:t>=5</a:t>
            </a:r>
            <a:r>
              <a:rPr lang="zh-CN" sz="2400" b="1"/>
              <a:t>万元。</a:t>
            </a:r>
            <a:endParaRPr lang="zh-CN" sz="2400" b="1"/>
          </a:p>
          <a:p>
            <a:pPr>
              <a:lnSpc>
                <a:spcPct val="150000"/>
              </a:lnSpc>
            </a:pPr>
            <a:r>
              <a:rPr lang="zh-CN" sz="2400" b="1"/>
              <a:t> </a:t>
            </a:r>
            <a:r>
              <a:rPr lang="en-US" sz="2400" b="1"/>
              <a:t>3.</a:t>
            </a:r>
            <a:r>
              <a:rPr lang="zh-CN" sz="2400" b="1"/>
              <a:t>自主研发项目本年研发费用金额的计算</a:t>
            </a:r>
            <a:endParaRPr lang="zh-CN" sz="2400" b="1"/>
          </a:p>
          <a:p>
            <a:pPr>
              <a:lnSpc>
                <a:spcPct val="150000"/>
              </a:lnSpc>
            </a:pPr>
            <a:r>
              <a:rPr lang="zh-CN" sz="2400" b="1"/>
              <a:t> 本年研发费用金额（甲项目）</a:t>
            </a:r>
            <a:r>
              <a:rPr lang="en-US" sz="2400" b="1"/>
              <a:t>=195+5=200</a:t>
            </a:r>
            <a:r>
              <a:rPr lang="zh-CN" sz="2400" b="1"/>
              <a:t>万元</a:t>
            </a:r>
            <a:endParaRPr lang="zh-CN" sz="2400" b="1"/>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sp>
        <p:nvSpPr>
          <p:cNvPr id="7" name="文本框 3"/>
          <p:cNvSpPr txBox="1"/>
          <p:nvPr/>
        </p:nvSpPr>
        <p:spPr>
          <a:xfrm>
            <a:off x="336947" y="979450"/>
            <a:ext cx="11593288" cy="5569089"/>
          </a:xfrm>
          <a:prstGeom prst="rect">
            <a:avLst/>
          </a:prstGeom>
          <a:noFill/>
        </p:spPr>
        <p:txBody>
          <a:bodyPr wrap="square">
            <a:spAutoFit/>
          </a:bodyPr>
          <a:lstStyle/>
          <a:p>
            <a:pPr>
              <a:lnSpc>
                <a:spcPct val="150000"/>
              </a:lnSpc>
            </a:pPr>
            <a:r>
              <a:rPr lang="en-US" sz="2400" b="1"/>
              <a:t>4.</a:t>
            </a:r>
            <a:r>
              <a:rPr lang="zh-CN" sz="2400" b="1"/>
              <a:t>委托研发项目研发费用的计算</a:t>
            </a:r>
            <a:endParaRPr lang="zh-CN" sz="2400" b="1"/>
          </a:p>
          <a:p>
            <a:pPr>
              <a:lnSpc>
                <a:spcPct val="150000"/>
              </a:lnSpc>
            </a:pPr>
            <a:r>
              <a:rPr lang="zh-CN" sz="2400" b="1"/>
              <a:t>（</a:t>
            </a:r>
            <a:r>
              <a:rPr lang="en-US" sz="2400" b="1"/>
              <a:t>1</a:t>
            </a:r>
            <a:r>
              <a:rPr lang="zh-CN" sz="2400" b="1"/>
              <a:t>）本年委托项目研发费用（乙项目）</a:t>
            </a:r>
            <a:r>
              <a:rPr lang="en-US" sz="2400" b="1"/>
              <a:t>=200*80%=160</a:t>
            </a:r>
            <a:r>
              <a:rPr lang="zh-CN" sz="2400" b="1"/>
              <a:t>万元。</a:t>
            </a:r>
            <a:endParaRPr lang="zh-CN" sz="2400" b="1"/>
          </a:p>
          <a:p>
            <a:pPr>
              <a:lnSpc>
                <a:spcPct val="150000"/>
              </a:lnSpc>
            </a:pPr>
            <a:r>
              <a:rPr lang="zh-CN" sz="2400" b="1"/>
              <a:t>（</a:t>
            </a:r>
            <a:r>
              <a:rPr lang="en-US" sz="2400" b="1"/>
              <a:t>2</a:t>
            </a:r>
            <a:r>
              <a:rPr lang="zh-CN" sz="2400" b="1"/>
              <a:t>）本年委托项目研发费用（丙项目）</a:t>
            </a:r>
            <a:r>
              <a:rPr lang="en-US" sz="2400" b="1"/>
              <a:t>=</a:t>
            </a:r>
            <a:r>
              <a:rPr lang="zh-CN" sz="2400" b="1"/>
              <a:t>（</a:t>
            </a:r>
            <a:r>
              <a:rPr lang="en-US" sz="2400" b="1"/>
              <a:t>600-200</a:t>
            </a:r>
            <a:r>
              <a:rPr lang="zh-CN" sz="2400" b="1"/>
              <a:t>）*</a:t>
            </a:r>
            <a:r>
              <a:rPr lang="en-US" sz="2400" b="1"/>
              <a:t>80%=320</a:t>
            </a:r>
            <a:r>
              <a:rPr lang="zh-CN" sz="2400" b="1"/>
              <a:t>万元（委托境外个人进行研发活动的研发费用不得加计扣除）。</a:t>
            </a:r>
            <a:endParaRPr lang="zh-CN" sz="2400" b="1"/>
          </a:p>
          <a:p>
            <a:pPr>
              <a:lnSpc>
                <a:spcPct val="150000"/>
              </a:lnSpc>
            </a:pPr>
            <a:r>
              <a:rPr lang="zh-CN" sz="2400" b="1"/>
              <a:t>本年委托境外机构研发费用扣除限额</a:t>
            </a:r>
            <a:r>
              <a:rPr lang="en-US" sz="2400" b="1"/>
              <a:t>=</a:t>
            </a:r>
            <a:r>
              <a:rPr lang="zh-CN" sz="2400" b="1"/>
              <a:t>（本年费用化金额（</a:t>
            </a:r>
            <a:r>
              <a:rPr lang="en-US" sz="2400" b="1"/>
              <a:t>200</a:t>
            </a:r>
            <a:r>
              <a:rPr lang="zh-CN" sz="2400" b="1"/>
              <a:t>）</a:t>
            </a:r>
            <a:r>
              <a:rPr lang="en-US" sz="2400" b="1"/>
              <a:t>+</a:t>
            </a:r>
            <a:r>
              <a:rPr lang="zh-CN" sz="2400" b="1"/>
              <a:t>本年委托境内机构和个人研发费用金额（</a:t>
            </a:r>
            <a:r>
              <a:rPr lang="en-US" sz="2400" b="1"/>
              <a:t>160</a:t>
            </a:r>
            <a:r>
              <a:rPr lang="zh-CN" sz="2400" b="1"/>
              <a:t>）））*</a:t>
            </a:r>
            <a:r>
              <a:rPr lang="en-US" sz="2400" b="1"/>
              <a:t>2/3=240</a:t>
            </a:r>
            <a:r>
              <a:rPr lang="zh-CN" sz="2400" b="1"/>
              <a:t>万元</a:t>
            </a:r>
            <a:endParaRPr lang="zh-CN" sz="2400" b="1"/>
          </a:p>
          <a:p>
            <a:pPr>
              <a:lnSpc>
                <a:spcPct val="150000"/>
              </a:lnSpc>
            </a:pPr>
            <a:r>
              <a:rPr lang="zh-CN" sz="2400" b="1"/>
              <a:t>本年委托境外机构研发费用扣除金额</a:t>
            </a:r>
            <a:r>
              <a:rPr lang="en-US" sz="2400" b="1"/>
              <a:t>=</a:t>
            </a:r>
            <a:r>
              <a:rPr lang="zh-CN" sz="2400" b="1"/>
              <a:t>孰小值（</a:t>
            </a:r>
            <a:r>
              <a:rPr lang="en-US" sz="2400" b="1"/>
              <a:t>320</a:t>
            </a:r>
            <a:r>
              <a:rPr lang="zh-CN" sz="2400" b="1"/>
              <a:t>，</a:t>
            </a:r>
            <a:r>
              <a:rPr lang="en-US" sz="2400" b="1"/>
              <a:t>240</a:t>
            </a:r>
            <a:r>
              <a:rPr lang="zh-CN" sz="2400" b="1"/>
              <a:t>）</a:t>
            </a:r>
            <a:r>
              <a:rPr lang="en-US" sz="2400" b="1"/>
              <a:t>=240</a:t>
            </a:r>
            <a:r>
              <a:rPr lang="zh-CN" sz="2400" b="1"/>
              <a:t>万元</a:t>
            </a:r>
            <a:endParaRPr lang="zh-CN" sz="2400" b="1"/>
          </a:p>
          <a:p>
            <a:pPr>
              <a:lnSpc>
                <a:spcPct val="150000"/>
              </a:lnSpc>
            </a:pPr>
            <a:r>
              <a:rPr lang="zh-CN" sz="2400" b="1"/>
              <a:t> </a:t>
            </a:r>
            <a:r>
              <a:rPr lang="en-US" sz="2400" b="1"/>
              <a:t>5.</a:t>
            </a:r>
            <a:r>
              <a:rPr lang="zh-CN" sz="2400" b="1"/>
              <a:t>允许扣除的研发费用合计</a:t>
            </a:r>
            <a:r>
              <a:rPr lang="en-US" sz="2400" b="1"/>
              <a:t>=</a:t>
            </a:r>
            <a:r>
              <a:rPr lang="zh-CN" sz="2400" b="1"/>
              <a:t>本年费用化金额（ </a:t>
            </a:r>
            <a:r>
              <a:rPr lang="en-US" sz="2400" b="1"/>
              <a:t>200+160 +240</a:t>
            </a:r>
            <a:r>
              <a:rPr lang="zh-CN" sz="2400" b="1"/>
              <a:t>）</a:t>
            </a:r>
            <a:r>
              <a:rPr lang="en-US" sz="2400" b="1"/>
              <a:t>=600</a:t>
            </a:r>
            <a:r>
              <a:rPr lang="zh-CN" sz="2400" b="1"/>
              <a:t>万元</a:t>
            </a:r>
            <a:endParaRPr lang="en-US" sz="2400" b="1"/>
          </a:p>
          <a:p>
            <a:pPr>
              <a:lnSpc>
                <a:spcPct val="150000"/>
              </a:lnSpc>
            </a:pPr>
            <a:r>
              <a:rPr lang="en-US" sz="2400" b="1"/>
              <a:t>6.</a:t>
            </a:r>
            <a:r>
              <a:rPr lang="zh-CN" sz="2400" b="1"/>
              <a:t>本年研发费用加计扣除总额</a:t>
            </a:r>
            <a:r>
              <a:rPr lang="en-US" sz="2400" b="1"/>
              <a:t>=</a:t>
            </a:r>
            <a:r>
              <a:rPr lang="zh-CN" sz="2400" b="1"/>
              <a:t>（允许扣除的研发费用合计</a:t>
            </a:r>
            <a:r>
              <a:rPr lang="en-US" sz="2400" b="1"/>
              <a:t>-</a:t>
            </a:r>
            <a:r>
              <a:rPr lang="zh-CN" sz="2400" b="1"/>
              <a:t>销售研发活动直接形成产品对应的材料费用）</a:t>
            </a:r>
            <a:r>
              <a:rPr lang="en-US" sz="2400" b="1"/>
              <a:t>×</a:t>
            </a:r>
            <a:r>
              <a:rPr lang="zh-CN" sz="2400" b="1"/>
              <a:t>加计扣除比例</a:t>
            </a:r>
            <a:r>
              <a:rPr lang="en-US" sz="2400" b="1"/>
              <a:t>=</a:t>
            </a:r>
            <a:r>
              <a:rPr lang="zh-CN" sz="2400" b="1"/>
              <a:t>（</a:t>
            </a:r>
            <a:r>
              <a:rPr lang="en-US" sz="2400" b="1"/>
              <a:t>600-50</a:t>
            </a:r>
            <a:r>
              <a:rPr lang="zh-CN" sz="2400" b="1"/>
              <a:t>）</a:t>
            </a:r>
            <a:r>
              <a:rPr lang="en-US" sz="2400" b="1"/>
              <a:t>×75%=412.5</a:t>
            </a:r>
            <a:r>
              <a:rPr lang="zh-CN" sz="2400" b="1"/>
              <a:t>万元。</a:t>
            </a:r>
            <a:endParaRPr lang="zh-CN" sz="2400" b="1"/>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graphicFrame>
        <p:nvGraphicFramePr>
          <p:cNvPr id="7" name="表格 6"/>
          <p:cNvGraphicFramePr/>
          <p:nvPr/>
        </p:nvGraphicFramePr>
        <p:xfrm>
          <a:off x="387606" y="2252427"/>
          <a:ext cx="10293566" cy="2217600"/>
        </p:xfrm>
        <a:graphic>
          <a:graphicData uri="http://schemas.openxmlformats.org/drawingml/2006/table">
            <a:tbl>
              <a:tblPr/>
              <a:tblGrid>
                <a:gridCol w="347729"/>
                <a:gridCol w="6297769"/>
                <a:gridCol w="1056068"/>
                <a:gridCol w="864000"/>
                <a:gridCol w="864000"/>
                <a:gridCol w="864000"/>
              </a:tblGrid>
              <a:tr h="298800">
                <a:tc>
                  <a:txBody>
                    <a:bodyPr/>
                    <a:lstStyle/>
                    <a:p>
                      <a:pPr algn="ctr"/>
                      <a:r>
                        <a:rPr lang="en-US" sz="1800" b="1" kern="1200">
                          <a:solidFill>
                            <a:srgbClr val="272727"/>
                          </a:solidFill>
                          <a:latin typeface="方正兰亭超细黑简体"/>
                          <a:ea typeface="方正兰亭超细黑简体"/>
                        </a:rPr>
                        <a:t>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本年可享受研发费用加计扣除项目数量</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gridSpan="3">
                  <a:txBody>
                    <a:bodyPr/>
                    <a:lstStyle/>
                    <a:p>
                      <a:pPr marL="0" indent="0" algn="ctr" defTabSz="1219200">
                        <a:lnSpc>
                          <a:spcPct val="100000"/>
                        </a:lnSpc>
                        <a:spcBef>
                          <a:spcPts val="0"/>
                        </a:spcBef>
                        <a:spcAft>
                          <a:spcPts val="0"/>
                        </a:spcAft>
                        <a:buNone/>
                      </a:pPr>
                      <a:r>
                        <a:rPr lang="zh-CN" sz="1800" b="1" kern="1200">
                          <a:solidFill>
                            <a:srgbClr val="272727"/>
                          </a:solidFill>
                          <a:latin typeface="方正兰亭超细黑简体"/>
                          <a:ea typeface="方正兰亭超细黑简体"/>
                        </a:rPr>
                        <a:t>计算过程</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98800">
                <a:tc gridSpan="3">
                  <a:txBody>
                    <a:bodyPr/>
                    <a:lstStyle/>
                    <a:p>
                      <a:pPr algn="ct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a:tc>
                <a:tc hMerge="1">
                  <a:tcPr/>
                </a:tc>
                <a:tc>
                  <a:txBody>
                    <a:bodyPr/>
                    <a:lstStyle/>
                    <a:p>
                      <a:pPr algn="ctr"/>
                      <a:r>
                        <a:rPr lang="zh-CN" sz="1800" b="1" kern="1200">
                          <a:solidFill>
                            <a:srgbClr val="272727"/>
                          </a:solidFill>
                          <a:latin typeface="方正兰亭超细黑简体"/>
                          <a:ea typeface="方正兰亭超细黑简体"/>
                        </a:rPr>
                        <a:t>甲</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2</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一、自主研发、合作研发、集中研发（</a:t>
                      </a:r>
                      <a:r>
                        <a:rPr lang="en-US" sz="1800" b="1" kern="1200">
                          <a:solidFill>
                            <a:srgbClr val="272727"/>
                          </a:solidFill>
                          <a:latin typeface="方正兰亭超细黑简体"/>
                          <a:ea typeface="方正兰亭超细黑简体"/>
                        </a:rPr>
                        <a:t>3+7+16+19+23+34</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（一）人员人工费用（</a:t>
                      </a:r>
                      <a:r>
                        <a:rPr lang="en-US" sz="1800" b="1" kern="1200">
                          <a:solidFill>
                            <a:srgbClr val="272727"/>
                          </a:solidFill>
                          <a:latin typeface="方正兰亭超细黑简体"/>
                          <a:ea typeface="方正兰亭超细黑简体"/>
                        </a:rPr>
                        <a:t>4+5+6</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4</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a:t>
                      </a:r>
                      <a:r>
                        <a:rPr lang="en-US" sz="1800" b="1" kern="1200" baseline="0">
                          <a:solidFill>
                            <a:srgbClr val="272727"/>
                          </a:solidFill>
                          <a:latin typeface="方正兰亭超细黑简体"/>
                          <a:ea typeface="方正兰亭超细黑简体"/>
                        </a:rPr>
                        <a:t> </a:t>
                      </a:r>
                      <a:r>
                        <a:rPr lang="en-US" sz="1800" b="1" kern="1200">
                          <a:solidFill>
                            <a:srgbClr val="272727"/>
                          </a:solidFill>
                          <a:latin typeface="方正兰亭超细黑简体"/>
                          <a:ea typeface="方正兰亭超细黑简体"/>
                        </a:rPr>
                        <a:t>1.</a:t>
                      </a:r>
                      <a:r>
                        <a:rPr lang="zh-CN" sz="1800" b="1" kern="1200">
                          <a:solidFill>
                            <a:srgbClr val="272727"/>
                          </a:solidFill>
                          <a:latin typeface="方正兰亭超细黑简体"/>
                          <a:ea typeface="方正兰亭超细黑简体"/>
                        </a:rPr>
                        <a:t>直接从事研发活动人员工资薪金</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5</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2.</a:t>
                      </a:r>
                      <a:r>
                        <a:rPr lang="zh-CN" sz="1800" b="1" kern="1200">
                          <a:solidFill>
                            <a:srgbClr val="272727"/>
                          </a:solidFill>
                          <a:latin typeface="方正兰亭超细黑简体"/>
                          <a:ea typeface="方正兰亭超细黑简体"/>
                        </a:rPr>
                        <a:t>直接从事研发活动人员五险一金</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6</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3.</a:t>
                      </a:r>
                      <a:r>
                        <a:rPr lang="zh-CN" sz="1800" b="1" kern="1200">
                          <a:solidFill>
                            <a:srgbClr val="272727"/>
                          </a:solidFill>
                          <a:latin typeface="方正兰亭超细黑简体"/>
                          <a:ea typeface="方正兰亭超细黑简体"/>
                        </a:rPr>
                        <a:t>外聘研发人员的劳务费用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
        <p:nvSpPr>
          <p:cNvPr id="8" name="矩形 7"/>
          <p:cNvSpPr/>
          <p:nvPr/>
        </p:nvSpPr>
        <p:spPr>
          <a:xfrm>
            <a:off x="7031747" y="317334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80</a:t>
            </a:r>
            <a:endParaRPr lang="en-US" sz="1600">
              <a:solidFill>
                <a:srgbClr val="272727"/>
              </a:solidFill>
              <a:latin typeface="微软雅黑" panose="020B0503020204020204" charset="-122"/>
              <a:ea typeface="方正兰亭超细黑简体"/>
            </a:endParaRPr>
          </a:p>
        </p:txBody>
      </p:sp>
      <p:sp>
        <p:nvSpPr>
          <p:cNvPr id="9" name="矩形 8"/>
          <p:cNvSpPr/>
          <p:nvPr/>
        </p:nvSpPr>
        <p:spPr>
          <a:xfrm>
            <a:off x="7066066" y="352226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a:t>
            </a:r>
            <a:endParaRPr lang="en-US" sz="1600">
              <a:solidFill>
                <a:srgbClr val="272727"/>
              </a:solidFill>
              <a:latin typeface="微软雅黑" panose="020B0503020204020204" charset="-122"/>
              <a:ea typeface="方正兰亭超细黑简体"/>
            </a:endParaRPr>
          </a:p>
        </p:txBody>
      </p:sp>
      <p:sp>
        <p:nvSpPr>
          <p:cNvPr id="10" name="矩形 9"/>
          <p:cNvSpPr/>
          <p:nvPr/>
        </p:nvSpPr>
        <p:spPr>
          <a:xfrm>
            <a:off x="7072694" y="388483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a:t>
            </a:r>
            <a:endParaRPr lang="en-US" sz="1600">
              <a:solidFill>
                <a:srgbClr val="272727"/>
              </a:solidFill>
              <a:latin typeface="微软雅黑" panose="020B0503020204020204" charset="-122"/>
              <a:ea typeface="方正兰亭超细黑简体"/>
            </a:endParaRPr>
          </a:p>
        </p:txBody>
      </p:sp>
      <p:sp>
        <p:nvSpPr>
          <p:cNvPr id="12" name="矩形 11"/>
          <p:cNvSpPr/>
          <p:nvPr/>
        </p:nvSpPr>
        <p:spPr>
          <a:xfrm>
            <a:off x="7066070" y="424740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3" name="矩形 12"/>
          <p:cNvSpPr/>
          <p:nvPr/>
        </p:nvSpPr>
        <p:spPr>
          <a:xfrm>
            <a:off x="7891723" y="317120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80</a:t>
            </a:r>
            <a:endParaRPr lang="en-US" sz="1600">
              <a:solidFill>
                <a:srgbClr val="272727"/>
              </a:solidFill>
              <a:latin typeface="微软雅黑" panose="020B0503020204020204" charset="-122"/>
              <a:ea typeface="方正兰亭超细黑简体"/>
            </a:endParaRPr>
          </a:p>
        </p:txBody>
      </p:sp>
      <p:sp>
        <p:nvSpPr>
          <p:cNvPr id="14" name="矩形 13"/>
          <p:cNvSpPr/>
          <p:nvPr/>
        </p:nvSpPr>
        <p:spPr>
          <a:xfrm>
            <a:off x="7939690" y="352012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a:t>
            </a:r>
            <a:endParaRPr lang="en-US" sz="1600">
              <a:solidFill>
                <a:srgbClr val="272727"/>
              </a:solidFill>
              <a:latin typeface="微软雅黑" panose="020B0503020204020204" charset="-122"/>
              <a:ea typeface="方正兰亭超细黑简体"/>
            </a:endParaRPr>
          </a:p>
        </p:txBody>
      </p:sp>
      <p:sp>
        <p:nvSpPr>
          <p:cNvPr id="15" name="矩形 14"/>
          <p:cNvSpPr/>
          <p:nvPr/>
        </p:nvSpPr>
        <p:spPr>
          <a:xfrm>
            <a:off x="7946318" y="388268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a:t>
            </a:r>
            <a:endParaRPr lang="en-US" sz="1600">
              <a:solidFill>
                <a:srgbClr val="272727"/>
              </a:solidFill>
              <a:latin typeface="微软雅黑" panose="020B0503020204020204" charset="-122"/>
              <a:ea typeface="方正兰亭超细黑简体"/>
            </a:endParaRPr>
          </a:p>
        </p:txBody>
      </p:sp>
      <p:sp>
        <p:nvSpPr>
          <p:cNvPr id="16" name="矩形 15"/>
          <p:cNvSpPr/>
          <p:nvPr/>
        </p:nvSpPr>
        <p:spPr>
          <a:xfrm>
            <a:off x="7939694" y="424525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7" name="矩形 16"/>
          <p:cNvSpPr/>
          <p:nvPr/>
        </p:nvSpPr>
        <p:spPr>
          <a:xfrm>
            <a:off x="8807059" y="3155405"/>
            <a:ext cx="1470992" cy="278296"/>
          </a:xfrm>
          <a:prstGeom prst="rect">
            <a:avLst/>
          </a:prstGeom>
          <a:noFill/>
          <a:ln>
            <a:noFill/>
          </a:ln>
        </p:spPr>
        <p:txBody>
          <a:bodyPr anchor="ctr"/>
          <a:lstStyle/>
          <a:p>
            <a:pPr algn="ctr"/>
            <a:endParaRPr lang="en-US" sz="1600">
              <a:solidFill>
                <a:srgbClr val="272727"/>
              </a:solidFill>
              <a:latin typeface="微软雅黑" panose="020B0503020204020204" charset="-122"/>
              <a:ea typeface="方正兰亭超细黑简体"/>
            </a:endParaRPr>
          </a:p>
        </p:txBody>
      </p:sp>
      <p:sp>
        <p:nvSpPr>
          <p:cNvPr id="19" name="矩形 18"/>
          <p:cNvSpPr/>
          <p:nvPr/>
        </p:nvSpPr>
        <p:spPr>
          <a:xfrm>
            <a:off x="9653388" y="319420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0" name="矩形 19"/>
          <p:cNvSpPr/>
          <p:nvPr/>
        </p:nvSpPr>
        <p:spPr>
          <a:xfrm>
            <a:off x="9674059" y="351582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1" name="矩形 20"/>
          <p:cNvSpPr/>
          <p:nvPr/>
        </p:nvSpPr>
        <p:spPr>
          <a:xfrm>
            <a:off x="9680687" y="387839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2" name="矩形 21"/>
          <p:cNvSpPr/>
          <p:nvPr/>
        </p:nvSpPr>
        <p:spPr>
          <a:xfrm>
            <a:off x="9674063" y="424095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7" name="矩形 26"/>
          <p:cNvSpPr/>
          <p:nvPr/>
        </p:nvSpPr>
        <p:spPr>
          <a:xfrm>
            <a:off x="8633624" y="315386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8" name="矩形 27"/>
          <p:cNvSpPr/>
          <p:nvPr/>
        </p:nvSpPr>
        <p:spPr>
          <a:xfrm>
            <a:off x="8649428" y="352012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9" name="矩形 28"/>
          <p:cNvSpPr/>
          <p:nvPr/>
        </p:nvSpPr>
        <p:spPr>
          <a:xfrm>
            <a:off x="8681477" y="384299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0" name="矩形 29"/>
          <p:cNvSpPr/>
          <p:nvPr/>
        </p:nvSpPr>
        <p:spPr>
          <a:xfrm>
            <a:off x="8675145" y="424525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 name="内容占位符 2"/>
          <p:cNvSpPr/>
          <p:nvPr>
            <p:ph idx="13"/>
          </p:nvPr>
        </p:nvSpPr>
        <p:spPr/>
        <p:txBody>
          <a:bodyPr/>
          <a:lstStyle/>
          <a:p>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graphicFrame>
        <p:nvGraphicFramePr>
          <p:cNvPr id="59" name="表格 58"/>
          <p:cNvGraphicFramePr/>
          <p:nvPr/>
        </p:nvGraphicFramePr>
        <p:xfrm>
          <a:off x="540003" y="1667284"/>
          <a:ext cx="10293566" cy="4763704"/>
        </p:xfrm>
        <a:graphic>
          <a:graphicData uri="http://schemas.openxmlformats.org/drawingml/2006/table">
            <a:tbl>
              <a:tblPr/>
              <a:tblGrid>
                <a:gridCol w="347729"/>
                <a:gridCol w="6297769"/>
                <a:gridCol w="1056068"/>
                <a:gridCol w="864000"/>
                <a:gridCol w="864000"/>
                <a:gridCol w="864000"/>
              </a:tblGrid>
              <a:tr h="326344">
                <a:tc>
                  <a:txBody>
                    <a:bodyPr/>
                    <a:lstStyle/>
                    <a:p>
                      <a:pPr algn="ctr"/>
                      <a:r>
                        <a:rPr lang="en-US" sz="1800" b="1" kern="1200">
                          <a:solidFill>
                            <a:srgbClr val="272727"/>
                          </a:solidFill>
                          <a:latin typeface="方正兰亭超细黑简体"/>
                          <a:ea typeface="方正兰亭超细黑简体"/>
                        </a:rPr>
                        <a:t>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本年可享受研发费用加计扣除项目数量</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gridSpan="3">
                  <a:txBody>
                    <a:bodyPr/>
                    <a:lstStyle/>
                    <a:p>
                      <a:pPr marL="0" indent="0" algn="ctr" defTabSz="1219200">
                        <a:lnSpc>
                          <a:spcPct val="100000"/>
                        </a:lnSpc>
                        <a:spcBef>
                          <a:spcPts val="0"/>
                        </a:spcBef>
                        <a:spcAft>
                          <a:spcPts val="0"/>
                        </a:spcAft>
                        <a:buNone/>
                      </a:pPr>
                      <a:r>
                        <a:rPr lang="zh-CN" sz="1800" b="1" kern="1200">
                          <a:solidFill>
                            <a:srgbClr val="272727"/>
                          </a:solidFill>
                          <a:latin typeface="方正兰亭超细黑简体"/>
                          <a:ea typeface="方正兰亭超细黑简体"/>
                        </a:rPr>
                        <a:t>计算过程</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98800">
                <a:tc gridSpan="3">
                  <a:txBody>
                    <a:bodyPr/>
                    <a:lstStyle/>
                    <a:p>
                      <a:pPr algn="ct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a:tc>
                <a:tc hMerge="1">
                  <a:tcPr/>
                </a:tc>
                <a:tc>
                  <a:txBody>
                    <a:bodyPr/>
                    <a:lstStyle/>
                    <a:p>
                      <a:pPr algn="ctr"/>
                      <a:r>
                        <a:rPr lang="zh-CN" sz="1800" b="1" kern="1200">
                          <a:solidFill>
                            <a:srgbClr val="272727"/>
                          </a:solidFill>
                          <a:latin typeface="方正兰亭超细黑简体"/>
                          <a:ea typeface="方正兰亭超细黑简体"/>
                        </a:rPr>
                        <a:t>甲</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一、自主研发、合作研发、集中研发（</a:t>
                      </a:r>
                      <a:r>
                        <a:rPr lang="en-US" sz="1800" b="1" kern="1200">
                          <a:solidFill>
                            <a:srgbClr val="272727"/>
                          </a:solidFill>
                          <a:latin typeface="方正兰亭超细黑简体"/>
                          <a:ea typeface="方正兰亭超细黑简体"/>
                        </a:rPr>
                        <a:t>3+7+16+19+23+34</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7</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（二）直接投入费用（</a:t>
                      </a:r>
                      <a:r>
                        <a:rPr lang="en-US" sz="1800" b="1" kern="1200">
                          <a:solidFill>
                            <a:srgbClr val="272727"/>
                          </a:solidFill>
                          <a:latin typeface="方正兰亭超细黑简体"/>
                          <a:ea typeface="方正兰亭超细黑简体"/>
                        </a:rPr>
                        <a:t>8+9+…+15</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8</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1.</a:t>
                      </a:r>
                      <a:r>
                        <a:rPr lang="zh-CN" sz="1800" b="1" kern="1200">
                          <a:solidFill>
                            <a:srgbClr val="272727"/>
                          </a:solidFill>
                          <a:latin typeface="方正兰亭超细黑简体"/>
                          <a:ea typeface="方正兰亭超细黑简体"/>
                        </a:rPr>
                        <a:t>研发活动直接消耗材料</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9</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2.</a:t>
                      </a:r>
                      <a:r>
                        <a:rPr lang="zh-CN" sz="1800" b="1" kern="1200">
                          <a:solidFill>
                            <a:srgbClr val="272727"/>
                          </a:solidFill>
                          <a:latin typeface="方正兰亭超细黑简体"/>
                          <a:ea typeface="方正兰亭超细黑简体"/>
                        </a:rPr>
                        <a:t>研发活动直接消耗燃料</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10</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3.</a:t>
                      </a:r>
                      <a:r>
                        <a:rPr lang="zh-CN" sz="1800" b="1" kern="1200">
                          <a:solidFill>
                            <a:srgbClr val="272727"/>
                          </a:solidFill>
                          <a:latin typeface="方正兰亭超细黑简体"/>
                          <a:ea typeface="方正兰亭超细黑简体"/>
                        </a:rPr>
                        <a:t>研发活动直接消耗动力费用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11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4.</a:t>
                      </a:r>
                      <a:r>
                        <a:rPr lang="zh-CN" sz="1800" b="1" kern="1200">
                          <a:solidFill>
                            <a:srgbClr val="272727"/>
                          </a:solidFill>
                          <a:latin typeface="方正兰亭超细黑简体"/>
                          <a:ea typeface="方正兰亭超细黑简体"/>
                        </a:rPr>
                        <a:t>用于中间试验和产品试制的模具、工艺装备开发及制造费</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12</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5.</a:t>
                      </a:r>
                      <a:r>
                        <a:rPr lang="zh-CN" sz="1800" b="1" kern="1200">
                          <a:solidFill>
                            <a:srgbClr val="272727"/>
                          </a:solidFill>
                          <a:latin typeface="方正兰亭超细黑简体"/>
                          <a:ea typeface="方正兰亭超细黑简体"/>
                        </a:rPr>
                        <a:t>用于不构成固定资产的样品、样机及一般测试手段购置费</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4000">
                <a:tc>
                  <a:txBody>
                    <a:bodyPr/>
                    <a:lstStyle/>
                    <a:p>
                      <a:pPr algn="ctr"/>
                      <a:r>
                        <a:rPr lang="en-US" sz="1800" b="1" kern="1200">
                          <a:solidFill>
                            <a:srgbClr val="272727"/>
                          </a:solidFill>
                          <a:latin typeface="方正兰亭超细黑简体"/>
                          <a:ea typeface="方正兰亭超细黑简体"/>
                        </a:rPr>
                        <a:t>13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6.</a:t>
                      </a:r>
                      <a:r>
                        <a:rPr lang="zh-CN" sz="1800" b="1" kern="1200">
                          <a:solidFill>
                            <a:srgbClr val="272727"/>
                          </a:solidFill>
                          <a:latin typeface="方正兰亭超细黑简体"/>
                          <a:ea typeface="方正兰亭超细黑简体"/>
                        </a:rPr>
                        <a:t>用于试制产品的检验费</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298800">
                <a:tc>
                  <a:txBody>
                    <a:bodyPr/>
                    <a:lstStyle/>
                    <a:p>
                      <a:pPr algn="ctr"/>
                      <a:r>
                        <a:rPr lang="en-US" sz="1800" b="1" kern="1200">
                          <a:solidFill>
                            <a:srgbClr val="272727"/>
                          </a:solidFill>
                          <a:latin typeface="方正兰亭超细黑简体"/>
                          <a:ea typeface="方正兰亭超细黑简体"/>
                        </a:rPr>
                        <a:t>14</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7.</a:t>
                      </a:r>
                      <a:r>
                        <a:rPr lang="zh-CN" sz="1800" b="1" kern="1200">
                          <a:solidFill>
                            <a:srgbClr val="272727"/>
                          </a:solidFill>
                          <a:latin typeface="方正兰亭超细黑简体"/>
                          <a:ea typeface="方正兰亭超细黑简体"/>
                        </a:rPr>
                        <a:t>用于研发活动的仪器、设备的运行维护、调整、检验、维修等费用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15</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        8.</a:t>
                      </a:r>
                      <a:r>
                        <a:rPr lang="zh-CN" sz="1800" b="1" kern="1200">
                          <a:solidFill>
                            <a:srgbClr val="272727"/>
                          </a:solidFill>
                          <a:latin typeface="方正兰亭超细黑简体"/>
                          <a:ea typeface="方正兰亭超细黑简体"/>
                        </a:rPr>
                        <a:t>通过经营租赁方式租入的用于研发活动的仪器、设备租赁费</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
        <p:nvSpPr>
          <p:cNvPr id="60" name="矩形 59"/>
          <p:cNvSpPr/>
          <p:nvPr/>
        </p:nvSpPr>
        <p:spPr>
          <a:xfrm>
            <a:off x="7002252" y="266671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25</a:t>
            </a:r>
            <a:endParaRPr lang="en-US" sz="1600">
              <a:solidFill>
                <a:srgbClr val="272727"/>
              </a:solidFill>
              <a:latin typeface="微软雅黑" panose="020B0503020204020204" charset="-122"/>
              <a:ea typeface="方正兰亭超细黑简体"/>
            </a:endParaRPr>
          </a:p>
        </p:txBody>
      </p:sp>
      <p:sp>
        <p:nvSpPr>
          <p:cNvPr id="61" name="矩形 60"/>
          <p:cNvSpPr/>
          <p:nvPr/>
        </p:nvSpPr>
        <p:spPr>
          <a:xfrm>
            <a:off x="6996962" y="298906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15</a:t>
            </a:r>
            <a:endParaRPr lang="en-US" sz="1600">
              <a:solidFill>
                <a:srgbClr val="272727"/>
              </a:solidFill>
              <a:latin typeface="微软雅黑" panose="020B0503020204020204" charset="-122"/>
              <a:ea typeface="方正兰亭超细黑简体"/>
            </a:endParaRPr>
          </a:p>
        </p:txBody>
      </p:sp>
      <p:sp>
        <p:nvSpPr>
          <p:cNvPr id="62" name="矩形 61"/>
          <p:cNvSpPr/>
          <p:nvPr/>
        </p:nvSpPr>
        <p:spPr>
          <a:xfrm>
            <a:off x="7003585" y="332361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63" name="矩形 62"/>
          <p:cNvSpPr/>
          <p:nvPr/>
        </p:nvSpPr>
        <p:spPr>
          <a:xfrm>
            <a:off x="6983314" y="368234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4" name="矩形 63"/>
          <p:cNvSpPr/>
          <p:nvPr/>
        </p:nvSpPr>
        <p:spPr>
          <a:xfrm>
            <a:off x="6989950" y="410629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5" name="矩形 64"/>
          <p:cNvSpPr/>
          <p:nvPr/>
        </p:nvSpPr>
        <p:spPr>
          <a:xfrm>
            <a:off x="6983314" y="462346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6" name="矩形 65"/>
          <p:cNvSpPr/>
          <p:nvPr/>
        </p:nvSpPr>
        <p:spPr>
          <a:xfrm>
            <a:off x="6988605" y="5089203"/>
            <a:ext cx="1470992" cy="229210"/>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67" name="矩形 66"/>
          <p:cNvSpPr/>
          <p:nvPr/>
        </p:nvSpPr>
        <p:spPr>
          <a:xfrm>
            <a:off x="7006772" y="551484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8" name="矩形 67"/>
          <p:cNvSpPr/>
          <p:nvPr/>
        </p:nvSpPr>
        <p:spPr>
          <a:xfrm>
            <a:off x="6989938" y="601540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9" name="矩形 68"/>
          <p:cNvSpPr/>
          <p:nvPr/>
        </p:nvSpPr>
        <p:spPr>
          <a:xfrm>
            <a:off x="7863566" y="266549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25</a:t>
            </a:r>
            <a:endParaRPr lang="en-US" sz="1600">
              <a:solidFill>
                <a:srgbClr val="272727"/>
              </a:solidFill>
              <a:latin typeface="微软雅黑" panose="020B0503020204020204" charset="-122"/>
              <a:ea typeface="方正兰亭超细黑简体"/>
            </a:endParaRPr>
          </a:p>
        </p:txBody>
      </p:sp>
      <p:sp>
        <p:nvSpPr>
          <p:cNvPr id="70" name="矩形 69"/>
          <p:cNvSpPr/>
          <p:nvPr/>
        </p:nvSpPr>
        <p:spPr>
          <a:xfrm>
            <a:off x="7856942" y="299984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15</a:t>
            </a:r>
            <a:endParaRPr lang="en-US" sz="1600">
              <a:solidFill>
                <a:srgbClr val="272727"/>
              </a:solidFill>
              <a:latin typeface="微软雅黑" panose="020B0503020204020204" charset="-122"/>
              <a:ea typeface="方正兰亭超细黑简体"/>
            </a:endParaRPr>
          </a:p>
        </p:txBody>
      </p:sp>
      <p:sp>
        <p:nvSpPr>
          <p:cNvPr id="71" name="矩形 70"/>
          <p:cNvSpPr/>
          <p:nvPr/>
        </p:nvSpPr>
        <p:spPr>
          <a:xfrm>
            <a:off x="7877214" y="333511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72" name="矩形 71"/>
          <p:cNvSpPr/>
          <p:nvPr/>
        </p:nvSpPr>
        <p:spPr>
          <a:xfrm>
            <a:off x="7856942" y="367153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3" name="矩形 72"/>
          <p:cNvSpPr/>
          <p:nvPr/>
        </p:nvSpPr>
        <p:spPr>
          <a:xfrm>
            <a:off x="7863574" y="409049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4" name="矩形 73"/>
          <p:cNvSpPr/>
          <p:nvPr/>
        </p:nvSpPr>
        <p:spPr>
          <a:xfrm>
            <a:off x="7895751" y="463465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5" name="矩形 74"/>
          <p:cNvSpPr/>
          <p:nvPr/>
        </p:nvSpPr>
        <p:spPr>
          <a:xfrm>
            <a:off x="7874296" y="507741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76" name="矩形 75"/>
          <p:cNvSpPr/>
          <p:nvPr/>
        </p:nvSpPr>
        <p:spPr>
          <a:xfrm>
            <a:off x="7887944" y="549551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7" name="矩形 76"/>
          <p:cNvSpPr/>
          <p:nvPr/>
        </p:nvSpPr>
        <p:spPr>
          <a:xfrm>
            <a:off x="7874296" y="604643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8" name="矩形 77"/>
          <p:cNvSpPr/>
          <p:nvPr/>
        </p:nvSpPr>
        <p:spPr>
          <a:xfrm>
            <a:off x="9597931" y="267499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9" name="矩形 78"/>
          <p:cNvSpPr/>
          <p:nvPr/>
        </p:nvSpPr>
        <p:spPr>
          <a:xfrm>
            <a:off x="9604959" y="299837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80" name="矩形 79"/>
          <p:cNvSpPr/>
          <p:nvPr/>
        </p:nvSpPr>
        <p:spPr>
          <a:xfrm>
            <a:off x="9611579" y="337101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81" name="矩形 80"/>
          <p:cNvSpPr/>
          <p:nvPr/>
        </p:nvSpPr>
        <p:spPr>
          <a:xfrm>
            <a:off x="9604959" y="3641743"/>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82" name="矩形 81"/>
          <p:cNvSpPr/>
          <p:nvPr/>
        </p:nvSpPr>
        <p:spPr>
          <a:xfrm>
            <a:off x="9597943" y="407255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83" name="矩形 82"/>
          <p:cNvSpPr/>
          <p:nvPr/>
        </p:nvSpPr>
        <p:spPr>
          <a:xfrm>
            <a:off x="9619220" y="465552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84" name="矩形 83"/>
          <p:cNvSpPr/>
          <p:nvPr/>
        </p:nvSpPr>
        <p:spPr>
          <a:xfrm>
            <a:off x="9630668" y="507129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85" name="矩形 84"/>
          <p:cNvSpPr/>
          <p:nvPr/>
        </p:nvSpPr>
        <p:spPr>
          <a:xfrm>
            <a:off x="9619220" y="5507877"/>
            <a:ext cx="1470992" cy="278296"/>
          </a:xfrm>
          <a:prstGeom prst="rect">
            <a:avLst/>
          </a:prstGeom>
          <a:noFill/>
          <a:ln>
            <a:noFill/>
          </a:ln>
        </p:spPr>
        <p:txBody>
          <a:bodyPr anchor="ctr"/>
          <a:lstStyle/>
          <a:p>
            <a:pPr algn="ctr"/>
            <a:endParaRPr lang="en-US" sz="1600">
              <a:solidFill>
                <a:srgbClr val="272727"/>
              </a:solidFill>
              <a:latin typeface="微软雅黑" panose="020B0503020204020204" charset="-122"/>
              <a:ea typeface="方正兰亭超细黑简体"/>
            </a:endParaRPr>
          </a:p>
        </p:txBody>
      </p:sp>
      <p:sp>
        <p:nvSpPr>
          <p:cNvPr id="86" name="矩形 85"/>
          <p:cNvSpPr/>
          <p:nvPr/>
        </p:nvSpPr>
        <p:spPr>
          <a:xfrm>
            <a:off x="9597931" y="603863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96" name="矩形 95"/>
          <p:cNvSpPr/>
          <p:nvPr/>
        </p:nvSpPr>
        <p:spPr>
          <a:xfrm>
            <a:off x="8831637" y="269005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97" name="矩形 96"/>
          <p:cNvSpPr/>
          <p:nvPr/>
        </p:nvSpPr>
        <p:spPr>
          <a:xfrm>
            <a:off x="8831155" y="300010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98" name="矩形 97"/>
          <p:cNvSpPr/>
          <p:nvPr/>
        </p:nvSpPr>
        <p:spPr>
          <a:xfrm>
            <a:off x="8814872" y="335151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99" name="矩形 98"/>
          <p:cNvSpPr/>
          <p:nvPr/>
        </p:nvSpPr>
        <p:spPr>
          <a:xfrm>
            <a:off x="8828464" y="366064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00" name="矩形 99"/>
          <p:cNvSpPr/>
          <p:nvPr/>
        </p:nvSpPr>
        <p:spPr>
          <a:xfrm>
            <a:off x="8855760" y="408302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01" name="矩形 100"/>
          <p:cNvSpPr/>
          <p:nvPr/>
        </p:nvSpPr>
        <p:spPr>
          <a:xfrm>
            <a:off x="8884661" y="464375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02" name="矩形 101"/>
          <p:cNvSpPr/>
          <p:nvPr/>
        </p:nvSpPr>
        <p:spPr>
          <a:xfrm>
            <a:off x="8869407" y="507835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03" name="矩形 102"/>
          <p:cNvSpPr/>
          <p:nvPr/>
        </p:nvSpPr>
        <p:spPr>
          <a:xfrm>
            <a:off x="8898309" y="549039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04" name="矩形 103"/>
          <p:cNvSpPr/>
          <p:nvPr/>
        </p:nvSpPr>
        <p:spPr>
          <a:xfrm>
            <a:off x="8884661" y="603562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53" name="矩形 52"/>
          <p:cNvSpPr/>
          <p:nvPr/>
        </p:nvSpPr>
        <p:spPr>
          <a:xfrm>
            <a:off x="9615428" y="546753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 name="内容占位符 2"/>
          <p:cNvSpPr/>
          <p:nvPr>
            <p:ph idx="13"/>
          </p:nvPr>
        </p:nvSpPr>
        <p:spPr/>
        <p:txBody>
          <a:bodyPr/>
          <a:lstStyle/>
          <a:p>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0"/>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74"/>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76"/>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79"/>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nodeType="afterEffect">
                                  <p:stCondLst>
                                    <p:cond delay="0"/>
                                  </p:stCondLst>
                                  <p:childTnLst>
                                    <p:set>
                                      <p:cBhvr>
                                        <p:cTn id="60" dur="1" fill="hold">
                                          <p:stCondLst>
                                            <p:cond delay="0"/>
                                          </p:stCondLst>
                                        </p:cTn>
                                        <p:tgtEl>
                                          <p:spTgt spid="80"/>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81"/>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nodeType="afterEffect">
                                  <p:stCondLst>
                                    <p:cond delay="0"/>
                                  </p:stCondLst>
                                  <p:childTnLst>
                                    <p:set>
                                      <p:cBhvr>
                                        <p:cTn id="66" dur="1" fill="hold">
                                          <p:stCondLst>
                                            <p:cond delay="0"/>
                                          </p:stCondLst>
                                        </p:cTn>
                                        <p:tgtEl>
                                          <p:spTgt spid="82"/>
                                        </p:tgtEl>
                                        <p:attrNameLst>
                                          <p:attrName>style.visibility</p:attrName>
                                        </p:attrNameLst>
                                      </p:cBhvr>
                                      <p:to>
                                        <p:strVal val="visible"/>
                                      </p:to>
                                    </p:set>
                                  </p:childTnLst>
                                </p:cTn>
                              </p:par>
                            </p:childTnLst>
                          </p:cTn>
                        </p:par>
                        <p:par>
                          <p:cTn id="67" fill="hold">
                            <p:stCondLst>
                              <p:cond delay="0"/>
                            </p:stCondLst>
                            <p:childTnLst>
                              <p:par>
                                <p:cTn id="68" presetID="1" presetClass="entr" presetSubtype="0" fill="hold" nodeType="afterEffect">
                                  <p:stCondLst>
                                    <p:cond delay="0"/>
                                  </p:stCondLst>
                                  <p:childTnLst>
                                    <p:set>
                                      <p:cBhvr>
                                        <p:cTn id="69" dur="1" fill="hold">
                                          <p:stCondLst>
                                            <p:cond delay="0"/>
                                          </p:stCondLst>
                                        </p:cTn>
                                        <p:tgtEl>
                                          <p:spTgt spid="83"/>
                                        </p:tgtEl>
                                        <p:attrNameLst>
                                          <p:attrName>style.visibility</p:attrName>
                                        </p:attrNameLst>
                                      </p:cBhvr>
                                      <p:to>
                                        <p:strVal val="visible"/>
                                      </p:to>
                                    </p:set>
                                  </p:childTnLst>
                                </p:cTn>
                              </p:par>
                            </p:childTnLst>
                          </p:cTn>
                        </p:par>
                        <p:par>
                          <p:cTn id="70" fill="hold">
                            <p:stCondLst>
                              <p:cond delay="0"/>
                            </p:stCondLst>
                            <p:childTnLst>
                              <p:par>
                                <p:cTn id="71" presetID="1" presetClass="entr" presetSubtype="0" fill="hold" nodeType="after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childTnLst>
                          </p:cTn>
                        </p:par>
                        <p:par>
                          <p:cTn id="73" fill="hold">
                            <p:stCondLst>
                              <p:cond delay="0"/>
                            </p:stCondLst>
                            <p:childTnLst>
                              <p:par>
                                <p:cTn id="74" presetID="1" presetClass="entr" presetSubtype="0" fill="hold" nodeType="afterEffect">
                                  <p:stCondLst>
                                    <p:cond delay="0"/>
                                  </p:stCondLst>
                                  <p:childTnLst>
                                    <p:set>
                                      <p:cBhvr>
                                        <p:cTn id="75" dur="1" fill="hold">
                                          <p:stCondLst>
                                            <p:cond delay="0"/>
                                          </p:stCondLst>
                                        </p:cTn>
                                        <p:tgtEl>
                                          <p:spTgt spid="85"/>
                                        </p:tgtEl>
                                        <p:attrNameLst>
                                          <p:attrName>style.visibility</p:attrName>
                                        </p:attrNameLst>
                                      </p:cBhvr>
                                      <p:to>
                                        <p:strVal val="visible"/>
                                      </p:to>
                                    </p:set>
                                  </p:childTnLst>
                                </p:cTn>
                              </p:par>
                            </p:childTnLst>
                          </p:cTn>
                        </p:par>
                        <p:par>
                          <p:cTn id="76" fill="hold">
                            <p:stCondLst>
                              <p:cond delay="0"/>
                            </p:stCondLst>
                            <p:childTnLst>
                              <p:par>
                                <p:cTn id="77" presetID="1" presetClass="entr" presetSubtype="0" fill="hold" nodeType="after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8"/>
                                        </p:tgtEl>
                                        <p:attrNameLst>
                                          <p:attrName>style.visibility</p:attrName>
                                        </p:attrNameLst>
                                      </p:cBhvr>
                                      <p:to>
                                        <p:strVal val="visible"/>
                                      </p:to>
                                    </p:set>
                                  </p:childTnLst>
                                </p:cTn>
                              </p:par>
                            </p:childTnLst>
                          </p:cTn>
                        </p:par>
                        <p:par>
                          <p:cTn id="115" fill="hold">
                            <p:stCondLst>
                              <p:cond delay="0"/>
                            </p:stCondLst>
                            <p:childTnLst>
                              <p:par>
                                <p:cTn id="116" presetID="1" presetClass="entr" presetSubtype="0" fill="hold" nodeType="afterEffect">
                                  <p:stCondLst>
                                    <p:cond delay="0"/>
                                  </p:stCondLst>
                                  <p:childTnLst>
                                    <p:set>
                                      <p:cBhvr>
                                        <p:cTn id="117"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graphicFrame>
        <p:nvGraphicFramePr>
          <p:cNvPr id="7" name="表格 6"/>
          <p:cNvGraphicFramePr/>
          <p:nvPr/>
        </p:nvGraphicFramePr>
        <p:xfrm>
          <a:off x="499273" y="2142699"/>
          <a:ext cx="10419416" cy="3794074"/>
        </p:xfrm>
        <a:graphic>
          <a:graphicData uri="http://schemas.openxmlformats.org/drawingml/2006/table">
            <a:tbl>
              <a:tblPr/>
              <a:tblGrid>
                <a:gridCol w="351980"/>
                <a:gridCol w="6374767"/>
                <a:gridCol w="1068980"/>
                <a:gridCol w="874563"/>
                <a:gridCol w="874563"/>
                <a:gridCol w="874563"/>
              </a:tblGrid>
              <a:tr h="516236">
                <a:tc>
                  <a:txBody>
                    <a:bodyPr/>
                    <a:lstStyle/>
                    <a:p>
                      <a:pPr algn="ctr"/>
                      <a:r>
                        <a:rPr lang="en-US" sz="1800" b="1" kern="1200">
                          <a:solidFill>
                            <a:srgbClr val="272727"/>
                          </a:solidFill>
                          <a:latin typeface="方正兰亭超细黑简体"/>
                          <a:ea typeface="方正兰亭超细黑简体"/>
                        </a:rPr>
                        <a:t>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本年可享受研发费用加计扣除项目数量</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gridSpan="3">
                  <a:txBody>
                    <a:bodyPr/>
                    <a:lstStyle/>
                    <a:p>
                      <a:pPr marL="0" indent="0" algn="ctr" defTabSz="1219200">
                        <a:lnSpc>
                          <a:spcPct val="100000"/>
                        </a:lnSpc>
                        <a:spcBef>
                          <a:spcPts val="0"/>
                        </a:spcBef>
                        <a:spcAft>
                          <a:spcPts val="0"/>
                        </a:spcAft>
                        <a:buNone/>
                      </a:pPr>
                      <a:r>
                        <a:rPr lang="zh-CN" sz="1800" b="1" kern="1200">
                          <a:solidFill>
                            <a:srgbClr val="272727"/>
                          </a:solidFill>
                          <a:latin typeface="方正兰亭超细黑简体"/>
                          <a:ea typeface="方正兰亭超细黑简体"/>
                        </a:rPr>
                        <a:t>计算过程</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14376">
                <a:tc gridSpan="3">
                  <a:txBody>
                    <a:bodyPr/>
                    <a:lstStyle/>
                    <a:p>
                      <a:pPr algn="ct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a:tc>
                <a:tc hMerge="1">
                  <a:tcPr/>
                </a:tc>
                <a:tc>
                  <a:txBody>
                    <a:bodyPr/>
                    <a:lstStyle/>
                    <a:p>
                      <a:pPr algn="ctr"/>
                      <a:r>
                        <a:rPr lang="zh-CN" sz="1800" b="1" kern="1200">
                          <a:solidFill>
                            <a:srgbClr val="272727"/>
                          </a:solidFill>
                          <a:latin typeface="方正兰亭超细黑简体"/>
                          <a:ea typeface="方正兰亭超细黑简体"/>
                        </a:rPr>
                        <a:t>甲</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en-US" sz="1800" b="1" kern="1200" baseline="0">
                          <a:solidFill>
                            <a:srgbClr val="272727"/>
                          </a:solidFill>
                          <a:latin typeface="方正兰亭超细黑简体"/>
                          <a:ea typeface="方正兰亭超细黑简体"/>
                        </a:rPr>
                        <a:t> </a:t>
                      </a:r>
                      <a:r>
                        <a:rPr lang="zh-CN" sz="1800" b="1" kern="1200" baseline="0">
                          <a:solidFill>
                            <a:srgbClr val="272727"/>
                          </a:solidFill>
                          <a:latin typeface="方正兰亭超细黑简体"/>
                          <a:ea typeface="方正兰亭超细黑简体"/>
                        </a:rPr>
                        <a:t>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40889">
                <a:tc>
                  <a:txBody>
                    <a:bodyPr/>
                    <a:lstStyle/>
                    <a:p>
                      <a:pPr algn="ctr"/>
                      <a:r>
                        <a:rPr lang="en-US" sz="1800" b="1" kern="1200">
                          <a:solidFill>
                            <a:srgbClr val="272727"/>
                          </a:solidFill>
                          <a:latin typeface="方正兰亭超细黑简体"/>
                          <a:ea typeface="方正兰亭超细黑简体"/>
                        </a:rPr>
                        <a:t>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一、自主研发、合作研发、集中研发（</a:t>
                      </a:r>
                      <a:r>
                        <a:rPr lang="en-US" sz="1800" b="1" kern="1200">
                          <a:solidFill>
                            <a:srgbClr val="272727"/>
                          </a:solidFill>
                          <a:latin typeface="方正兰亭超细黑简体"/>
                          <a:ea typeface="方正兰亭超细黑简体"/>
                        </a:rPr>
                        <a:t>3+7+16+19+23+34</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40889">
                <a:tc>
                  <a:txBody>
                    <a:bodyPr/>
                    <a:lstStyle/>
                    <a:p>
                      <a:pPr algn="ctr"/>
                      <a:r>
                        <a:rPr lang="en-US" sz="1800" b="1" kern="1200">
                          <a:solidFill>
                            <a:srgbClr val="272727"/>
                          </a:solidFill>
                          <a:latin typeface="方正兰亭超细黑简体"/>
                          <a:ea typeface="方正兰亭超细黑简体"/>
                        </a:rPr>
                        <a:t>16</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（三）折旧费用（</a:t>
                      </a:r>
                      <a:r>
                        <a:rPr lang="en-US" sz="1800" b="1" kern="1200">
                          <a:solidFill>
                            <a:srgbClr val="272727"/>
                          </a:solidFill>
                          <a:latin typeface="方正兰亭超细黑简体"/>
                          <a:ea typeface="方正兰亭超细黑简体"/>
                        </a:rPr>
                        <a:t>17+18</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40889">
                <a:tc>
                  <a:txBody>
                    <a:bodyPr/>
                    <a:lstStyle/>
                    <a:p>
                      <a:pPr algn="ctr"/>
                      <a:r>
                        <a:rPr lang="en-US" sz="1800" b="1" kern="1200">
                          <a:solidFill>
                            <a:srgbClr val="272727"/>
                          </a:solidFill>
                          <a:latin typeface="方正兰亭超细黑简体"/>
                          <a:ea typeface="方正兰亭超细黑简体"/>
                        </a:rPr>
                        <a:t>17</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1219200"/>
                      <a:r>
                        <a:rPr lang="en-US" sz="1800" b="1" kern="1200">
                          <a:solidFill>
                            <a:srgbClr val="272727"/>
                          </a:solidFill>
                          <a:latin typeface="方正兰亭超细黑简体"/>
                          <a:ea typeface="方正兰亭超细黑简体"/>
                        </a:rPr>
                        <a:t>        1.</a:t>
                      </a:r>
                      <a:r>
                        <a:rPr lang="zh-CN" sz="1800" b="1" kern="1200">
                          <a:solidFill>
                            <a:srgbClr val="272727"/>
                          </a:solidFill>
                          <a:latin typeface="方正兰亭超细黑简体"/>
                          <a:ea typeface="方正兰亭超细黑简体"/>
                        </a:rPr>
                        <a:t>用于研发活动的仪器的折旧费</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40889">
                <a:tc>
                  <a:txBody>
                    <a:bodyPr/>
                    <a:lstStyle/>
                    <a:p>
                      <a:pPr algn="ctr"/>
                      <a:r>
                        <a:rPr lang="en-US" sz="1800" b="1" kern="1200">
                          <a:solidFill>
                            <a:srgbClr val="272727"/>
                          </a:solidFill>
                          <a:latin typeface="方正兰亭超细黑简体"/>
                          <a:ea typeface="方正兰亭超细黑简体"/>
                        </a:rPr>
                        <a:t>18</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1219200"/>
                      <a:r>
                        <a:rPr lang="en-US" sz="1800" b="1" kern="1200">
                          <a:solidFill>
                            <a:srgbClr val="272727"/>
                          </a:solidFill>
                          <a:latin typeface="方正兰亭超细黑简体"/>
                          <a:ea typeface="方正兰亭超细黑简体"/>
                        </a:rPr>
                        <a:t>        2.</a:t>
                      </a:r>
                      <a:r>
                        <a:rPr lang="zh-CN" sz="1800" b="1" kern="1200">
                          <a:solidFill>
                            <a:srgbClr val="272727"/>
                          </a:solidFill>
                          <a:latin typeface="方正兰亭超细黑简体"/>
                          <a:ea typeface="方正兰亭超细黑简体"/>
                        </a:rPr>
                        <a:t>用于研发活动的设备的折旧费</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40889">
                <a:tc>
                  <a:txBody>
                    <a:bodyPr/>
                    <a:lstStyle/>
                    <a:p>
                      <a:pPr algn="ctr"/>
                      <a:r>
                        <a:rPr lang="en-US" sz="1800" b="1" kern="1200">
                          <a:solidFill>
                            <a:srgbClr val="272727"/>
                          </a:solidFill>
                          <a:latin typeface="方正兰亭超细黑简体"/>
                          <a:ea typeface="方正兰亭超细黑简体"/>
                        </a:rPr>
                        <a:t>19</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1219200"/>
                      <a:r>
                        <a:rPr lang="zh-CN" sz="1800" b="1" kern="1200">
                          <a:solidFill>
                            <a:srgbClr val="272727"/>
                          </a:solidFill>
                          <a:latin typeface="方正兰亭超细黑简体"/>
                          <a:ea typeface="方正兰亭超细黑简体"/>
                        </a:rPr>
                        <a:t>（四）无形资产摊销（</a:t>
                      </a:r>
                      <a:r>
                        <a:rPr lang="en-US" sz="1800" b="1" kern="1200">
                          <a:solidFill>
                            <a:srgbClr val="272727"/>
                          </a:solidFill>
                          <a:latin typeface="方正兰亭超细黑简体"/>
                          <a:ea typeface="方正兰亭超细黑简体"/>
                        </a:rPr>
                        <a:t>20+21+22</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40889">
                <a:tc>
                  <a:txBody>
                    <a:bodyPr/>
                    <a:lstStyle/>
                    <a:p>
                      <a:pPr algn="ctr"/>
                      <a:r>
                        <a:rPr lang="en-US" sz="1800" b="1" kern="1200">
                          <a:solidFill>
                            <a:srgbClr val="272727"/>
                          </a:solidFill>
                          <a:latin typeface="方正兰亭超细黑简体"/>
                          <a:ea typeface="方正兰亭超细黑简体"/>
                        </a:rPr>
                        <a:t>20</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1219200">
                        <a:lnSpc>
                          <a:spcPct val="100000"/>
                        </a:lnSpc>
                        <a:spcBef>
                          <a:spcPts val="0"/>
                        </a:spcBef>
                        <a:spcAft>
                          <a:spcPts val="0"/>
                        </a:spcAft>
                        <a:buNone/>
                      </a:pPr>
                      <a:r>
                        <a:rPr lang="en-US" sz="1800" b="1" kern="1200">
                          <a:solidFill>
                            <a:srgbClr val="272727"/>
                          </a:solidFill>
                          <a:latin typeface="方正兰亭超细黑简体"/>
                          <a:ea typeface="方正兰亭超细黑简体"/>
                        </a:rPr>
                        <a:t>        1.</a:t>
                      </a:r>
                      <a:r>
                        <a:rPr lang="zh-CN" sz="1800" b="1" kern="1200">
                          <a:solidFill>
                            <a:srgbClr val="272727"/>
                          </a:solidFill>
                          <a:latin typeface="方正兰亭超细黑简体"/>
                          <a:ea typeface="方正兰亭超细黑简体"/>
                        </a:rPr>
                        <a:t>用于研发活动的软件的摊销费用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40889">
                <a:tc>
                  <a:txBody>
                    <a:bodyPr/>
                    <a:lstStyle/>
                    <a:p>
                      <a:pPr algn="ctr"/>
                      <a:r>
                        <a:rPr lang="en-US" sz="1800" b="1" kern="1200">
                          <a:solidFill>
                            <a:srgbClr val="272727"/>
                          </a:solidFill>
                          <a:latin typeface="方正兰亭超细黑简体"/>
                          <a:ea typeface="方正兰亭超细黑简体"/>
                        </a:rPr>
                        <a:t>21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1219200">
                        <a:lnSpc>
                          <a:spcPct val="100000"/>
                        </a:lnSpc>
                        <a:spcBef>
                          <a:spcPts val="0"/>
                        </a:spcBef>
                        <a:spcAft>
                          <a:spcPts val="0"/>
                        </a:spcAft>
                        <a:buNone/>
                      </a:pPr>
                      <a:r>
                        <a:rPr lang="en-US" sz="1800" b="1" kern="1200">
                          <a:solidFill>
                            <a:srgbClr val="272727"/>
                          </a:solidFill>
                          <a:latin typeface="方正兰亭超细黑简体"/>
                          <a:ea typeface="方正兰亭超细黑简体"/>
                        </a:rPr>
                        <a:t>        2.</a:t>
                      </a:r>
                      <a:r>
                        <a:rPr lang="zh-CN" sz="1800" b="1" kern="1200">
                          <a:solidFill>
                            <a:srgbClr val="272727"/>
                          </a:solidFill>
                          <a:latin typeface="方正兰亭超细黑简体"/>
                          <a:ea typeface="方正兰亭超细黑简体"/>
                        </a:rPr>
                        <a:t>用于研发活动的专利权的摊销费用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577239">
                <a:tc>
                  <a:txBody>
                    <a:bodyPr/>
                    <a:lstStyle/>
                    <a:p>
                      <a:pPr algn="ctr"/>
                      <a:r>
                        <a:rPr lang="en-US" sz="1800" b="1" kern="1200">
                          <a:solidFill>
                            <a:srgbClr val="272727"/>
                          </a:solidFill>
                          <a:latin typeface="方正兰亭超细黑简体"/>
                          <a:ea typeface="方正兰亭超细黑简体"/>
                        </a:rPr>
                        <a:t>22</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1219200">
                        <a:lnSpc>
                          <a:spcPct val="100000"/>
                        </a:lnSpc>
                        <a:spcBef>
                          <a:spcPts val="0"/>
                        </a:spcBef>
                        <a:spcAft>
                          <a:spcPts val="0"/>
                        </a:spcAft>
                        <a:buNone/>
                      </a:pPr>
                      <a:r>
                        <a:rPr lang="en-US" sz="1800" b="1" kern="1200">
                          <a:solidFill>
                            <a:srgbClr val="272727"/>
                          </a:solidFill>
                          <a:latin typeface="方正兰亭超细黑简体"/>
                          <a:ea typeface="方正兰亭超细黑简体"/>
                        </a:rPr>
                        <a:t>        3.</a:t>
                      </a:r>
                      <a:r>
                        <a:rPr lang="zh-CN" sz="1800" b="1" kern="1200">
                          <a:solidFill>
                            <a:srgbClr val="272727"/>
                          </a:solidFill>
                          <a:latin typeface="方正兰亭超细黑简体"/>
                          <a:ea typeface="方正兰亭超细黑简体"/>
                        </a:rPr>
                        <a:t>用于研发活动的非专利技术（包括许可证、专有技术、设计和计算方法等）的摊销费用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
        <p:nvSpPr>
          <p:cNvPr id="8" name="矩形 7"/>
          <p:cNvSpPr/>
          <p:nvPr/>
        </p:nvSpPr>
        <p:spPr>
          <a:xfrm>
            <a:off x="6990804" y="330561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65</a:t>
            </a:r>
            <a:endParaRPr lang="en-US" sz="1600">
              <a:solidFill>
                <a:srgbClr val="272727"/>
              </a:solidFill>
              <a:latin typeface="微软雅黑" panose="020B0503020204020204" charset="-122"/>
              <a:ea typeface="方正兰亭超细黑简体"/>
            </a:endParaRPr>
          </a:p>
        </p:txBody>
      </p:sp>
      <p:sp>
        <p:nvSpPr>
          <p:cNvPr id="9" name="矩形 8"/>
          <p:cNvSpPr/>
          <p:nvPr/>
        </p:nvSpPr>
        <p:spPr>
          <a:xfrm>
            <a:off x="6984180" y="366818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65</a:t>
            </a:r>
            <a:endParaRPr lang="en-US" sz="1600">
              <a:solidFill>
                <a:srgbClr val="272727"/>
              </a:solidFill>
              <a:latin typeface="微软雅黑" panose="020B0503020204020204" charset="-122"/>
              <a:ea typeface="方正兰亭超细黑简体"/>
            </a:endParaRPr>
          </a:p>
        </p:txBody>
      </p:sp>
      <p:sp>
        <p:nvSpPr>
          <p:cNvPr id="10" name="矩形 9"/>
          <p:cNvSpPr/>
          <p:nvPr/>
        </p:nvSpPr>
        <p:spPr>
          <a:xfrm>
            <a:off x="6990808" y="403075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2" name="矩形 11"/>
          <p:cNvSpPr/>
          <p:nvPr/>
        </p:nvSpPr>
        <p:spPr>
          <a:xfrm>
            <a:off x="6984184" y="439331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a:t>
            </a:r>
            <a:endParaRPr lang="en-US" sz="1600">
              <a:solidFill>
                <a:srgbClr val="272727"/>
              </a:solidFill>
              <a:latin typeface="微软雅黑" panose="020B0503020204020204" charset="-122"/>
              <a:ea typeface="方正兰亭超细黑简体"/>
            </a:endParaRPr>
          </a:p>
        </p:txBody>
      </p:sp>
      <p:sp>
        <p:nvSpPr>
          <p:cNvPr id="13" name="矩形 12"/>
          <p:cNvSpPr/>
          <p:nvPr/>
        </p:nvSpPr>
        <p:spPr>
          <a:xfrm>
            <a:off x="6990816" y="475588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a:t>
            </a:r>
            <a:endParaRPr lang="en-US" sz="1600">
              <a:solidFill>
                <a:srgbClr val="272727"/>
              </a:solidFill>
              <a:latin typeface="微软雅黑" panose="020B0503020204020204" charset="-122"/>
              <a:ea typeface="方正兰亭超细黑简体"/>
            </a:endParaRPr>
          </a:p>
        </p:txBody>
      </p:sp>
      <p:sp>
        <p:nvSpPr>
          <p:cNvPr id="14" name="矩形 13"/>
          <p:cNvSpPr/>
          <p:nvPr/>
        </p:nvSpPr>
        <p:spPr>
          <a:xfrm>
            <a:off x="6984192" y="513170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5" name="矩形 14"/>
          <p:cNvSpPr/>
          <p:nvPr/>
        </p:nvSpPr>
        <p:spPr>
          <a:xfrm>
            <a:off x="6990820" y="553291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6" name="矩形 15"/>
          <p:cNvSpPr/>
          <p:nvPr/>
        </p:nvSpPr>
        <p:spPr>
          <a:xfrm>
            <a:off x="7864428" y="330346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65</a:t>
            </a:r>
            <a:endParaRPr lang="en-US" sz="1600">
              <a:solidFill>
                <a:srgbClr val="272727"/>
              </a:solidFill>
              <a:latin typeface="微软雅黑" panose="020B0503020204020204" charset="-122"/>
              <a:ea typeface="方正兰亭超细黑简体"/>
            </a:endParaRPr>
          </a:p>
        </p:txBody>
      </p:sp>
      <p:sp>
        <p:nvSpPr>
          <p:cNvPr id="17" name="矩形 16"/>
          <p:cNvSpPr/>
          <p:nvPr/>
        </p:nvSpPr>
        <p:spPr>
          <a:xfrm>
            <a:off x="7857804" y="366603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65</a:t>
            </a:r>
            <a:endParaRPr lang="en-US" sz="1600">
              <a:solidFill>
                <a:srgbClr val="272727"/>
              </a:solidFill>
              <a:latin typeface="微软雅黑" panose="020B0503020204020204" charset="-122"/>
              <a:ea typeface="方正兰亭超细黑简体"/>
            </a:endParaRPr>
          </a:p>
        </p:txBody>
      </p:sp>
      <p:sp>
        <p:nvSpPr>
          <p:cNvPr id="19" name="矩形 18"/>
          <p:cNvSpPr/>
          <p:nvPr/>
        </p:nvSpPr>
        <p:spPr>
          <a:xfrm>
            <a:off x="7864432" y="4028603"/>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0" name="矩形 19"/>
          <p:cNvSpPr/>
          <p:nvPr/>
        </p:nvSpPr>
        <p:spPr>
          <a:xfrm>
            <a:off x="7857808" y="439117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a:t>
            </a:r>
            <a:endParaRPr lang="en-US" sz="1600">
              <a:solidFill>
                <a:srgbClr val="272727"/>
              </a:solidFill>
              <a:latin typeface="微软雅黑" panose="020B0503020204020204" charset="-122"/>
              <a:ea typeface="方正兰亭超细黑简体"/>
            </a:endParaRPr>
          </a:p>
        </p:txBody>
      </p:sp>
      <p:sp>
        <p:nvSpPr>
          <p:cNvPr id="21" name="矩形 20"/>
          <p:cNvSpPr/>
          <p:nvPr/>
        </p:nvSpPr>
        <p:spPr>
          <a:xfrm>
            <a:off x="7864440" y="475374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a:t>
            </a:r>
            <a:endParaRPr lang="en-US" sz="1600">
              <a:solidFill>
                <a:srgbClr val="272727"/>
              </a:solidFill>
              <a:latin typeface="微软雅黑" panose="020B0503020204020204" charset="-122"/>
              <a:ea typeface="方正兰亭超细黑简体"/>
            </a:endParaRPr>
          </a:p>
        </p:txBody>
      </p:sp>
      <p:sp>
        <p:nvSpPr>
          <p:cNvPr id="22" name="矩形 21"/>
          <p:cNvSpPr/>
          <p:nvPr/>
        </p:nvSpPr>
        <p:spPr>
          <a:xfrm>
            <a:off x="7857816" y="512956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3" name="矩形 22"/>
          <p:cNvSpPr/>
          <p:nvPr/>
        </p:nvSpPr>
        <p:spPr>
          <a:xfrm>
            <a:off x="7864444" y="553076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4" name="矩形 23"/>
          <p:cNvSpPr/>
          <p:nvPr/>
        </p:nvSpPr>
        <p:spPr>
          <a:xfrm>
            <a:off x="8725173" y="330132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5" name="矩形 24"/>
          <p:cNvSpPr/>
          <p:nvPr/>
        </p:nvSpPr>
        <p:spPr>
          <a:xfrm>
            <a:off x="8718549" y="366388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6" name="矩形 25"/>
          <p:cNvSpPr/>
          <p:nvPr/>
        </p:nvSpPr>
        <p:spPr>
          <a:xfrm>
            <a:off x="8725177" y="402645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7" name="矩形 26"/>
          <p:cNvSpPr/>
          <p:nvPr/>
        </p:nvSpPr>
        <p:spPr>
          <a:xfrm>
            <a:off x="8718553" y="438902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8" name="矩形 27"/>
          <p:cNvSpPr/>
          <p:nvPr/>
        </p:nvSpPr>
        <p:spPr>
          <a:xfrm>
            <a:off x="8725185" y="4751593"/>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9" name="矩形 28"/>
          <p:cNvSpPr/>
          <p:nvPr/>
        </p:nvSpPr>
        <p:spPr>
          <a:xfrm>
            <a:off x="8718561" y="512741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0" name="矩形 29"/>
          <p:cNvSpPr/>
          <p:nvPr/>
        </p:nvSpPr>
        <p:spPr>
          <a:xfrm>
            <a:off x="8725189" y="552861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1" name="矩形 30"/>
          <p:cNvSpPr/>
          <p:nvPr/>
        </p:nvSpPr>
        <p:spPr>
          <a:xfrm>
            <a:off x="9598797" y="3299173"/>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2" name="矩形 31"/>
          <p:cNvSpPr/>
          <p:nvPr/>
        </p:nvSpPr>
        <p:spPr>
          <a:xfrm>
            <a:off x="9592173" y="366174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3" name="矩形 32"/>
          <p:cNvSpPr/>
          <p:nvPr/>
        </p:nvSpPr>
        <p:spPr>
          <a:xfrm>
            <a:off x="9598801" y="402430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4" name="矩形 33"/>
          <p:cNvSpPr/>
          <p:nvPr/>
        </p:nvSpPr>
        <p:spPr>
          <a:xfrm>
            <a:off x="9592177" y="438687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5" name="矩形 34"/>
          <p:cNvSpPr/>
          <p:nvPr/>
        </p:nvSpPr>
        <p:spPr>
          <a:xfrm>
            <a:off x="9598809" y="474944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6" name="矩形 35"/>
          <p:cNvSpPr/>
          <p:nvPr/>
        </p:nvSpPr>
        <p:spPr>
          <a:xfrm>
            <a:off x="9592185" y="512526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7" name="矩形 36"/>
          <p:cNvSpPr/>
          <p:nvPr/>
        </p:nvSpPr>
        <p:spPr>
          <a:xfrm>
            <a:off x="9598813" y="552646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 name="内容占位符 2"/>
          <p:cNvSpPr/>
          <p:nvPr>
            <p:ph idx="13"/>
          </p:nvPr>
        </p:nvSpPr>
        <p:spPr/>
        <p:txBody>
          <a:bodyPr/>
          <a:lstStyle/>
          <a:p>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graphicFrame>
        <p:nvGraphicFramePr>
          <p:cNvPr id="8" name="表格 7"/>
          <p:cNvGraphicFramePr/>
          <p:nvPr/>
        </p:nvGraphicFramePr>
        <p:xfrm>
          <a:off x="447983" y="2094679"/>
          <a:ext cx="10454143" cy="2873106"/>
        </p:xfrm>
        <a:graphic>
          <a:graphicData uri="http://schemas.openxmlformats.org/drawingml/2006/table">
            <a:tbl>
              <a:tblPr/>
              <a:tblGrid>
                <a:gridCol w="353154"/>
                <a:gridCol w="6396013"/>
                <a:gridCol w="1072542"/>
                <a:gridCol w="877478"/>
                <a:gridCol w="877478"/>
                <a:gridCol w="877478"/>
              </a:tblGrid>
              <a:tr h="337773">
                <a:tc>
                  <a:txBody>
                    <a:bodyPr/>
                    <a:lstStyle/>
                    <a:p>
                      <a:pPr algn="ctr"/>
                      <a:r>
                        <a:rPr lang="en-US" sz="1800" b="1" kern="1200">
                          <a:solidFill>
                            <a:srgbClr val="272727"/>
                          </a:solidFill>
                          <a:latin typeface="方正兰亭超细黑简体"/>
                          <a:ea typeface="方正兰亭超细黑简体"/>
                        </a:rPr>
                        <a:t>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本年可享受研发费用加计扣除项目数量</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gridSpan="3">
                  <a:txBody>
                    <a:bodyPr/>
                    <a:lstStyle/>
                    <a:p>
                      <a:pPr marL="0" indent="0" algn="ctr" defTabSz="1219200">
                        <a:lnSpc>
                          <a:spcPct val="100000"/>
                        </a:lnSpc>
                        <a:spcBef>
                          <a:spcPts val="0"/>
                        </a:spcBef>
                        <a:spcAft>
                          <a:spcPts val="0"/>
                        </a:spcAft>
                        <a:buNone/>
                      </a:pPr>
                      <a:r>
                        <a:rPr lang="zh-CN" sz="1800" b="1" kern="1200">
                          <a:solidFill>
                            <a:srgbClr val="272727"/>
                          </a:solidFill>
                          <a:latin typeface="方正兰亭超细黑简体"/>
                          <a:ea typeface="方正兰亭超细黑简体"/>
                        </a:rPr>
                        <a:t>计算过程</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37773">
                <a:tc gridSpan="3">
                  <a:txBody>
                    <a:bodyPr/>
                    <a:lstStyle/>
                    <a:p>
                      <a:pPr algn="ct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a:tc>
                <a:tc hMerge="1">
                  <a:tcPr/>
                </a:tc>
                <a:tc>
                  <a:txBody>
                    <a:bodyPr/>
                    <a:lstStyle/>
                    <a:p>
                      <a:pPr algn="ctr"/>
                      <a:r>
                        <a:rPr lang="zh-CN" sz="1800" b="1" kern="1200">
                          <a:solidFill>
                            <a:srgbClr val="272727"/>
                          </a:solidFill>
                          <a:latin typeface="方正兰亭超细黑简体"/>
                          <a:ea typeface="方正兰亭超细黑简体"/>
                        </a:rPr>
                        <a:t>甲</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66260">
                <a:tc>
                  <a:txBody>
                    <a:bodyPr/>
                    <a:lstStyle/>
                    <a:p>
                      <a:pPr algn="ctr"/>
                      <a:r>
                        <a:rPr lang="en-US" sz="1800" b="1" kern="1200">
                          <a:solidFill>
                            <a:srgbClr val="272727"/>
                          </a:solidFill>
                          <a:latin typeface="方正兰亭超细黑简体"/>
                          <a:ea typeface="方正兰亭超细黑简体"/>
                        </a:rPr>
                        <a:t>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一、自主研发、合作研发、集中研发（</a:t>
                      </a:r>
                      <a:r>
                        <a:rPr lang="en-US" sz="1800" b="1" kern="1200">
                          <a:solidFill>
                            <a:srgbClr val="272727"/>
                          </a:solidFill>
                          <a:latin typeface="方正兰亭超细黑简体"/>
                          <a:ea typeface="方正兰亭超细黑简体"/>
                        </a:rPr>
                        <a:t>3+7+16+19+23+34</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66260">
                <a:tc>
                  <a:txBody>
                    <a:bodyPr/>
                    <a:lstStyle/>
                    <a:p>
                      <a:pPr algn="ctr"/>
                      <a:r>
                        <a:rPr lang="en-US" sz="1800" b="1" kern="1200">
                          <a:solidFill>
                            <a:srgbClr val="272727"/>
                          </a:solidFill>
                          <a:latin typeface="方正兰亭超细黑简体"/>
                          <a:ea typeface="方正兰亭超细黑简体"/>
                        </a:rPr>
                        <a:t>23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（五）新产品设计费等（</a:t>
                      </a:r>
                      <a:r>
                        <a:rPr lang="en-US" sz="1800" b="1" kern="1200">
                          <a:solidFill>
                            <a:srgbClr val="272727"/>
                          </a:solidFill>
                          <a:latin typeface="方正兰亭超细黑简体"/>
                          <a:ea typeface="方正兰亭超细黑简体"/>
                        </a:rPr>
                        <a:t>24+25+26+27</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66260">
                <a:tc>
                  <a:txBody>
                    <a:bodyPr/>
                    <a:lstStyle/>
                    <a:p>
                      <a:pPr algn="ctr"/>
                      <a:r>
                        <a:rPr lang="en-US" sz="1800" b="1" kern="1200">
                          <a:solidFill>
                            <a:srgbClr val="272727"/>
                          </a:solidFill>
                          <a:latin typeface="方正兰亭超细黑简体"/>
                          <a:ea typeface="方正兰亭超细黑简体"/>
                        </a:rPr>
                        <a:t>24</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914400">
                        <a:lnSpc>
                          <a:spcPct val="100000"/>
                        </a:lnSpc>
                        <a:spcBef>
                          <a:spcPts val="0"/>
                        </a:spcBef>
                        <a:spcAft>
                          <a:spcPts val="0"/>
                        </a:spcAft>
                        <a:buNone/>
                      </a:pPr>
                      <a:r>
                        <a:rPr lang="en-US" sz="1800" b="1" kern="1200">
                          <a:solidFill>
                            <a:srgbClr val="272727"/>
                          </a:solidFill>
                          <a:latin typeface="方正兰亭超细黑简体"/>
                          <a:ea typeface="方正兰亭超细黑简体"/>
                        </a:rPr>
                        <a:t>        1.</a:t>
                      </a:r>
                      <a:r>
                        <a:rPr lang="zh-CN" sz="1800" b="1" kern="1200">
                          <a:solidFill>
                            <a:srgbClr val="272727"/>
                          </a:solidFill>
                          <a:latin typeface="方正兰亭超细黑简体"/>
                          <a:ea typeface="方正兰亭超细黑简体"/>
                        </a:rPr>
                        <a:t>新产品设计费</a:t>
                      </a:r>
                      <a:endParaRPr lang="en-US"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66260">
                <a:tc>
                  <a:txBody>
                    <a:bodyPr/>
                    <a:lstStyle/>
                    <a:p>
                      <a:pPr algn="ctr"/>
                      <a:r>
                        <a:rPr lang="en-US" sz="1800" b="1" kern="1200">
                          <a:solidFill>
                            <a:srgbClr val="272727"/>
                          </a:solidFill>
                          <a:latin typeface="方正兰亭超细黑简体"/>
                          <a:ea typeface="方正兰亭超细黑简体"/>
                        </a:rPr>
                        <a:t>25</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914400">
                        <a:lnSpc>
                          <a:spcPct val="100000"/>
                        </a:lnSpc>
                        <a:spcBef>
                          <a:spcPts val="0"/>
                        </a:spcBef>
                        <a:spcAft>
                          <a:spcPts val="0"/>
                        </a:spcAft>
                        <a:buNone/>
                      </a:pPr>
                      <a:r>
                        <a:rPr lang="en-US" sz="1800" b="1" kern="1200">
                          <a:solidFill>
                            <a:srgbClr val="272727"/>
                          </a:solidFill>
                          <a:latin typeface="方正兰亭超细黑简体"/>
                          <a:ea typeface="方正兰亭超细黑简体"/>
                        </a:rPr>
                        <a:t>        2.</a:t>
                      </a:r>
                      <a:r>
                        <a:rPr lang="zh-CN" sz="1800" b="1" kern="1200">
                          <a:solidFill>
                            <a:srgbClr val="272727"/>
                          </a:solidFill>
                          <a:latin typeface="方正兰亭超细黑简体"/>
                          <a:ea typeface="方正兰亭超细黑简体"/>
                        </a:rPr>
                        <a:t>新工艺规程制定费</a:t>
                      </a:r>
                      <a:endParaRPr lang="en-US"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66260">
                <a:tc>
                  <a:txBody>
                    <a:bodyPr/>
                    <a:lstStyle/>
                    <a:p>
                      <a:pPr algn="ctr"/>
                      <a:r>
                        <a:rPr lang="en-US" sz="1800" b="1" kern="1200">
                          <a:solidFill>
                            <a:srgbClr val="272727"/>
                          </a:solidFill>
                          <a:latin typeface="方正兰亭超细黑简体"/>
                          <a:ea typeface="方正兰亭超细黑简体"/>
                        </a:rPr>
                        <a:t>26</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914400">
                        <a:lnSpc>
                          <a:spcPct val="100000"/>
                        </a:lnSpc>
                        <a:spcBef>
                          <a:spcPts val="0"/>
                        </a:spcBef>
                        <a:spcAft>
                          <a:spcPts val="0"/>
                        </a:spcAft>
                        <a:buNone/>
                      </a:pPr>
                      <a:r>
                        <a:rPr lang="en-US" sz="1800" b="1" kern="1200">
                          <a:solidFill>
                            <a:srgbClr val="272727"/>
                          </a:solidFill>
                          <a:latin typeface="方正兰亭超细黑简体"/>
                          <a:ea typeface="方正兰亭超细黑简体"/>
                        </a:rPr>
                        <a:t>        3.</a:t>
                      </a:r>
                      <a:r>
                        <a:rPr lang="zh-CN" sz="1800" b="1" kern="1200">
                          <a:solidFill>
                            <a:srgbClr val="272727"/>
                          </a:solidFill>
                          <a:latin typeface="方正兰亭超细黑简体"/>
                          <a:ea typeface="方正兰亭超细黑简体"/>
                        </a:rPr>
                        <a:t>新药研制的临床试验费</a:t>
                      </a:r>
                      <a:endParaRPr lang="en-US"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66260">
                <a:tc>
                  <a:txBody>
                    <a:bodyPr/>
                    <a:lstStyle/>
                    <a:p>
                      <a:pPr algn="ctr"/>
                      <a:r>
                        <a:rPr lang="en-US" sz="1800" b="1" kern="1200">
                          <a:solidFill>
                            <a:srgbClr val="272727"/>
                          </a:solidFill>
                          <a:latin typeface="方正兰亭超细黑简体"/>
                          <a:ea typeface="方正兰亭超细黑简体"/>
                        </a:rPr>
                        <a:t>27</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914400">
                        <a:lnSpc>
                          <a:spcPct val="100000"/>
                        </a:lnSpc>
                        <a:spcBef>
                          <a:spcPts val="0"/>
                        </a:spcBef>
                        <a:spcAft>
                          <a:spcPts val="0"/>
                        </a:spcAft>
                        <a:buNone/>
                      </a:pPr>
                      <a:r>
                        <a:rPr lang="en-US" sz="1800" b="1" kern="1200">
                          <a:solidFill>
                            <a:srgbClr val="272727"/>
                          </a:solidFill>
                          <a:latin typeface="方正兰亭超细黑简体"/>
                          <a:ea typeface="方正兰亭超细黑简体"/>
                        </a:rPr>
                        <a:t>        4.</a:t>
                      </a:r>
                      <a:r>
                        <a:rPr lang="zh-CN" sz="1800" b="1" kern="1200">
                          <a:solidFill>
                            <a:srgbClr val="272727"/>
                          </a:solidFill>
                          <a:latin typeface="方正兰亭超细黑简体"/>
                          <a:ea typeface="方正兰亭超细黑简体"/>
                        </a:rPr>
                        <a:t>勘探开发技术的现场试验费</a:t>
                      </a:r>
                      <a:endParaRPr lang="en-US"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
        <p:nvSpPr>
          <p:cNvPr id="9" name="矩形 8"/>
          <p:cNvSpPr/>
          <p:nvPr/>
        </p:nvSpPr>
        <p:spPr>
          <a:xfrm>
            <a:off x="6990804" y="3168970"/>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5</a:t>
            </a:r>
            <a:endParaRPr lang="en-US">
              <a:solidFill>
                <a:srgbClr val="272727"/>
              </a:solidFill>
              <a:latin typeface="微软雅黑" panose="020B0503020204020204" charset="-122"/>
              <a:ea typeface="方正兰亭超细黑简体"/>
            </a:endParaRPr>
          </a:p>
        </p:txBody>
      </p:sp>
      <p:sp>
        <p:nvSpPr>
          <p:cNvPr id="10" name="矩形 9"/>
          <p:cNvSpPr/>
          <p:nvPr/>
        </p:nvSpPr>
        <p:spPr>
          <a:xfrm>
            <a:off x="6984180" y="3531537"/>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12" name="矩形 11"/>
          <p:cNvSpPr/>
          <p:nvPr/>
        </p:nvSpPr>
        <p:spPr>
          <a:xfrm>
            <a:off x="6990808" y="3894104"/>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5</a:t>
            </a:r>
            <a:endParaRPr lang="en-US">
              <a:solidFill>
                <a:srgbClr val="272727"/>
              </a:solidFill>
              <a:latin typeface="微软雅黑" panose="020B0503020204020204" charset="-122"/>
              <a:ea typeface="方正兰亭超细黑简体"/>
            </a:endParaRPr>
          </a:p>
        </p:txBody>
      </p:sp>
      <p:sp>
        <p:nvSpPr>
          <p:cNvPr id="13" name="矩形 12"/>
          <p:cNvSpPr/>
          <p:nvPr/>
        </p:nvSpPr>
        <p:spPr>
          <a:xfrm>
            <a:off x="6984184" y="4256671"/>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14" name="矩形 13"/>
          <p:cNvSpPr/>
          <p:nvPr/>
        </p:nvSpPr>
        <p:spPr>
          <a:xfrm>
            <a:off x="6990816" y="4619242"/>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15" name="矩形 14"/>
          <p:cNvSpPr/>
          <p:nvPr/>
        </p:nvSpPr>
        <p:spPr>
          <a:xfrm>
            <a:off x="7864428" y="3166822"/>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5</a:t>
            </a:r>
            <a:endParaRPr lang="en-US">
              <a:solidFill>
                <a:srgbClr val="272727"/>
              </a:solidFill>
              <a:latin typeface="微软雅黑" panose="020B0503020204020204" charset="-122"/>
              <a:ea typeface="方正兰亭超细黑简体"/>
            </a:endParaRPr>
          </a:p>
        </p:txBody>
      </p:sp>
      <p:sp>
        <p:nvSpPr>
          <p:cNvPr id="16" name="矩形 15"/>
          <p:cNvSpPr/>
          <p:nvPr/>
        </p:nvSpPr>
        <p:spPr>
          <a:xfrm>
            <a:off x="7857804" y="3529389"/>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17" name="矩形 16"/>
          <p:cNvSpPr/>
          <p:nvPr/>
        </p:nvSpPr>
        <p:spPr>
          <a:xfrm>
            <a:off x="7864432" y="3891956"/>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5</a:t>
            </a:r>
            <a:endParaRPr lang="en-US">
              <a:solidFill>
                <a:srgbClr val="272727"/>
              </a:solidFill>
              <a:latin typeface="微软雅黑" panose="020B0503020204020204" charset="-122"/>
              <a:ea typeface="方正兰亭超细黑简体"/>
            </a:endParaRPr>
          </a:p>
        </p:txBody>
      </p:sp>
      <p:sp>
        <p:nvSpPr>
          <p:cNvPr id="19" name="矩形 18"/>
          <p:cNvSpPr/>
          <p:nvPr/>
        </p:nvSpPr>
        <p:spPr>
          <a:xfrm>
            <a:off x="7857808" y="4254523"/>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0" name="矩形 19"/>
          <p:cNvSpPr/>
          <p:nvPr/>
        </p:nvSpPr>
        <p:spPr>
          <a:xfrm>
            <a:off x="7864440" y="4617094"/>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1" name="矩形 20"/>
          <p:cNvSpPr/>
          <p:nvPr/>
        </p:nvSpPr>
        <p:spPr>
          <a:xfrm>
            <a:off x="8725173" y="3164674"/>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2" name="矩形 21"/>
          <p:cNvSpPr/>
          <p:nvPr/>
        </p:nvSpPr>
        <p:spPr>
          <a:xfrm>
            <a:off x="8718549" y="3527241"/>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3" name="矩形 22"/>
          <p:cNvSpPr/>
          <p:nvPr/>
        </p:nvSpPr>
        <p:spPr>
          <a:xfrm>
            <a:off x="8725177" y="3889808"/>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4" name="矩形 23"/>
          <p:cNvSpPr/>
          <p:nvPr/>
        </p:nvSpPr>
        <p:spPr>
          <a:xfrm>
            <a:off x="8718553" y="4252375"/>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5" name="矩形 24"/>
          <p:cNvSpPr/>
          <p:nvPr/>
        </p:nvSpPr>
        <p:spPr>
          <a:xfrm>
            <a:off x="8725185" y="4614946"/>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6" name="矩形 25"/>
          <p:cNvSpPr/>
          <p:nvPr/>
        </p:nvSpPr>
        <p:spPr>
          <a:xfrm>
            <a:off x="9598797" y="3162526"/>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7" name="矩形 26"/>
          <p:cNvSpPr/>
          <p:nvPr/>
        </p:nvSpPr>
        <p:spPr>
          <a:xfrm>
            <a:off x="9592173" y="3525093"/>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8" name="矩形 27"/>
          <p:cNvSpPr/>
          <p:nvPr/>
        </p:nvSpPr>
        <p:spPr>
          <a:xfrm>
            <a:off x="9598801" y="3887660"/>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29" name="矩形 28"/>
          <p:cNvSpPr/>
          <p:nvPr/>
        </p:nvSpPr>
        <p:spPr>
          <a:xfrm>
            <a:off x="9592177" y="4250227"/>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30" name="矩形 29"/>
          <p:cNvSpPr/>
          <p:nvPr/>
        </p:nvSpPr>
        <p:spPr>
          <a:xfrm>
            <a:off x="9598809" y="4612798"/>
            <a:ext cx="1470992" cy="278296"/>
          </a:xfrm>
          <a:prstGeom prst="rect">
            <a:avLst/>
          </a:prstGeom>
          <a:noFill/>
          <a:ln>
            <a:noFill/>
          </a:ln>
        </p:spPr>
        <p:txBody>
          <a:bodyPr anchor="ctr"/>
          <a:lstStyle/>
          <a:p>
            <a:pPr algn="ctr"/>
            <a:r>
              <a:rPr lang="en-US">
                <a:solidFill>
                  <a:srgbClr val="272727"/>
                </a:solidFill>
                <a:latin typeface="微软雅黑" panose="020B0503020204020204" charset="-122"/>
                <a:ea typeface="方正兰亭超细黑简体"/>
              </a:rPr>
              <a:t>0</a:t>
            </a:r>
            <a:endParaRPr lang="en-US">
              <a:solidFill>
                <a:srgbClr val="272727"/>
              </a:solidFill>
              <a:latin typeface="微软雅黑" panose="020B0503020204020204" charset="-122"/>
              <a:ea typeface="方正兰亭超细黑简体"/>
            </a:endParaRPr>
          </a:p>
        </p:txBody>
      </p:sp>
      <p:sp>
        <p:nvSpPr>
          <p:cNvPr id="3" name="内容占位符 2"/>
          <p:cNvSpPr/>
          <p:nvPr>
            <p:ph idx="13"/>
          </p:nvPr>
        </p:nvSpPr>
        <p:spPr/>
        <p:txBody>
          <a:bodyPr/>
          <a:lstStyle/>
          <a:p>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nodeType="after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afterEffect">
                                  <p:stCondLst>
                                    <p:cond delay="0"/>
                                  </p:stCondLst>
                                  <p:childTnLst>
                                    <p:set>
                                      <p:cBhvr>
                                        <p:cTn id="65" dur="1" fill="hold">
                                          <p:stCondLst>
                                            <p:cond delay="0"/>
                                          </p:stCondLst>
                                        </p:cTn>
                                        <p:tgtEl>
                                          <p:spTgt spid="13"/>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nodeType="after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graphicFrame>
        <p:nvGraphicFramePr>
          <p:cNvPr id="36" name="表格 35"/>
          <p:cNvGraphicFramePr/>
          <p:nvPr/>
        </p:nvGraphicFramePr>
        <p:xfrm>
          <a:off x="518805" y="1986095"/>
          <a:ext cx="10376214" cy="4005272"/>
        </p:xfrm>
        <a:graphic>
          <a:graphicData uri="http://schemas.openxmlformats.org/drawingml/2006/table">
            <a:tbl>
              <a:tblPr/>
              <a:tblGrid>
                <a:gridCol w="350521"/>
                <a:gridCol w="6348335"/>
                <a:gridCol w="1064547"/>
                <a:gridCol w="870937"/>
                <a:gridCol w="870937"/>
                <a:gridCol w="870937"/>
              </a:tblGrid>
              <a:tr h="328886">
                <a:tc>
                  <a:txBody>
                    <a:bodyPr/>
                    <a:lstStyle/>
                    <a:p>
                      <a:pPr algn="ctr"/>
                      <a:r>
                        <a:rPr lang="en-US" sz="1800" b="1" kern="1200">
                          <a:solidFill>
                            <a:srgbClr val="272727"/>
                          </a:solidFill>
                          <a:latin typeface="方正兰亭超细黑简体"/>
                          <a:ea typeface="方正兰亭超细黑简体"/>
                        </a:rPr>
                        <a:t>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本年可享受研发费用加计扣除项目数量</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gridSpan="3">
                  <a:txBody>
                    <a:bodyPr/>
                    <a:lstStyle/>
                    <a:p>
                      <a:pPr marL="0" indent="0" algn="ctr" defTabSz="1219200">
                        <a:lnSpc>
                          <a:spcPct val="100000"/>
                        </a:lnSpc>
                        <a:spcBef>
                          <a:spcPts val="0"/>
                        </a:spcBef>
                        <a:spcAft>
                          <a:spcPts val="0"/>
                        </a:spcAft>
                        <a:buNone/>
                      </a:pPr>
                      <a:r>
                        <a:rPr lang="zh-CN" sz="1800" b="1" kern="1200">
                          <a:solidFill>
                            <a:srgbClr val="272727"/>
                          </a:solidFill>
                          <a:latin typeface="方正兰亭超细黑简体"/>
                          <a:ea typeface="方正兰亭超细黑简体"/>
                        </a:rPr>
                        <a:t>计算过程</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28886">
                <a:tc gridSpan="3">
                  <a:txBody>
                    <a:bodyPr/>
                    <a:lstStyle/>
                    <a:p>
                      <a:pPr algn="ct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a:tc>
                <a:tc hMerge="1">
                  <a:tcPr/>
                </a:tc>
                <a:tc>
                  <a:txBody>
                    <a:bodyPr/>
                    <a:lstStyle/>
                    <a:p>
                      <a:pPr algn="ctr"/>
                      <a:r>
                        <a:rPr lang="zh-CN" sz="1800" b="1" kern="1200">
                          <a:solidFill>
                            <a:srgbClr val="272727"/>
                          </a:solidFill>
                          <a:latin typeface="方正兰亭超细黑简体"/>
                          <a:ea typeface="方正兰亭超细黑简体"/>
                        </a:rPr>
                        <a:t>甲</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56623">
                <a:tc>
                  <a:txBody>
                    <a:bodyPr/>
                    <a:lstStyle/>
                    <a:p>
                      <a:pPr algn="ctr"/>
                      <a:r>
                        <a:rPr lang="en-US" sz="1800" b="1" kern="1200">
                          <a:solidFill>
                            <a:srgbClr val="272727"/>
                          </a:solidFill>
                          <a:latin typeface="方正兰亭超细黑简体"/>
                          <a:ea typeface="方正兰亭超细黑简体"/>
                        </a:rPr>
                        <a:t>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一、自主研发、合作研发、集中研发（</a:t>
                      </a:r>
                      <a:r>
                        <a:rPr lang="en-US" sz="1800" b="1" kern="1200">
                          <a:solidFill>
                            <a:srgbClr val="272727"/>
                          </a:solidFill>
                          <a:latin typeface="方正兰亭超细黑简体"/>
                          <a:ea typeface="方正兰亭超细黑简体"/>
                        </a:rPr>
                        <a:t>3+7+16+19+23+34</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56623">
                <a:tc>
                  <a:txBody>
                    <a:bodyPr/>
                    <a:lstStyle/>
                    <a:p>
                      <a:pPr algn="ctr"/>
                      <a:r>
                        <a:rPr lang="en-US" sz="1800" b="1" kern="1200">
                          <a:solidFill>
                            <a:srgbClr val="272727"/>
                          </a:solidFill>
                          <a:latin typeface="方正兰亭超细黑简体"/>
                          <a:ea typeface="方正兰亭超细黑简体"/>
                        </a:rPr>
                        <a:t>28</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（六）其他相关费用</a:t>
                      </a:r>
                      <a:r>
                        <a:rPr lang="en-US" sz="1800" b="1" kern="1200">
                          <a:solidFill>
                            <a:srgbClr val="272727"/>
                          </a:solidFill>
                          <a:latin typeface="方正兰亭超细黑简体"/>
                          <a:ea typeface="方正兰亭超细黑简体"/>
                        </a:rPr>
                        <a:t>(29+30+31+32+33)</a:t>
                      </a:r>
                      <a:endParaRPr lang="en-US"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603881">
                <a:tc>
                  <a:txBody>
                    <a:bodyPr/>
                    <a:lstStyle/>
                    <a:p>
                      <a:pPr algn="ctr"/>
                      <a:r>
                        <a:rPr lang="en-US" sz="1800" b="1" kern="1200">
                          <a:solidFill>
                            <a:srgbClr val="272727"/>
                          </a:solidFill>
                          <a:latin typeface="方正兰亭超细黑简体"/>
                          <a:ea typeface="方正兰亭超细黑简体"/>
                        </a:rPr>
                        <a:t>29</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1.</a:t>
                      </a:r>
                      <a:r>
                        <a:rPr lang="zh-CN" sz="1800" b="1" kern="1200">
                          <a:solidFill>
                            <a:srgbClr val="272727"/>
                          </a:solidFill>
                          <a:latin typeface="方正兰亭超细黑简体"/>
                          <a:ea typeface="方正兰亭超细黑简体"/>
                        </a:rPr>
                        <a:t>技术图书资料费、资料翻译费、专家咨询费、高新科技研发保险费</a:t>
                      </a:r>
                      <a:endParaRPr lang="zh-CN" sz="1800" b="1" kern="1200">
                        <a:solidFill>
                          <a:srgbClr val="272727"/>
                        </a:solidFill>
                        <a:latin typeface="方正兰亭超细黑简体"/>
                        <a:ea typeface="方正兰亭超细黑简体"/>
                      </a:endParaRPr>
                    </a:p>
                  </a:txBody>
                  <a:tcPr marL="100361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603881">
                <a:tc>
                  <a:txBody>
                    <a:bodyPr/>
                    <a:lstStyle/>
                    <a:p>
                      <a:pPr algn="ctr"/>
                      <a:r>
                        <a:rPr lang="en-US" sz="1800" b="1" kern="1200">
                          <a:solidFill>
                            <a:srgbClr val="272727"/>
                          </a:solidFill>
                          <a:latin typeface="方正兰亭超细黑简体"/>
                          <a:ea typeface="方正兰亭超细黑简体"/>
                        </a:rPr>
                        <a:t>30</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2.</a:t>
                      </a:r>
                      <a:r>
                        <a:rPr lang="zh-CN" sz="1800" b="1" kern="1200">
                          <a:solidFill>
                            <a:srgbClr val="272727"/>
                          </a:solidFill>
                          <a:latin typeface="方正兰亭超细黑简体"/>
                          <a:ea typeface="方正兰亭超细黑简体"/>
                        </a:rPr>
                        <a:t>研发成果的检索、分析、评议、论证、鉴定、评审、评估、验收费用</a:t>
                      </a:r>
                      <a:endParaRPr lang="zh-CN" sz="1800" b="1" kern="1200">
                        <a:solidFill>
                          <a:srgbClr val="272727"/>
                        </a:solidFill>
                        <a:latin typeface="方正兰亭超细黑简体"/>
                        <a:ea typeface="方正兰亭超细黑简体"/>
                      </a:endParaRPr>
                    </a:p>
                  </a:txBody>
                  <a:tcPr marL="100361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56623">
                <a:tc>
                  <a:txBody>
                    <a:bodyPr/>
                    <a:lstStyle/>
                    <a:p>
                      <a:pPr algn="ctr"/>
                      <a:r>
                        <a:rPr lang="en-US" sz="1800" b="1" kern="1200">
                          <a:solidFill>
                            <a:srgbClr val="272727"/>
                          </a:solidFill>
                          <a:latin typeface="方正兰亭超细黑简体"/>
                          <a:ea typeface="方正兰亭超细黑简体"/>
                        </a:rPr>
                        <a:t>31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3.</a:t>
                      </a:r>
                      <a:r>
                        <a:rPr lang="zh-CN" sz="1800" b="1" kern="1200">
                          <a:solidFill>
                            <a:srgbClr val="272727"/>
                          </a:solidFill>
                          <a:latin typeface="方正兰亭超细黑简体"/>
                          <a:ea typeface="方正兰亭超细黑简体"/>
                        </a:rPr>
                        <a:t>知识产权的申请费、注册费、代理费</a:t>
                      </a:r>
                      <a:endParaRPr lang="zh-CN" sz="1800" b="1" kern="1200">
                        <a:solidFill>
                          <a:srgbClr val="272727"/>
                        </a:solidFill>
                        <a:latin typeface="方正兰亭超细黑简体"/>
                        <a:ea typeface="方正兰亭超细黑简体"/>
                      </a:endParaRPr>
                    </a:p>
                  </a:txBody>
                  <a:tcPr marL="100361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56623">
                <a:tc>
                  <a:txBody>
                    <a:bodyPr/>
                    <a:lstStyle/>
                    <a:p>
                      <a:pPr algn="ctr"/>
                      <a:r>
                        <a:rPr lang="en-US" sz="1800" b="1" kern="1200">
                          <a:solidFill>
                            <a:srgbClr val="272727"/>
                          </a:solidFill>
                          <a:latin typeface="方正兰亭超细黑简体"/>
                          <a:ea typeface="方正兰亭超细黑简体"/>
                        </a:rPr>
                        <a:t>32</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4.</a:t>
                      </a:r>
                      <a:r>
                        <a:rPr lang="zh-CN" sz="1800" b="1" kern="1200">
                          <a:solidFill>
                            <a:srgbClr val="272727"/>
                          </a:solidFill>
                          <a:latin typeface="方正兰亭超细黑简体"/>
                          <a:ea typeface="方正兰亭超细黑简体"/>
                        </a:rPr>
                        <a:t>职工福利费、补充养老保险费、补充医疗保险费</a:t>
                      </a:r>
                      <a:endParaRPr lang="zh-CN" sz="1800" b="1" kern="1200">
                        <a:solidFill>
                          <a:srgbClr val="272727"/>
                        </a:solidFill>
                        <a:latin typeface="方正兰亭超细黑简体"/>
                        <a:ea typeface="方正兰亭超细黑简体"/>
                      </a:endParaRPr>
                    </a:p>
                  </a:txBody>
                  <a:tcPr marL="100361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56623">
                <a:tc>
                  <a:txBody>
                    <a:bodyPr/>
                    <a:lstStyle/>
                    <a:p>
                      <a:pPr algn="ctr"/>
                      <a:r>
                        <a:rPr lang="en-US" sz="1800" b="1" kern="1200">
                          <a:solidFill>
                            <a:srgbClr val="272727"/>
                          </a:solidFill>
                          <a:latin typeface="方正兰亭超细黑简体"/>
                          <a:ea typeface="方正兰亭超细黑简体"/>
                        </a:rPr>
                        <a:t>33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en-US" sz="1800" b="1" kern="1200">
                          <a:solidFill>
                            <a:srgbClr val="272727"/>
                          </a:solidFill>
                          <a:latin typeface="方正兰亭超细黑简体"/>
                          <a:ea typeface="方正兰亭超细黑简体"/>
                        </a:rPr>
                        <a:t>5.</a:t>
                      </a:r>
                      <a:r>
                        <a:rPr lang="zh-CN" sz="1800" b="1" kern="1200">
                          <a:solidFill>
                            <a:srgbClr val="272727"/>
                          </a:solidFill>
                          <a:latin typeface="方正兰亭超细黑简体"/>
                          <a:ea typeface="方正兰亭超细黑简体"/>
                        </a:rPr>
                        <a:t>差旅费、会议费</a:t>
                      </a:r>
                      <a:endParaRPr lang="zh-CN" sz="1800" b="1" kern="1200">
                        <a:solidFill>
                          <a:srgbClr val="272727"/>
                        </a:solidFill>
                        <a:latin typeface="方正兰亭超细黑简体"/>
                        <a:ea typeface="方正兰亭超细黑简体"/>
                      </a:endParaRPr>
                    </a:p>
                  </a:txBody>
                  <a:tcPr marL="100361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56623">
                <a:tc>
                  <a:txBody>
                    <a:bodyPr/>
                    <a:lstStyle/>
                    <a:p>
                      <a:pPr algn="ctr"/>
                      <a:r>
                        <a:rPr lang="en-US" sz="1800" b="1" kern="1200">
                          <a:solidFill>
                            <a:srgbClr val="272727"/>
                          </a:solidFill>
                          <a:latin typeface="方正兰亭超细黑简体"/>
                          <a:ea typeface="方正兰亭超细黑简体"/>
                        </a:rPr>
                        <a:t>34</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（七）经限额调整后的其他相关费用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
        <p:nvSpPr>
          <p:cNvPr id="37" name="矩形 36"/>
          <p:cNvSpPr/>
          <p:nvPr/>
        </p:nvSpPr>
        <p:spPr>
          <a:xfrm>
            <a:off x="6997428" y="272568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zh-CN" sz="1600">
              <a:solidFill>
                <a:srgbClr val="272727"/>
              </a:solidFill>
              <a:latin typeface="微软雅黑" panose="020B0503020204020204" charset="-122"/>
              <a:ea typeface="方正兰亭超细黑简体"/>
            </a:endParaRPr>
          </a:p>
        </p:txBody>
      </p:sp>
      <p:sp>
        <p:nvSpPr>
          <p:cNvPr id="38" name="矩形 37"/>
          <p:cNvSpPr/>
          <p:nvPr/>
        </p:nvSpPr>
        <p:spPr>
          <a:xfrm>
            <a:off x="6990804" y="306056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39" name="矩形 38"/>
          <p:cNvSpPr/>
          <p:nvPr/>
        </p:nvSpPr>
        <p:spPr>
          <a:xfrm>
            <a:off x="6984180" y="363918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40" name="矩形 39"/>
          <p:cNvSpPr/>
          <p:nvPr/>
        </p:nvSpPr>
        <p:spPr>
          <a:xfrm>
            <a:off x="6990808" y="411766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41" name="矩形 40"/>
          <p:cNvSpPr/>
          <p:nvPr/>
        </p:nvSpPr>
        <p:spPr>
          <a:xfrm>
            <a:off x="6984184" y="457038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42" name="矩形 41"/>
          <p:cNvSpPr/>
          <p:nvPr/>
        </p:nvSpPr>
        <p:spPr>
          <a:xfrm>
            <a:off x="6990816" y="493295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46" name="矩形 45"/>
          <p:cNvSpPr/>
          <p:nvPr/>
        </p:nvSpPr>
        <p:spPr>
          <a:xfrm>
            <a:off x="6984192" y="530877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47" name="矩形 46"/>
          <p:cNvSpPr/>
          <p:nvPr/>
        </p:nvSpPr>
        <p:spPr>
          <a:xfrm>
            <a:off x="6990820" y="567134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48" name="矩形 47"/>
          <p:cNvSpPr/>
          <p:nvPr/>
        </p:nvSpPr>
        <p:spPr>
          <a:xfrm>
            <a:off x="7871053" y="272353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zh-CN" sz="1600">
              <a:solidFill>
                <a:srgbClr val="272727"/>
              </a:solidFill>
              <a:latin typeface="微软雅黑" panose="020B0503020204020204" charset="-122"/>
              <a:ea typeface="方正兰亭超细黑简体"/>
            </a:endParaRPr>
          </a:p>
        </p:txBody>
      </p:sp>
      <p:sp>
        <p:nvSpPr>
          <p:cNvPr id="49" name="矩形 48"/>
          <p:cNvSpPr/>
          <p:nvPr/>
        </p:nvSpPr>
        <p:spPr>
          <a:xfrm>
            <a:off x="7878075" y="308570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50" name="矩形 49"/>
          <p:cNvSpPr/>
          <p:nvPr/>
        </p:nvSpPr>
        <p:spPr>
          <a:xfrm>
            <a:off x="7857804" y="363703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51" name="矩形 50"/>
          <p:cNvSpPr/>
          <p:nvPr/>
        </p:nvSpPr>
        <p:spPr>
          <a:xfrm>
            <a:off x="7864432" y="411551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52" name="矩形 51"/>
          <p:cNvSpPr/>
          <p:nvPr/>
        </p:nvSpPr>
        <p:spPr>
          <a:xfrm>
            <a:off x="7857808" y="456823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53" name="矩形 52"/>
          <p:cNvSpPr/>
          <p:nvPr/>
        </p:nvSpPr>
        <p:spPr>
          <a:xfrm>
            <a:off x="7864440" y="493080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54" name="矩形 53"/>
          <p:cNvSpPr/>
          <p:nvPr/>
        </p:nvSpPr>
        <p:spPr>
          <a:xfrm>
            <a:off x="7857816" y="530662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55" name="矩形 54"/>
          <p:cNvSpPr/>
          <p:nvPr/>
        </p:nvSpPr>
        <p:spPr>
          <a:xfrm>
            <a:off x="7864444" y="5669193"/>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a:t>
            </a:r>
            <a:endParaRPr lang="en-US" sz="1600">
              <a:solidFill>
                <a:srgbClr val="272727"/>
              </a:solidFill>
              <a:latin typeface="微软雅黑" panose="020B0503020204020204" charset="-122"/>
              <a:ea typeface="方正兰亭超细黑简体"/>
            </a:endParaRPr>
          </a:p>
        </p:txBody>
      </p:sp>
      <p:sp>
        <p:nvSpPr>
          <p:cNvPr id="56" name="矩形 55"/>
          <p:cNvSpPr/>
          <p:nvPr/>
        </p:nvSpPr>
        <p:spPr>
          <a:xfrm>
            <a:off x="8731797" y="273503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zh-CN" sz="1600">
              <a:solidFill>
                <a:srgbClr val="272727"/>
              </a:solidFill>
              <a:latin typeface="微软雅黑" panose="020B0503020204020204" charset="-122"/>
              <a:ea typeface="方正兰亭超细黑简体"/>
            </a:endParaRPr>
          </a:p>
        </p:txBody>
      </p:sp>
      <p:sp>
        <p:nvSpPr>
          <p:cNvPr id="57" name="矩形 56"/>
          <p:cNvSpPr/>
          <p:nvPr/>
        </p:nvSpPr>
        <p:spPr>
          <a:xfrm>
            <a:off x="8725173" y="308356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58" name="矩形 57"/>
          <p:cNvSpPr/>
          <p:nvPr/>
        </p:nvSpPr>
        <p:spPr>
          <a:xfrm>
            <a:off x="8718549" y="363489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59" name="矩形 58"/>
          <p:cNvSpPr/>
          <p:nvPr/>
        </p:nvSpPr>
        <p:spPr>
          <a:xfrm>
            <a:off x="8725177" y="411336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0" name="矩形 59"/>
          <p:cNvSpPr/>
          <p:nvPr/>
        </p:nvSpPr>
        <p:spPr>
          <a:xfrm>
            <a:off x="8718553" y="456608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1" name="矩形 60"/>
          <p:cNvSpPr/>
          <p:nvPr/>
        </p:nvSpPr>
        <p:spPr>
          <a:xfrm>
            <a:off x="8725185" y="492865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2" name="矩形 61"/>
          <p:cNvSpPr/>
          <p:nvPr/>
        </p:nvSpPr>
        <p:spPr>
          <a:xfrm>
            <a:off x="8718561" y="530447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3" name="矩形 62"/>
          <p:cNvSpPr/>
          <p:nvPr/>
        </p:nvSpPr>
        <p:spPr>
          <a:xfrm>
            <a:off x="8725189" y="566704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4" name="矩形 63"/>
          <p:cNvSpPr/>
          <p:nvPr/>
        </p:nvSpPr>
        <p:spPr>
          <a:xfrm>
            <a:off x="9687307" y="270559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zh-CN" sz="1600">
              <a:solidFill>
                <a:srgbClr val="272727"/>
              </a:solidFill>
              <a:latin typeface="微软雅黑" panose="020B0503020204020204" charset="-122"/>
              <a:ea typeface="方正兰亭超细黑简体"/>
            </a:endParaRPr>
          </a:p>
        </p:txBody>
      </p:sp>
      <p:sp>
        <p:nvSpPr>
          <p:cNvPr id="65" name="矩形 64"/>
          <p:cNvSpPr/>
          <p:nvPr/>
        </p:nvSpPr>
        <p:spPr>
          <a:xfrm>
            <a:off x="9585149" y="309506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6" name="矩形 65"/>
          <p:cNvSpPr/>
          <p:nvPr/>
        </p:nvSpPr>
        <p:spPr>
          <a:xfrm>
            <a:off x="9592173" y="363274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7" name="矩形 66"/>
          <p:cNvSpPr/>
          <p:nvPr/>
        </p:nvSpPr>
        <p:spPr>
          <a:xfrm>
            <a:off x="9598801" y="411122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8" name="矩形 67"/>
          <p:cNvSpPr/>
          <p:nvPr/>
        </p:nvSpPr>
        <p:spPr>
          <a:xfrm>
            <a:off x="9592177" y="456394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69" name="矩形 68"/>
          <p:cNvSpPr/>
          <p:nvPr/>
        </p:nvSpPr>
        <p:spPr>
          <a:xfrm>
            <a:off x="9598809" y="492651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0" name="矩形 69"/>
          <p:cNvSpPr/>
          <p:nvPr/>
        </p:nvSpPr>
        <p:spPr>
          <a:xfrm>
            <a:off x="9592185" y="530233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71" name="矩形 70"/>
          <p:cNvSpPr/>
          <p:nvPr/>
        </p:nvSpPr>
        <p:spPr>
          <a:xfrm>
            <a:off x="9598813" y="566489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 name="内容占位符 2"/>
          <p:cNvSpPr/>
          <p:nvPr>
            <p:ph idx="13"/>
          </p:nvPr>
        </p:nvSpPr>
        <p:spPr/>
        <p:txBody>
          <a:bodyPr/>
          <a:lstStyle/>
          <a:p>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graphicFrame>
        <p:nvGraphicFramePr>
          <p:cNvPr id="7" name="表格 6"/>
          <p:cNvGraphicFramePr/>
          <p:nvPr/>
        </p:nvGraphicFramePr>
        <p:xfrm>
          <a:off x="505156" y="1983854"/>
          <a:ext cx="10293566" cy="4190151"/>
        </p:xfrm>
        <a:graphic>
          <a:graphicData uri="http://schemas.openxmlformats.org/drawingml/2006/table">
            <a:tbl>
              <a:tblPr/>
              <a:tblGrid>
                <a:gridCol w="347729"/>
                <a:gridCol w="6297769"/>
                <a:gridCol w="1056068"/>
                <a:gridCol w="864000"/>
                <a:gridCol w="864000"/>
                <a:gridCol w="864000"/>
              </a:tblGrid>
              <a:tr h="410162">
                <a:tc>
                  <a:txBody>
                    <a:bodyPr/>
                    <a:lstStyle/>
                    <a:p>
                      <a:pPr algn="ctr"/>
                      <a:r>
                        <a:rPr lang="en-US" sz="1800" b="1" kern="1200">
                          <a:solidFill>
                            <a:srgbClr val="272727"/>
                          </a:solidFill>
                          <a:latin typeface="方正兰亭超细黑简体"/>
                          <a:ea typeface="方正兰亭超细黑简体"/>
                        </a:rPr>
                        <a:t>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本年可享受研发费用加计扣除项目数量</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gridSpan="3">
                  <a:txBody>
                    <a:bodyPr/>
                    <a:lstStyle/>
                    <a:p>
                      <a:pPr marL="0" indent="0" algn="ctr" defTabSz="1219200">
                        <a:lnSpc>
                          <a:spcPct val="100000"/>
                        </a:lnSpc>
                        <a:spcBef>
                          <a:spcPts val="0"/>
                        </a:spcBef>
                        <a:spcAft>
                          <a:spcPts val="0"/>
                        </a:spcAft>
                        <a:buNone/>
                      </a:pPr>
                      <a:r>
                        <a:rPr lang="zh-CN" sz="1800" b="1" kern="1200">
                          <a:solidFill>
                            <a:srgbClr val="272727"/>
                          </a:solidFill>
                          <a:latin typeface="方正兰亭超细黑简体"/>
                          <a:ea typeface="方正兰亭超细黑简体"/>
                        </a:rPr>
                        <a:t>计算过程</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410162">
                <a:tc gridSpan="3">
                  <a:txBody>
                    <a:bodyPr/>
                    <a:lstStyle/>
                    <a:p>
                      <a:pPr algn="ct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hMerge="1">
                  <a:tcPr/>
                </a:tc>
                <a:tc hMerge="1">
                  <a:tcPr/>
                </a:tc>
                <a:tc>
                  <a:txBody>
                    <a:bodyPr/>
                    <a:lstStyle/>
                    <a:p>
                      <a:pPr algn="ctr"/>
                      <a:r>
                        <a:rPr lang="zh-CN" sz="1800" b="1" kern="1200">
                          <a:solidFill>
                            <a:srgbClr val="272727"/>
                          </a:solidFill>
                          <a:latin typeface="方正兰亭超细黑简体"/>
                          <a:ea typeface="方正兰亭超细黑简体"/>
                        </a:rPr>
                        <a:t>甲</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ctr"/>
                      <a:r>
                        <a:rPr lang="zh-CN" sz="1800" b="1" kern="1200">
                          <a:solidFill>
                            <a:srgbClr val="272727"/>
                          </a:solidFill>
                          <a:latin typeface="方正兰亭超细黑简体"/>
                          <a:ea typeface="方正兰亭超细黑简体"/>
                        </a:rPr>
                        <a:t>丙</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502079">
                <a:tc>
                  <a:txBody>
                    <a:bodyPr/>
                    <a:lstStyle/>
                    <a:p>
                      <a:pPr algn="ctr"/>
                      <a:r>
                        <a:rPr lang="en-US" sz="1800" b="1" kern="1200">
                          <a:solidFill>
                            <a:srgbClr val="272727"/>
                          </a:solidFill>
                          <a:latin typeface="方正兰亭超细黑简体"/>
                          <a:ea typeface="方正兰亭超细黑简体"/>
                        </a:rPr>
                        <a:t>2</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一、自主研发、合作研发、集中研发（</a:t>
                      </a:r>
                      <a:r>
                        <a:rPr lang="en-US" sz="1800" b="1" kern="1200">
                          <a:solidFill>
                            <a:srgbClr val="272727"/>
                          </a:solidFill>
                          <a:latin typeface="方正兰亭超细黑简体"/>
                          <a:ea typeface="方正兰亭超细黑简体"/>
                        </a:rPr>
                        <a:t>3+7+16+19+23+34</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502079">
                <a:tc>
                  <a:txBody>
                    <a:bodyPr/>
                    <a:lstStyle/>
                    <a:p>
                      <a:pPr algn="ctr"/>
                      <a:r>
                        <a:rPr lang="en-US" sz="1800" b="1" kern="1200">
                          <a:solidFill>
                            <a:srgbClr val="272727"/>
                          </a:solidFill>
                          <a:latin typeface="方正兰亭超细黑简体"/>
                          <a:ea typeface="方正兰亭超细黑简体"/>
                        </a:rPr>
                        <a:t>35</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二、委托研发</a:t>
                      </a:r>
                      <a:r>
                        <a:rPr lang="en-US" sz="1800" b="1" kern="1200">
                          <a:solidFill>
                            <a:srgbClr val="272727"/>
                          </a:solidFill>
                          <a:latin typeface="方正兰亭超细黑简体"/>
                          <a:ea typeface="方正兰亭超细黑简体"/>
                        </a:rPr>
                        <a:t>(36+37+39)</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502079">
                <a:tc>
                  <a:txBody>
                    <a:bodyPr/>
                    <a:lstStyle/>
                    <a:p>
                      <a:pPr algn="ctr"/>
                      <a:r>
                        <a:rPr lang="en-US" sz="1800" b="1" kern="1200">
                          <a:solidFill>
                            <a:srgbClr val="272727"/>
                          </a:solidFill>
                          <a:latin typeface="方正兰亭超细黑简体"/>
                          <a:ea typeface="方正兰亭超细黑简体"/>
                        </a:rPr>
                        <a:t>36</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（一）委托境内机构或个人进行研发活动所发生的费用</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83155">
                <a:tc>
                  <a:txBody>
                    <a:bodyPr/>
                    <a:lstStyle/>
                    <a:p>
                      <a:pPr algn="ctr"/>
                      <a:r>
                        <a:rPr lang="en-US" sz="1800" b="1" kern="1200">
                          <a:solidFill>
                            <a:srgbClr val="272727"/>
                          </a:solidFill>
                          <a:latin typeface="方正兰亭超细黑简体"/>
                          <a:ea typeface="方正兰亭超细黑简体"/>
                        </a:rPr>
                        <a:t>37</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（二）委托境外机构进行研发活动发生的费用</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83155">
                <a:tc>
                  <a:txBody>
                    <a:bodyPr/>
                    <a:lstStyle/>
                    <a:p>
                      <a:pPr algn="ctr"/>
                      <a:r>
                        <a:rPr lang="en-US" sz="1800" b="1" kern="1200">
                          <a:solidFill>
                            <a:srgbClr val="272727"/>
                          </a:solidFill>
                          <a:latin typeface="方正兰亭超细黑简体"/>
                          <a:ea typeface="方正兰亭超细黑简体"/>
                        </a:rPr>
                        <a:t>38</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其中：允许加计扣除的委托境外机构进行研发活动发生的费用</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83155">
                <a:tc>
                  <a:txBody>
                    <a:bodyPr/>
                    <a:lstStyle/>
                    <a:p>
                      <a:pPr algn="ctr"/>
                      <a:r>
                        <a:rPr lang="en-US" sz="1800" b="1" kern="1200">
                          <a:solidFill>
                            <a:srgbClr val="272727"/>
                          </a:solidFill>
                          <a:latin typeface="方正兰亭超细黑简体"/>
                          <a:ea typeface="方正兰亭超细黑简体"/>
                        </a:rPr>
                        <a:t>39</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     （三）委托境外个人进行研发活动发生的费用</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510873">
                <a:tc>
                  <a:txBody>
                    <a:bodyPr/>
                    <a:lstStyle/>
                    <a:p>
                      <a:pPr algn="ctr"/>
                      <a:r>
                        <a:rPr lang="en-US" sz="1800" b="1" kern="1200">
                          <a:solidFill>
                            <a:srgbClr val="272727"/>
                          </a:solidFill>
                          <a:latin typeface="方正兰亭超细黑简体"/>
                          <a:ea typeface="方正兰亭超细黑简体"/>
                        </a:rPr>
                        <a:t>40</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indent="0" algn="l" defTabSz="1219200">
                        <a:lnSpc>
                          <a:spcPct val="100000"/>
                        </a:lnSpc>
                        <a:spcBef>
                          <a:spcPts val="0"/>
                        </a:spcBef>
                        <a:spcAft>
                          <a:spcPts val="0"/>
                        </a:spcAft>
                        <a:buNone/>
                      </a:pPr>
                      <a:r>
                        <a:rPr lang="zh-CN" sz="1800" b="1" kern="1200">
                          <a:solidFill>
                            <a:srgbClr val="272727"/>
                          </a:solidFill>
                          <a:latin typeface="方正兰亭超细黑简体"/>
                          <a:ea typeface="方正兰亭超细黑简体"/>
                        </a:rPr>
                        <a:t>三、年度研发费用小计</a:t>
                      </a:r>
                      <a:r>
                        <a:rPr lang="en-US" sz="1800" b="1" kern="1200">
                          <a:solidFill>
                            <a:srgbClr val="272727"/>
                          </a:solidFill>
                          <a:latin typeface="方正兰亭超细黑简体"/>
                          <a:ea typeface="方正兰亭超细黑简体"/>
                        </a:rPr>
                        <a:t>(2+36</a:t>
                      </a:r>
                      <a:r>
                        <a:rPr lang="zh-CN" sz="1800" b="1" kern="1200">
                          <a:solidFill>
                            <a:srgbClr val="272727"/>
                          </a:solidFill>
                          <a:latin typeface="方正兰亭超细黑简体"/>
                          <a:ea typeface="方正兰亭超细黑简体"/>
                        </a:rPr>
                        <a:t>*</a:t>
                      </a:r>
                      <a:r>
                        <a:rPr lang="en-US" sz="1800" b="1" kern="1200">
                          <a:solidFill>
                            <a:srgbClr val="272727"/>
                          </a:solidFill>
                          <a:latin typeface="方正兰亭超细黑简体"/>
                          <a:ea typeface="方正兰亭超细黑简体"/>
                        </a:rPr>
                        <a:t>80%+38)</a:t>
                      </a:r>
                      <a:endParaRPr lang="en-US" sz="1800" b="1" kern="1200">
                        <a:solidFill>
                          <a:srgbClr val="272727"/>
                        </a:solidFill>
                        <a:latin typeface="方正兰亭超细黑简体"/>
                        <a:ea typeface="方正兰亭超细黑简体"/>
                      </a:endParaRPr>
                    </a:p>
                    <a:p>
                      <a:pPr algn="l"/>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endParaRPr lang="zh-CN" sz="2000"/>
                    </a:p>
                  </a:txBody>
                  <a:tcPr marL="0" marR="0" marT="0" marB="0" anchor="ctr">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
        <p:nvSpPr>
          <p:cNvPr id="8" name="矩形 7"/>
          <p:cNvSpPr/>
          <p:nvPr/>
        </p:nvSpPr>
        <p:spPr>
          <a:xfrm>
            <a:off x="6943729" y="344602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800</a:t>
            </a:r>
            <a:endParaRPr lang="en-US" sz="1600">
              <a:solidFill>
                <a:srgbClr val="272727"/>
              </a:solidFill>
              <a:latin typeface="微软雅黑" panose="020B0503020204020204" charset="-122"/>
              <a:ea typeface="方正兰亭超细黑简体"/>
            </a:endParaRPr>
          </a:p>
        </p:txBody>
      </p:sp>
      <p:sp>
        <p:nvSpPr>
          <p:cNvPr id="9" name="矩形 8"/>
          <p:cNvSpPr/>
          <p:nvPr/>
        </p:nvSpPr>
        <p:spPr>
          <a:xfrm>
            <a:off x="6970163" y="435665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400</a:t>
            </a:r>
            <a:endParaRPr lang="en-US" sz="1600">
              <a:solidFill>
                <a:srgbClr val="272727"/>
              </a:solidFill>
              <a:latin typeface="微软雅黑" panose="020B0503020204020204" charset="-122"/>
              <a:ea typeface="方正兰亭超细黑简体"/>
            </a:endParaRPr>
          </a:p>
        </p:txBody>
      </p:sp>
      <p:sp>
        <p:nvSpPr>
          <p:cNvPr id="10" name="矩形 9"/>
          <p:cNvSpPr/>
          <p:nvPr/>
        </p:nvSpPr>
        <p:spPr>
          <a:xfrm>
            <a:off x="6984180" y="533148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en-US" sz="1600">
              <a:solidFill>
                <a:srgbClr val="272727"/>
              </a:solidFill>
              <a:latin typeface="微软雅黑" panose="020B0503020204020204" charset="-122"/>
              <a:ea typeface="方正兰亭超细黑简体"/>
            </a:endParaRPr>
          </a:p>
        </p:txBody>
      </p:sp>
      <p:sp>
        <p:nvSpPr>
          <p:cNvPr id="12" name="矩形 11"/>
          <p:cNvSpPr/>
          <p:nvPr/>
        </p:nvSpPr>
        <p:spPr>
          <a:xfrm>
            <a:off x="6984180" y="579593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600</a:t>
            </a:r>
            <a:endParaRPr lang="en-US" sz="1600">
              <a:solidFill>
                <a:srgbClr val="272727"/>
              </a:solidFill>
              <a:latin typeface="微软雅黑" panose="020B0503020204020204" charset="-122"/>
              <a:ea typeface="方正兰亭超细黑简体"/>
            </a:endParaRPr>
          </a:p>
        </p:txBody>
      </p:sp>
      <p:sp>
        <p:nvSpPr>
          <p:cNvPr id="13" name="矩形 12"/>
          <p:cNvSpPr/>
          <p:nvPr/>
        </p:nvSpPr>
        <p:spPr>
          <a:xfrm>
            <a:off x="7980700" y="437044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4" name="矩形 13"/>
          <p:cNvSpPr/>
          <p:nvPr/>
        </p:nvSpPr>
        <p:spPr>
          <a:xfrm>
            <a:off x="7967052" y="483008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5" name="矩形 14"/>
          <p:cNvSpPr/>
          <p:nvPr/>
        </p:nvSpPr>
        <p:spPr>
          <a:xfrm>
            <a:off x="7967052" y="533148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6" name="矩形 15"/>
          <p:cNvSpPr/>
          <p:nvPr/>
        </p:nvSpPr>
        <p:spPr>
          <a:xfrm>
            <a:off x="7969405" y="576260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en-US" sz="1600">
              <a:solidFill>
                <a:srgbClr val="272727"/>
              </a:solidFill>
              <a:latin typeface="微软雅黑" panose="020B0503020204020204" charset="-122"/>
              <a:ea typeface="方正兰亭超细黑简体"/>
            </a:endParaRPr>
          </a:p>
        </p:txBody>
      </p:sp>
      <p:sp>
        <p:nvSpPr>
          <p:cNvPr id="17" name="矩形 16"/>
          <p:cNvSpPr/>
          <p:nvPr/>
        </p:nvSpPr>
        <p:spPr>
          <a:xfrm>
            <a:off x="8718549" y="4358023"/>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9" name="矩形 18"/>
          <p:cNvSpPr/>
          <p:nvPr/>
        </p:nvSpPr>
        <p:spPr>
          <a:xfrm>
            <a:off x="8731797" y="478767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0" name="矩形 19"/>
          <p:cNvSpPr/>
          <p:nvPr/>
        </p:nvSpPr>
        <p:spPr>
          <a:xfrm>
            <a:off x="8736736" y="533364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1" name="矩形 20"/>
          <p:cNvSpPr/>
          <p:nvPr/>
        </p:nvSpPr>
        <p:spPr>
          <a:xfrm>
            <a:off x="8814116" y="577624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160</a:t>
            </a:r>
            <a:endParaRPr lang="en-US" sz="1600">
              <a:solidFill>
                <a:srgbClr val="272727"/>
              </a:solidFill>
              <a:latin typeface="微软雅黑" panose="020B0503020204020204" charset="-122"/>
              <a:ea typeface="方正兰亭超细黑简体"/>
            </a:endParaRPr>
          </a:p>
        </p:txBody>
      </p:sp>
      <p:sp>
        <p:nvSpPr>
          <p:cNvPr id="22" name="矩形 21"/>
          <p:cNvSpPr/>
          <p:nvPr/>
        </p:nvSpPr>
        <p:spPr>
          <a:xfrm>
            <a:off x="9584664" y="436616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400</a:t>
            </a:r>
            <a:endParaRPr lang="en-US" sz="1600">
              <a:solidFill>
                <a:srgbClr val="272727"/>
              </a:solidFill>
              <a:latin typeface="微软雅黑" panose="020B0503020204020204" charset="-122"/>
              <a:ea typeface="方正兰亭超细黑简体"/>
            </a:endParaRPr>
          </a:p>
        </p:txBody>
      </p:sp>
      <p:sp>
        <p:nvSpPr>
          <p:cNvPr id="23" name="矩形 22"/>
          <p:cNvSpPr/>
          <p:nvPr/>
        </p:nvSpPr>
        <p:spPr>
          <a:xfrm>
            <a:off x="9605421" y="481263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240</a:t>
            </a:r>
            <a:endParaRPr lang="en-US" sz="1600">
              <a:solidFill>
                <a:srgbClr val="272727"/>
              </a:solidFill>
              <a:latin typeface="微软雅黑" panose="020B0503020204020204" charset="-122"/>
              <a:ea typeface="方正兰亭超细黑简体"/>
            </a:endParaRPr>
          </a:p>
        </p:txBody>
      </p:sp>
      <p:sp>
        <p:nvSpPr>
          <p:cNvPr id="24" name="矩形 23"/>
          <p:cNvSpPr/>
          <p:nvPr/>
        </p:nvSpPr>
        <p:spPr>
          <a:xfrm>
            <a:off x="9603410" y="532532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en-US" sz="1600">
              <a:solidFill>
                <a:srgbClr val="272727"/>
              </a:solidFill>
              <a:latin typeface="微软雅黑" panose="020B0503020204020204" charset="-122"/>
              <a:ea typeface="方正兰亭超细黑简体"/>
            </a:endParaRPr>
          </a:p>
        </p:txBody>
      </p:sp>
      <p:sp>
        <p:nvSpPr>
          <p:cNvPr id="25" name="矩形 24"/>
          <p:cNvSpPr/>
          <p:nvPr/>
        </p:nvSpPr>
        <p:spPr>
          <a:xfrm>
            <a:off x="9656543" y="577408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0" name="矩形 29"/>
          <p:cNvSpPr/>
          <p:nvPr/>
        </p:nvSpPr>
        <p:spPr>
          <a:xfrm>
            <a:off x="6970133" y="294274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zh-CN" sz="1600">
              <a:solidFill>
                <a:srgbClr val="272727"/>
              </a:solidFill>
              <a:latin typeface="微软雅黑" panose="020B0503020204020204" charset="-122"/>
              <a:ea typeface="方正兰亭超细黑简体"/>
            </a:endParaRPr>
          </a:p>
        </p:txBody>
      </p:sp>
      <p:sp>
        <p:nvSpPr>
          <p:cNvPr id="31" name="矩形 30"/>
          <p:cNvSpPr/>
          <p:nvPr/>
        </p:nvSpPr>
        <p:spPr>
          <a:xfrm>
            <a:off x="7925642" y="294060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zh-CN" sz="1600">
              <a:solidFill>
                <a:srgbClr val="272727"/>
              </a:solidFill>
              <a:latin typeface="微软雅黑" panose="020B0503020204020204" charset="-122"/>
              <a:ea typeface="方正兰亭超细黑简体"/>
            </a:endParaRPr>
          </a:p>
        </p:txBody>
      </p:sp>
      <p:sp>
        <p:nvSpPr>
          <p:cNvPr id="32" name="矩形 31"/>
          <p:cNvSpPr/>
          <p:nvPr/>
        </p:nvSpPr>
        <p:spPr>
          <a:xfrm>
            <a:off x="8718150" y="2938453"/>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zh-CN" sz="1600">
              <a:solidFill>
                <a:srgbClr val="272727"/>
              </a:solidFill>
              <a:latin typeface="微软雅黑" panose="020B0503020204020204" charset="-122"/>
              <a:ea typeface="方正兰亭超细黑简体"/>
            </a:endParaRPr>
          </a:p>
        </p:txBody>
      </p:sp>
      <p:sp>
        <p:nvSpPr>
          <p:cNvPr id="33" name="矩形 32"/>
          <p:cNvSpPr/>
          <p:nvPr/>
        </p:nvSpPr>
        <p:spPr>
          <a:xfrm>
            <a:off x="9619068" y="293630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zh-CN" sz="1600">
              <a:solidFill>
                <a:srgbClr val="272727"/>
              </a:solidFill>
              <a:latin typeface="微软雅黑" panose="020B0503020204020204" charset="-122"/>
              <a:ea typeface="方正兰亭超细黑简体"/>
            </a:endParaRPr>
          </a:p>
        </p:txBody>
      </p:sp>
      <p:sp>
        <p:nvSpPr>
          <p:cNvPr id="35" name="矩形 34"/>
          <p:cNvSpPr/>
          <p:nvPr/>
        </p:nvSpPr>
        <p:spPr>
          <a:xfrm>
            <a:off x="7967052" y="3931321"/>
            <a:ext cx="1470992" cy="267847"/>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6" name="矩形 35"/>
          <p:cNvSpPr/>
          <p:nvPr/>
        </p:nvSpPr>
        <p:spPr>
          <a:xfrm>
            <a:off x="7967052" y="342930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37" name="矩形 36"/>
          <p:cNvSpPr/>
          <p:nvPr/>
        </p:nvSpPr>
        <p:spPr>
          <a:xfrm>
            <a:off x="8759093" y="3933289"/>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en-US" sz="1600">
              <a:solidFill>
                <a:srgbClr val="272727"/>
              </a:solidFill>
              <a:latin typeface="微软雅黑" panose="020B0503020204020204" charset="-122"/>
              <a:ea typeface="方正兰亭超细黑简体"/>
            </a:endParaRPr>
          </a:p>
        </p:txBody>
      </p:sp>
      <p:sp>
        <p:nvSpPr>
          <p:cNvPr id="38" name="矩形 37"/>
          <p:cNvSpPr/>
          <p:nvPr/>
        </p:nvSpPr>
        <p:spPr>
          <a:xfrm>
            <a:off x="8759398" y="343783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en-US" sz="1600">
              <a:solidFill>
                <a:srgbClr val="272727"/>
              </a:solidFill>
              <a:latin typeface="微软雅黑" panose="020B0503020204020204" charset="-122"/>
              <a:ea typeface="方正兰亭超细黑简体"/>
            </a:endParaRPr>
          </a:p>
        </p:txBody>
      </p:sp>
      <p:sp>
        <p:nvSpPr>
          <p:cNvPr id="39" name="矩形 38"/>
          <p:cNvSpPr/>
          <p:nvPr/>
        </p:nvSpPr>
        <p:spPr>
          <a:xfrm>
            <a:off x="9598311" y="394271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40" name="矩形 39"/>
          <p:cNvSpPr/>
          <p:nvPr/>
        </p:nvSpPr>
        <p:spPr>
          <a:xfrm>
            <a:off x="9581566" y="344795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600</a:t>
            </a:r>
            <a:endParaRPr lang="en-US" sz="1600">
              <a:solidFill>
                <a:srgbClr val="272727"/>
              </a:solidFill>
              <a:latin typeface="微软雅黑" panose="020B0503020204020204" charset="-122"/>
              <a:ea typeface="方正兰亭超细黑简体"/>
            </a:endParaRPr>
          </a:p>
        </p:txBody>
      </p:sp>
      <p:sp>
        <p:nvSpPr>
          <p:cNvPr id="46" name="矩形 45"/>
          <p:cNvSpPr/>
          <p:nvPr/>
        </p:nvSpPr>
        <p:spPr>
          <a:xfrm>
            <a:off x="6941805" y="483993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240</a:t>
            </a:r>
            <a:endParaRPr lang="en-US" sz="1600">
              <a:solidFill>
                <a:srgbClr val="272727"/>
              </a:solidFill>
              <a:latin typeface="微软雅黑" panose="020B0503020204020204" charset="-122"/>
              <a:ea typeface="方正兰亭超细黑简体"/>
            </a:endParaRPr>
          </a:p>
        </p:txBody>
      </p:sp>
      <p:sp>
        <p:nvSpPr>
          <p:cNvPr id="47" name="矩形 46"/>
          <p:cNvSpPr/>
          <p:nvPr/>
        </p:nvSpPr>
        <p:spPr>
          <a:xfrm>
            <a:off x="6965747" y="3946937"/>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200</a:t>
            </a:r>
            <a:endParaRPr lang="en-US" sz="1600">
              <a:solidFill>
                <a:srgbClr val="272727"/>
              </a:solidFill>
              <a:latin typeface="微软雅黑" panose="020B0503020204020204" charset="-122"/>
              <a:ea typeface="方正兰亭超细黑简体"/>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423463" y="252860"/>
            <a:ext cx="7770127" cy="484285"/>
          </a:xfrm>
          <a:prstGeom prst="rect">
            <a:avLst/>
          </a:prstGeom>
          <a:gradFill>
            <a:gsLst>
              <a:gs pos="0">
                <a:schemeClr val="accent1">
                  <a:alpha val="0"/>
                  <a:lumMod val="5000"/>
                  <a:lumOff val="95000"/>
                </a:schemeClr>
              </a:gs>
              <a:gs pos="78000">
                <a:schemeClr val="accent5"/>
              </a:gs>
            </a:gsLst>
            <a:lin ang="10800000" scaled="0"/>
          </a:gradFill>
          <a:ln>
            <a:noFill/>
          </a:ln>
        </p:spPr>
        <p:txBody>
          <a:bodyPr lIns="91436" tIns="45718" rIns="91436" bIns="45718" anchor="ctr"/>
          <a:lstStyle/>
          <a:p>
            <a:pPr algn="ctr"/>
            <a:endParaRPr lang="zh-CN">
              <a:solidFill>
                <a:schemeClr val="lt1"/>
              </a:solidFill>
              <a:latin typeface="Arial" panose="020B0604020202020204"/>
              <a:ea typeface="微软雅黑" panose="020B0503020204020204" charset="-122"/>
            </a:endParaRPr>
          </a:p>
        </p:txBody>
      </p:sp>
      <p:sp>
        <p:nvSpPr>
          <p:cNvPr id="44" name="圆角矩形 43"/>
          <p:cNvSpPr/>
          <p:nvPr/>
        </p:nvSpPr>
        <p:spPr>
          <a:xfrm rot="10800000" flipV="1">
            <a:off x="-4077" y="249442"/>
            <a:ext cx="484287" cy="491115"/>
          </a:xfrm>
          <a:prstGeom prst="roundRect">
            <a:avLst>
              <a:gd name="adj" fmla="val 5039"/>
            </a:avLst>
          </a:prstGeom>
          <a:solidFill>
            <a:schemeClr val="accent5"/>
          </a:solidFill>
          <a:ln>
            <a:noFill/>
          </a:ln>
        </p:spPr>
        <p:txBody>
          <a:bodyPr lIns="91436" tIns="45718" rIns="91436" bIns="45718" anchor="ctr"/>
          <a:lstStyle/>
          <a:p>
            <a:pPr algn="ctr"/>
            <a:endParaRPr lang="zh-CN" sz="3600">
              <a:solidFill>
                <a:schemeClr val="lt1"/>
              </a:solidFill>
              <a:latin typeface="Arial" panose="020B0604020202020204"/>
              <a:ea typeface="微软雅黑" panose="020B0503020204020204" charset="-122"/>
            </a:endParaRPr>
          </a:p>
        </p:txBody>
      </p:sp>
      <p:sp>
        <p:nvSpPr>
          <p:cNvPr id="18" name="矩形 17"/>
          <p:cNvSpPr/>
          <p:nvPr/>
        </p:nvSpPr>
        <p:spPr>
          <a:xfrm>
            <a:off x="4589536" y="284057"/>
            <a:ext cx="4564062" cy="400105"/>
          </a:xfrm>
          <a:prstGeom prst="rect">
            <a:avLst/>
          </a:prstGeom>
        </p:spPr>
        <p:txBody>
          <a:bodyPr wrap="none" lIns="91436" tIns="45718" rIns="91436" bIns="45718">
            <a:spAutoFit/>
          </a:bodyPr>
          <a:lstStyle/>
          <a:p>
            <a:r>
              <a:rPr lang="zh-CN" sz="2000">
                <a:solidFill>
                  <a:schemeClr val="bg1"/>
                </a:solidFill>
                <a:ea typeface="微软雅黑" panose="020B0503020204020204" charset="-122"/>
              </a:rPr>
              <a:t>研发费用加计扣除优惠明细表</a:t>
            </a:r>
            <a:r>
              <a:rPr lang="en-US" sz="2000">
                <a:solidFill>
                  <a:schemeClr val="bg1"/>
                </a:solidFill>
                <a:ea typeface="微软雅黑" panose="020B0503020204020204" charset="-122"/>
              </a:rPr>
              <a:t>A107012</a:t>
            </a:r>
            <a:endParaRPr lang="en-US" sz="2000">
              <a:solidFill>
                <a:schemeClr val="bg1"/>
              </a:solidFill>
              <a:ea typeface="微软雅黑" panose="020B0503020204020204" charset="-122"/>
            </a:endParaRPr>
          </a:p>
        </p:txBody>
      </p:sp>
      <p:sp>
        <p:nvSpPr>
          <p:cNvPr id="11" name="矩形 10"/>
          <p:cNvSpPr/>
          <p:nvPr/>
        </p:nvSpPr>
        <p:spPr>
          <a:xfrm>
            <a:off x="9907934" y="1083741"/>
            <a:ext cx="1826141" cy="584775"/>
          </a:xfrm>
          <a:prstGeom prst="rect">
            <a:avLst/>
          </a:prstGeom>
          <a:solidFill>
            <a:srgbClr val="FFFF00"/>
          </a:solidFill>
        </p:spPr>
        <p:txBody>
          <a:bodyPr wrap="none">
            <a:spAutoFit/>
          </a:bodyPr>
          <a:lstStyle/>
          <a:p>
            <a:r>
              <a:rPr lang="zh-CN" sz="3200" b="1">
                <a:solidFill>
                  <a:srgbClr val="FF0000"/>
                </a:solidFill>
              </a:rPr>
              <a:t>填报解析</a:t>
            </a:r>
            <a:endParaRPr lang="zh-CN" sz="3200" b="1">
              <a:solidFill>
                <a:srgbClr val="FF0000"/>
              </a:solidFill>
            </a:endParaRPr>
          </a:p>
        </p:txBody>
      </p:sp>
      <p:graphicFrame>
        <p:nvGraphicFramePr>
          <p:cNvPr id="7" name="表格 6"/>
          <p:cNvGraphicFramePr/>
          <p:nvPr/>
        </p:nvGraphicFramePr>
        <p:xfrm>
          <a:off x="1394251" y="1716031"/>
          <a:ext cx="9356036" cy="4671622"/>
        </p:xfrm>
        <a:graphic>
          <a:graphicData uri="http://schemas.openxmlformats.org/drawingml/2006/table">
            <a:tbl>
              <a:tblPr/>
              <a:tblGrid>
                <a:gridCol w="456392"/>
                <a:gridCol w="7801714"/>
                <a:gridCol w="1097930"/>
              </a:tblGrid>
              <a:tr h="300002">
                <a:tc>
                  <a:txBody>
                    <a:bodyPr/>
                    <a:lstStyle/>
                    <a:p>
                      <a:pPr algn="ctr"/>
                      <a:r>
                        <a:rPr lang="en-US" sz="1800" b="1" kern="1200">
                          <a:solidFill>
                            <a:srgbClr val="272727"/>
                          </a:solidFill>
                          <a:latin typeface="方正兰亭超细黑简体"/>
                          <a:ea typeface="方正兰亭超细黑简体"/>
                        </a:rPr>
                        <a:t>40</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三、年度研发费用小计</a:t>
                      </a:r>
                      <a:r>
                        <a:rPr lang="en-US" sz="1800" b="1" kern="1200">
                          <a:solidFill>
                            <a:srgbClr val="272727"/>
                          </a:solidFill>
                          <a:latin typeface="方正兰亭超细黑简体"/>
                          <a:ea typeface="方正兰亭超细黑简体"/>
                        </a:rPr>
                        <a:t>(2+36</a:t>
                      </a:r>
                      <a:r>
                        <a:rPr lang="zh-CN" sz="1800" b="1" kern="1200">
                          <a:solidFill>
                            <a:srgbClr val="272727"/>
                          </a:solidFill>
                          <a:latin typeface="方正兰亭超细黑简体"/>
                          <a:ea typeface="方正兰亭超细黑简体"/>
                        </a:rPr>
                        <a:t>*</a:t>
                      </a:r>
                      <a:r>
                        <a:rPr lang="en-US" sz="1800" b="1" kern="1200">
                          <a:solidFill>
                            <a:srgbClr val="272727"/>
                          </a:solidFill>
                          <a:latin typeface="方正兰亭超细黑简体"/>
                          <a:ea typeface="方正兰亭超细黑简体"/>
                        </a:rPr>
                        <a:t>80%+38)</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en-US"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（一）本年费用化金额</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en-US"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42</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（二）本年资本化金额</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en-US"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43</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四、本年形成无形资产摊销额</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en-US"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44</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五、以前年度形成无形资产本年摊销额</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en-US"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45</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六、允许扣除的研发费用合计（</a:t>
                      </a:r>
                      <a:r>
                        <a:rPr lang="en-US" sz="1800" b="1" kern="1200">
                          <a:solidFill>
                            <a:srgbClr val="272727"/>
                          </a:solidFill>
                          <a:latin typeface="方正兰亭超细黑简体"/>
                          <a:ea typeface="方正兰亭超细黑简体"/>
                        </a:rPr>
                        <a:t>41+43+44</a:t>
                      </a:r>
                      <a:r>
                        <a:rPr lang="zh-CN" sz="1800" b="1" kern="1200">
                          <a:solidFill>
                            <a:srgbClr val="272727"/>
                          </a:solidFill>
                          <a:latin typeface="方正兰亭超细黑简体"/>
                          <a:ea typeface="方正兰亭超细黑简体"/>
                        </a:rPr>
                        <a:t>）</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en-US"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46</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减：特殊收入部分</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zh-CN"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47</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七、允许扣除的研发费用抵减特殊收入后的金额</a:t>
                      </a:r>
                      <a:r>
                        <a:rPr lang="en-US" sz="1800" b="1" kern="1200">
                          <a:solidFill>
                            <a:srgbClr val="272727"/>
                          </a:solidFill>
                          <a:latin typeface="方正兰亭超细黑简体"/>
                          <a:ea typeface="方正兰亭超细黑简体"/>
                        </a:rPr>
                        <a:t>(44-45)</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zh-CN"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48</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减：当年销售研发活动直接形成产品（包括组成部分）对应的材料部分</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zh-CN"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49</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减：以前年度销售研发活动直接形成产品（包括组成部分）对应材料部分结转金额</a:t>
                      </a:r>
                      <a:endParaRPr lang="zh-CN" sz="1800" b="1" kern="1200">
                        <a:solidFill>
                          <a:srgbClr val="272727"/>
                        </a:solidFill>
                        <a:latin typeface="方正兰亭超细黑简体"/>
                        <a:ea typeface="方正兰亭超细黑简体"/>
                      </a:endParaRPr>
                    </a:p>
                  </a:txBody>
                  <a:tcPr marL="501805"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zh-CN"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50</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八、加计扣除比例</a:t>
                      </a:r>
                      <a:endParaRPr lang="zh-CN"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zh-CN"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51</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九、本年研发费用加计扣除总额（</a:t>
                      </a:r>
                      <a:r>
                        <a:rPr lang="en-US" sz="1800" b="1" kern="1200">
                          <a:solidFill>
                            <a:srgbClr val="272727"/>
                          </a:solidFill>
                          <a:latin typeface="方正兰亭超细黑简体"/>
                          <a:ea typeface="方正兰亭超细黑简体"/>
                        </a:rPr>
                        <a:t>46-47-48</a:t>
                      </a:r>
                      <a:r>
                        <a:rPr lang="zh-CN" sz="1800" b="1" kern="1200">
                          <a:solidFill>
                            <a:srgbClr val="272727"/>
                          </a:solidFill>
                          <a:latin typeface="方正兰亭超细黑简体"/>
                          <a:ea typeface="方正兰亭超细黑简体"/>
                        </a:rPr>
                        <a:t>）</a:t>
                      </a:r>
                      <a:r>
                        <a:rPr lang="en-US" sz="1800" b="1" kern="1200">
                          <a:solidFill>
                            <a:srgbClr val="272727"/>
                          </a:solidFill>
                          <a:latin typeface="方正兰亭超细黑简体"/>
                          <a:ea typeface="方正兰亭超细黑简体"/>
                        </a:rPr>
                        <a:t>×49</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zh-CN"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r h="300002">
                <a:tc>
                  <a:txBody>
                    <a:bodyPr/>
                    <a:lstStyle/>
                    <a:p>
                      <a:pPr algn="ctr"/>
                      <a:r>
                        <a:rPr lang="en-US" sz="1800" b="1" kern="1200">
                          <a:solidFill>
                            <a:srgbClr val="272727"/>
                          </a:solidFill>
                          <a:latin typeface="方正兰亭超细黑简体"/>
                          <a:ea typeface="方正兰亭超细黑简体"/>
                        </a:rPr>
                        <a:t>52</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algn="l"/>
                      <a:r>
                        <a:rPr lang="zh-CN" sz="1800" b="1" kern="1200">
                          <a:solidFill>
                            <a:srgbClr val="272727"/>
                          </a:solidFill>
                          <a:latin typeface="方正兰亭超细黑简体"/>
                          <a:ea typeface="方正兰亭超细黑简体"/>
                        </a:rPr>
                        <a:t>十、销售研发活动直接形成产品（包括组成部分）对应材料部分结转以后年度扣减金额（当</a:t>
                      </a:r>
                      <a:r>
                        <a:rPr lang="en-US" sz="1800" b="1" kern="1200">
                          <a:solidFill>
                            <a:srgbClr val="272727"/>
                          </a:solidFill>
                          <a:latin typeface="方正兰亭超细黑简体"/>
                          <a:ea typeface="方正兰亭超细黑简体"/>
                        </a:rPr>
                        <a:t>47-48-49≥0</a:t>
                      </a:r>
                      <a:r>
                        <a:rPr lang="zh-CN" sz="1800" b="1" kern="1200">
                          <a:solidFill>
                            <a:srgbClr val="272727"/>
                          </a:solidFill>
                          <a:latin typeface="方正兰亭超细黑简体"/>
                          <a:ea typeface="方正兰亭超细黑简体"/>
                        </a:rPr>
                        <a:t>，本行</a:t>
                      </a:r>
                      <a:r>
                        <a:rPr lang="en-US" sz="1800" b="1" kern="1200">
                          <a:solidFill>
                            <a:srgbClr val="272727"/>
                          </a:solidFill>
                          <a:latin typeface="方正兰亭超细黑简体"/>
                          <a:ea typeface="方正兰亭超细黑简体"/>
                        </a:rPr>
                        <a:t>=0</a:t>
                      </a:r>
                      <a:r>
                        <a:rPr lang="zh-CN" sz="1800" b="1" kern="1200">
                          <a:solidFill>
                            <a:srgbClr val="272727"/>
                          </a:solidFill>
                          <a:latin typeface="方正兰亭超细黑简体"/>
                          <a:ea typeface="方正兰亭超细黑简体"/>
                        </a:rPr>
                        <a:t>；当</a:t>
                      </a:r>
                      <a:r>
                        <a:rPr lang="en-US" sz="1800" b="1" kern="1200">
                          <a:solidFill>
                            <a:srgbClr val="272727"/>
                          </a:solidFill>
                          <a:latin typeface="方正兰亭超细黑简体"/>
                          <a:ea typeface="方正兰亭超细黑简体"/>
                        </a:rPr>
                        <a:t>47-48-49&lt;0</a:t>
                      </a:r>
                      <a:r>
                        <a:rPr lang="zh-CN" sz="1800" b="1" kern="1200">
                          <a:solidFill>
                            <a:srgbClr val="272727"/>
                          </a:solidFill>
                          <a:latin typeface="方正兰亭超细黑简体"/>
                          <a:ea typeface="方正兰亭超细黑简体"/>
                        </a:rPr>
                        <a:t>，本行</a:t>
                      </a:r>
                      <a:r>
                        <a:rPr lang="en-US" sz="1800" b="1" kern="1200">
                          <a:solidFill>
                            <a:srgbClr val="272727"/>
                          </a:solidFill>
                          <a:latin typeface="方正兰亭超细黑简体"/>
                          <a:ea typeface="方正兰亭超细黑简体"/>
                        </a:rPr>
                        <a:t>=47-48-49</a:t>
                      </a:r>
                      <a:r>
                        <a:rPr lang="zh-CN" sz="1800" b="1" kern="1200">
                          <a:solidFill>
                            <a:srgbClr val="272727"/>
                          </a:solidFill>
                          <a:latin typeface="方正兰亭超细黑简体"/>
                          <a:ea typeface="方正兰亭超细黑简体"/>
                        </a:rPr>
                        <a:t>的绝对值</a:t>
                      </a:r>
                      <a:r>
                        <a:rPr lang="en-US" sz="1800" b="1" kern="1200">
                          <a:solidFill>
                            <a:srgbClr val="272727"/>
                          </a:solidFill>
                          <a:latin typeface="方正兰亭超细黑简体"/>
                          <a:ea typeface="方正兰亭超细黑简体"/>
                        </a:rPr>
                        <a:t>)</a:t>
                      </a:r>
                      <a:endParaRPr lang="en-US" sz="1800" b="1" kern="1200">
                        <a:solidFill>
                          <a:srgbClr val="272727"/>
                        </a:solidFill>
                        <a:latin typeface="方正兰亭超细黑简体"/>
                        <a:ea typeface="方正兰亭超细黑简体"/>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c>
                  <a:txBody>
                    <a:bodyPr/>
                    <a:lstStyle/>
                    <a:p>
                      <a:pPr marL="0" algn="l" defTabSz="914400"/>
                      <a:endParaRPr lang="en-US" sz="1800" b="0" kern="1200">
                        <a:solidFill>
                          <a:srgbClr val="272727"/>
                        </a:solidFill>
                        <a:latin typeface="华文新魏" panose="02010800040101010101" charset="-122"/>
                        <a:ea typeface="华文新魏" panose="02010800040101010101" charset="-122"/>
                      </a:endParaRPr>
                    </a:p>
                  </a:txBody>
                  <a:tcPr marL="0" marR="0" marT="0" marB="0" anchor="ctr">
                    <a:lnL w="12700" cap="flat" cmpd="sng">
                      <a:solidFill>
                        <a:srgbClr val="272727"/>
                      </a:solidFill>
                      <a:prstDash val="solid"/>
                      <a:round/>
                      <a:headEnd type="none" w="med" len="med"/>
                      <a:tailEnd type="none" w="med" len="med"/>
                    </a:lnL>
                    <a:lnR w="12700" cap="flat" cmpd="sng">
                      <a:solidFill>
                        <a:srgbClr val="272727"/>
                      </a:solidFill>
                      <a:prstDash val="solid"/>
                      <a:round/>
                      <a:headEnd type="none" w="med" len="med"/>
                      <a:tailEnd type="none" w="med" len="med"/>
                    </a:lnR>
                    <a:lnT w="12700" cap="flat" cmpd="sng">
                      <a:solidFill>
                        <a:srgbClr val="272727"/>
                      </a:solidFill>
                      <a:prstDash val="solid"/>
                      <a:round/>
                      <a:headEnd type="none" w="med" len="med"/>
                      <a:tailEnd type="none" w="med" len="med"/>
                    </a:lnT>
                    <a:lnB w="12700" cap="flat" cmpd="sng">
                      <a:solidFill>
                        <a:srgbClr val="272727"/>
                      </a:solidFill>
                      <a:prstDash val="solid"/>
                      <a:round/>
                      <a:headEnd type="none" w="med" len="med"/>
                      <a:tailEnd type="none" w="med" len="med"/>
                    </a:lnB>
                  </a:tcPr>
                </a:tc>
              </a:tr>
            </a:tbl>
          </a:graphicData>
        </a:graphic>
      </p:graphicFrame>
      <p:sp>
        <p:nvSpPr>
          <p:cNvPr id="8" name="矩形 7"/>
          <p:cNvSpPr/>
          <p:nvPr/>
        </p:nvSpPr>
        <p:spPr>
          <a:xfrm>
            <a:off x="9486332" y="178779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600</a:t>
            </a:r>
            <a:endParaRPr lang="en-US" sz="1600">
              <a:solidFill>
                <a:srgbClr val="272727"/>
              </a:solidFill>
              <a:latin typeface="微软雅黑" panose="020B0503020204020204" charset="-122"/>
              <a:ea typeface="方正兰亭超细黑简体"/>
            </a:endParaRPr>
          </a:p>
        </p:txBody>
      </p:sp>
      <p:sp>
        <p:nvSpPr>
          <p:cNvPr id="9" name="矩形 8"/>
          <p:cNvSpPr/>
          <p:nvPr/>
        </p:nvSpPr>
        <p:spPr>
          <a:xfrm>
            <a:off x="9479708" y="209921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600</a:t>
            </a:r>
            <a:endParaRPr lang="en-US" sz="1600">
              <a:solidFill>
                <a:srgbClr val="272727"/>
              </a:solidFill>
              <a:latin typeface="微软雅黑" panose="020B0503020204020204" charset="-122"/>
              <a:ea typeface="方正兰亭超细黑简体"/>
            </a:endParaRPr>
          </a:p>
        </p:txBody>
      </p:sp>
      <p:sp>
        <p:nvSpPr>
          <p:cNvPr id="10" name="矩形 9"/>
          <p:cNvSpPr/>
          <p:nvPr/>
        </p:nvSpPr>
        <p:spPr>
          <a:xfrm>
            <a:off x="9473084" y="239738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2" name="矩形 11"/>
          <p:cNvSpPr/>
          <p:nvPr/>
        </p:nvSpPr>
        <p:spPr>
          <a:xfrm>
            <a:off x="9479712" y="2695558"/>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3" name="矩形 12"/>
          <p:cNvSpPr/>
          <p:nvPr/>
        </p:nvSpPr>
        <p:spPr>
          <a:xfrm>
            <a:off x="9473088" y="299373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4" name="矩形 13"/>
          <p:cNvSpPr/>
          <p:nvPr/>
        </p:nvSpPr>
        <p:spPr>
          <a:xfrm>
            <a:off x="9479720" y="3291906"/>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600 </a:t>
            </a:r>
            <a:endParaRPr lang="en-US" sz="1600">
              <a:solidFill>
                <a:srgbClr val="272727"/>
              </a:solidFill>
              <a:latin typeface="微软雅黑" panose="020B0503020204020204" charset="-122"/>
              <a:ea typeface="方正兰亭超细黑简体"/>
            </a:endParaRPr>
          </a:p>
        </p:txBody>
      </p:sp>
      <p:sp>
        <p:nvSpPr>
          <p:cNvPr id="15" name="矩形 14"/>
          <p:cNvSpPr/>
          <p:nvPr/>
        </p:nvSpPr>
        <p:spPr>
          <a:xfrm>
            <a:off x="9473096" y="360333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16" name="矩形 15"/>
          <p:cNvSpPr/>
          <p:nvPr/>
        </p:nvSpPr>
        <p:spPr>
          <a:xfrm>
            <a:off x="9479724" y="3901502"/>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600 </a:t>
            </a:r>
            <a:endParaRPr lang="en-US" sz="1600">
              <a:solidFill>
                <a:srgbClr val="272727"/>
              </a:solidFill>
              <a:latin typeface="微软雅黑" panose="020B0503020204020204" charset="-122"/>
              <a:ea typeface="方正兰亭超细黑简体"/>
            </a:endParaRPr>
          </a:p>
        </p:txBody>
      </p:sp>
      <p:sp>
        <p:nvSpPr>
          <p:cNvPr id="17" name="矩形 16"/>
          <p:cNvSpPr/>
          <p:nvPr/>
        </p:nvSpPr>
        <p:spPr>
          <a:xfrm>
            <a:off x="9473100" y="4211474"/>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50</a:t>
            </a:r>
            <a:endParaRPr lang="en-US" sz="1600">
              <a:solidFill>
                <a:srgbClr val="272727"/>
              </a:solidFill>
              <a:latin typeface="微软雅黑" panose="020B0503020204020204" charset="-122"/>
              <a:ea typeface="方正兰亭超细黑简体"/>
            </a:endParaRPr>
          </a:p>
        </p:txBody>
      </p:sp>
      <p:sp>
        <p:nvSpPr>
          <p:cNvPr id="19" name="矩形 18"/>
          <p:cNvSpPr/>
          <p:nvPr/>
        </p:nvSpPr>
        <p:spPr>
          <a:xfrm>
            <a:off x="9479712" y="460387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en-US" sz="1600">
              <a:solidFill>
                <a:srgbClr val="272727"/>
              </a:solidFill>
              <a:latin typeface="微软雅黑" panose="020B0503020204020204" charset="-122"/>
              <a:ea typeface="方正兰亭超细黑简体"/>
            </a:endParaRPr>
          </a:p>
        </p:txBody>
      </p:sp>
      <p:sp>
        <p:nvSpPr>
          <p:cNvPr id="20" name="矩形 19"/>
          <p:cNvSpPr/>
          <p:nvPr/>
        </p:nvSpPr>
        <p:spPr>
          <a:xfrm>
            <a:off x="9486338" y="4981555"/>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75%</a:t>
            </a:r>
            <a:endParaRPr lang="en-US" sz="1600">
              <a:solidFill>
                <a:srgbClr val="272727"/>
              </a:solidFill>
              <a:latin typeface="微软雅黑" panose="020B0503020204020204" charset="-122"/>
              <a:ea typeface="方正兰亭超细黑简体"/>
            </a:endParaRPr>
          </a:p>
        </p:txBody>
      </p:sp>
      <p:sp>
        <p:nvSpPr>
          <p:cNvPr id="21" name="矩形 20"/>
          <p:cNvSpPr/>
          <p:nvPr/>
        </p:nvSpPr>
        <p:spPr>
          <a:xfrm>
            <a:off x="9479711" y="5292981"/>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412.5</a:t>
            </a:r>
            <a:endParaRPr lang="zh-CN" sz="1600">
              <a:solidFill>
                <a:srgbClr val="272727"/>
              </a:solidFill>
              <a:latin typeface="微软雅黑" panose="020B0503020204020204" charset="-122"/>
              <a:ea typeface="方正兰亭超细黑简体"/>
            </a:endParaRPr>
          </a:p>
        </p:txBody>
      </p:sp>
      <p:sp>
        <p:nvSpPr>
          <p:cNvPr id="22" name="矩形 21"/>
          <p:cNvSpPr/>
          <p:nvPr/>
        </p:nvSpPr>
        <p:spPr>
          <a:xfrm>
            <a:off x="9486332" y="5697130"/>
            <a:ext cx="1470992" cy="278296"/>
          </a:xfrm>
          <a:prstGeom prst="rect">
            <a:avLst/>
          </a:prstGeom>
          <a:noFill/>
          <a:ln>
            <a:noFill/>
          </a:ln>
        </p:spPr>
        <p:txBody>
          <a:bodyPr anchor="ctr"/>
          <a:lstStyle/>
          <a:p>
            <a:pPr algn="ctr"/>
            <a:r>
              <a:rPr lang="en-US" sz="1600">
                <a:solidFill>
                  <a:srgbClr val="272727"/>
                </a:solidFill>
                <a:latin typeface="微软雅黑" panose="020B0503020204020204" charset="-122"/>
                <a:ea typeface="方正兰亭超细黑简体"/>
              </a:rPr>
              <a:t>0</a:t>
            </a:r>
            <a:endParaRPr lang="zh-CN" sz="1600">
              <a:solidFill>
                <a:srgbClr val="272727"/>
              </a:solidFill>
              <a:latin typeface="微软雅黑" panose="020B0503020204020204" charset="-122"/>
              <a:ea typeface="方正兰亭超细黑简体"/>
            </a:endParaRPr>
          </a:p>
        </p:txBody>
      </p:sp>
      <p:sp>
        <p:nvSpPr>
          <p:cNvPr id="3" name="内容占位符 2"/>
          <p:cNvSpPr/>
          <p:nvPr>
            <p:ph idx="13"/>
          </p:nvPr>
        </p:nvSpPr>
        <p:spPr/>
        <p:txBody>
          <a:bodyPr/>
          <a:lstStyle/>
          <a:p>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20172</Words>
  <Application>WPS 演示</Application>
  <PresentationFormat/>
  <Paragraphs>2523</Paragraphs>
  <Slides>74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74</vt:i4>
      </vt:variant>
    </vt:vector>
  </HeadingPairs>
  <TitlesOfParts>
    <vt:vector size="88" baseType="lpstr">
      <vt:lpstr>Arial</vt:lpstr>
      <vt:lpstr>宋体</vt:lpstr>
      <vt:lpstr>Wingdings</vt:lpstr>
      <vt:lpstr>Calibri</vt:lpstr>
      <vt:lpstr>Arial</vt:lpstr>
      <vt:lpstr>Impact MT Std</vt:lpstr>
      <vt:lpstr>微软雅黑</vt:lpstr>
      <vt:lpstr>Arial Unicode MS</vt:lpstr>
      <vt:lpstr>华文新魏</vt:lpstr>
      <vt:lpstr>Times New Roman</vt:lpstr>
      <vt:lpstr>方正兰亭超细黑简体</vt:lpstr>
      <vt:lpstr>黑体</vt:lpstr>
      <vt:lpstr>方正兰亭黑简体</vt:lpstr>
      <vt:lpstr>Office 主题​​</vt:lpstr>
      <vt:lpstr>目录 </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二、高新技术企业认定</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四、研发费加计扣除</vt:lpstr>
      <vt:lpstr>六、申报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人来人往</cp:lastModifiedBy>
  <cp:revision>3</cp:revision>
  <dcterms:created xsi:type="dcterms:W3CDTF">2020-08-06T03:04:00Z</dcterms:created>
  <dcterms:modified xsi:type="dcterms:W3CDTF">2026-04-13T09:17:16Z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EA6A5CAD3A504C14B40BF4F32B13DE90_13</vt:lpwstr>
  </property>
</Properties>
</file>