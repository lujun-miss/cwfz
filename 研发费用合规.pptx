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notesSlides/notesSlide6.xml" ContentType="application/vnd.openxmlformats-officedocument.presentationml.notesSlide+xml"/>
  <Override PartName="/ppt/tags/tag75.xml" ContentType="application/vnd.openxmlformats-officedocument.presentationml.tags+xml"/>
  <Override PartName="/ppt/notesSlides/notesSlide7.xml" ContentType="application/vnd.openxmlformats-officedocument.presentationml.notesSlide+xml"/>
  <Override PartName="/ppt/tags/tag76.xml" ContentType="application/vnd.openxmlformats-officedocument.presentationml.tags+xml"/>
  <Override PartName="/ppt/notesSlides/notesSlide8.xml" ContentType="application/vnd.openxmlformats-officedocument.presentationml.notesSlide+xml"/>
  <Override PartName="/ppt/tags/tag77.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78.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notesSlides/notesSlide14.xml" ContentType="application/vnd.openxmlformats-officedocument.presentationml.notesSlide+xml"/>
  <Override PartName="/ppt/tags/tag88.xml" ContentType="application/vnd.openxmlformats-officedocument.presentationml.tags+xml"/>
  <Override PartName="/ppt/notesSlides/notesSlide15.xml" ContentType="application/vnd.openxmlformats-officedocument.presentationml.notesSlide+xml"/>
  <Override PartName="/ppt/tags/tag89.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tags/tag98.xml" ContentType="application/vnd.openxmlformats-officedocument.presentationml.tags+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1"/>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爽 郝" initials="爽" lastIdx="0" clrIdx="6"/>
  <p:cmAuthor id="1" name="幸全" initials="幸全" lastIdx="0" clrIdx="0"/>
  <p:cmAuthor id="8" name="Administrator" initials="A" lastIdx="0" clrIdx="7"/>
  <p:cmAuthor id="2" name="邢瑞" initials="邢" lastIdx="0" clrIdx="1"/>
  <p:cmAuthor id="9" name="丹丹 蔡" initials="丹丹" lastIdx="0" clrIdx="8"/>
  <p:cmAuthor id="3" name="pts" initials="p" lastIdx="0" clrIdx="2"/>
  <p:cmAuthor id="10" name="Author" initials="A" lastIdx="0" clrIdx="9"/>
  <p:cmAuthor id="4" name="HPTC" initials="H" lastIdx="0" clrIdx="3"/>
  <p:cmAuthor id="11" name="理者" initials="理者" lastIdx="0" clrIdx="10"/>
  <p:cmAuthor id="5" name="lenovo" initials="l" lastIdx="0" clrIdx="4"/>
  <p:cmAuthor id="6" name="王习习" initials="王" lastIdx="0" clrIdx="5"/>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778" autoAdjust="0"/>
    <p:restoredTop sz="94660"/>
  </p:normalViewPr>
  <p:slideViewPr>
    <p:cSldViewPr snapToGrid="0" showGuides="1">
      <p:cViewPr varScale="1">
        <p:scale>
          <a:sx n="93" d="100"/>
          <a:sy n="93" d="100"/>
        </p:scale>
        <p:origin x="78" y="426"/>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2026-04-24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E7BDCDC-9A34-461B-A37E-3F4767F37300}"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E7BDCDC-9A34-461B-A37E-3F4767F37300}"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E7BDCDC-9A34-461B-A37E-3F4767F37300}"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E7BDCDC-9A34-461B-A37E-3F4767F37300}" type="slidenum">
              <a:rPr lang="zh-CN" altLang="en-US" smtClean="0"/>
              <a:t>10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E7BDCDC-9A34-461B-A37E-3F4767F37300}" type="slidenum">
              <a:rPr lang="zh-CN" altLang="en-US" smtClean="0"/>
              <a:t>12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E7BDCDC-9A34-461B-A37E-3F4767F37300}" type="slidenum">
              <a:rPr lang="zh-CN" altLang="en-US" smtClean="0"/>
              <a:t>13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E7BDCDC-9A34-461B-A37E-3F4767F37300}" type="slidenum">
              <a:rPr lang="zh-CN" altLang="en-US" smtClean="0"/>
              <a:t>15</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E7BDCDC-9A34-461B-A37E-3F4767F37300}" type="slidenum">
              <a:rPr lang="zh-CN" altLang="en-US" smtClean="0"/>
              <a:t>16</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E7BDCDC-9A34-461B-A37E-3F4767F37300}" type="slidenum">
              <a:rPr lang="zh-CN" altLang="en-US" smtClean="0"/>
              <a:t>17</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E7BDCDC-9A34-461B-A37E-3F4767F37300}" type="slidenum">
              <a:rPr lang="zh-CN" altLang="en-US" smtClean="0"/>
              <a:t>23</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E7BDCDC-9A34-461B-A37E-3F4767F37300}" type="slidenum">
              <a:rPr lang="zh-CN" altLang="en-US" smtClean="0"/>
              <a:t>24</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E7BDCDC-9A34-461B-A37E-3F4767F37300}" type="slidenum">
              <a:rPr lang="zh-CN" altLang="en-US" smtClean="0"/>
              <a:t>25</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E7BDCDC-9A34-461B-A37E-3F4767F37300}" type="slidenum">
              <a:rPr lang="zh-CN" altLang="en-US" smtClean="0"/>
              <a:t>26</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E7BDCDC-9A34-461B-A37E-3F4767F37300}" type="slidenum">
              <a:rPr lang="zh-CN" altLang="en-US" smtClean="0"/>
              <a:t>27</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E7BDCDC-9A34-461B-A37E-3F4767F37300}" type="slidenum">
              <a:rPr lang="zh-CN" altLang="en-US" smtClean="0"/>
              <a:t>28</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E7BDCDC-9A34-461B-A37E-3F4767F37300}" type="slidenum">
              <a:rPr lang="zh-CN" altLang="en-US" smtClean="0"/>
              <a:t>29</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slideMaster" Target="../slideMasters/slideMaster1.xml"/><Relationship Id="rId5" Type="http://schemas.openxmlformats.org/officeDocument/2006/relationships/tags" Target="../tags/tag11.xml"/><Relationship Id="rId4" Type="http://schemas.openxmlformats.org/officeDocument/2006/relationships/tags" Target="../tags/tag10.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slideMaster" Target="../slideMasters/slideMaster1.xml"/><Relationship Id="rId5" Type="http://schemas.openxmlformats.org/officeDocument/2006/relationships/tags" Target="../tags/tag16.xml"/><Relationship Id="rId4" Type="http://schemas.openxmlformats.org/officeDocument/2006/relationships/tags" Target="../tags/tag15.xml"/></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slideMaster" Target="../slideMasters/slideMaster1.xml"/><Relationship Id="rId5" Type="http://schemas.openxmlformats.org/officeDocument/2006/relationships/tags" Target="../tags/tag21.xml"/><Relationship Id="rId4" Type="http://schemas.openxmlformats.org/officeDocument/2006/relationships/tags" Target="../tags/tag20.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24.xml"/><Relationship Id="rId7" Type="http://schemas.openxmlformats.org/officeDocument/2006/relationships/slideMaster" Target="../slideMasters/slideMaster1.xml"/><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tags" Target="../tags/tag27.xml"/><Relationship Id="rId5" Type="http://schemas.openxmlformats.org/officeDocument/2006/relationships/tags" Target="../tags/tag26.xml"/><Relationship Id="rId4" Type="http://schemas.openxmlformats.org/officeDocument/2006/relationships/tags" Target="../tags/tag25.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35.xml"/><Relationship Id="rId3" Type="http://schemas.openxmlformats.org/officeDocument/2006/relationships/tags" Target="../tags/tag30.xml"/><Relationship Id="rId7" Type="http://schemas.openxmlformats.org/officeDocument/2006/relationships/tags" Target="../tags/tag34.xml"/><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tags" Target="../tags/tag33.xml"/><Relationship Id="rId5" Type="http://schemas.openxmlformats.org/officeDocument/2006/relationships/tags" Target="../tags/tag32.xml"/><Relationship Id="rId4" Type="http://schemas.openxmlformats.org/officeDocument/2006/relationships/tags" Target="../tags/tag31.xml"/><Relationship Id="rId9"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tags" Target="../tags/tag36.xml"/><Relationship Id="rId5" Type="http://schemas.openxmlformats.org/officeDocument/2006/relationships/slideMaster" Target="../slideMasters/slideMaster1.xml"/><Relationship Id="rId4" Type="http://schemas.openxmlformats.org/officeDocument/2006/relationships/tags" Target="../tags/tag39.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42.xml"/><Relationship Id="rId2" Type="http://schemas.openxmlformats.org/officeDocument/2006/relationships/tags" Target="../tags/tag41.xml"/><Relationship Id="rId1" Type="http://schemas.openxmlformats.org/officeDocument/2006/relationships/tags" Target="../tags/tag40.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45.xml"/><Relationship Id="rId7" Type="http://schemas.openxmlformats.org/officeDocument/2006/relationships/slideMaster" Target="../slideMasters/slideMaster1.xml"/><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tags" Target="../tags/tag48.xml"/><Relationship Id="rId5" Type="http://schemas.openxmlformats.org/officeDocument/2006/relationships/tags" Target="../tags/tag47.xml"/><Relationship Id="rId4" Type="http://schemas.openxmlformats.org/officeDocument/2006/relationships/tags" Target="../tags/tag46.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tags" Target="../tags/tag49.xml"/><Relationship Id="rId6" Type="http://schemas.openxmlformats.org/officeDocument/2006/relationships/slideMaster" Target="../slideMasters/slideMaster1.xml"/><Relationship Id="rId5" Type="http://schemas.openxmlformats.org/officeDocument/2006/relationships/tags" Target="../tags/tag53.xml"/><Relationship Id="rId4" Type="http://schemas.openxmlformats.org/officeDocument/2006/relationships/tags" Target="../tags/tag52.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56.xml"/><Relationship Id="rId2" Type="http://schemas.openxmlformats.org/officeDocument/2006/relationships/tags" Target="../tags/tag55.xml"/><Relationship Id="rId1" Type="http://schemas.openxmlformats.org/officeDocument/2006/relationships/tags" Target="../tags/tag54.xml"/><Relationship Id="rId5" Type="http://schemas.openxmlformats.org/officeDocument/2006/relationships/slideMaster" Target="../slideMasters/slideMaster1.xml"/><Relationship Id="rId4" Type="http://schemas.openxmlformats.org/officeDocument/2006/relationships/tags" Target="../tags/tag57.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60.xml"/><Relationship Id="rId2" Type="http://schemas.openxmlformats.org/officeDocument/2006/relationships/tags" Target="../tags/tag59.xml"/><Relationship Id="rId1" Type="http://schemas.openxmlformats.org/officeDocument/2006/relationships/tags" Target="../tags/tag58.xml"/><Relationship Id="rId6" Type="http://schemas.openxmlformats.org/officeDocument/2006/relationships/slideMaster" Target="../slideMasters/slideMaster1.xml"/><Relationship Id="rId5" Type="http://schemas.openxmlformats.org/officeDocument/2006/relationships/tags" Target="../tags/tag62.xml"/><Relationship Id="rId4" Type="http://schemas.openxmlformats.org/officeDocument/2006/relationships/tags" Target="../tags/tag6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p>
        </p:txBody>
      </p:sp>
      <p:sp>
        <p:nvSpPr>
          <p:cNvPr id="3" name="副标题 2"/>
          <p:cNvSpPr>
            <a:spLocks noGrp="1"/>
          </p:cNvSpPr>
          <p:nvPr>
            <p:ph type="subTitle" idx="1"/>
            <p:custDataLst>
              <p:tags r:id="rId2"/>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p>
        </p:txBody>
      </p:sp>
      <p:sp>
        <p:nvSpPr>
          <p:cNvPr id="16" name="日期占位符 15"/>
          <p:cNvSpPr>
            <a:spLocks noGrp="1"/>
          </p:cNvSpPr>
          <p:nvPr>
            <p:ph type="dt" sz="half" idx="10"/>
            <p:custDataLst>
              <p:tags r:id="rId3"/>
            </p:custDataLst>
          </p:nvPr>
        </p:nvSpPr>
        <p:spPr/>
        <p:txBody>
          <a:bodyPr/>
          <a:lstStyle/>
          <a:p>
            <a:fld id="{760FBDFE-C587-4B4C-A407-44438C67B59E}" type="datetimeFigureOut">
              <a:rPr lang="zh-CN" altLang="en-US" smtClean="0"/>
              <a:t>2026-04-24</a:t>
            </a:fld>
            <a:endParaRPr lang="zh-CN" altLang="en-US"/>
          </a:p>
        </p:txBody>
      </p:sp>
      <p:sp>
        <p:nvSpPr>
          <p:cNvPr id="17" name="页脚占位符 16"/>
          <p:cNvSpPr>
            <a:spLocks noGrp="1"/>
          </p:cNvSpPr>
          <p:nvPr>
            <p:ph type="ftr" sz="quarter" idx="11"/>
            <p:custDataLst>
              <p:tags r:id="rId4"/>
            </p:custDataLst>
          </p:nvPr>
        </p:nvSpPr>
        <p:spPr/>
        <p:txBody>
          <a:bodyPr/>
          <a:lstStyle/>
          <a:p>
            <a:endParaRPr lang="zh-CN" altLang="en-US" dirty="0"/>
          </a:p>
        </p:txBody>
      </p:sp>
      <p:sp>
        <p:nvSpPr>
          <p:cNvPr id="18" name="灯片编号占位符 17"/>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内容占位符 2"/>
          <p:cNvSpPr>
            <a:spLocks noGrp="1"/>
          </p:cNvSpPr>
          <p:nvPr>
            <p:ph idx="1"/>
            <p:custDataLst>
              <p:tags r:id="rId2"/>
            </p:custDataLst>
          </p:nvPr>
        </p:nvSpPr>
        <p:spPr>
          <a:xfrm>
            <a:off x="608400" y="1490400"/>
            <a:ext cx="10969200" cy="4759200"/>
          </a:xfrm>
        </p:spPr>
        <p:txBody>
          <a:bodyPr vert="horz" lIns="90000" tIns="46800" rIns="9000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2026-04-24</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p>
        </p:txBody>
      </p:sp>
      <p:sp>
        <p:nvSpPr>
          <p:cNvPr id="3" name="文本占位符 2"/>
          <p:cNvSpPr>
            <a:spLocks noGrp="1"/>
          </p:cNvSpPr>
          <p:nvPr>
            <p:ph type="body" idx="1" hasCustomPrompt="1"/>
            <p:custDataLst>
              <p:tags r:id="rId2"/>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2026-04-24</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内容占位符 2"/>
          <p:cNvSpPr>
            <a:spLocks noGrp="1"/>
          </p:cNvSpPr>
          <p:nvPr>
            <p:ph sz="half" idx="1"/>
            <p:custDataLst>
              <p:tags r:id="rId2"/>
            </p:custDataLst>
          </p:nvPr>
        </p:nvSpPr>
        <p:spPr>
          <a:xfrm>
            <a:off x="608400" y="1501200"/>
            <a:ext cx="5176800" cy="4748400"/>
          </a:xfrm>
        </p:spPr>
        <p:txBody>
          <a:bodyPr vert="horz" lIns="90000" tIns="46800" rIns="9000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custDataLst>
              <p:tags r:id="rId3"/>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t>2026-04-24</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文本占位符 2"/>
          <p:cNvSpPr>
            <a:spLocks noGrp="1"/>
          </p:cNvSpPr>
          <p:nvPr>
            <p:ph type="body" idx="1" hasCustomPrompt="1"/>
            <p:custDataLst>
              <p:tags r:id="rId2"/>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3"/>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custDataLst>
              <p:tags r:id="rId4"/>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p>
        </p:txBody>
      </p:sp>
      <p:sp>
        <p:nvSpPr>
          <p:cNvPr id="6" name="内容占位符 5"/>
          <p:cNvSpPr>
            <a:spLocks noGrp="1"/>
          </p:cNvSpPr>
          <p:nvPr>
            <p:ph sz="quarter" idx="4"/>
            <p:custDataLst>
              <p:tags r:id="rId5"/>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t>2026-04-24</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t>2026-04-24</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2026-04-24</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1"/>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2"/>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a:t>单击此处编辑母版文本样式</a:t>
            </a:r>
          </a:p>
        </p:txBody>
      </p:sp>
      <p:sp>
        <p:nvSpPr>
          <p:cNvPr id="5" name="日期占位符 4"/>
          <p:cNvSpPr>
            <a:spLocks noGrp="1"/>
          </p:cNvSpPr>
          <p:nvPr>
            <p:ph type="dt" sz="half" idx="10"/>
            <p:custDataLst>
              <p:tags r:id="rId3"/>
            </p:custDataLst>
          </p:nvPr>
        </p:nvSpPr>
        <p:spPr/>
        <p:txBody>
          <a:bodyPr/>
          <a:lstStyle/>
          <a:p>
            <a:fld id="{9EFD9D74-47D9-4702-A33C-335B63B48DBF}" type="datetimeFigureOut">
              <a:rPr lang="zh-CN" altLang="en-US" smtClean="0"/>
              <a:t>2026-04-24</a:t>
            </a:fld>
            <a:endParaRPr lang="zh-CN" altLang="en-US" dirty="0"/>
          </a:p>
        </p:txBody>
      </p:sp>
      <p:sp>
        <p:nvSpPr>
          <p:cNvPr id="6" name="页脚占位符 5"/>
          <p:cNvSpPr>
            <a:spLocks noGrp="1"/>
          </p:cNvSpPr>
          <p:nvPr>
            <p:ph type="ftr" sz="quarter" idx="11"/>
            <p:custDataLst>
              <p:tags r:id="rId4"/>
            </p:custDataLst>
          </p:nvPr>
        </p:nvSpPr>
        <p:spPr/>
        <p:txBody>
          <a:bodyPr/>
          <a:lstStyle/>
          <a:p>
            <a:endParaRPr lang="zh-CN" altLang="en-US" dirty="0"/>
          </a:p>
        </p:txBody>
      </p:sp>
      <p:sp>
        <p:nvSpPr>
          <p:cNvPr id="7" name="灯片编号占位符 6"/>
          <p:cNvSpPr>
            <a:spLocks noGrp="1"/>
          </p:cNvSpPr>
          <p:nvPr>
            <p:ph type="sldNum" sz="quarter" idx="12"/>
            <p:custDataLst>
              <p:tags r:id="rId5"/>
            </p:custDataLst>
          </p:nvPr>
        </p:nvSpPr>
        <p:spPr/>
        <p:txBody>
          <a:bodyPr/>
          <a:lstStyle/>
          <a:p>
            <a:fld id="{FABC47A4-756D-490B-A52F-7D9E2C9FC05F}" type="slidenum">
              <a:rPr lang="zh-CN" altLang="en-US" smtClean="0"/>
              <a:t>‹#›</a:t>
            </a:fld>
            <a:endParaRPr lang="zh-CN" altLang="en-US"/>
          </a:p>
        </p:txBody>
      </p:sp>
      <p:sp>
        <p:nvSpPr>
          <p:cNvPr id="9" name="标题 8"/>
          <p:cNvSpPr>
            <a:spLocks noGrp="1"/>
          </p:cNvSpPr>
          <p:nvPr>
            <p:ph type="title"/>
            <p:custDataLst>
              <p:tags r:id="rId6"/>
            </p:custDataLst>
          </p:nvPr>
        </p:nvSpPr>
        <p:spPr/>
        <p:txBody>
          <a:bodyPr/>
          <a:lstStyle/>
          <a:p>
            <a:r>
              <a:rPr lang="zh-CN" altLang="en-US"/>
              <a:t>单击此处编辑母版标题样式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1"/>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a:t>单击此处编辑标题</a:t>
            </a:r>
          </a:p>
        </p:txBody>
      </p:sp>
      <p:sp>
        <p:nvSpPr>
          <p:cNvPr id="3" name="竖排文字占位符 2"/>
          <p:cNvSpPr>
            <a:spLocks noGrp="1"/>
          </p:cNvSpPr>
          <p:nvPr>
            <p:ph type="body" orient="vert" idx="1"/>
            <p:custDataLst>
              <p:tags r:id="rId2"/>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2026-04-24</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2026-04-24</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608400" y="774000"/>
            <a:ext cx="10972800" cy="5482800"/>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2026-04-24</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2" name="标题 1"/>
          <p:cNvSpPr>
            <a:spLocks noGrp="1"/>
          </p:cNvSpPr>
          <p:nvPr>
            <p:ph type="title" hasCustomPrompt="1"/>
            <p:custDataLst>
              <p:tags r:id="rId4"/>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a:t>单击此处编辑标题</a:t>
            </a:r>
          </a:p>
        </p:txBody>
      </p:sp>
      <p:sp>
        <p:nvSpPr>
          <p:cNvPr id="7" name="文本占位符 6"/>
          <p:cNvSpPr>
            <a:spLocks noGrp="1"/>
          </p:cNvSpPr>
          <p:nvPr>
            <p:ph type="body" sz="quarter" idx="13"/>
            <p:custDataLst>
              <p:tags r:id="rId5"/>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1600" advTm="0">
        <p:blinds dir="vert"/>
      </p:transition>
    </mc:Choice>
    <mc:Fallback xmlns="">
      <p:transition spd="slow" advTm="0">
        <p:blinds dir="vert"/>
      </p:transition>
    </mc:Fallback>
  </mc:AlternateContent>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ags" Target="../tags/tag4.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ags" Target="../tags/tag3.xml"/><Relationship Id="rId2" Type="http://schemas.openxmlformats.org/officeDocument/2006/relationships/slideLayout" Target="../slideLayouts/slideLayout2.xml"/><Relationship Id="rId16" Type="http://schemas.openxmlformats.org/officeDocument/2006/relationships/tags" Target="../tags/tag2.xml"/><Relationship Id="rId20" Type="http://schemas.openxmlformats.org/officeDocument/2006/relationships/tags" Target="../tags/tag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1.xml"/><Relationship Id="rId10" Type="http://schemas.openxmlformats.org/officeDocument/2006/relationships/slideLayout" Target="../slideLayouts/slideLayout10.xml"/><Relationship Id="rId19" Type="http://schemas.openxmlformats.org/officeDocument/2006/relationships/tags" Target="../tags/tag5.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6"/>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p>
        </p:txBody>
      </p:sp>
      <p:sp>
        <p:nvSpPr>
          <p:cNvPr id="3" name="文本占位符 2"/>
          <p:cNvSpPr>
            <a:spLocks noGrp="1"/>
          </p:cNvSpPr>
          <p:nvPr>
            <p:ph type="body" idx="1"/>
            <p:custDataLst>
              <p:tags r:id="rId17"/>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18"/>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t>2026-04-24</a:t>
            </a:fld>
            <a:endParaRPr lang="zh-CN" altLang="en-US"/>
          </a:p>
        </p:txBody>
      </p:sp>
      <p:sp>
        <p:nvSpPr>
          <p:cNvPr id="5" name="页脚占位符 4"/>
          <p:cNvSpPr>
            <a:spLocks noGrp="1"/>
          </p:cNvSpPr>
          <p:nvPr>
            <p:ph type="ftr" sz="quarter" idx="3"/>
            <p:custDataLst>
              <p:tags r:id="rId19"/>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20"/>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t>‹#›</a:t>
            </a:fld>
            <a:endParaRPr lang="zh-CN" altLang="en-US" dirty="0"/>
          </a:p>
        </p:txBody>
      </p:sp>
    </p:spTree>
    <p:custDataLst>
      <p:tags r:id="rId15"/>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8" Type="http://schemas.openxmlformats.org/officeDocument/2006/relationships/tags" Target="../tags/tag70.xml"/><Relationship Id="rId13" Type="http://schemas.openxmlformats.org/officeDocument/2006/relationships/slideLayout" Target="../slideLayouts/slideLayout12.xml"/><Relationship Id="rId3" Type="http://schemas.openxmlformats.org/officeDocument/2006/relationships/tags" Target="../tags/tag65.xml"/><Relationship Id="rId7" Type="http://schemas.openxmlformats.org/officeDocument/2006/relationships/tags" Target="../tags/tag69.xml"/><Relationship Id="rId12" Type="http://schemas.openxmlformats.org/officeDocument/2006/relationships/tags" Target="../tags/tag74.xml"/><Relationship Id="rId2" Type="http://schemas.openxmlformats.org/officeDocument/2006/relationships/tags" Target="../tags/tag64.xml"/><Relationship Id="rId16" Type="http://schemas.openxmlformats.org/officeDocument/2006/relationships/image" Target="../media/image3.png"/><Relationship Id="rId1" Type="http://schemas.openxmlformats.org/officeDocument/2006/relationships/tags" Target="../tags/tag63.xml"/><Relationship Id="rId6" Type="http://schemas.openxmlformats.org/officeDocument/2006/relationships/tags" Target="../tags/tag68.xml"/><Relationship Id="rId11" Type="http://schemas.openxmlformats.org/officeDocument/2006/relationships/tags" Target="../tags/tag73.xml"/><Relationship Id="rId5" Type="http://schemas.openxmlformats.org/officeDocument/2006/relationships/tags" Target="../tags/tag67.xml"/><Relationship Id="rId15" Type="http://schemas.openxmlformats.org/officeDocument/2006/relationships/image" Target="../media/image8.png"/><Relationship Id="rId10" Type="http://schemas.openxmlformats.org/officeDocument/2006/relationships/tags" Target="../tags/tag72.xml"/><Relationship Id="rId4" Type="http://schemas.openxmlformats.org/officeDocument/2006/relationships/tags" Target="../tags/tag66.xml"/><Relationship Id="rId9" Type="http://schemas.openxmlformats.org/officeDocument/2006/relationships/tags" Target="../tags/tag71.xml"/><Relationship Id="rId1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3.xml"/><Relationship Id="rId1" Type="http://schemas.openxmlformats.org/officeDocument/2006/relationships/tags" Target="../tags/tag75.xml"/><Relationship Id="rId4" Type="http://schemas.openxmlformats.org/officeDocument/2006/relationships/image" Target="../media/image1.jpe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3.xml"/><Relationship Id="rId1" Type="http://schemas.openxmlformats.org/officeDocument/2006/relationships/tags" Target="../tags/tag76.xml"/><Relationship Id="rId4" Type="http://schemas.openxmlformats.org/officeDocument/2006/relationships/image" Target="../media/image1.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3.xml"/><Relationship Id="rId1" Type="http://schemas.openxmlformats.org/officeDocument/2006/relationships/tags" Target="../tags/tag77.xml"/><Relationship Id="rId4" Type="http://schemas.openxmlformats.org/officeDocument/2006/relationships/image" Target="../media/image1.jpeg"/></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2.xml"/><Relationship Id="rId5" Type="http://schemas.openxmlformats.org/officeDocument/2006/relationships/image" Target="../media/image10.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3.xml"/><Relationship Id="rId1" Type="http://schemas.openxmlformats.org/officeDocument/2006/relationships/tags" Target="../tags/tag78.xml"/><Relationship Id="rId4" Type="http://schemas.openxmlformats.org/officeDocument/2006/relationships/image" Target="../media/image1.jpeg"/></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8" Type="http://schemas.openxmlformats.org/officeDocument/2006/relationships/tags" Target="../tags/tag86.xml"/><Relationship Id="rId13" Type="http://schemas.openxmlformats.org/officeDocument/2006/relationships/image" Target="../media/image3.png"/><Relationship Id="rId3" Type="http://schemas.openxmlformats.org/officeDocument/2006/relationships/tags" Target="../tags/tag81.xml"/><Relationship Id="rId7" Type="http://schemas.openxmlformats.org/officeDocument/2006/relationships/tags" Target="../tags/tag85.xml"/><Relationship Id="rId12" Type="http://schemas.openxmlformats.org/officeDocument/2006/relationships/image" Target="../media/image9.png"/><Relationship Id="rId2" Type="http://schemas.openxmlformats.org/officeDocument/2006/relationships/tags" Target="../tags/tag80.xml"/><Relationship Id="rId1" Type="http://schemas.openxmlformats.org/officeDocument/2006/relationships/tags" Target="../tags/tag79.xml"/><Relationship Id="rId6" Type="http://schemas.openxmlformats.org/officeDocument/2006/relationships/tags" Target="../tags/tag84.xml"/><Relationship Id="rId11" Type="http://schemas.openxmlformats.org/officeDocument/2006/relationships/notesSlide" Target="../notesSlides/notesSlide14.xml"/><Relationship Id="rId5" Type="http://schemas.openxmlformats.org/officeDocument/2006/relationships/tags" Target="../tags/tag83.xml"/><Relationship Id="rId10" Type="http://schemas.openxmlformats.org/officeDocument/2006/relationships/slideLayout" Target="../slideLayouts/slideLayout12.xml"/><Relationship Id="rId4" Type="http://schemas.openxmlformats.org/officeDocument/2006/relationships/tags" Target="../tags/tag82.xml"/><Relationship Id="rId9" Type="http://schemas.openxmlformats.org/officeDocument/2006/relationships/tags" Target="../tags/tag87.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3.xml"/><Relationship Id="rId1" Type="http://schemas.openxmlformats.org/officeDocument/2006/relationships/tags" Target="../tags/tag88.xml"/><Relationship Id="rId4" Type="http://schemas.openxmlformats.org/officeDocument/2006/relationships/image" Target="../media/image1.jpe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3.xml"/><Relationship Id="rId1" Type="http://schemas.openxmlformats.org/officeDocument/2006/relationships/tags" Target="../tags/tag89.xml"/><Relationship Id="rId4" Type="http://schemas.openxmlformats.org/officeDocument/2006/relationships/image" Target="../media/image1.jpeg"/></Relationships>
</file>

<file path=ppt/slides/_rels/slide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12.xml"/><Relationship Id="rId6" Type="http://schemas.openxmlformats.org/officeDocument/2006/relationships/image" Target="../media/image13.png"/><Relationship Id="rId5" Type="http://schemas.openxmlformats.org/officeDocument/2006/relationships/image" Target="../media/image4.png"/><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12.xml"/><Relationship Id="rId5" Type="http://schemas.openxmlformats.org/officeDocument/2006/relationships/image" Target="../media/image7.png"/><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8" Type="http://schemas.openxmlformats.org/officeDocument/2006/relationships/tags" Target="../tags/tag97.xml"/><Relationship Id="rId3" Type="http://schemas.openxmlformats.org/officeDocument/2006/relationships/tags" Target="../tags/tag92.xml"/><Relationship Id="rId7" Type="http://schemas.openxmlformats.org/officeDocument/2006/relationships/tags" Target="../tags/tag96.xml"/><Relationship Id="rId2" Type="http://schemas.openxmlformats.org/officeDocument/2006/relationships/tags" Target="../tags/tag91.xml"/><Relationship Id="rId1" Type="http://schemas.openxmlformats.org/officeDocument/2006/relationships/tags" Target="../tags/tag90.xml"/><Relationship Id="rId6" Type="http://schemas.openxmlformats.org/officeDocument/2006/relationships/tags" Target="../tags/tag95.xml"/><Relationship Id="rId11" Type="http://schemas.openxmlformats.org/officeDocument/2006/relationships/image" Target="../media/image17.png"/><Relationship Id="rId5" Type="http://schemas.openxmlformats.org/officeDocument/2006/relationships/tags" Target="../tags/tag94.xml"/><Relationship Id="rId10" Type="http://schemas.openxmlformats.org/officeDocument/2006/relationships/notesSlide" Target="../notesSlides/notesSlide21.xml"/><Relationship Id="rId4" Type="http://schemas.openxmlformats.org/officeDocument/2006/relationships/tags" Target="../tags/tag93.xml"/><Relationship Id="rId9"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3.xml"/><Relationship Id="rId1" Type="http://schemas.openxmlformats.org/officeDocument/2006/relationships/tags" Target="../tags/tag98.xml"/><Relationship Id="rId5" Type="http://schemas.openxmlformats.org/officeDocument/2006/relationships/image" Target="../media/image19.png"/><Relationship Id="rId4" Type="http://schemas.openxmlformats.org/officeDocument/2006/relationships/image" Target="../media/image1.jpeg"/></Relationships>
</file>

<file path=ppt/slides/_rels/slide2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ttps://kimi-img.moonshot.cn/pub/slides/slides_tmpl/image/25-09-04-11:33:06-d2sggsm1bb2p4onbon10.jpg"/>
          <p:cNvPicPr>
            <a:picLocks noChangeAspect="1"/>
          </p:cNvPicPr>
          <p:nvPr/>
        </p:nvPicPr>
        <p:blipFill>
          <a:blip r:embed="rId3"/>
          <a:stretch>
            <a:fillRect/>
          </a:stretch>
        </p:blipFill>
        <p:spPr>
          <a:xfrm>
            <a:off x="0" y="0"/>
            <a:ext cx="12192000" cy="6858000"/>
          </a:xfrm>
          <a:prstGeom prst="rect">
            <a:avLst/>
          </a:prstGeom>
        </p:spPr>
      </p:pic>
      <p:pic>
        <p:nvPicPr>
          <p:cNvPr id="3" name="Image 1" descr="https://kimi-img.moonshot.cn/pub/slides/slides_tmpl/image/25-09-04-11:33:05-d2sggse1bb2p4onbomv0.png"/>
          <p:cNvPicPr>
            <a:picLocks noChangeAspect="1"/>
          </p:cNvPicPr>
          <p:nvPr/>
        </p:nvPicPr>
        <p:blipFill>
          <a:blip r:embed="rId4"/>
          <a:stretch>
            <a:fillRect/>
          </a:stretch>
        </p:blipFill>
        <p:spPr>
          <a:xfrm>
            <a:off x="0" y="2468880"/>
            <a:ext cx="5182870" cy="1835150"/>
          </a:xfrm>
          <a:prstGeom prst="rect">
            <a:avLst/>
          </a:prstGeom>
        </p:spPr>
      </p:pic>
      <p:sp>
        <p:nvSpPr>
          <p:cNvPr id="7" name="Text 0"/>
          <p:cNvSpPr/>
          <p:nvPr/>
        </p:nvSpPr>
        <p:spPr>
          <a:xfrm>
            <a:off x="8197052" y="2654618"/>
            <a:ext cx="1618942" cy="1515626"/>
          </a:xfrm>
          <a:prstGeom prst="rect">
            <a:avLst/>
          </a:prstGeom>
          <a:noFill/>
        </p:spPr>
        <p:txBody>
          <a:bodyPr wrap="square" lIns="91440" tIns="45720" rIns="91440" bIns="45720" rtlCol="0" anchor="t">
            <a:spAutoFit/>
          </a:bodyPr>
          <a:lstStyle/>
          <a:p>
            <a:pPr algn="ctr">
              <a:lnSpc>
                <a:spcPct val="100000"/>
              </a:lnSpc>
            </a:pPr>
            <a:r>
              <a:rPr lang="en-US" sz="8500" dirty="0">
                <a:solidFill>
                  <a:srgbClr val="F2F7FA"/>
                </a:solidFill>
                <a:latin typeface="Noto Sans SC" panose="020B0200000000000000" pitchFamily="34" charset="-122"/>
                <a:ea typeface="Noto Sans SC" panose="020B0200000000000000" pitchFamily="34" charset="-122"/>
                <a:cs typeface="Noto Sans SC" panose="020B0200000000000000" pitchFamily="34" charset="-120"/>
              </a:rPr>
              <a:t>02</a:t>
            </a:r>
            <a:endParaRPr lang="en-US" sz="1600" dirty="0"/>
          </a:p>
        </p:txBody>
      </p:sp>
      <p:sp>
        <p:nvSpPr>
          <p:cNvPr id="8" name="Text 1"/>
          <p:cNvSpPr/>
          <p:nvPr/>
        </p:nvSpPr>
        <p:spPr>
          <a:xfrm>
            <a:off x="586105" y="3133090"/>
            <a:ext cx="7769860" cy="521970"/>
          </a:xfrm>
          <a:prstGeom prst="rect">
            <a:avLst/>
          </a:prstGeom>
          <a:noFill/>
        </p:spPr>
        <p:txBody>
          <a:bodyPr wrap="square" lIns="91440" tIns="45720" rIns="91440" bIns="45720" rtlCol="0" anchor="t"/>
          <a:lstStyle/>
          <a:p>
            <a:pPr>
              <a:lnSpc>
                <a:spcPct val="100000"/>
              </a:lnSpc>
            </a:pPr>
            <a:r>
              <a:rPr lang="zh-CN" altLang="en-US" sz="3400" dirty="0">
                <a:solidFill>
                  <a:srgbClr val="0D0D0D"/>
                </a:solidFill>
                <a:latin typeface="MiSans" panose="00000500000000000000" pitchFamily="34" charset="-122"/>
                <a:ea typeface="MiSans" panose="00000500000000000000" pitchFamily="34" charset="-122"/>
                <a:cs typeface="MiSans" panose="00000500000000000000" pitchFamily="34" charset="-120"/>
              </a:rPr>
              <a:t>研发费用合规</a:t>
            </a: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4967" y="2191703"/>
            <a:ext cx="1618942" cy="1401326"/>
          </a:xfrm>
          <a:prstGeom prst="rect">
            <a:avLst/>
          </a:prstGeom>
          <a:noFill/>
        </p:spPr>
        <p:txBody>
          <a:bodyPr wrap="square" lIns="91440" tIns="45720" rIns="91440" bIns="45720" rtlCol="0" anchor="t">
            <a:spAutoFit/>
          </a:bodyPr>
          <a:lstStyle/>
          <a:p>
            <a:pPr algn="ctr">
              <a:lnSpc>
                <a:spcPct val="100000"/>
              </a:lnSpc>
            </a:pPr>
            <a:r>
              <a:rPr lang="en-US" sz="8500" dirty="0">
                <a:solidFill>
                  <a:srgbClr val="3373F8"/>
                </a:solidFill>
                <a:latin typeface="MiSans" panose="00000500000000000000" pitchFamily="34" charset="-122"/>
                <a:ea typeface="MiSans" panose="00000500000000000000" pitchFamily="34" charset="-122"/>
                <a:cs typeface="MiSans" panose="00000500000000000000" pitchFamily="34" charset="-120"/>
              </a:rPr>
              <a:t>01</a:t>
            </a:r>
            <a:endParaRPr lang="en-US" sz="1600" dirty="0"/>
          </a:p>
        </p:txBody>
      </p:sp>
      <p:sp>
        <p:nvSpPr>
          <p:cNvPr id="3" name="Text 1"/>
          <p:cNvSpPr/>
          <p:nvPr/>
        </p:nvSpPr>
        <p:spPr>
          <a:xfrm>
            <a:off x="2990850" y="3590925"/>
            <a:ext cx="6607175" cy="521970"/>
          </a:xfrm>
          <a:prstGeom prst="rect">
            <a:avLst/>
          </a:prstGeom>
          <a:noFill/>
        </p:spPr>
        <p:txBody>
          <a:bodyPr wrap="square" lIns="91440" tIns="45720" rIns="91440" bIns="45720" rtlCol="0" anchor="t"/>
          <a:lstStyle/>
          <a:p>
            <a:pPr algn="ctr">
              <a:lnSpc>
                <a:spcPct val="100000"/>
              </a:lnSpc>
            </a:pPr>
            <a:r>
              <a:rPr lang="en-US" sz="3400" dirty="0">
                <a:solidFill>
                  <a:srgbClr val="0D0D0D"/>
                </a:solidFill>
                <a:latin typeface="MiSans" panose="00000500000000000000" pitchFamily="34" charset="-122"/>
                <a:ea typeface="MiSans" panose="00000500000000000000" pitchFamily="34" charset="-122"/>
                <a:cs typeface="MiSans" panose="00000500000000000000" pitchFamily="34" charset="-120"/>
              </a:rPr>
              <a:t>研发费用合理归集基础</a:t>
            </a:r>
            <a:endParaRPr lang="en-US" sz="1600" dirty="0"/>
          </a:p>
        </p:txBody>
      </p:sp>
      <p:pic>
        <p:nvPicPr>
          <p:cNvPr id="4" name="Image 0" descr="https://kimi-img.moonshot.cn/pub/slides/slides_tmpl/image/25-10-11-20:14:19-d3l4k6os8jdo4os5em70.png"/>
          <p:cNvPicPr>
            <a:picLocks noChangeAspect="1"/>
          </p:cNvPicPr>
          <p:nvPr/>
        </p:nvPicPr>
        <p:blipFill>
          <a:blip r:embed="rId3"/>
          <a:stretch>
            <a:fillRect/>
          </a:stretch>
        </p:blipFill>
        <p:spPr>
          <a:xfrm>
            <a:off x="9319895" y="1559560"/>
            <a:ext cx="1668780" cy="1415415"/>
          </a:xfrm>
          <a:prstGeom prst="rect">
            <a:avLst/>
          </a:prstGeom>
        </p:spPr>
      </p:pic>
      <p:pic>
        <p:nvPicPr>
          <p:cNvPr id="5" name="Image 1" descr="https://kimi-img.moonshot.cn/pub/slides/slides_tmpl/image/25-10-11-20:14:19-d3l4k6os8jdo4os5em70.png"/>
          <p:cNvPicPr>
            <a:picLocks noChangeAspect="1"/>
          </p:cNvPicPr>
          <p:nvPr/>
        </p:nvPicPr>
        <p:blipFill>
          <a:blip r:embed="rId3"/>
          <a:stretch>
            <a:fillRect/>
          </a:stretch>
        </p:blipFill>
        <p:spPr>
          <a:xfrm flipH="1" flipV="1">
            <a:off x="772795" y="4260850"/>
            <a:ext cx="1668780" cy="1415415"/>
          </a:xfrm>
          <a:prstGeom prst="rect">
            <a:avLst/>
          </a:prstGeom>
        </p:spPr>
      </p:pic>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32790" y="762000"/>
            <a:ext cx="10649585" cy="822920"/>
          </a:xfrm>
          <a:prstGeom prst="rect">
            <a:avLst/>
          </a:prstGeom>
          <a:noFill/>
        </p:spPr>
        <p:txBody>
          <a:bodyPr wrap="square" lIns="0" tIns="0" rIns="0" bIns="0" rtlCol="0" anchor="t">
            <a:spAutoFit/>
          </a:bodyPr>
          <a:lstStyle/>
          <a:p>
            <a:pPr>
              <a:lnSpc>
                <a:spcPct val="150000"/>
              </a:lnSpc>
            </a:pPr>
            <a:r>
              <a:rPr lang="en-US" sz="3600" dirty="0">
                <a:solidFill>
                  <a:srgbClr val="0D0D0D"/>
                </a:solidFill>
                <a:latin typeface="MiSans" panose="00000500000000000000" pitchFamily="34" charset="-122"/>
                <a:ea typeface="MiSans" panose="00000500000000000000" pitchFamily="34" charset="-122"/>
                <a:cs typeface="MiSans" panose="00000500000000000000" pitchFamily="34" charset="-120"/>
              </a:rPr>
              <a:t>研发费用归集的政策依据与核心要求</a:t>
            </a:r>
            <a:endParaRPr lang="en-US" sz="1600" dirty="0"/>
          </a:p>
        </p:txBody>
      </p:sp>
      <p:pic>
        <p:nvPicPr>
          <p:cNvPr id="3" name="Image 0" descr="https://kimi-img.moonshot.cn/pub/slides/slides_tmpl/image/25-10-11-20:14:22-d3l4k7gs8jdo4os5emdg.png"/>
          <p:cNvPicPr>
            <a:picLocks noChangeAspect="1"/>
          </p:cNvPicPr>
          <p:nvPr/>
        </p:nvPicPr>
        <p:blipFill>
          <a:blip r:embed="rId3"/>
          <a:srcRect t="1044" b="1044"/>
          <a:stretch>
            <a:fillRect/>
          </a:stretch>
        </p:blipFill>
        <p:spPr>
          <a:xfrm>
            <a:off x="1352550" y="2038350"/>
            <a:ext cx="2037715" cy="1690370"/>
          </a:xfrm>
          <a:prstGeom prst="rect">
            <a:avLst/>
          </a:prstGeom>
        </p:spPr>
      </p:pic>
      <p:pic>
        <p:nvPicPr>
          <p:cNvPr id="4" name="Image 1" descr="https://kimi-img.moonshot.cn/pub/slides/slides_tmpl/image/25-10-11-20:14:20-d3l4k70s8jdo4os5em90.png"/>
          <p:cNvPicPr>
            <a:picLocks noChangeAspect="1"/>
          </p:cNvPicPr>
          <p:nvPr/>
        </p:nvPicPr>
        <p:blipFill>
          <a:blip r:embed="rId4"/>
          <a:stretch>
            <a:fillRect/>
          </a:stretch>
        </p:blipFill>
        <p:spPr>
          <a:xfrm>
            <a:off x="1233170" y="4047490"/>
            <a:ext cx="2277110" cy="2285365"/>
          </a:xfrm>
          <a:prstGeom prst="rect">
            <a:avLst/>
          </a:prstGeom>
        </p:spPr>
      </p:pic>
      <p:sp>
        <p:nvSpPr>
          <p:cNvPr id="5" name="Text 1"/>
          <p:cNvSpPr/>
          <p:nvPr/>
        </p:nvSpPr>
        <p:spPr>
          <a:xfrm>
            <a:off x="4057650" y="2125980"/>
            <a:ext cx="7212965" cy="576580"/>
          </a:xfrm>
          <a:prstGeom prst="rect">
            <a:avLst/>
          </a:prstGeom>
          <a:noFill/>
        </p:spPr>
        <p:txBody>
          <a:bodyPr wrap="square" lIns="0" tIns="0" rIns="0" bIns="0" rtlCol="0" anchor="t"/>
          <a:lstStyle/>
          <a:p>
            <a:pPr>
              <a:lnSpc>
                <a:spcPct val="150000"/>
              </a:lnSpc>
            </a:pPr>
            <a:r>
              <a:rPr lang="en-US" sz="2000" dirty="0">
                <a:solidFill>
                  <a:srgbClr val="3373F8"/>
                </a:solidFill>
                <a:latin typeface="MiSans" panose="00000500000000000000" pitchFamily="34" charset="-122"/>
                <a:ea typeface="MiSans" panose="00000500000000000000" pitchFamily="34" charset="-122"/>
                <a:cs typeface="MiSans" panose="00000500000000000000" pitchFamily="34" charset="-120"/>
              </a:rPr>
              <a:t>政策依据：财企〔2007〕194号</a:t>
            </a:r>
            <a:endParaRPr lang="en-US" sz="1600" dirty="0"/>
          </a:p>
        </p:txBody>
      </p:sp>
      <p:sp>
        <p:nvSpPr>
          <p:cNvPr id="6" name="Text 2"/>
          <p:cNvSpPr/>
          <p:nvPr/>
        </p:nvSpPr>
        <p:spPr>
          <a:xfrm>
            <a:off x="4057650" y="2691765"/>
            <a:ext cx="7212965" cy="1106170"/>
          </a:xfrm>
          <a:prstGeom prst="rect">
            <a:avLst/>
          </a:prstGeom>
          <a:noFill/>
        </p:spPr>
        <p:txBody>
          <a:bodyPr wrap="square" lIns="0" tIns="0" rIns="0" bIns="0" rtlCol="0" anchor="t"/>
          <a:lstStyle/>
          <a:p>
            <a:pPr algn="just">
              <a:lnSpc>
                <a:spcPct val="150000"/>
              </a:lnSpc>
            </a:pPr>
            <a:r>
              <a:rPr lang="en-US" sz="1400" dirty="0">
                <a:solidFill>
                  <a:srgbClr val="262626"/>
                </a:solidFill>
                <a:latin typeface="MiSans" panose="00000500000000000000" pitchFamily="34" charset="-122"/>
                <a:ea typeface="MiSans" panose="00000500000000000000" pitchFamily="34" charset="-122"/>
                <a:cs typeface="MiSans" panose="00000500000000000000" pitchFamily="34" charset="-120"/>
              </a:rPr>
              <a:t>《财政部关于企业加强研发费用财务管理的若干意见》是企业研发费用归集的基础性文件，明确了研发费用管理的总体框架和基本原则，要求企业建立健全研发费用内部控制制度。</a:t>
            </a:r>
            <a:endParaRPr lang="en-US" sz="1600" dirty="0"/>
          </a:p>
        </p:txBody>
      </p:sp>
      <p:sp>
        <p:nvSpPr>
          <p:cNvPr id="7" name="Text 3"/>
          <p:cNvSpPr/>
          <p:nvPr/>
        </p:nvSpPr>
        <p:spPr>
          <a:xfrm>
            <a:off x="4057650" y="4161155"/>
            <a:ext cx="7213600" cy="525780"/>
          </a:xfrm>
          <a:prstGeom prst="rect">
            <a:avLst/>
          </a:prstGeom>
          <a:noFill/>
        </p:spPr>
        <p:txBody>
          <a:bodyPr wrap="square" lIns="0" tIns="0" rIns="0" bIns="0" rtlCol="0" anchor="t"/>
          <a:lstStyle/>
          <a:p>
            <a:pPr>
              <a:lnSpc>
                <a:spcPct val="150000"/>
              </a:lnSpc>
            </a:pPr>
            <a:r>
              <a:rPr lang="en-US" sz="2000" dirty="0">
                <a:solidFill>
                  <a:srgbClr val="3373F8"/>
                </a:solidFill>
                <a:latin typeface="MiSans" panose="00000500000000000000" pitchFamily="34" charset="-122"/>
                <a:ea typeface="MiSans" panose="00000500000000000000" pitchFamily="34" charset="-122"/>
                <a:cs typeface="MiSans" panose="00000500000000000000" pitchFamily="34" charset="-120"/>
              </a:rPr>
              <a:t>核心管理要求</a:t>
            </a:r>
            <a:endParaRPr lang="en-US" sz="1600" dirty="0"/>
          </a:p>
        </p:txBody>
      </p:sp>
      <p:sp>
        <p:nvSpPr>
          <p:cNvPr id="8" name="Text 4"/>
          <p:cNvSpPr/>
          <p:nvPr/>
        </p:nvSpPr>
        <p:spPr>
          <a:xfrm>
            <a:off x="4057650" y="4744085"/>
            <a:ext cx="7212965" cy="1106170"/>
          </a:xfrm>
          <a:prstGeom prst="rect">
            <a:avLst/>
          </a:prstGeom>
          <a:noFill/>
        </p:spPr>
        <p:txBody>
          <a:bodyPr wrap="square" lIns="0" tIns="0" rIns="0" bIns="0" rtlCol="0" anchor="t"/>
          <a:lstStyle/>
          <a:p>
            <a:pPr algn="just">
              <a:lnSpc>
                <a:spcPct val="150000"/>
              </a:lnSpc>
            </a:pPr>
            <a:r>
              <a:rPr lang="en-US" sz="1400" dirty="0">
                <a:solidFill>
                  <a:srgbClr val="262626"/>
                </a:solidFill>
                <a:latin typeface="MiSans" panose="00000500000000000000" pitchFamily="34" charset="-122"/>
                <a:ea typeface="MiSans" panose="00000500000000000000" pitchFamily="34" charset="-122"/>
                <a:cs typeface="MiSans" panose="00000500000000000000" pitchFamily="34" charset="-120"/>
              </a:rPr>
              <a:t>企业应明确研发费用的开支范围和标准，严格审批程序；按研发项目或承担单位设立台账归集核算；研发机构同时承担生产任务的，必须合理划分研发与生产费用，确保费用归属准确清晰。</a:t>
            </a:r>
            <a:endParaRPr lang="en-US" sz="1600" dirty="0"/>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ttps://kimi-img.moonshot.cn/pub/slides/slides_tmpl/image/25-10-11-20:14:24-d3l4k80s8jdo4os5emhg.png"/>
          <p:cNvPicPr>
            <a:picLocks noChangeAspect="1"/>
          </p:cNvPicPr>
          <p:nvPr/>
        </p:nvPicPr>
        <p:blipFill>
          <a:blip r:embed="rId3"/>
          <a:stretch>
            <a:fillRect/>
          </a:stretch>
        </p:blipFill>
        <p:spPr>
          <a:xfrm>
            <a:off x="368935" y="1687195"/>
            <a:ext cx="11520170" cy="4457065"/>
          </a:xfrm>
          <a:prstGeom prst="rect">
            <a:avLst/>
          </a:prstGeom>
        </p:spPr>
      </p:pic>
      <p:sp>
        <p:nvSpPr>
          <p:cNvPr id="3" name="Text 0"/>
          <p:cNvSpPr/>
          <p:nvPr/>
        </p:nvSpPr>
        <p:spPr>
          <a:xfrm>
            <a:off x="581660" y="673735"/>
            <a:ext cx="10479405" cy="822920"/>
          </a:xfrm>
          <a:prstGeom prst="rect">
            <a:avLst/>
          </a:prstGeom>
          <a:noFill/>
        </p:spPr>
        <p:txBody>
          <a:bodyPr wrap="square" lIns="0" tIns="0" rIns="0" bIns="0" rtlCol="0" anchor="t">
            <a:spAutoFit/>
          </a:bodyPr>
          <a:lstStyle/>
          <a:p>
            <a:pPr>
              <a:lnSpc>
                <a:spcPct val="150000"/>
              </a:lnSpc>
            </a:pPr>
            <a:r>
              <a:rPr lang="en-US" sz="3600" dirty="0">
                <a:solidFill>
                  <a:srgbClr val="0D0D0D"/>
                </a:solidFill>
                <a:latin typeface="MiSans" panose="00000500000000000000" pitchFamily="34" charset="-122"/>
                <a:ea typeface="MiSans" panose="00000500000000000000" pitchFamily="34" charset="-122"/>
                <a:cs typeface="MiSans" panose="00000500000000000000" pitchFamily="34" charset="-120"/>
              </a:rPr>
              <a:t>研发费用归集的八大核心内容</a:t>
            </a:r>
            <a:endParaRPr lang="en-US" sz="1600" dirty="0"/>
          </a:p>
        </p:txBody>
      </p:sp>
      <p:pic>
        <p:nvPicPr>
          <p:cNvPr id="4" name="Image 1" descr="https://kimi-img.moonshot.cn/pub/slides/slides_tmpl/image/25-10-11-20:14:20-d3l4k70s8jdo4os5em8g.png"/>
          <p:cNvPicPr>
            <a:picLocks noChangeAspect="1"/>
          </p:cNvPicPr>
          <p:nvPr/>
        </p:nvPicPr>
        <p:blipFill>
          <a:blip r:embed="rId4"/>
          <a:stretch>
            <a:fillRect/>
          </a:stretch>
        </p:blipFill>
        <p:spPr>
          <a:xfrm>
            <a:off x="9382125" y="544830"/>
            <a:ext cx="2088515" cy="1421130"/>
          </a:xfrm>
          <a:prstGeom prst="rect">
            <a:avLst/>
          </a:prstGeom>
        </p:spPr>
      </p:pic>
      <p:sp>
        <p:nvSpPr>
          <p:cNvPr id="5" name="Text 1"/>
          <p:cNvSpPr/>
          <p:nvPr/>
        </p:nvSpPr>
        <p:spPr>
          <a:xfrm>
            <a:off x="581660" y="2120900"/>
            <a:ext cx="5175250" cy="401955"/>
          </a:xfrm>
          <a:prstGeom prst="rect">
            <a:avLst/>
          </a:prstGeom>
          <a:noFill/>
        </p:spPr>
        <p:txBody>
          <a:bodyPr wrap="square" lIns="0" tIns="0" rIns="0" bIns="0" rtlCol="0" anchor="t"/>
          <a:lstStyle/>
          <a:p>
            <a:pPr>
              <a:lnSpc>
                <a:spcPct val="100000"/>
              </a:lnSpc>
            </a:pPr>
            <a:r>
              <a:rPr lang="en-US" sz="2000" dirty="0">
                <a:solidFill>
                  <a:srgbClr val="3373F8"/>
                </a:solidFill>
                <a:latin typeface="MiSans" panose="00000500000000000000" pitchFamily="34" charset="-122"/>
                <a:ea typeface="MiSans" panose="00000500000000000000" pitchFamily="34" charset="-122"/>
                <a:cs typeface="MiSans" panose="00000500000000000000" pitchFamily="34" charset="-120"/>
              </a:rPr>
              <a:t>直接消耗与人工费用</a:t>
            </a:r>
            <a:endParaRPr lang="en-US" sz="1600" dirty="0"/>
          </a:p>
        </p:txBody>
      </p:sp>
      <p:sp>
        <p:nvSpPr>
          <p:cNvPr id="6" name="Text 2"/>
          <p:cNvSpPr/>
          <p:nvPr/>
        </p:nvSpPr>
        <p:spPr>
          <a:xfrm>
            <a:off x="581660" y="2522220"/>
            <a:ext cx="5175885" cy="1483360"/>
          </a:xfrm>
          <a:prstGeom prst="rect">
            <a:avLst/>
          </a:prstGeom>
          <a:noFill/>
        </p:spPr>
        <p:txBody>
          <a:bodyPr wrap="square" lIns="0" tIns="0" rIns="0" bIns="0" rtlCol="0" anchor="t"/>
          <a:lstStyle/>
          <a:p>
            <a:pPr algn="just">
              <a:lnSpc>
                <a:spcPct val="150000"/>
              </a:lnSpc>
            </a:pPr>
            <a:r>
              <a:rPr lang="en-US" sz="1400" dirty="0">
                <a:solidFill>
                  <a:srgbClr val="262626"/>
                </a:solidFill>
                <a:latin typeface="MiSans" panose="00000500000000000000" pitchFamily="34" charset="-122"/>
                <a:ea typeface="MiSans" panose="00000500000000000000" pitchFamily="34" charset="-122"/>
                <a:cs typeface="MiSans" panose="00000500000000000000" pitchFamily="34" charset="-120"/>
              </a:rPr>
              <a:t>研发活动直接消耗的材料、燃料、动力费用；在职研发人员及外聘人员的工资、奖金、社保、公积金等人工费用。</a:t>
            </a:r>
            <a:endParaRPr lang="en-US" sz="1600" dirty="0"/>
          </a:p>
        </p:txBody>
      </p:sp>
      <p:sp>
        <p:nvSpPr>
          <p:cNvPr id="7" name="Text 3"/>
          <p:cNvSpPr/>
          <p:nvPr/>
        </p:nvSpPr>
        <p:spPr>
          <a:xfrm>
            <a:off x="581660" y="4095115"/>
            <a:ext cx="5175250" cy="401955"/>
          </a:xfrm>
          <a:prstGeom prst="rect">
            <a:avLst/>
          </a:prstGeom>
          <a:noFill/>
        </p:spPr>
        <p:txBody>
          <a:bodyPr wrap="square" lIns="0" tIns="0" rIns="0" bIns="0" rtlCol="0" anchor="t"/>
          <a:lstStyle/>
          <a:p>
            <a:pPr>
              <a:lnSpc>
                <a:spcPct val="100000"/>
              </a:lnSpc>
            </a:pPr>
            <a:r>
              <a:rPr lang="en-US" sz="2000" dirty="0">
                <a:solidFill>
                  <a:srgbClr val="3373F8"/>
                </a:solidFill>
                <a:latin typeface="MiSans" panose="00000500000000000000" pitchFamily="34" charset="-122"/>
                <a:ea typeface="MiSans" panose="00000500000000000000" pitchFamily="34" charset="-122"/>
                <a:cs typeface="MiSans" panose="00000500000000000000" pitchFamily="34" charset="-120"/>
              </a:rPr>
              <a:t>资产折旧与摊销</a:t>
            </a:r>
            <a:endParaRPr lang="en-US" sz="1600" dirty="0"/>
          </a:p>
        </p:txBody>
      </p:sp>
      <p:sp>
        <p:nvSpPr>
          <p:cNvPr id="8" name="Text 4"/>
          <p:cNvSpPr/>
          <p:nvPr/>
        </p:nvSpPr>
        <p:spPr>
          <a:xfrm>
            <a:off x="581660" y="4496435"/>
            <a:ext cx="5175885" cy="1763395"/>
          </a:xfrm>
          <a:prstGeom prst="rect">
            <a:avLst/>
          </a:prstGeom>
          <a:noFill/>
        </p:spPr>
        <p:txBody>
          <a:bodyPr wrap="square" lIns="0" tIns="0" rIns="0" bIns="0" rtlCol="0" anchor="t"/>
          <a:lstStyle/>
          <a:p>
            <a:pPr algn="just">
              <a:lnSpc>
                <a:spcPct val="150000"/>
              </a:lnSpc>
            </a:pPr>
            <a:r>
              <a:rPr lang="en-US" sz="1400" dirty="0">
                <a:solidFill>
                  <a:srgbClr val="262626"/>
                </a:solidFill>
                <a:latin typeface="MiSans" panose="00000500000000000000" pitchFamily="34" charset="-122"/>
                <a:ea typeface="MiSans" panose="00000500000000000000" pitchFamily="34" charset="-122"/>
                <a:cs typeface="MiSans" panose="00000500000000000000" pitchFamily="34" charset="-120"/>
              </a:rPr>
              <a:t>用于研发活动的固定资产折旧费或租赁费及运行维护费用；软件、专利权、非专利技术等无形资产的摊销费用。</a:t>
            </a:r>
            <a:endParaRPr lang="en-US" sz="1600" dirty="0"/>
          </a:p>
        </p:txBody>
      </p:sp>
      <p:sp>
        <p:nvSpPr>
          <p:cNvPr id="9" name="Text 5"/>
          <p:cNvSpPr/>
          <p:nvPr/>
        </p:nvSpPr>
        <p:spPr>
          <a:xfrm>
            <a:off x="6533515" y="2120900"/>
            <a:ext cx="5175250" cy="401955"/>
          </a:xfrm>
          <a:prstGeom prst="rect">
            <a:avLst/>
          </a:prstGeom>
          <a:noFill/>
        </p:spPr>
        <p:txBody>
          <a:bodyPr wrap="square" lIns="0" tIns="0" rIns="0" bIns="0" rtlCol="0" anchor="t"/>
          <a:lstStyle/>
          <a:p>
            <a:pPr>
              <a:lnSpc>
                <a:spcPct val="100000"/>
              </a:lnSpc>
            </a:pPr>
            <a:r>
              <a:rPr lang="en-US" sz="2000" dirty="0">
                <a:solidFill>
                  <a:srgbClr val="3373F8"/>
                </a:solidFill>
                <a:latin typeface="MiSans" panose="00000500000000000000" pitchFamily="34" charset="-122"/>
                <a:ea typeface="MiSans" panose="00000500000000000000" pitchFamily="34" charset="-122"/>
                <a:cs typeface="MiSans" panose="00000500000000000000" pitchFamily="34" charset="-120"/>
              </a:rPr>
              <a:t>试制与论证费用</a:t>
            </a:r>
            <a:endParaRPr lang="en-US" sz="1600" dirty="0"/>
          </a:p>
        </p:txBody>
      </p:sp>
      <p:sp>
        <p:nvSpPr>
          <p:cNvPr id="10" name="Text 6"/>
          <p:cNvSpPr/>
          <p:nvPr/>
        </p:nvSpPr>
        <p:spPr>
          <a:xfrm>
            <a:off x="6533515" y="2522220"/>
            <a:ext cx="5176520" cy="1483995"/>
          </a:xfrm>
          <a:prstGeom prst="rect">
            <a:avLst/>
          </a:prstGeom>
          <a:noFill/>
        </p:spPr>
        <p:txBody>
          <a:bodyPr wrap="square" lIns="0" tIns="0" rIns="0" bIns="0" rtlCol="0" anchor="t"/>
          <a:lstStyle/>
          <a:p>
            <a:pPr algn="just">
              <a:lnSpc>
                <a:spcPct val="150000"/>
              </a:lnSpc>
            </a:pPr>
            <a:r>
              <a:rPr lang="en-US" sz="1400" dirty="0">
                <a:solidFill>
                  <a:srgbClr val="262626"/>
                </a:solidFill>
                <a:latin typeface="MiSans" panose="00000500000000000000" pitchFamily="34" charset="-122"/>
                <a:ea typeface="MiSans" panose="00000500000000000000" pitchFamily="34" charset="-122"/>
                <a:cs typeface="MiSans" panose="00000500000000000000" pitchFamily="34" charset="-120"/>
              </a:rPr>
              <a:t>中间试验和产品试制的模具、工艺装备开发制造费、试制产品检验费；研发成果论证、评审、验收、评估及知识产权申请费、注册费、代理费。</a:t>
            </a:r>
            <a:endParaRPr lang="en-US" sz="1600" dirty="0"/>
          </a:p>
        </p:txBody>
      </p:sp>
      <p:sp>
        <p:nvSpPr>
          <p:cNvPr id="11" name="Text 7"/>
          <p:cNvSpPr/>
          <p:nvPr/>
        </p:nvSpPr>
        <p:spPr>
          <a:xfrm>
            <a:off x="6533515" y="4095115"/>
            <a:ext cx="5175250" cy="402590"/>
          </a:xfrm>
          <a:prstGeom prst="rect">
            <a:avLst/>
          </a:prstGeom>
          <a:noFill/>
        </p:spPr>
        <p:txBody>
          <a:bodyPr wrap="square" lIns="0" tIns="0" rIns="0" bIns="0" rtlCol="0" anchor="t"/>
          <a:lstStyle/>
          <a:p>
            <a:pPr>
              <a:lnSpc>
                <a:spcPct val="100000"/>
              </a:lnSpc>
            </a:pPr>
            <a:r>
              <a:rPr lang="en-US" sz="2000" dirty="0">
                <a:solidFill>
                  <a:srgbClr val="3373F8"/>
                </a:solidFill>
                <a:latin typeface="MiSans" panose="00000500000000000000" pitchFamily="34" charset="-122"/>
                <a:ea typeface="MiSans" panose="00000500000000000000" pitchFamily="34" charset="-122"/>
                <a:cs typeface="MiSans" panose="00000500000000000000" pitchFamily="34" charset="-120"/>
              </a:rPr>
              <a:t>委外与其他费用</a:t>
            </a:r>
            <a:endParaRPr lang="en-US" sz="1600" dirty="0"/>
          </a:p>
        </p:txBody>
      </p:sp>
      <p:sp>
        <p:nvSpPr>
          <p:cNvPr id="12" name="Text 8"/>
          <p:cNvSpPr/>
          <p:nvPr/>
        </p:nvSpPr>
        <p:spPr>
          <a:xfrm>
            <a:off x="6533515" y="4496435"/>
            <a:ext cx="5176520" cy="1763395"/>
          </a:xfrm>
          <a:prstGeom prst="rect">
            <a:avLst/>
          </a:prstGeom>
          <a:noFill/>
        </p:spPr>
        <p:txBody>
          <a:bodyPr wrap="square" lIns="0" tIns="0" rIns="0" bIns="0" rtlCol="0" anchor="t"/>
          <a:lstStyle/>
          <a:p>
            <a:pPr algn="just">
              <a:lnSpc>
                <a:spcPct val="150000"/>
              </a:lnSpc>
            </a:pPr>
            <a:r>
              <a:rPr lang="en-US" sz="1400" dirty="0">
                <a:solidFill>
                  <a:srgbClr val="262626"/>
                </a:solidFill>
                <a:latin typeface="MiSans" panose="00000500000000000000" pitchFamily="34" charset="-122"/>
                <a:ea typeface="MiSans" panose="00000500000000000000" pitchFamily="34" charset="-122"/>
                <a:cs typeface="MiSans" panose="00000500000000000000" pitchFamily="34" charset="-120"/>
              </a:rPr>
              <a:t>通过外包、合作研发委托其他单位或个人进行研发而支付的费用；技术图书资料费、翻译费、会议费、差旅费、专家咨询费等其他直接相关费用。</a:t>
            </a:r>
            <a:endParaRPr lang="en-US" sz="1600" dirty="0"/>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ttps://kimi-img.moonshot.cn/pub/slides/slides_tmpl/image/25-10-11-20:14:24-d3l4k80s8jdo4os5emhg.png"/>
          <p:cNvPicPr>
            <a:picLocks noChangeAspect="1"/>
          </p:cNvPicPr>
          <p:nvPr/>
        </p:nvPicPr>
        <p:blipFill>
          <a:blip r:embed="rId3"/>
          <a:stretch>
            <a:fillRect/>
          </a:stretch>
        </p:blipFill>
        <p:spPr>
          <a:xfrm>
            <a:off x="541020" y="1878330"/>
            <a:ext cx="11348085" cy="4094480"/>
          </a:xfrm>
          <a:prstGeom prst="rect">
            <a:avLst/>
          </a:prstGeom>
        </p:spPr>
      </p:pic>
      <p:sp>
        <p:nvSpPr>
          <p:cNvPr id="3" name="Text 0"/>
          <p:cNvSpPr/>
          <p:nvPr/>
        </p:nvSpPr>
        <p:spPr>
          <a:xfrm>
            <a:off x="541020" y="532130"/>
            <a:ext cx="10993120" cy="979805"/>
          </a:xfrm>
          <a:prstGeom prst="rect">
            <a:avLst/>
          </a:prstGeom>
          <a:noFill/>
        </p:spPr>
        <p:txBody>
          <a:bodyPr wrap="square" lIns="0" tIns="0" rIns="0" bIns="0" rtlCol="0" anchor="t"/>
          <a:lstStyle/>
          <a:p>
            <a:pPr>
              <a:lnSpc>
                <a:spcPct val="150000"/>
              </a:lnSpc>
            </a:pPr>
            <a:r>
              <a:rPr lang="en-US" sz="3600" dirty="0">
                <a:solidFill>
                  <a:srgbClr val="0D0D0D"/>
                </a:solidFill>
                <a:latin typeface="MiSans" panose="00000500000000000000" pitchFamily="34" charset="-122"/>
                <a:ea typeface="MiSans" panose="00000500000000000000" pitchFamily="34" charset="-122"/>
                <a:cs typeface="MiSans" panose="00000500000000000000" pitchFamily="34" charset="-120"/>
              </a:rPr>
              <a:t>会计科目设置与核算方法</a:t>
            </a:r>
            <a:endParaRPr lang="en-US" sz="1600" dirty="0"/>
          </a:p>
        </p:txBody>
      </p:sp>
      <p:pic>
        <p:nvPicPr>
          <p:cNvPr id="4" name="Image 1" descr="https://kimi-img.moonshot.cn/pub/slides/slides_tmpl/image/25-10-11-20:14:20-d3l4k70s8jdo4os5em8g.png"/>
          <p:cNvPicPr>
            <a:picLocks noChangeAspect="1"/>
          </p:cNvPicPr>
          <p:nvPr/>
        </p:nvPicPr>
        <p:blipFill>
          <a:blip r:embed="rId4"/>
          <a:stretch>
            <a:fillRect/>
          </a:stretch>
        </p:blipFill>
        <p:spPr>
          <a:xfrm>
            <a:off x="9032875" y="307340"/>
            <a:ext cx="2437765" cy="1658620"/>
          </a:xfrm>
          <a:prstGeom prst="rect">
            <a:avLst/>
          </a:prstGeom>
        </p:spPr>
      </p:pic>
      <p:sp>
        <p:nvSpPr>
          <p:cNvPr id="5" name="Text 1"/>
          <p:cNvSpPr/>
          <p:nvPr/>
        </p:nvSpPr>
        <p:spPr>
          <a:xfrm>
            <a:off x="1266190" y="2135505"/>
            <a:ext cx="2514600" cy="786765"/>
          </a:xfrm>
          <a:prstGeom prst="rect">
            <a:avLst/>
          </a:prstGeom>
          <a:noFill/>
        </p:spPr>
        <p:txBody>
          <a:bodyPr wrap="square" lIns="0" tIns="0" rIns="0" bIns="0" rtlCol="0" anchor="t"/>
          <a:lstStyle/>
          <a:p>
            <a:pPr algn="ctr">
              <a:lnSpc>
                <a:spcPct val="100000"/>
              </a:lnSpc>
            </a:pPr>
            <a:r>
              <a:rPr lang="en-US" sz="2000" dirty="0">
                <a:solidFill>
                  <a:srgbClr val="3373F8"/>
                </a:solidFill>
                <a:latin typeface="MiSans" panose="00000500000000000000" pitchFamily="34" charset="-122"/>
                <a:ea typeface="MiSans" panose="00000500000000000000" pitchFamily="34" charset="-122"/>
                <a:cs typeface="MiSans" panose="00000500000000000000" pitchFamily="34" charset="-120"/>
              </a:rPr>
              <a:t>企业会计制度/小企业会计准则</a:t>
            </a:r>
            <a:endParaRPr lang="en-US" sz="1600" dirty="0"/>
          </a:p>
        </p:txBody>
      </p:sp>
      <p:sp>
        <p:nvSpPr>
          <p:cNvPr id="6" name="Text 2"/>
          <p:cNvSpPr/>
          <p:nvPr/>
        </p:nvSpPr>
        <p:spPr>
          <a:xfrm>
            <a:off x="1288415" y="2985770"/>
            <a:ext cx="2513965" cy="2780665"/>
          </a:xfrm>
          <a:prstGeom prst="rect">
            <a:avLst/>
          </a:prstGeom>
          <a:noFill/>
        </p:spPr>
        <p:txBody>
          <a:bodyPr wrap="square" lIns="0" tIns="0" rIns="0" bIns="0" rtlCol="0" anchor="t"/>
          <a:lstStyle/>
          <a:p>
            <a:pPr algn="just">
              <a:lnSpc>
                <a:spcPct val="150000"/>
              </a:lnSpc>
            </a:pPr>
            <a:r>
              <a:rPr lang="en-US" sz="1400" dirty="0">
                <a:solidFill>
                  <a:srgbClr val="262626"/>
                </a:solidFill>
                <a:latin typeface="MiSans" panose="00000500000000000000" pitchFamily="34" charset="-122"/>
                <a:ea typeface="MiSans" panose="00000500000000000000" pitchFamily="34" charset="-122"/>
                <a:cs typeface="MiSans" panose="00000500000000000000" pitchFamily="34" charset="-120"/>
              </a:rPr>
              <a:t>在管理费用科目下设研究开发费用二级明细，再按项目和费用种类设置三、四级明细科目，实现研发费用的精细化核算。</a:t>
            </a:r>
            <a:endParaRPr lang="en-US" sz="1600" dirty="0"/>
          </a:p>
        </p:txBody>
      </p:sp>
      <p:sp>
        <p:nvSpPr>
          <p:cNvPr id="7" name="Text 3"/>
          <p:cNvSpPr/>
          <p:nvPr/>
        </p:nvSpPr>
        <p:spPr>
          <a:xfrm>
            <a:off x="4957445" y="2142490"/>
            <a:ext cx="2514600" cy="786765"/>
          </a:xfrm>
          <a:prstGeom prst="rect">
            <a:avLst/>
          </a:prstGeom>
          <a:noFill/>
        </p:spPr>
        <p:txBody>
          <a:bodyPr wrap="square" lIns="0" tIns="0" rIns="0" bIns="0" rtlCol="0" anchor="t"/>
          <a:lstStyle/>
          <a:p>
            <a:pPr algn="ctr">
              <a:lnSpc>
                <a:spcPct val="100000"/>
              </a:lnSpc>
            </a:pPr>
            <a:r>
              <a:rPr lang="en-US" sz="2000" dirty="0">
                <a:solidFill>
                  <a:srgbClr val="3373F8"/>
                </a:solidFill>
                <a:latin typeface="MiSans" panose="00000500000000000000" pitchFamily="34" charset="-122"/>
                <a:ea typeface="MiSans" panose="00000500000000000000" pitchFamily="34" charset="-122"/>
                <a:cs typeface="MiSans" panose="00000500000000000000" pitchFamily="34" charset="-120"/>
              </a:rPr>
              <a:t>企业会计准则：阶段区分</a:t>
            </a:r>
            <a:endParaRPr lang="en-US" sz="1600" dirty="0"/>
          </a:p>
        </p:txBody>
      </p:sp>
      <p:sp>
        <p:nvSpPr>
          <p:cNvPr id="8" name="Text 4"/>
          <p:cNvSpPr/>
          <p:nvPr/>
        </p:nvSpPr>
        <p:spPr>
          <a:xfrm>
            <a:off x="4979670" y="2992755"/>
            <a:ext cx="2513965" cy="2773680"/>
          </a:xfrm>
          <a:prstGeom prst="rect">
            <a:avLst/>
          </a:prstGeom>
          <a:noFill/>
        </p:spPr>
        <p:txBody>
          <a:bodyPr wrap="square" lIns="0" tIns="0" rIns="0" bIns="0" rtlCol="0" anchor="t"/>
          <a:lstStyle/>
          <a:p>
            <a:pPr algn="just">
              <a:lnSpc>
                <a:spcPct val="150000"/>
              </a:lnSpc>
            </a:pPr>
            <a:r>
              <a:rPr lang="en-US" sz="1400" dirty="0">
                <a:solidFill>
                  <a:srgbClr val="262626"/>
                </a:solidFill>
                <a:latin typeface="MiSans" panose="00000500000000000000" pitchFamily="34" charset="-122"/>
                <a:ea typeface="MiSans" panose="00000500000000000000" pitchFamily="34" charset="-122"/>
                <a:cs typeface="MiSans" panose="00000500000000000000" pitchFamily="34" charset="-120"/>
              </a:rPr>
              <a:t>区分研究阶段与开发阶段：研究阶段支出计入当期损益；开发阶段支出满足资本化条件的确认为无形资产，不满足的计入当期损益。</a:t>
            </a:r>
            <a:endParaRPr lang="en-US" sz="1600" dirty="0"/>
          </a:p>
        </p:txBody>
      </p:sp>
      <p:sp>
        <p:nvSpPr>
          <p:cNvPr id="9" name="Text 5"/>
          <p:cNvSpPr/>
          <p:nvPr/>
        </p:nvSpPr>
        <p:spPr>
          <a:xfrm>
            <a:off x="8648700" y="2162810"/>
            <a:ext cx="2514600" cy="786765"/>
          </a:xfrm>
          <a:prstGeom prst="rect">
            <a:avLst/>
          </a:prstGeom>
          <a:noFill/>
        </p:spPr>
        <p:txBody>
          <a:bodyPr wrap="square" lIns="0" tIns="0" rIns="0" bIns="0" rtlCol="0" anchor="t"/>
          <a:lstStyle/>
          <a:p>
            <a:pPr algn="ctr">
              <a:lnSpc>
                <a:spcPct val="100000"/>
              </a:lnSpc>
            </a:pPr>
            <a:r>
              <a:rPr lang="en-US" sz="2000" dirty="0">
                <a:solidFill>
                  <a:srgbClr val="3373F8"/>
                </a:solidFill>
                <a:latin typeface="MiSans" panose="00000500000000000000" pitchFamily="34" charset="-122"/>
                <a:ea typeface="MiSans" panose="00000500000000000000" pitchFamily="34" charset="-122"/>
                <a:cs typeface="MiSans" panose="00000500000000000000" pitchFamily="34" charset="-120"/>
              </a:rPr>
              <a:t>研发支出科目设置与结转</a:t>
            </a:r>
            <a:endParaRPr lang="en-US" sz="1600" dirty="0"/>
          </a:p>
        </p:txBody>
      </p:sp>
      <p:sp>
        <p:nvSpPr>
          <p:cNvPr id="10" name="Text 6"/>
          <p:cNvSpPr/>
          <p:nvPr/>
        </p:nvSpPr>
        <p:spPr>
          <a:xfrm>
            <a:off x="8670925" y="3013075"/>
            <a:ext cx="2513965" cy="2753995"/>
          </a:xfrm>
          <a:prstGeom prst="rect">
            <a:avLst/>
          </a:prstGeom>
          <a:noFill/>
        </p:spPr>
        <p:txBody>
          <a:bodyPr wrap="square" lIns="0" tIns="0" rIns="0" bIns="0" rtlCol="0" anchor="t"/>
          <a:lstStyle/>
          <a:p>
            <a:pPr algn="just">
              <a:lnSpc>
                <a:spcPct val="150000"/>
              </a:lnSpc>
            </a:pPr>
            <a:r>
              <a:rPr lang="en-US" sz="1400" dirty="0">
                <a:solidFill>
                  <a:srgbClr val="262626"/>
                </a:solidFill>
                <a:latin typeface="MiSans" panose="00000500000000000000" pitchFamily="34" charset="-122"/>
                <a:ea typeface="MiSans" panose="00000500000000000000" pitchFamily="34" charset="-122"/>
                <a:cs typeface="MiSans" panose="00000500000000000000" pitchFamily="34" charset="-120"/>
              </a:rPr>
              <a:t>设置研发支出一级科目，下设资本化支出和费用化支出二级明细；期末费用化支出转入管理费用，资本化支出达到预定用途时转为无形资产，按不低于10年直线摊销。</a:t>
            </a:r>
            <a:endParaRPr lang="en-US" sz="1600" dirty="0"/>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ttps://kimi-img.moonshot.cn/pub/slides/slides_tmpl/image/25-10-11-20:14:23-d3l4k7os8jdo4os5emfg.png"/>
          <p:cNvPicPr>
            <a:picLocks noChangeAspect="1"/>
          </p:cNvPicPr>
          <p:nvPr/>
        </p:nvPicPr>
        <p:blipFill>
          <a:blip r:embed="rId15"/>
          <a:stretch>
            <a:fillRect/>
          </a:stretch>
        </p:blipFill>
        <p:spPr>
          <a:xfrm>
            <a:off x="-5080" y="0"/>
            <a:ext cx="12192000" cy="2567940"/>
          </a:xfrm>
          <a:prstGeom prst="rect">
            <a:avLst/>
          </a:prstGeom>
        </p:spPr>
      </p:pic>
      <p:sp>
        <p:nvSpPr>
          <p:cNvPr id="3" name="Text 0"/>
          <p:cNvSpPr/>
          <p:nvPr/>
        </p:nvSpPr>
        <p:spPr>
          <a:xfrm>
            <a:off x="856298" y="657860"/>
            <a:ext cx="10479405" cy="822920"/>
          </a:xfrm>
          <a:prstGeom prst="rect">
            <a:avLst/>
          </a:prstGeom>
          <a:noFill/>
        </p:spPr>
        <p:txBody>
          <a:bodyPr wrap="square" lIns="0" tIns="0" rIns="0" bIns="0" rtlCol="0" anchor="t">
            <a:spAutoFit/>
          </a:bodyPr>
          <a:lstStyle/>
          <a:p>
            <a:pPr algn="ctr">
              <a:lnSpc>
                <a:spcPct val="150000"/>
              </a:lnSpc>
            </a:pPr>
            <a:r>
              <a:rPr lang="en-US" sz="3600" dirty="0">
                <a:solidFill>
                  <a:srgbClr val="0D0D0D"/>
                </a:solidFill>
                <a:latin typeface="MiSans" panose="00000500000000000000" pitchFamily="34" charset="-122"/>
                <a:ea typeface="MiSans" panose="00000500000000000000" pitchFamily="34" charset="-122"/>
                <a:cs typeface="MiSans" panose="00000500000000000000" pitchFamily="34" charset="-120"/>
              </a:rPr>
              <a:t>人员人工费用的归集方法与凭证要求</a:t>
            </a:r>
            <a:endParaRPr lang="en-US" sz="1600" dirty="0"/>
          </a:p>
        </p:txBody>
      </p:sp>
      <p:pic>
        <p:nvPicPr>
          <p:cNvPr id="4" name="Image 1" descr="https://kimi-img.moonshot.cn/pub/slides/slides_tmpl/image/25-10-11-20:14:19-d3l4k6os8jdo4os5em70.png"/>
          <p:cNvPicPr>
            <a:picLocks noChangeAspect="1"/>
          </p:cNvPicPr>
          <p:nvPr>
            <p:custDataLst>
              <p:tags r:id="rId1"/>
            </p:custDataLst>
          </p:nvPr>
        </p:nvPicPr>
        <p:blipFill>
          <a:blip r:embed="rId16"/>
          <a:stretch>
            <a:fillRect/>
          </a:stretch>
        </p:blipFill>
        <p:spPr>
          <a:xfrm rot="5400000" flipH="1">
            <a:off x="1490980" y="1405890"/>
            <a:ext cx="1229995" cy="1043305"/>
          </a:xfrm>
          <a:prstGeom prst="rect">
            <a:avLst/>
          </a:prstGeom>
        </p:spPr>
      </p:pic>
      <p:pic>
        <p:nvPicPr>
          <p:cNvPr id="5" name="Image 2" descr="https://kimi-img.moonshot.cn/pub/slides/slides_tmpl/image/25-10-11-20:14:19-d3l4k6os8jdo4os5em70.png"/>
          <p:cNvPicPr>
            <a:picLocks noChangeAspect="1"/>
          </p:cNvPicPr>
          <p:nvPr>
            <p:custDataLst>
              <p:tags r:id="rId2"/>
            </p:custDataLst>
          </p:nvPr>
        </p:nvPicPr>
        <p:blipFill>
          <a:blip r:embed="rId16"/>
          <a:stretch>
            <a:fillRect/>
          </a:stretch>
        </p:blipFill>
        <p:spPr>
          <a:xfrm rot="5400000" flipH="1">
            <a:off x="5467350" y="2111375"/>
            <a:ext cx="1229995" cy="1043305"/>
          </a:xfrm>
          <a:prstGeom prst="rect">
            <a:avLst/>
          </a:prstGeom>
        </p:spPr>
      </p:pic>
      <p:pic>
        <p:nvPicPr>
          <p:cNvPr id="6" name="Image 3" descr="https://kimi-img.moonshot.cn/pub/slides/slides_tmpl/image/25-10-11-20:14:19-d3l4k6os8jdo4os5em70.png"/>
          <p:cNvPicPr>
            <a:picLocks noChangeAspect="1"/>
          </p:cNvPicPr>
          <p:nvPr>
            <p:custDataLst>
              <p:tags r:id="rId3"/>
            </p:custDataLst>
          </p:nvPr>
        </p:nvPicPr>
        <p:blipFill>
          <a:blip r:embed="rId16"/>
          <a:stretch>
            <a:fillRect/>
          </a:stretch>
        </p:blipFill>
        <p:spPr>
          <a:xfrm rot="5400000" flipH="1">
            <a:off x="9528810" y="1323340"/>
            <a:ext cx="1229995" cy="1043305"/>
          </a:xfrm>
          <a:prstGeom prst="rect">
            <a:avLst/>
          </a:prstGeom>
        </p:spPr>
      </p:pic>
      <p:sp>
        <p:nvSpPr>
          <p:cNvPr id="7" name="Text 1"/>
          <p:cNvSpPr/>
          <p:nvPr>
            <p:custDataLst>
              <p:tags r:id="rId4"/>
            </p:custDataLst>
          </p:nvPr>
        </p:nvSpPr>
        <p:spPr>
          <a:xfrm>
            <a:off x="1761490" y="1525270"/>
            <a:ext cx="688975" cy="536575"/>
          </a:xfrm>
          <a:prstGeom prst="rect">
            <a:avLst/>
          </a:prstGeom>
          <a:noFill/>
        </p:spPr>
        <p:txBody>
          <a:bodyPr wrap="square" lIns="0" tIns="0" rIns="0" bIns="0" rtlCol="0" anchor="t"/>
          <a:lstStyle/>
          <a:p>
            <a:pPr algn="ctr">
              <a:lnSpc>
                <a:spcPct val="100000"/>
              </a:lnSpc>
            </a:pPr>
            <a:r>
              <a:rPr lang="en-US" sz="4000" dirty="0">
                <a:solidFill>
                  <a:srgbClr val="3373F8"/>
                </a:solidFill>
                <a:latin typeface="MiSans" panose="00000500000000000000" pitchFamily="34" charset="-122"/>
                <a:ea typeface="MiSans" panose="00000500000000000000" pitchFamily="34" charset="-122"/>
                <a:cs typeface="MiSans" panose="00000500000000000000" pitchFamily="34" charset="-120"/>
              </a:rPr>
              <a:t>1</a:t>
            </a:r>
            <a:endParaRPr lang="en-US" sz="1600" dirty="0"/>
          </a:p>
        </p:txBody>
      </p:sp>
      <p:sp>
        <p:nvSpPr>
          <p:cNvPr id="8" name="Text 2"/>
          <p:cNvSpPr/>
          <p:nvPr>
            <p:custDataLst>
              <p:tags r:id="rId5"/>
            </p:custDataLst>
          </p:nvPr>
        </p:nvSpPr>
        <p:spPr>
          <a:xfrm>
            <a:off x="866775" y="2830195"/>
            <a:ext cx="2853690" cy="713740"/>
          </a:xfrm>
          <a:prstGeom prst="rect">
            <a:avLst/>
          </a:prstGeom>
          <a:noFill/>
        </p:spPr>
        <p:txBody>
          <a:bodyPr wrap="square" lIns="0" tIns="0" rIns="0" bIns="0" rtlCol="0" anchor="t"/>
          <a:lstStyle/>
          <a:p>
            <a:pPr algn="ctr">
              <a:lnSpc>
                <a:spcPct val="100000"/>
              </a:lnSpc>
            </a:pPr>
            <a:r>
              <a:rPr lang="en-US" sz="2000" dirty="0">
                <a:solidFill>
                  <a:srgbClr val="3373F8"/>
                </a:solidFill>
                <a:latin typeface="MiSans" panose="00000500000000000000" pitchFamily="34" charset="-122"/>
                <a:ea typeface="MiSans" panose="00000500000000000000" pitchFamily="34" charset="-122"/>
                <a:cs typeface="MiSans" panose="00000500000000000000" pitchFamily="34" charset="-120"/>
              </a:rPr>
              <a:t>归集方法</a:t>
            </a:r>
            <a:endParaRPr lang="en-US" sz="1600" dirty="0"/>
          </a:p>
        </p:txBody>
      </p:sp>
      <p:sp>
        <p:nvSpPr>
          <p:cNvPr id="9" name="Text 3"/>
          <p:cNvSpPr/>
          <p:nvPr>
            <p:custDataLst>
              <p:tags r:id="rId6"/>
            </p:custDataLst>
          </p:nvPr>
        </p:nvSpPr>
        <p:spPr>
          <a:xfrm>
            <a:off x="866775" y="3543935"/>
            <a:ext cx="2853055" cy="2719070"/>
          </a:xfrm>
          <a:prstGeom prst="rect">
            <a:avLst/>
          </a:prstGeom>
          <a:noFill/>
        </p:spPr>
        <p:txBody>
          <a:bodyPr wrap="square" lIns="0" tIns="0" rIns="0" bIns="0" rtlCol="0" anchor="t"/>
          <a:lstStyle/>
          <a:p>
            <a:pPr algn="just">
              <a:lnSpc>
                <a:spcPct val="150000"/>
              </a:lnSpc>
            </a:pPr>
            <a:r>
              <a:rPr lang="en-US" sz="1400" dirty="0">
                <a:solidFill>
                  <a:srgbClr val="262626"/>
                </a:solidFill>
                <a:latin typeface="MiSans" panose="00000500000000000000" pitchFamily="34" charset="-122"/>
                <a:ea typeface="MiSans" panose="00000500000000000000" pitchFamily="34" charset="-122"/>
                <a:cs typeface="MiSans" panose="00000500000000000000" pitchFamily="34" charset="-120"/>
              </a:rPr>
              <a:t>包括直接计入法、比例分配法、实际与比例相结合法，企业研究开发项目共担费用可按工时、使用时间、贡献度等标准在各研发项目间合理分摊。</a:t>
            </a:r>
            <a:endParaRPr lang="en-US" sz="1600" dirty="0"/>
          </a:p>
        </p:txBody>
      </p:sp>
      <p:sp>
        <p:nvSpPr>
          <p:cNvPr id="10" name="Text 4"/>
          <p:cNvSpPr/>
          <p:nvPr>
            <p:custDataLst>
              <p:tags r:id="rId7"/>
            </p:custDataLst>
          </p:nvPr>
        </p:nvSpPr>
        <p:spPr>
          <a:xfrm>
            <a:off x="5737860" y="2230755"/>
            <a:ext cx="688975" cy="536575"/>
          </a:xfrm>
          <a:prstGeom prst="rect">
            <a:avLst/>
          </a:prstGeom>
          <a:noFill/>
        </p:spPr>
        <p:txBody>
          <a:bodyPr wrap="square" lIns="0" tIns="0" rIns="0" bIns="0" rtlCol="0" anchor="t"/>
          <a:lstStyle/>
          <a:p>
            <a:pPr algn="ctr">
              <a:lnSpc>
                <a:spcPct val="100000"/>
              </a:lnSpc>
            </a:pPr>
            <a:r>
              <a:rPr lang="en-US" sz="4000" dirty="0">
                <a:solidFill>
                  <a:srgbClr val="3373F8"/>
                </a:solidFill>
                <a:latin typeface="MiSans" panose="00000500000000000000" pitchFamily="34" charset="-122"/>
                <a:ea typeface="MiSans" panose="00000500000000000000" pitchFamily="34" charset="-122"/>
                <a:cs typeface="MiSans" panose="00000500000000000000" pitchFamily="34" charset="-120"/>
              </a:rPr>
              <a:t>2</a:t>
            </a:r>
            <a:endParaRPr lang="en-US" sz="1600" dirty="0"/>
          </a:p>
        </p:txBody>
      </p:sp>
      <p:sp>
        <p:nvSpPr>
          <p:cNvPr id="11" name="Text 5"/>
          <p:cNvSpPr/>
          <p:nvPr>
            <p:custDataLst>
              <p:tags r:id="rId8"/>
            </p:custDataLst>
          </p:nvPr>
        </p:nvSpPr>
        <p:spPr>
          <a:xfrm>
            <a:off x="4655820" y="3248025"/>
            <a:ext cx="2853690" cy="714375"/>
          </a:xfrm>
          <a:prstGeom prst="rect">
            <a:avLst/>
          </a:prstGeom>
          <a:noFill/>
        </p:spPr>
        <p:txBody>
          <a:bodyPr wrap="square" lIns="0" tIns="0" rIns="0" bIns="0" rtlCol="0" anchor="t"/>
          <a:lstStyle/>
          <a:p>
            <a:pPr algn="ctr">
              <a:lnSpc>
                <a:spcPct val="100000"/>
              </a:lnSpc>
            </a:pPr>
            <a:r>
              <a:rPr lang="en-US" sz="2000" dirty="0">
                <a:solidFill>
                  <a:srgbClr val="3373F8"/>
                </a:solidFill>
                <a:latin typeface="MiSans" panose="00000500000000000000" pitchFamily="34" charset="-122"/>
                <a:ea typeface="MiSans" panose="00000500000000000000" pitchFamily="34" charset="-122"/>
                <a:cs typeface="MiSans" panose="00000500000000000000" pitchFamily="34" charset="-120"/>
              </a:rPr>
              <a:t>原始凭证要求</a:t>
            </a:r>
            <a:endParaRPr lang="en-US" sz="1600" dirty="0"/>
          </a:p>
        </p:txBody>
      </p:sp>
      <p:sp>
        <p:nvSpPr>
          <p:cNvPr id="12" name="Text 6"/>
          <p:cNvSpPr/>
          <p:nvPr>
            <p:custDataLst>
              <p:tags r:id="rId9"/>
            </p:custDataLst>
          </p:nvPr>
        </p:nvSpPr>
        <p:spPr>
          <a:xfrm>
            <a:off x="4655820" y="3961765"/>
            <a:ext cx="2853055" cy="2719070"/>
          </a:xfrm>
          <a:prstGeom prst="rect">
            <a:avLst/>
          </a:prstGeom>
          <a:noFill/>
        </p:spPr>
        <p:txBody>
          <a:bodyPr wrap="square" lIns="0" tIns="0" rIns="0" bIns="0" rtlCol="0" anchor="t"/>
          <a:lstStyle/>
          <a:p>
            <a:pPr algn="just">
              <a:lnSpc>
                <a:spcPct val="150000"/>
              </a:lnSpc>
            </a:pPr>
            <a:r>
              <a:rPr lang="en-US" sz="1400" dirty="0">
                <a:solidFill>
                  <a:srgbClr val="262626"/>
                </a:solidFill>
                <a:latin typeface="MiSans" panose="00000500000000000000" pitchFamily="34" charset="-122"/>
                <a:ea typeface="MiSans" panose="00000500000000000000" pitchFamily="34" charset="-122"/>
                <a:cs typeface="MiSans" panose="00000500000000000000" pitchFamily="34" charset="-120"/>
              </a:rPr>
              <a:t>须留存人事部门提供的工资表和研发部门或人事部门提供的考勤记录。工资表应分部门编列，参与研发活动的科技人员应单独编列，避免与普通员工混合无序编列。</a:t>
            </a:r>
            <a:endParaRPr lang="en-US" sz="1600" dirty="0"/>
          </a:p>
        </p:txBody>
      </p:sp>
      <p:sp>
        <p:nvSpPr>
          <p:cNvPr id="13" name="Text 7"/>
          <p:cNvSpPr/>
          <p:nvPr>
            <p:custDataLst>
              <p:tags r:id="rId10"/>
            </p:custDataLst>
          </p:nvPr>
        </p:nvSpPr>
        <p:spPr>
          <a:xfrm>
            <a:off x="9799320" y="1442720"/>
            <a:ext cx="688975" cy="536575"/>
          </a:xfrm>
          <a:prstGeom prst="rect">
            <a:avLst/>
          </a:prstGeom>
          <a:noFill/>
        </p:spPr>
        <p:txBody>
          <a:bodyPr wrap="square" lIns="0" tIns="0" rIns="0" bIns="0" rtlCol="0" anchor="t"/>
          <a:lstStyle/>
          <a:p>
            <a:pPr algn="ctr">
              <a:lnSpc>
                <a:spcPct val="100000"/>
              </a:lnSpc>
            </a:pPr>
            <a:r>
              <a:rPr lang="en-US" sz="4000" dirty="0">
                <a:solidFill>
                  <a:srgbClr val="3373F8"/>
                </a:solidFill>
                <a:latin typeface="MiSans" panose="00000500000000000000" pitchFamily="34" charset="-122"/>
                <a:ea typeface="MiSans" panose="00000500000000000000" pitchFamily="34" charset="-122"/>
                <a:cs typeface="MiSans" panose="00000500000000000000" pitchFamily="34" charset="-120"/>
              </a:rPr>
              <a:t>3</a:t>
            </a:r>
            <a:endParaRPr lang="en-US" sz="1600" dirty="0"/>
          </a:p>
        </p:txBody>
      </p:sp>
      <p:sp>
        <p:nvSpPr>
          <p:cNvPr id="14" name="Text 8"/>
          <p:cNvSpPr/>
          <p:nvPr>
            <p:custDataLst>
              <p:tags r:id="rId11"/>
            </p:custDataLst>
          </p:nvPr>
        </p:nvSpPr>
        <p:spPr>
          <a:xfrm>
            <a:off x="8444865" y="2809875"/>
            <a:ext cx="2853690" cy="713740"/>
          </a:xfrm>
          <a:prstGeom prst="rect">
            <a:avLst/>
          </a:prstGeom>
          <a:noFill/>
        </p:spPr>
        <p:txBody>
          <a:bodyPr wrap="square" lIns="0" tIns="0" rIns="0" bIns="0" rtlCol="0" anchor="t"/>
          <a:lstStyle/>
          <a:p>
            <a:pPr algn="ctr">
              <a:lnSpc>
                <a:spcPct val="100000"/>
              </a:lnSpc>
            </a:pPr>
            <a:r>
              <a:rPr lang="en-US" sz="2000" dirty="0">
                <a:solidFill>
                  <a:srgbClr val="3373F8"/>
                </a:solidFill>
                <a:latin typeface="MiSans" panose="00000500000000000000" pitchFamily="34" charset="-122"/>
                <a:ea typeface="MiSans" panose="00000500000000000000" pitchFamily="34" charset="-122"/>
                <a:cs typeface="MiSans" panose="00000500000000000000" pitchFamily="34" charset="-120"/>
              </a:rPr>
              <a:t>会计处理流程</a:t>
            </a:r>
            <a:endParaRPr lang="en-US" sz="1600" dirty="0"/>
          </a:p>
        </p:txBody>
      </p:sp>
      <p:sp>
        <p:nvSpPr>
          <p:cNvPr id="15" name="Text 9"/>
          <p:cNvSpPr/>
          <p:nvPr>
            <p:custDataLst>
              <p:tags r:id="rId12"/>
            </p:custDataLst>
          </p:nvPr>
        </p:nvSpPr>
        <p:spPr>
          <a:xfrm>
            <a:off x="8444865" y="3523615"/>
            <a:ext cx="2853055" cy="2718435"/>
          </a:xfrm>
          <a:prstGeom prst="rect">
            <a:avLst/>
          </a:prstGeom>
          <a:noFill/>
        </p:spPr>
        <p:txBody>
          <a:bodyPr wrap="square" lIns="0" tIns="0" rIns="0" bIns="0" rtlCol="0" anchor="t"/>
          <a:lstStyle/>
          <a:p>
            <a:pPr algn="just">
              <a:lnSpc>
                <a:spcPct val="150000"/>
              </a:lnSpc>
            </a:pPr>
            <a:r>
              <a:rPr lang="en-US" sz="1400" dirty="0">
                <a:solidFill>
                  <a:srgbClr val="262626"/>
                </a:solidFill>
                <a:latin typeface="MiSans" panose="00000500000000000000" pitchFamily="34" charset="-122"/>
                <a:ea typeface="MiSans" panose="00000500000000000000" pitchFamily="34" charset="-122"/>
                <a:cs typeface="MiSans" panose="00000500000000000000" pitchFamily="34" charset="-120"/>
              </a:rPr>
              <a:t>根据工资表和考勤记录编制工资分配表，按各项目工时占比分配人工费用，据此编制记账凭证，借记研发支出各项目人员人工费科目，贷记应付职工薪酬科目。</a:t>
            </a:r>
            <a:endParaRPr lang="en-US" sz="1600" dirty="0"/>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 0" descr="https://kimi-img.moonshot.cn/pub/slides/slides_tmpl/image/25-09-04-11:33:06-d2sggsm1bb2p4onbon10.jpg"/>
          <p:cNvPicPr>
            <a:picLocks noChangeAspect="1"/>
          </p:cNvPicPr>
          <p:nvPr/>
        </p:nvPicPr>
        <p:blipFill>
          <a:blip r:embed="rId4"/>
          <a:stretch>
            <a:fillRect/>
          </a:stretch>
        </p:blipFill>
        <p:spPr>
          <a:xfrm>
            <a:off x="0" y="0"/>
            <a:ext cx="12192000" cy="6858000"/>
          </a:xfrm>
          <a:prstGeom prst="rect">
            <a:avLst/>
          </a:prstGeom>
        </p:spPr>
      </p:pic>
      <p:cxnSp>
        <p:nvCxnSpPr>
          <p:cNvPr id="5" name="直接连接符 4"/>
          <p:cNvCxnSpPr/>
          <p:nvPr/>
        </p:nvCxnSpPr>
        <p:spPr>
          <a:xfrm>
            <a:off x="2619061" y="644689"/>
            <a:ext cx="1920213" cy="0"/>
          </a:xfrm>
          <a:prstGeom prst="line">
            <a:avLst/>
          </a:prstGeom>
          <a:ln>
            <a:gradFill flip="none" rotWithShape="1">
              <a:gsLst>
                <a:gs pos="0">
                  <a:schemeClr val="bg1">
                    <a:alpha val="0"/>
                  </a:schemeClr>
                </a:gs>
                <a:gs pos="100000">
                  <a:schemeClr val="bg1"/>
                </a:gs>
              </a:gsLst>
              <a:lin ang="0" scaled="1"/>
              <a:tileRect/>
            </a:gradFill>
            <a:tailEnd type="oval"/>
          </a:ln>
        </p:spPr>
        <p:style>
          <a:lnRef idx="1">
            <a:schemeClr val="accent1"/>
          </a:lnRef>
          <a:fillRef idx="0">
            <a:schemeClr val="accent1"/>
          </a:fillRef>
          <a:effectRef idx="0">
            <a:schemeClr val="accent1"/>
          </a:effectRef>
          <a:fontRef idx="minor">
            <a:schemeClr val="tx1"/>
          </a:fontRef>
        </p:style>
      </p:cxnSp>
      <p:sp>
        <p:nvSpPr>
          <p:cNvPr id="14" name="TextBox 1"/>
          <p:cNvSpPr txBox="1"/>
          <p:nvPr/>
        </p:nvSpPr>
        <p:spPr>
          <a:xfrm>
            <a:off x="3579168" y="380600"/>
            <a:ext cx="4992555" cy="534035"/>
          </a:xfrm>
          <a:prstGeom prst="rect">
            <a:avLst/>
          </a:prstGeom>
          <a:noFill/>
        </p:spPr>
        <p:txBody>
          <a:bodyPr wrap="square" rtlCol="0">
            <a:spAutoFit/>
          </a:bodyPr>
          <a:lstStyle/>
          <a:p>
            <a:pPr algn="ctr" defTabSz="431800">
              <a:lnSpc>
                <a:spcPct val="120000"/>
              </a:lnSpc>
              <a:defRPr/>
            </a:pPr>
            <a:r>
              <a:rPr lang="zh-CN" sz="2400" b="1" kern="0" dirty="0">
                <a:solidFill>
                  <a:schemeClr val="tx1"/>
                </a:solidFill>
                <a:latin typeface="Arial" panose="020B0604020202020204" pitchFamily="34" charset="0"/>
                <a:ea typeface="微软雅黑" panose="020B0503020204020204" charset="-122"/>
                <a:cs typeface="Arial" panose="020B0604020202020204" pitchFamily="34" charset="0"/>
              </a:rPr>
              <a:t>研发费用</a:t>
            </a:r>
            <a:r>
              <a:rPr lang="en-US" altLang="zh-CN" sz="2400" b="1" kern="0" dirty="0">
                <a:solidFill>
                  <a:schemeClr val="tx1"/>
                </a:solidFill>
                <a:latin typeface="Arial" panose="020B0604020202020204" pitchFamily="34" charset="0"/>
                <a:ea typeface="微软雅黑" panose="020B0503020204020204" charset="-122"/>
                <a:cs typeface="Arial" panose="020B0604020202020204" pitchFamily="34" charset="0"/>
              </a:rPr>
              <a:t>“</a:t>
            </a:r>
            <a:r>
              <a:rPr lang="zh-CN" sz="2400" b="1" kern="0" dirty="0">
                <a:solidFill>
                  <a:schemeClr val="tx1"/>
                </a:solidFill>
                <a:latin typeface="Arial" panose="020B0604020202020204" pitchFamily="34" charset="0"/>
                <a:ea typeface="微软雅黑" panose="020B0503020204020204" charset="-122"/>
                <a:cs typeface="Arial" panose="020B0604020202020204" pitchFamily="34" charset="0"/>
              </a:rPr>
              <a:t>合理</a:t>
            </a:r>
            <a:r>
              <a:rPr lang="en-US" altLang="zh-CN" sz="2400" b="1" kern="0" dirty="0">
                <a:solidFill>
                  <a:schemeClr val="tx1"/>
                </a:solidFill>
                <a:latin typeface="Arial" panose="020B0604020202020204" pitchFamily="34" charset="0"/>
                <a:ea typeface="微软雅黑" panose="020B0503020204020204" charset="-122"/>
                <a:cs typeface="Arial" panose="020B0604020202020204" pitchFamily="34" charset="0"/>
              </a:rPr>
              <a:t>”</a:t>
            </a:r>
            <a:r>
              <a:rPr lang="zh-CN" sz="2400" b="1" kern="0" dirty="0">
                <a:solidFill>
                  <a:schemeClr val="tx1"/>
                </a:solidFill>
                <a:latin typeface="Arial" panose="020B0604020202020204" pitchFamily="34" charset="0"/>
                <a:ea typeface="微软雅黑" panose="020B0503020204020204" charset="-122"/>
                <a:cs typeface="Arial" panose="020B0604020202020204" pitchFamily="34" charset="0"/>
              </a:rPr>
              <a:t>归集</a:t>
            </a:r>
          </a:p>
        </p:txBody>
      </p:sp>
      <p:cxnSp>
        <p:nvCxnSpPr>
          <p:cNvPr id="15" name="直接连接符 14"/>
          <p:cNvCxnSpPr/>
          <p:nvPr/>
        </p:nvCxnSpPr>
        <p:spPr>
          <a:xfrm flipH="1">
            <a:off x="7611616" y="644689"/>
            <a:ext cx="1920213" cy="0"/>
          </a:xfrm>
          <a:prstGeom prst="line">
            <a:avLst/>
          </a:prstGeom>
          <a:ln>
            <a:gradFill flip="none" rotWithShape="1">
              <a:gsLst>
                <a:gs pos="0">
                  <a:schemeClr val="bg1">
                    <a:alpha val="0"/>
                  </a:schemeClr>
                </a:gs>
                <a:gs pos="100000">
                  <a:schemeClr val="bg1"/>
                </a:gs>
              </a:gsLst>
              <a:lin ang="0" scaled="1"/>
              <a:tileRect/>
            </a:gradFill>
            <a:tailEnd type="oval"/>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527473" y="2870200"/>
            <a:ext cx="10638367" cy="1120140"/>
          </a:xfrm>
          <a:prstGeom prst="rect">
            <a:avLst/>
          </a:prstGeom>
          <a:noFill/>
        </p:spPr>
        <p:txBody>
          <a:bodyPr wrap="square" rtlCol="0">
            <a:noAutofit/>
          </a:bodyPr>
          <a:lstStyle/>
          <a:p>
            <a:pPr algn="l"/>
            <a:endParaRPr lang="en-US" altLang="zh-CN" sz="2400" dirty="0">
              <a:solidFill>
                <a:schemeClr val="tx1"/>
              </a:solidFill>
              <a:ea typeface="微软雅黑" panose="020B0503020204020204" charset="-122"/>
              <a:sym typeface="+mn-ea"/>
            </a:endParaRPr>
          </a:p>
          <a:p>
            <a:pPr algn="l"/>
            <a:r>
              <a:rPr lang="en-US" altLang="zh-CN" sz="2400" dirty="0">
                <a:solidFill>
                  <a:schemeClr val="tx1"/>
                </a:solidFill>
                <a:ea typeface="微软雅黑" panose="020B0503020204020204" charset="-122"/>
                <a:sym typeface="+mn-ea"/>
              </a:rPr>
              <a:t>      </a:t>
            </a:r>
          </a:p>
          <a:p>
            <a:pPr algn="l"/>
            <a:endParaRPr lang="en-US" altLang="zh-CN" sz="2400" dirty="0">
              <a:solidFill>
                <a:schemeClr val="tx1"/>
              </a:solidFill>
              <a:ea typeface="微软雅黑" panose="020B0503020204020204" charset="-122"/>
              <a:sym typeface="+mn-ea"/>
            </a:endParaRPr>
          </a:p>
          <a:p>
            <a:pPr algn="l"/>
            <a:endParaRPr lang="en-US" altLang="zh-CN" sz="2400" dirty="0">
              <a:solidFill>
                <a:schemeClr val="tx1"/>
              </a:solidFill>
              <a:ea typeface="微软雅黑" panose="020B0503020204020204" charset="-122"/>
              <a:sym typeface="+mn-ea"/>
            </a:endParaRPr>
          </a:p>
        </p:txBody>
      </p:sp>
      <p:sp>
        <p:nvSpPr>
          <p:cNvPr id="4" name="文本框 3"/>
          <p:cNvSpPr txBox="1"/>
          <p:nvPr/>
        </p:nvSpPr>
        <p:spPr>
          <a:xfrm>
            <a:off x="825500" y="1192107"/>
            <a:ext cx="3544147" cy="460375"/>
          </a:xfrm>
          <a:prstGeom prst="rect">
            <a:avLst/>
          </a:prstGeom>
          <a:noFill/>
        </p:spPr>
        <p:txBody>
          <a:bodyPr wrap="square" rtlCol="0">
            <a:spAutoFit/>
          </a:bodyPr>
          <a:lstStyle/>
          <a:p>
            <a:r>
              <a:rPr lang="zh-CN" altLang="en-US" sz="2400" dirty="0">
                <a:solidFill>
                  <a:schemeClr val="tx1"/>
                </a:solidFill>
                <a:ea typeface="微软雅黑" panose="020B0503020204020204" charset="-122"/>
              </a:rPr>
              <a:t>人员人工（表样一）</a:t>
            </a:r>
          </a:p>
        </p:txBody>
      </p:sp>
      <p:sp>
        <p:nvSpPr>
          <p:cNvPr id="7" name="文本框 6"/>
          <p:cNvSpPr txBox="1"/>
          <p:nvPr/>
        </p:nvSpPr>
        <p:spPr>
          <a:xfrm>
            <a:off x="908685" y="1636395"/>
            <a:ext cx="7320915" cy="1198880"/>
          </a:xfrm>
          <a:prstGeom prst="rect">
            <a:avLst/>
          </a:prstGeom>
          <a:noFill/>
        </p:spPr>
        <p:txBody>
          <a:bodyPr wrap="square" rtlCol="0">
            <a:spAutoFit/>
          </a:bodyPr>
          <a:lstStyle/>
          <a:p>
            <a:r>
              <a:rPr lang="en-US" altLang="zh-CN" sz="2400" b="1" dirty="0">
                <a:solidFill>
                  <a:schemeClr val="tx1"/>
                </a:solidFill>
                <a:ea typeface="微软雅黑" panose="020B0503020204020204" charset="-122"/>
                <a:sym typeface="+mn-ea"/>
              </a:rPr>
              <a:t>                                                  202*</a:t>
            </a:r>
            <a:r>
              <a:rPr lang="zh-CN" altLang="en-US" sz="2400" b="1" dirty="0">
                <a:solidFill>
                  <a:schemeClr val="tx1"/>
                </a:solidFill>
                <a:latin typeface="微软雅黑 Light" panose="020B0502040204020203" pitchFamily="34" charset="-122"/>
                <a:ea typeface="微软雅黑 Light" panose="020B0502040204020203" pitchFamily="34" charset="-122"/>
                <a:sym typeface="+mn-ea"/>
              </a:rPr>
              <a:t>年</a:t>
            </a:r>
            <a:r>
              <a:rPr lang="en-US" altLang="zh-CN" sz="2400" b="1" dirty="0">
                <a:solidFill>
                  <a:schemeClr val="tx1"/>
                </a:solidFill>
                <a:ea typeface="微软雅黑" panose="020B0503020204020204" charset="-122"/>
                <a:sym typeface="+mn-ea"/>
              </a:rPr>
              <a:t>**</a:t>
            </a:r>
            <a:r>
              <a:rPr lang="zh-CN" altLang="en-US" sz="2400" b="1" dirty="0">
                <a:solidFill>
                  <a:schemeClr val="tx1"/>
                </a:solidFill>
                <a:latin typeface="微软雅黑 Light" panose="020B0502040204020203" pitchFamily="34" charset="-122"/>
                <a:ea typeface="微软雅黑 Light" panose="020B0502040204020203" pitchFamily="34" charset="-122"/>
                <a:sym typeface="+mn-ea"/>
              </a:rPr>
              <a:t>月份工资表</a:t>
            </a:r>
          </a:p>
          <a:p>
            <a:r>
              <a:rPr lang="zh-CN" altLang="en-US" sz="2400" dirty="0">
                <a:solidFill>
                  <a:schemeClr val="tx1"/>
                </a:solidFill>
                <a:latin typeface="Cambria" panose="02040503050406030204" pitchFamily="18" charset="0"/>
                <a:ea typeface="微软雅黑 Light" panose="020B0502040204020203" pitchFamily="34" charset="-122"/>
                <a:sym typeface="+mn-ea"/>
              </a:rPr>
              <a:t>部门：技术研发部</a:t>
            </a:r>
            <a:endParaRPr lang="zh-CN" altLang="en-US" sz="2400" dirty="0">
              <a:solidFill>
                <a:schemeClr val="tx1"/>
              </a:solidFill>
              <a:latin typeface="微软雅黑" panose="020B0503020204020204" charset="-122"/>
              <a:ea typeface="微软雅黑" panose="020B0503020204020204" charset="-122"/>
            </a:endParaRPr>
          </a:p>
          <a:p>
            <a:endParaRPr lang="zh-CN" altLang="en-US" sz="2400" dirty="0">
              <a:solidFill>
                <a:schemeClr val="tx1"/>
              </a:solidFill>
              <a:latin typeface="微软雅黑" panose="020B0503020204020204" charset="-122"/>
              <a:ea typeface="微软雅黑" panose="020B0503020204020204" charset="-122"/>
            </a:endParaRPr>
          </a:p>
        </p:txBody>
      </p:sp>
      <p:graphicFrame>
        <p:nvGraphicFramePr>
          <p:cNvPr id="10" name="表格 9"/>
          <p:cNvGraphicFramePr>
            <a:graphicFrameLocks noGrp="1"/>
          </p:cNvGraphicFramePr>
          <p:nvPr>
            <p:custDataLst>
              <p:tags r:id="rId1"/>
            </p:custDataLst>
          </p:nvPr>
        </p:nvGraphicFramePr>
        <p:xfrm>
          <a:off x="719244" y="2661073"/>
          <a:ext cx="10134600" cy="3367405"/>
        </p:xfrm>
        <a:graphic>
          <a:graphicData uri="http://schemas.openxmlformats.org/drawingml/2006/table">
            <a:tbl>
              <a:tblPr/>
              <a:tblGrid>
                <a:gridCol w="1689100">
                  <a:extLst>
                    <a:ext uri="{9D8B030D-6E8A-4147-A177-3AD203B41FA5}">
                      <a16:colId xmlns:a16="http://schemas.microsoft.com/office/drawing/2014/main" val="20000"/>
                    </a:ext>
                  </a:extLst>
                </a:gridCol>
                <a:gridCol w="1689100">
                  <a:extLst>
                    <a:ext uri="{9D8B030D-6E8A-4147-A177-3AD203B41FA5}">
                      <a16:colId xmlns:a16="http://schemas.microsoft.com/office/drawing/2014/main" val="20001"/>
                    </a:ext>
                  </a:extLst>
                </a:gridCol>
                <a:gridCol w="1689100">
                  <a:extLst>
                    <a:ext uri="{9D8B030D-6E8A-4147-A177-3AD203B41FA5}">
                      <a16:colId xmlns:a16="http://schemas.microsoft.com/office/drawing/2014/main" val="20002"/>
                    </a:ext>
                  </a:extLst>
                </a:gridCol>
                <a:gridCol w="1689100">
                  <a:extLst>
                    <a:ext uri="{9D8B030D-6E8A-4147-A177-3AD203B41FA5}">
                      <a16:colId xmlns:a16="http://schemas.microsoft.com/office/drawing/2014/main" val="20003"/>
                    </a:ext>
                  </a:extLst>
                </a:gridCol>
                <a:gridCol w="1414145">
                  <a:extLst>
                    <a:ext uri="{9D8B030D-6E8A-4147-A177-3AD203B41FA5}">
                      <a16:colId xmlns:a16="http://schemas.microsoft.com/office/drawing/2014/main" val="20004"/>
                    </a:ext>
                  </a:extLst>
                </a:gridCol>
                <a:gridCol w="1964055">
                  <a:extLst>
                    <a:ext uri="{9D8B030D-6E8A-4147-A177-3AD203B41FA5}">
                      <a16:colId xmlns:a16="http://schemas.microsoft.com/office/drawing/2014/main" val="20005"/>
                    </a:ext>
                  </a:extLst>
                </a:gridCol>
              </a:tblGrid>
              <a:tr h="484505">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735" b="1" i="0" u="none" strike="noStrike" cap="none" normalizeH="0" baseline="0" dirty="0">
                          <a:ln>
                            <a:noFill/>
                          </a:ln>
                          <a:solidFill>
                            <a:schemeClr val="tx1"/>
                          </a:solidFill>
                          <a:effectLst/>
                          <a:latin typeface="Calibri" panose="020F0502020204030204" charset="0"/>
                          <a:ea typeface="微软雅黑" panose="020B0503020204020204" charset="-122"/>
                          <a:cs typeface="Arial" panose="020B0604020202020204" pitchFamily="34" charset="0"/>
                        </a:rPr>
                        <a:t>序号</a:t>
                      </a:r>
                    </a:p>
                  </a:txBody>
                  <a:tcPr marL="12700" marR="12700" marT="12698"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alpha val="22000"/>
                      </a:srgbClr>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735" b="1" i="0" u="none" strike="noStrike" cap="none" normalizeH="0" baseline="0" dirty="0">
                          <a:ln>
                            <a:noFill/>
                          </a:ln>
                          <a:solidFill>
                            <a:schemeClr val="tx1"/>
                          </a:solidFill>
                          <a:effectLst/>
                          <a:latin typeface="Calibri" panose="020F0502020204030204" charset="0"/>
                          <a:ea typeface="微软雅黑" panose="020B0503020204020204" charset="-122"/>
                          <a:cs typeface="Arial" panose="020B0604020202020204" pitchFamily="34" charset="0"/>
                        </a:rPr>
                        <a:t>姓名</a:t>
                      </a:r>
                    </a:p>
                  </a:txBody>
                  <a:tcPr marL="12700" marR="12700" marT="12698"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alpha val="22000"/>
                      </a:srgbClr>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735" b="1" i="0" u="none" strike="noStrike" cap="none" normalizeH="0" baseline="0" dirty="0">
                          <a:ln>
                            <a:noFill/>
                          </a:ln>
                          <a:solidFill>
                            <a:schemeClr val="tx1"/>
                          </a:solidFill>
                          <a:effectLst/>
                          <a:latin typeface="Calibri" panose="020F0502020204030204" charset="0"/>
                          <a:ea typeface="微软雅黑" panose="020B0503020204020204" charset="-122"/>
                          <a:cs typeface="Arial" panose="020B0604020202020204" pitchFamily="34" charset="0"/>
                        </a:rPr>
                        <a:t>基本工资</a:t>
                      </a:r>
                    </a:p>
                  </a:txBody>
                  <a:tcPr marL="12700" marR="12700" marT="12698"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alpha val="22000"/>
                      </a:srgbClr>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735" b="1" i="0" u="none" strike="noStrike" cap="none" normalizeH="0" baseline="0" dirty="0">
                          <a:ln>
                            <a:noFill/>
                          </a:ln>
                          <a:solidFill>
                            <a:schemeClr val="tx1"/>
                          </a:solidFill>
                          <a:effectLst/>
                          <a:latin typeface="Calibri" panose="020F0502020204030204" charset="0"/>
                          <a:ea typeface="微软雅黑" panose="020B0503020204020204" charset="-122"/>
                          <a:cs typeface="Arial" panose="020B0604020202020204" pitchFamily="34" charset="0"/>
                        </a:rPr>
                        <a:t>岗位补贴</a:t>
                      </a:r>
                    </a:p>
                  </a:txBody>
                  <a:tcPr marL="12700" marR="12700" marT="12698"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alpha val="22000"/>
                      </a:srgbClr>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zh-CN" sz="1735" b="1" i="0" u="none" strike="noStrike" cap="none" normalizeH="0" baseline="0" dirty="0">
                          <a:ln>
                            <a:noFill/>
                          </a:ln>
                          <a:solidFill>
                            <a:schemeClr val="tx1"/>
                          </a:solidFill>
                          <a:effectLst/>
                          <a:latin typeface="Calibri" panose="020F0502020204030204" charset="0"/>
                          <a:ea typeface="微软雅黑" panose="020B0503020204020204" charset="-122"/>
                          <a:cs typeface="Arial" panose="020B0604020202020204" pitchFamily="34" charset="0"/>
                        </a:rPr>
                        <a:t>……</a:t>
                      </a:r>
                    </a:p>
                  </a:txBody>
                  <a:tcPr marL="12700" marR="12700" marT="12698"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alpha val="22000"/>
                      </a:srgbClr>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735" b="1" i="0" u="none" strike="noStrike" cap="none" normalizeH="0" baseline="0" dirty="0">
                          <a:ln>
                            <a:noFill/>
                          </a:ln>
                          <a:solidFill>
                            <a:schemeClr val="tx1"/>
                          </a:solidFill>
                          <a:effectLst/>
                          <a:latin typeface="Calibri" panose="020F0502020204030204" charset="0"/>
                          <a:ea typeface="微软雅黑" panose="020B0503020204020204" charset="-122"/>
                          <a:cs typeface="Arial" panose="020B0604020202020204" pitchFamily="34" charset="0"/>
                        </a:rPr>
                        <a:t>应发工资合计</a:t>
                      </a:r>
                    </a:p>
                  </a:txBody>
                  <a:tcPr marL="12700" marR="12700" marT="12698"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alpha val="22000"/>
                      </a:srgbClr>
                    </a:solidFill>
                  </a:tcPr>
                </a:tc>
                <a:extLst>
                  <a:ext uri="{0D108BD9-81ED-4DB2-BD59-A6C34878D82A}">
                    <a16:rowId xmlns:a16="http://schemas.microsoft.com/office/drawing/2014/main" val="10000"/>
                  </a:ext>
                </a:extLst>
              </a:tr>
              <a:tr h="459105">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en-US" altLang="zh-CN" sz="1735" b="1"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1</a:t>
                      </a:r>
                    </a:p>
                  </a:txBody>
                  <a:tcPr marL="12700" marR="12700" marT="12698"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735" b="1" i="0" u="none" strike="noStrike" cap="none" normalizeH="0" baseline="0" dirty="0">
                          <a:ln>
                            <a:noFill/>
                          </a:ln>
                          <a:solidFill>
                            <a:schemeClr val="tx1"/>
                          </a:solidFill>
                          <a:effectLst/>
                          <a:latin typeface="Calibri" panose="020F0502020204030204" charset="0"/>
                          <a:ea typeface="微软雅黑" panose="020B0503020204020204" charset="-122"/>
                          <a:cs typeface="Arial" panose="020B0604020202020204" pitchFamily="34" charset="0"/>
                        </a:rPr>
                        <a:t>张三</a:t>
                      </a:r>
                    </a:p>
                  </a:txBody>
                  <a:tcPr marL="12700" marR="12700" marT="12698"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en-US" altLang="zh-CN" sz="1735" b="1"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3000</a:t>
                      </a:r>
                    </a:p>
                  </a:txBody>
                  <a:tcPr marL="12700" marR="12700" marT="12698"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en-US" altLang="zh-CN" sz="1735" b="1"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800</a:t>
                      </a:r>
                    </a:p>
                  </a:txBody>
                  <a:tcPr marL="12700" marR="12700" marT="12698"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735" b="1" i="0" u="none" strike="noStrike" cap="none" normalizeH="0" baseline="0" dirty="0">
                          <a:ln>
                            <a:noFill/>
                          </a:ln>
                          <a:solidFill>
                            <a:schemeClr val="tx1"/>
                          </a:solidFill>
                          <a:effectLst/>
                          <a:latin typeface="Calibri" panose="020F0502020204030204" charset="0"/>
                          <a:ea typeface="微软雅黑" panose="020B0503020204020204" charset="-122"/>
                          <a:cs typeface="Arial" panose="020B0604020202020204" pitchFamily="34" charset="0"/>
                        </a:rPr>
                        <a:t>　</a:t>
                      </a:r>
                    </a:p>
                  </a:txBody>
                  <a:tcPr marL="12700" marR="12700" marT="12698"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en-US" altLang="zh-CN" sz="1735" b="1"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3800</a:t>
                      </a:r>
                    </a:p>
                  </a:txBody>
                  <a:tcPr marL="12700" marR="12700" marT="12698"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85140">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en-US" altLang="zh-CN" sz="1735" b="1"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2</a:t>
                      </a:r>
                    </a:p>
                  </a:txBody>
                  <a:tcPr marL="12700" marR="12700" marT="12698"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735" b="1" i="0" u="none" strike="noStrike" cap="none" normalizeH="0" baseline="0" dirty="0">
                          <a:ln>
                            <a:noFill/>
                          </a:ln>
                          <a:solidFill>
                            <a:schemeClr val="tx1"/>
                          </a:solidFill>
                          <a:effectLst/>
                          <a:latin typeface="Calibri" panose="020F0502020204030204" charset="0"/>
                          <a:ea typeface="微软雅黑" panose="020B0503020204020204" charset="-122"/>
                          <a:cs typeface="Arial" panose="020B0604020202020204" pitchFamily="34" charset="0"/>
                        </a:rPr>
                        <a:t>李四</a:t>
                      </a:r>
                    </a:p>
                  </a:txBody>
                  <a:tcPr marL="12700" marR="12700" marT="12698"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en-US" altLang="zh-CN" sz="1735" b="1"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2800</a:t>
                      </a:r>
                    </a:p>
                  </a:txBody>
                  <a:tcPr marL="12700" marR="12700" marT="12698"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en-US" altLang="zh-CN" sz="1735" b="1"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900</a:t>
                      </a:r>
                    </a:p>
                  </a:txBody>
                  <a:tcPr marL="12700" marR="12700" marT="12698"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735" b="1" i="0" u="none" strike="noStrike" cap="none" normalizeH="0" baseline="0" dirty="0">
                          <a:ln>
                            <a:noFill/>
                          </a:ln>
                          <a:solidFill>
                            <a:schemeClr val="tx1"/>
                          </a:solidFill>
                          <a:effectLst/>
                          <a:latin typeface="Calibri" panose="020F0502020204030204" charset="0"/>
                          <a:ea typeface="微软雅黑" panose="020B0503020204020204" charset="-122"/>
                          <a:cs typeface="Arial" panose="020B0604020202020204" pitchFamily="34" charset="0"/>
                        </a:rPr>
                        <a:t>　</a:t>
                      </a:r>
                    </a:p>
                  </a:txBody>
                  <a:tcPr marL="12700" marR="12700" marT="12698"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en-US" altLang="zh-CN" sz="1735" b="1"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3700</a:t>
                      </a:r>
                    </a:p>
                  </a:txBody>
                  <a:tcPr marL="12700" marR="12700" marT="12698"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84505">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en-US" altLang="zh-CN" sz="1735" b="1"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3</a:t>
                      </a:r>
                    </a:p>
                  </a:txBody>
                  <a:tcPr marL="12700" marR="12700" marT="12698"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735" b="1" i="0" u="none" strike="noStrike" cap="none" normalizeH="0" baseline="0" dirty="0">
                          <a:ln>
                            <a:noFill/>
                          </a:ln>
                          <a:solidFill>
                            <a:schemeClr val="tx1"/>
                          </a:solidFill>
                          <a:effectLst/>
                          <a:latin typeface="Calibri" panose="020F0502020204030204" charset="0"/>
                          <a:ea typeface="微软雅黑" panose="020B0503020204020204" charset="-122"/>
                          <a:cs typeface="Arial" panose="020B0604020202020204" pitchFamily="34" charset="0"/>
                        </a:rPr>
                        <a:t>王五</a:t>
                      </a:r>
                    </a:p>
                  </a:txBody>
                  <a:tcPr marL="12700" marR="12700" marT="12698"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en-US" altLang="zh-CN" sz="1735" b="1"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5000</a:t>
                      </a:r>
                    </a:p>
                  </a:txBody>
                  <a:tcPr marL="12700" marR="12700" marT="12698"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en-US" altLang="zh-CN" sz="1735" b="1"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1000</a:t>
                      </a:r>
                    </a:p>
                  </a:txBody>
                  <a:tcPr marL="12700" marR="12700" marT="12698"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735" b="1" i="0" u="none" strike="noStrike" cap="none" normalizeH="0" baseline="0" dirty="0">
                          <a:ln>
                            <a:noFill/>
                          </a:ln>
                          <a:solidFill>
                            <a:schemeClr val="tx1"/>
                          </a:solidFill>
                          <a:effectLst/>
                          <a:latin typeface="Calibri" panose="020F0502020204030204" charset="0"/>
                          <a:ea typeface="微软雅黑" panose="020B0503020204020204" charset="-122"/>
                          <a:cs typeface="Arial" panose="020B0604020202020204" pitchFamily="34" charset="0"/>
                        </a:rPr>
                        <a:t>　</a:t>
                      </a:r>
                    </a:p>
                  </a:txBody>
                  <a:tcPr marL="12700" marR="12700" marT="12698"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en-US" altLang="zh-CN" sz="1735" b="1"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6000</a:t>
                      </a:r>
                    </a:p>
                  </a:txBody>
                  <a:tcPr marL="12700" marR="12700" marT="12698"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85140">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en-US" altLang="zh-CN" sz="1735" b="1"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4</a:t>
                      </a:r>
                    </a:p>
                  </a:txBody>
                  <a:tcPr marL="12700" marR="12700" marT="12698"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735" b="1" i="0" u="none" strike="noStrike" cap="none" normalizeH="0" baseline="0" dirty="0">
                          <a:ln>
                            <a:noFill/>
                          </a:ln>
                          <a:solidFill>
                            <a:schemeClr val="tx1"/>
                          </a:solidFill>
                          <a:effectLst/>
                          <a:latin typeface="Calibri" panose="020F0502020204030204" charset="0"/>
                          <a:ea typeface="微软雅黑" panose="020B0503020204020204" charset="-122"/>
                          <a:cs typeface="Arial" panose="020B0604020202020204" pitchFamily="34" charset="0"/>
                        </a:rPr>
                        <a:t>赵六</a:t>
                      </a:r>
                    </a:p>
                  </a:txBody>
                  <a:tcPr marL="12700" marR="12700" marT="12698"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en-US" altLang="zh-CN" sz="1735" b="1"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4000</a:t>
                      </a:r>
                    </a:p>
                  </a:txBody>
                  <a:tcPr marL="12700" marR="12700" marT="12698"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en-US" altLang="zh-CN" sz="1735" b="1"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1000</a:t>
                      </a:r>
                    </a:p>
                  </a:txBody>
                  <a:tcPr marL="12700" marR="12700" marT="12698"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735" b="1" i="0" u="none" strike="noStrike" cap="none" normalizeH="0" baseline="0" dirty="0">
                          <a:ln>
                            <a:noFill/>
                          </a:ln>
                          <a:solidFill>
                            <a:schemeClr val="tx1"/>
                          </a:solidFill>
                          <a:effectLst/>
                          <a:latin typeface="Calibri" panose="020F0502020204030204" charset="0"/>
                          <a:ea typeface="微软雅黑" panose="020B0503020204020204" charset="-122"/>
                          <a:cs typeface="Arial" panose="020B0604020202020204" pitchFamily="34" charset="0"/>
                        </a:rPr>
                        <a:t>　</a:t>
                      </a:r>
                    </a:p>
                  </a:txBody>
                  <a:tcPr marL="12700" marR="12700" marT="12698"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en-US" altLang="zh-CN" sz="1735" b="1"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5000</a:t>
                      </a:r>
                    </a:p>
                  </a:txBody>
                  <a:tcPr marL="12700" marR="12700" marT="12698"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83870">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en-US" altLang="zh-CN" sz="1735" b="1" i="0" u="none" strike="noStrike" cap="none" normalizeH="0" baseline="0" dirty="0">
                          <a:ln>
                            <a:noFill/>
                          </a:ln>
                          <a:solidFill>
                            <a:schemeClr val="tx1"/>
                          </a:solidFill>
                          <a:effectLst/>
                          <a:latin typeface="Calibri" panose="020F0502020204030204" charset="0"/>
                          <a:ea typeface="微软雅黑" panose="020B0503020204020204" charset="-122"/>
                          <a:cs typeface="Arial" panose="020B0604020202020204" pitchFamily="34" charset="0"/>
                        </a:rPr>
                        <a:t>5</a:t>
                      </a:r>
                    </a:p>
                  </a:txBody>
                  <a:tcPr marL="12700" marR="12700" marT="12698"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zh-CN" sz="1735" b="1" i="0" u="none" strike="noStrike" cap="none" normalizeH="0" baseline="0" dirty="0">
                          <a:ln>
                            <a:noFill/>
                          </a:ln>
                          <a:solidFill>
                            <a:schemeClr val="tx1"/>
                          </a:solidFill>
                          <a:effectLst/>
                          <a:latin typeface="Calibri" panose="020F0502020204030204" charset="0"/>
                          <a:ea typeface="微软雅黑" panose="020B0503020204020204" charset="-122"/>
                          <a:cs typeface="Arial" panose="020B0604020202020204" pitchFamily="34" charset="0"/>
                        </a:rPr>
                        <a:t>……</a:t>
                      </a:r>
                    </a:p>
                  </a:txBody>
                  <a:tcPr marL="12700" marR="12700" marT="12698"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735" b="1" i="0" u="none" strike="noStrike" cap="none" normalizeH="0" baseline="0" dirty="0">
                          <a:ln>
                            <a:noFill/>
                          </a:ln>
                          <a:solidFill>
                            <a:schemeClr val="tx1"/>
                          </a:solidFill>
                          <a:effectLst/>
                          <a:latin typeface="Calibri" panose="020F0502020204030204" charset="0"/>
                          <a:ea typeface="微软雅黑" panose="020B0503020204020204" charset="-122"/>
                          <a:cs typeface="Arial" panose="020B0604020202020204" pitchFamily="34" charset="0"/>
                        </a:rPr>
                        <a:t>　</a:t>
                      </a:r>
                    </a:p>
                  </a:txBody>
                  <a:tcPr marL="12700" marR="12700" marT="12698"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735" b="1" i="0" u="none" strike="noStrike" cap="none" normalizeH="0" baseline="0" dirty="0">
                          <a:ln>
                            <a:noFill/>
                          </a:ln>
                          <a:solidFill>
                            <a:schemeClr val="tx1"/>
                          </a:solidFill>
                          <a:effectLst/>
                          <a:latin typeface="Calibri" panose="020F0502020204030204" charset="0"/>
                          <a:ea typeface="微软雅黑" panose="020B0503020204020204" charset="-122"/>
                          <a:cs typeface="Arial" panose="020B0604020202020204" pitchFamily="34" charset="0"/>
                        </a:rPr>
                        <a:t>　</a:t>
                      </a:r>
                    </a:p>
                  </a:txBody>
                  <a:tcPr marL="12700" marR="12700" marT="12698"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735" b="1" i="0" u="none" strike="noStrike" cap="none" normalizeH="0" baseline="0" dirty="0">
                          <a:ln>
                            <a:noFill/>
                          </a:ln>
                          <a:solidFill>
                            <a:schemeClr val="tx1"/>
                          </a:solidFill>
                          <a:effectLst/>
                          <a:latin typeface="Calibri" panose="020F0502020204030204" charset="0"/>
                          <a:ea typeface="微软雅黑" panose="020B0503020204020204" charset="-122"/>
                          <a:cs typeface="Arial" panose="020B0604020202020204" pitchFamily="34" charset="0"/>
                        </a:rPr>
                        <a:t>　</a:t>
                      </a:r>
                    </a:p>
                  </a:txBody>
                  <a:tcPr marL="12700" marR="12700" marT="12698"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735" b="1" i="0" u="none" strike="noStrike" cap="none" normalizeH="0" baseline="0" dirty="0">
                          <a:ln>
                            <a:noFill/>
                          </a:ln>
                          <a:solidFill>
                            <a:schemeClr val="tx1"/>
                          </a:solidFill>
                          <a:effectLst/>
                          <a:latin typeface="Calibri" panose="020F0502020204030204" charset="0"/>
                          <a:ea typeface="微软雅黑" panose="020B0503020204020204" charset="-122"/>
                          <a:cs typeface="Arial" panose="020B0604020202020204" pitchFamily="34" charset="0"/>
                        </a:rPr>
                        <a:t>　</a:t>
                      </a:r>
                    </a:p>
                  </a:txBody>
                  <a:tcPr marL="12700" marR="12700" marT="12698"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85140">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735" b="1" i="0" u="none" strike="noStrike" cap="none" normalizeH="0" baseline="0" dirty="0">
                          <a:ln>
                            <a:noFill/>
                          </a:ln>
                          <a:solidFill>
                            <a:schemeClr val="tx1"/>
                          </a:solidFill>
                          <a:effectLst/>
                          <a:latin typeface="Calibri" panose="020F0502020204030204" charset="0"/>
                          <a:ea typeface="微软雅黑" panose="020B0503020204020204" charset="-122"/>
                          <a:cs typeface="Arial" panose="020B0604020202020204" pitchFamily="34" charset="0"/>
                        </a:rPr>
                        <a:t>　</a:t>
                      </a:r>
                    </a:p>
                  </a:txBody>
                  <a:tcPr marL="12700" marR="12700" marT="12698"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735" b="1" i="0" u="none" strike="noStrike" cap="none" normalizeH="0" baseline="0" dirty="0">
                          <a:ln>
                            <a:noFill/>
                          </a:ln>
                          <a:solidFill>
                            <a:schemeClr val="tx1"/>
                          </a:solidFill>
                          <a:effectLst/>
                          <a:latin typeface="Calibri" panose="020F0502020204030204" charset="0"/>
                          <a:ea typeface="微软雅黑" panose="020B0503020204020204" charset="-122"/>
                          <a:cs typeface="Arial" panose="020B0604020202020204" pitchFamily="34" charset="0"/>
                        </a:rPr>
                        <a:t>合计</a:t>
                      </a:r>
                    </a:p>
                  </a:txBody>
                  <a:tcPr marL="12700" marR="12700" marT="12698"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en-US" altLang="zh-CN" sz="1735" b="1"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14800</a:t>
                      </a:r>
                    </a:p>
                  </a:txBody>
                  <a:tcPr marL="12700" marR="12700" marT="12698"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en-US" altLang="zh-CN" sz="1735" b="1"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3700</a:t>
                      </a:r>
                    </a:p>
                  </a:txBody>
                  <a:tcPr marL="12700" marR="12700" marT="12698"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735" b="1" i="0" u="none" strike="noStrike" cap="none" normalizeH="0" baseline="0" dirty="0">
                          <a:ln>
                            <a:noFill/>
                          </a:ln>
                          <a:solidFill>
                            <a:schemeClr val="tx1"/>
                          </a:solidFill>
                          <a:effectLst/>
                          <a:latin typeface="Calibri" panose="020F0502020204030204" charset="0"/>
                          <a:ea typeface="微软雅黑" panose="020B0503020204020204" charset="-122"/>
                          <a:cs typeface="Arial" panose="020B0604020202020204" pitchFamily="34" charset="0"/>
                        </a:rPr>
                        <a:t>　</a:t>
                      </a:r>
                    </a:p>
                  </a:txBody>
                  <a:tcPr marL="12700" marR="12700" marT="12698"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en-US" altLang="zh-CN" sz="1735" b="1"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18500</a:t>
                      </a:r>
                    </a:p>
                  </a:txBody>
                  <a:tcPr marL="12700" marR="12700" marT="12698"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 0" descr="https://kimi-img.moonshot.cn/pub/slides/slides_tmpl/image/25-09-04-11:33:06-d2sggsm1bb2p4onbon10.jpg"/>
          <p:cNvPicPr>
            <a:picLocks noChangeAspect="1"/>
          </p:cNvPicPr>
          <p:nvPr/>
        </p:nvPicPr>
        <p:blipFill>
          <a:blip r:embed="rId4"/>
          <a:stretch>
            <a:fillRect/>
          </a:stretch>
        </p:blipFill>
        <p:spPr>
          <a:xfrm>
            <a:off x="0" y="0"/>
            <a:ext cx="12192000" cy="6858000"/>
          </a:xfrm>
          <a:prstGeom prst="rect">
            <a:avLst/>
          </a:prstGeom>
        </p:spPr>
      </p:pic>
      <p:cxnSp>
        <p:nvCxnSpPr>
          <p:cNvPr id="5" name="直接连接符 4"/>
          <p:cNvCxnSpPr/>
          <p:nvPr/>
        </p:nvCxnSpPr>
        <p:spPr>
          <a:xfrm>
            <a:off x="2619061" y="644689"/>
            <a:ext cx="1920213" cy="0"/>
          </a:xfrm>
          <a:prstGeom prst="line">
            <a:avLst/>
          </a:prstGeom>
          <a:ln>
            <a:gradFill flip="none" rotWithShape="1">
              <a:gsLst>
                <a:gs pos="0">
                  <a:schemeClr val="bg1">
                    <a:alpha val="0"/>
                  </a:schemeClr>
                </a:gs>
                <a:gs pos="100000">
                  <a:schemeClr val="bg1"/>
                </a:gs>
              </a:gsLst>
              <a:lin ang="0" scaled="1"/>
              <a:tileRect/>
            </a:gradFill>
            <a:tailEnd type="oval"/>
          </a:ln>
        </p:spPr>
        <p:style>
          <a:lnRef idx="1">
            <a:schemeClr val="accent1"/>
          </a:lnRef>
          <a:fillRef idx="0">
            <a:schemeClr val="accent1"/>
          </a:fillRef>
          <a:effectRef idx="0">
            <a:schemeClr val="accent1"/>
          </a:effectRef>
          <a:fontRef idx="minor">
            <a:schemeClr val="tx1"/>
          </a:fontRef>
        </p:style>
      </p:cxnSp>
      <p:sp>
        <p:nvSpPr>
          <p:cNvPr id="14" name="TextBox 1"/>
          <p:cNvSpPr txBox="1"/>
          <p:nvPr/>
        </p:nvSpPr>
        <p:spPr>
          <a:xfrm>
            <a:off x="3579168" y="380600"/>
            <a:ext cx="4992555" cy="534035"/>
          </a:xfrm>
          <a:prstGeom prst="rect">
            <a:avLst/>
          </a:prstGeom>
          <a:noFill/>
        </p:spPr>
        <p:txBody>
          <a:bodyPr wrap="square" rtlCol="0">
            <a:spAutoFit/>
          </a:bodyPr>
          <a:lstStyle/>
          <a:p>
            <a:pPr algn="ctr" defTabSz="431800">
              <a:lnSpc>
                <a:spcPct val="120000"/>
              </a:lnSpc>
              <a:defRPr/>
            </a:pPr>
            <a:r>
              <a:rPr lang="zh-CN" sz="2400" b="1" kern="0" dirty="0">
                <a:solidFill>
                  <a:schemeClr val="tx1"/>
                </a:solidFill>
                <a:latin typeface="Arial" panose="020B0604020202020204" pitchFamily="34" charset="0"/>
                <a:ea typeface="微软雅黑" panose="020B0503020204020204" charset="-122"/>
                <a:cs typeface="Arial" panose="020B0604020202020204" pitchFamily="34" charset="0"/>
              </a:rPr>
              <a:t>研发费用</a:t>
            </a:r>
            <a:r>
              <a:rPr lang="en-US" altLang="zh-CN" sz="2400" b="1" kern="0" dirty="0">
                <a:solidFill>
                  <a:schemeClr val="tx1"/>
                </a:solidFill>
                <a:latin typeface="Arial" panose="020B0604020202020204" pitchFamily="34" charset="0"/>
                <a:ea typeface="微软雅黑" panose="020B0503020204020204" charset="-122"/>
                <a:cs typeface="Arial" panose="020B0604020202020204" pitchFamily="34" charset="0"/>
              </a:rPr>
              <a:t>“</a:t>
            </a:r>
            <a:r>
              <a:rPr lang="zh-CN" sz="2400" b="1" kern="0" dirty="0">
                <a:solidFill>
                  <a:schemeClr val="tx1"/>
                </a:solidFill>
                <a:latin typeface="Arial" panose="020B0604020202020204" pitchFamily="34" charset="0"/>
                <a:ea typeface="微软雅黑" panose="020B0503020204020204" charset="-122"/>
                <a:cs typeface="Arial" panose="020B0604020202020204" pitchFamily="34" charset="0"/>
              </a:rPr>
              <a:t>合理</a:t>
            </a:r>
            <a:r>
              <a:rPr lang="en-US" altLang="zh-CN" sz="2400" b="1" kern="0" dirty="0">
                <a:solidFill>
                  <a:schemeClr val="tx1"/>
                </a:solidFill>
                <a:latin typeface="Arial" panose="020B0604020202020204" pitchFamily="34" charset="0"/>
                <a:ea typeface="微软雅黑" panose="020B0503020204020204" charset="-122"/>
                <a:cs typeface="Arial" panose="020B0604020202020204" pitchFamily="34" charset="0"/>
              </a:rPr>
              <a:t>”</a:t>
            </a:r>
            <a:r>
              <a:rPr lang="zh-CN" sz="2400" b="1" kern="0" dirty="0">
                <a:solidFill>
                  <a:schemeClr val="tx1"/>
                </a:solidFill>
                <a:latin typeface="Arial" panose="020B0604020202020204" pitchFamily="34" charset="0"/>
                <a:ea typeface="微软雅黑" panose="020B0503020204020204" charset="-122"/>
                <a:cs typeface="Arial" panose="020B0604020202020204" pitchFamily="34" charset="0"/>
              </a:rPr>
              <a:t>归集</a:t>
            </a:r>
          </a:p>
        </p:txBody>
      </p:sp>
      <p:cxnSp>
        <p:nvCxnSpPr>
          <p:cNvPr id="15" name="直接连接符 14"/>
          <p:cNvCxnSpPr/>
          <p:nvPr/>
        </p:nvCxnSpPr>
        <p:spPr>
          <a:xfrm flipH="1">
            <a:off x="7611616" y="644689"/>
            <a:ext cx="1920213" cy="0"/>
          </a:xfrm>
          <a:prstGeom prst="line">
            <a:avLst/>
          </a:prstGeom>
          <a:ln>
            <a:gradFill flip="none" rotWithShape="1">
              <a:gsLst>
                <a:gs pos="0">
                  <a:schemeClr val="bg1">
                    <a:alpha val="0"/>
                  </a:schemeClr>
                </a:gs>
                <a:gs pos="100000">
                  <a:schemeClr val="bg1"/>
                </a:gs>
              </a:gsLst>
              <a:lin ang="0" scaled="1"/>
              <a:tileRect/>
            </a:gradFill>
            <a:tailEnd type="oval"/>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527473" y="2870200"/>
            <a:ext cx="10638367" cy="1120140"/>
          </a:xfrm>
          <a:prstGeom prst="rect">
            <a:avLst/>
          </a:prstGeom>
          <a:noFill/>
        </p:spPr>
        <p:txBody>
          <a:bodyPr wrap="square" rtlCol="0">
            <a:noAutofit/>
          </a:bodyPr>
          <a:lstStyle/>
          <a:p>
            <a:pPr algn="l"/>
            <a:endParaRPr lang="en-US" altLang="zh-CN" sz="2400" dirty="0">
              <a:solidFill>
                <a:schemeClr val="tx1"/>
              </a:solidFill>
              <a:ea typeface="微软雅黑" panose="020B0503020204020204" charset="-122"/>
              <a:sym typeface="+mn-ea"/>
            </a:endParaRPr>
          </a:p>
          <a:p>
            <a:pPr algn="l"/>
            <a:r>
              <a:rPr lang="en-US" altLang="zh-CN" sz="2400" dirty="0">
                <a:solidFill>
                  <a:schemeClr val="tx1"/>
                </a:solidFill>
                <a:ea typeface="微软雅黑" panose="020B0503020204020204" charset="-122"/>
                <a:sym typeface="+mn-ea"/>
              </a:rPr>
              <a:t>      </a:t>
            </a:r>
          </a:p>
          <a:p>
            <a:pPr algn="l"/>
            <a:endParaRPr lang="en-US" altLang="zh-CN" sz="2400" dirty="0">
              <a:solidFill>
                <a:schemeClr val="tx1"/>
              </a:solidFill>
              <a:ea typeface="微软雅黑" panose="020B0503020204020204" charset="-122"/>
              <a:sym typeface="+mn-ea"/>
            </a:endParaRPr>
          </a:p>
          <a:p>
            <a:pPr algn="l"/>
            <a:endParaRPr lang="en-US" altLang="zh-CN" sz="2400" dirty="0">
              <a:solidFill>
                <a:schemeClr val="tx1"/>
              </a:solidFill>
              <a:ea typeface="微软雅黑" panose="020B0503020204020204" charset="-122"/>
              <a:sym typeface="+mn-ea"/>
            </a:endParaRPr>
          </a:p>
        </p:txBody>
      </p:sp>
      <p:sp>
        <p:nvSpPr>
          <p:cNvPr id="4" name="文本框 3"/>
          <p:cNvSpPr txBox="1"/>
          <p:nvPr/>
        </p:nvSpPr>
        <p:spPr>
          <a:xfrm>
            <a:off x="825500" y="1192107"/>
            <a:ext cx="2732193" cy="460375"/>
          </a:xfrm>
          <a:prstGeom prst="rect">
            <a:avLst/>
          </a:prstGeom>
          <a:noFill/>
        </p:spPr>
        <p:txBody>
          <a:bodyPr wrap="square" rtlCol="0">
            <a:spAutoFit/>
          </a:bodyPr>
          <a:lstStyle/>
          <a:p>
            <a:r>
              <a:rPr lang="zh-CN" altLang="en-US" sz="2400" dirty="0">
                <a:solidFill>
                  <a:schemeClr val="tx1"/>
                </a:solidFill>
                <a:ea typeface="微软雅黑" panose="020B0503020204020204" charset="-122"/>
              </a:rPr>
              <a:t>人员人工（表样二）</a:t>
            </a:r>
          </a:p>
        </p:txBody>
      </p:sp>
      <p:sp>
        <p:nvSpPr>
          <p:cNvPr id="7" name="文本框 6"/>
          <p:cNvSpPr txBox="1"/>
          <p:nvPr/>
        </p:nvSpPr>
        <p:spPr>
          <a:xfrm>
            <a:off x="1069975" y="1636395"/>
            <a:ext cx="7159625" cy="1198880"/>
          </a:xfrm>
          <a:prstGeom prst="rect">
            <a:avLst/>
          </a:prstGeom>
          <a:noFill/>
        </p:spPr>
        <p:txBody>
          <a:bodyPr wrap="square" rtlCol="0">
            <a:spAutoFit/>
          </a:bodyPr>
          <a:lstStyle/>
          <a:p>
            <a:r>
              <a:rPr lang="en-US" altLang="zh-CN" sz="2400" b="1" dirty="0">
                <a:solidFill>
                  <a:schemeClr val="tx1"/>
                </a:solidFill>
                <a:ea typeface="微软雅黑" panose="020B0503020204020204" charset="-122"/>
                <a:sym typeface="+mn-ea"/>
              </a:rPr>
              <a:t>                                                  202*</a:t>
            </a:r>
            <a:r>
              <a:rPr lang="zh-CN" altLang="en-US" sz="2400" b="1" dirty="0">
                <a:solidFill>
                  <a:schemeClr val="tx1"/>
                </a:solidFill>
                <a:latin typeface="微软雅黑 Light" panose="020B0502040204020203" pitchFamily="34" charset="-122"/>
                <a:ea typeface="微软雅黑 Light" panose="020B0502040204020203" pitchFamily="34" charset="-122"/>
                <a:sym typeface="+mn-ea"/>
              </a:rPr>
              <a:t>年</a:t>
            </a:r>
            <a:r>
              <a:rPr lang="en-US" altLang="zh-CN" sz="2400" b="1" dirty="0">
                <a:solidFill>
                  <a:schemeClr val="tx1"/>
                </a:solidFill>
                <a:ea typeface="微软雅黑" panose="020B0503020204020204" charset="-122"/>
                <a:sym typeface="+mn-ea"/>
              </a:rPr>
              <a:t>**</a:t>
            </a:r>
            <a:r>
              <a:rPr lang="zh-CN" altLang="en-US" sz="2400" b="1" dirty="0">
                <a:solidFill>
                  <a:schemeClr val="tx1"/>
                </a:solidFill>
                <a:latin typeface="微软雅黑 Light" panose="020B0502040204020203" pitchFamily="34" charset="-122"/>
                <a:ea typeface="微软雅黑 Light" panose="020B0502040204020203" pitchFamily="34" charset="-122"/>
                <a:sym typeface="+mn-ea"/>
              </a:rPr>
              <a:t>月份考勤表</a:t>
            </a:r>
          </a:p>
          <a:p>
            <a:r>
              <a:rPr lang="zh-CN" altLang="en-US" sz="2400" dirty="0">
                <a:solidFill>
                  <a:schemeClr val="tx1"/>
                </a:solidFill>
                <a:latin typeface="Cambria" panose="02040503050406030204" pitchFamily="18" charset="0"/>
                <a:ea typeface="微软雅黑 Light" panose="020B0502040204020203" pitchFamily="34" charset="-122"/>
                <a:sym typeface="+mn-ea"/>
              </a:rPr>
              <a:t>部门：技术研发部</a:t>
            </a:r>
            <a:endParaRPr lang="zh-CN" altLang="en-US" sz="2400" dirty="0">
              <a:solidFill>
                <a:schemeClr val="tx1"/>
              </a:solidFill>
              <a:latin typeface="微软雅黑" panose="020B0503020204020204" charset="-122"/>
              <a:ea typeface="微软雅黑" panose="020B0503020204020204" charset="-122"/>
            </a:endParaRPr>
          </a:p>
          <a:p>
            <a:endParaRPr lang="zh-CN" altLang="en-US" sz="2400" dirty="0">
              <a:solidFill>
                <a:schemeClr val="tx1"/>
              </a:solidFill>
              <a:latin typeface="微软雅黑" panose="020B0503020204020204" charset="-122"/>
              <a:ea typeface="微软雅黑" panose="020B0503020204020204" charset="-122"/>
            </a:endParaRPr>
          </a:p>
        </p:txBody>
      </p:sp>
      <p:graphicFrame>
        <p:nvGraphicFramePr>
          <p:cNvPr id="52305" name="Group 81"/>
          <p:cNvGraphicFramePr>
            <a:graphicFrameLocks noGrp="1"/>
          </p:cNvGraphicFramePr>
          <p:nvPr>
            <p:custDataLst>
              <p:tags r:id="rId1"/>
            </p:custDataLst>
          </p:nvPr>
        </p:nvGraphicFramePr>
        <p:xfrm>
          <a:off x="1007533" y="2564553"/>
          <a:ext cx="9213215" cy="3571240"/>
        </p:xfrm>
        <a:graphic>
          <a:graphicData uri="http://schemas.openxmlformats.org/drawingml/2006/table">
            <a:tbl>
              <a:tblPr/>
              <a:tblGrid>
                <a:gridCol w="972820">
                  <a:extLst>
                    <a:ext uri="{9D8B030D-6E8A-4147-A177-3AD203B41FA5}">
                      <a16:colId xmlns:a16="http://schemas.microsoft.com/office/drawing/2014/main" val="20000"/>
                    </a:ext>
                  </a:extLst>
                </a:gridCol>
                <a:gridCol w="1214755">
                  <a:extLst>
                    <a:ext uri="{9D8B030D-6E8A-4147-A177-3AD203B41FA5}">
                      <a16:colId xmlns:a16="http://schemas.microsoft.com/office/drawing/2014/main" val="20001"/>
                    </a:ext>
                  </a:extLst>
                </a:gridCol>
                <a:gridCol w="1612900">
                  <a:extLst>
                    <a:ext uri="{9D8B030D-6E8A-4147-A177-3AD203B41FA5}">
                      <a16:colId xmlns:a16="http://schemas.microsoft.com/office/drawing/2014/main" val="20002"/>
                    </a:ext>
                  </a:extLst>
                </a:gridCol>
                <a:gridCol w="1384300">
                  <a:extLst>
                    <a:ext uri="{9D8B030D-6E8A-4147-A177-3AD203B41FA5}">
                      <a16:colId xmlns:a16="http://schemas.microsoft.com/office/drawing/2014/main" val="20003"/>
                    </a:ext>
                  </a:extLst>
                </a:gridCol>
                <a:gridCol w="1213485">
                  <a:extLst>
                    <a:ext uri="{9D8B030D-6E8A-4147-A177-3AD203B41FA5}">
                      <a16:colId xmlns:a16="http://schemas.microsoft.com/office/drawing/2014/main" val="20004"/>
                    </a:ext>
                  </a:extLst>
                </a:gridCol>
                <a:gridCol w="1553210">
                  <a:extLst>
                    <a:ext uri="{9D8B030D-6E8A-4147-A177-3AD203B41FA5}">
                      <a16:colId xmlns:a16="http://schemas.microsoft.com/office/drawing/2014/main" val="20005"/>
                    </a:ext>
                  </a:extLst>
                </a:gridCol>
                <a:gridCol w="1261745">
                  <a:extLst>
                    <a:ext uri="{9D8B030D-6E8A-4147-A177-3AD203B41FA5}">
                      <a16:colId xmlns:a16="http://schemas.microsoft.com/office/drawing/2014/main" val="20006"/>
                    </a:ext>
                  </a:extLst>
                </a:gridCol>
              </a:tblGrid>
              <a:tr h="455295">
                <a:tc rowSpan="2">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0" i="0" u="none" strike="noStrike" cap="none" normalizeH="0" baseline="0" dirty="0">
                          <a:ln>
                            <a:noFill/>
                          </a:ln>
                          <a:solidFill>
                            <a:schemeClr val="tx1"/>
                          </a:solidFill>
                          <a:effectLst/>
                          <a:latin typeface="微软雅黑 Light" panose="020B0502040204020203" pitchFamily="34" charset="-122"/>
                          <a:ea typeface="微软雅黑" panose="020B0503020204020204" charset="-122"/>
                          <a:cs typeface="Times New Roman" panose="02020603050405020304" charset="0"/>
                        </a:rPr>
                        <a:t>序号</a:t>
                      </a:r>
                    </a:p>
                  </a:txBody>
                  <a:tcPr marL="12700" marR="12700" marT="1270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alpha val="18000"/>
                      </a:srgbClr>
                    </a:solidFill>
                  </a:tcPr>
                </a:tc>
                <a:tc rowSpan="2">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0" i="0" u="none" strike="noStrike" cap="none" normalizeH="0" baseline="0" dirty="0">
                          <a:ln>
                            <a:noFill/>
                          </a:ln>
                          <a:solidFill>
                            <a:schemeClr val="tx1"/>
                          </a:solidFill>
                          <a:effectLst/>
                          <a:latin typeface="微软雅黑 Light" panose="020B0502040204020203" pitchFamily="34" charset="-122"/>
                          <a:ea typeface="微软雅黑" panose="020B0503020204020204" charset="-122"/>
                          <a:cs typeface="Times New Roman" panose="02020603050405020304" charset="0"/>
                        </a:rPr>
                        <a:t>姓名</a:t>
                      </a:r>
                    </a:p>
                  </a:txBody>
                  <a:tcPr marL="12700" marR="12700" marT="1270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alpha val="18000"/>
                      </a:srgbClr>
                    </a:solidFill>
                  </a:tcPr>
                </a:tc>
                <a:tc rowSpan="2">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0" i="0" u="none" strike="noStrike" cap="none" normalizeH="0" baseline="0" dirty="0">
                          <a:ln>
                            <a:noFill/>
                          </a:ln>
                          <a:solidFill>
                            <a:schemeClr val="tx1"/>
                          </a:solidFill>
                          <a:effectLst/>
                          <a:latin typeface="微软雅黑 Light" panose="020B0502040204020203" pitchFamily="34" charset="-122"/>
                          <a:ea typeface="微软雅黑" panose="020B0503020204020204" charset="-122"/>
                          <a:cs typeface="Times New Roman" panose="02020603050405020304" charset="0"/>
                        </a:rPr>
                        <a:t>工作天数</a:t>
                      </a:r>
                    </a:p>
                  </a:txBody>
                  <a:tcPr marL="12700" marR="12700" marT="1270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alpha val="18000"/>
                      </a:srgbClr>
                    </a:solidFill>
                  </a:tcPr>
                </a:tc>
                <a:tc gridSpan="4">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665" b="0" i="0" u="none" strike="noStrike" cap="none" normalizeH="0" baseline="0" dirty="0">
                          <a:ln>
                            <a:noFill/>
                          </a:ln>
                          <a:solidFill>
                            <a:schemeClr val="tx1"/>
                          </a:solidFill>
                          <a:effectLst/>
                          <a:latin typeface="微软雅黑 Light" panose="020B0502040204020203" pitchFamily="34" charset="-122"/>
                          <a:ea typeface="微软雅黑" panose="020B0503020204020204" charset="-122"/>
                          <a:cs typeface="Times New Roman" panose="02020603050405020304" charset="0"/>
                        </a:rPr>
                        <a:t>其中</a:t>
                      </a:r>
                    </a:p>
                  </a:txBody>
                  <a:tcPr marL="12700" marR="12700" marT="1270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alpha val="18000"/>
                      </a:srgbClr>
                    </a:solidFill>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0"/>
                  </a:ext>
                </a:extLst>
              </a:tr>
              <a:tr h="411480">
                <a:tc vMerge="1">
                  <a:txBody>
                    <a:bodyPr/>
                    <a:lstStyle/>
                    <a:p>
                      <a:endParaRPr lang="zh-CN"/>
                    </a:p>
                  </a:txBody>
                  <a:tcPr/>
                </a:tc>
                <a:tc vMerge="1">
                  <a:txBody>
                    <a:bodyPr/>
                    <a:lstStyle/>
                    <a:p>
                      <a:endParaRPr lang="zh-CN"/>
                    </a:p>
                  </a:txBody>
                  <a:tcPr/>
                </a:tc>
                <a:tc vMerge="1">
                  <a:txBody>
                    <a:bodyPr/>
                    <a:lstStyle/>
                    <a:p>
                      <a:endParaRPr lang="zh-CN"/>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dirty="0">
                          <a:ln>
                            <a:noFill/>
                          </a:ln>
                          <a:solidFill>
                            <a:schemeClr val="tx1"/>
                          </a:solidFill>
                          <a:effectLst/>
                          <a:latin typeface="Arial" panose="020B0604020202020204" pitchFamily="34" charset="0"/>
                          <a:ea typeface="微软雅黑" panose="020B0503020204020204" charset="-122"/>
                          <a:cs typeface="Times New Roman" panose="02020603050405020304" charset="0"/>
                        </a:rPr>
                        <a:t>A</a:t>
                      </a:r>
                      <a:r>
                        <a:rPr kumimoji="0" lang="zh-CN" altLang="en-US" sz="2400" b="0" i="0" u="none" strike="noStrike" cap="none" normalizeH="0" baseline="0" dirty="0">
                          <a:ln>
                            <a:noFill/>
                          </a:ln>
                          <a:solidFill>
                            <a:schemeClr val="tx1"/>
                          </a:solidFill>
                          <a:effectLst/>
                          <a:latin typeface="微软雅黑 Light" panose="020B0502040204020203" pitchFamily="34" charset="-122"/>
                          <a:ea typeface="微软雅黑" panose="020B0503020204020204" charset="-122"/>
                          <a:cs typeface="Times New Roman" panose="02020603050405020304" charset="0"/>
                        </a:rPr>
                        <a:t>项目</a:t>
                      </a:r>
                    </a:p>
                  </a:txBody>
                  <a:tcPr marL="12700" marR="12700" marT="1270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alpha val="18000"/>
                      </a:srgb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dirty="0">
                          <a:ln>
                            <a:noFill/>
                          </a:ln>
                          <a:solidFill>
                            <a:schemeClr val="tx1"/>
                          </a:solidFill>
                          <a:effectLst/>
                          <a:latin typeface="Arial" panose="020B0604020202020204" pitchFamily="34" charset="0"/>
                          <a:ea typeface="微软雅黑" panose="020B0503020204020204" charset="-122"/>
                          <a:cs typeface="Times New Roman" panose="02020603050405020304" charset="0"/>
                        </a:rPr>
                        <a:t>B</a:t>
                      </a:r>
                      <a:r>
                        <a:rPr kumimoji="0" lang="zh-CN" altLang="en-US" sz="2400" b="0" i="0" u="none" strike="noStrike" cap="none" normalizeH="0" baseline="0" dirty="0">
                          <a:ln>
                            <a:noFill/>
                          </a:ln>
                          <a:solidFill>
                            <a:schemeClr val="tx1"/>
                          </a:solidFill>
                          <a:effectLst/>
                          <a:latin typeface="微软雅黑 Light" panose="020B0502040204020203" pitchFamily="34" charset="-122"/>
                          <a:ea typeface="微软雅黑" panose="020B0503020204020204" charset="-122"/>
                          <a:cs typeface="Times New Roman" panose="02020603050405020304" charset="0"/>
                        </a:rPr>
                        <a:t>项目</a:t>
                      </a:r>
                    </a:p>
                  </a:txBody>
                  <a:tcPr marL="12700" marR="12700" marT="1270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alpha val="18000"/>
                      </a:srgb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dirty="0">
                          <a:ln>
                            <a:noFill/>
                          </a:ln>
                          <a:solidFill>
                            <a:schemeClr val="tx1"/>
                          </a:solidFill>
                          <a:effectLst/>
                          <a:latin typeface="Arial" panose="020B0604020202020204" pitchFamily="34" charset="0"/>
                          <a:ea typeface="微软雅黑" panose="020B0503020204020204" charset="-122"/>
                          <a:cs typeface="Times New Roman" panose="02020603050405020304" charset="0"/>
                        </a:rPr>
                        <a:t>C</a:t>
                      </a:r>
                      <a:r>
                        <a:rPr kumimoji="0" lang="zh-CN" altLang="en-US" sz="2400" b="0" i="0" u="none" strike="noStrike" cap="none" normalizeH="0" baseline="0" dirty="0">
                          <a:ln>
                            <a:noFill/>
                          </a:ln>
                          <a:solidFill>
                            <a:schemeClr val="tx1"/>
                          </a:solidFill>
                          <a:effectLst/>
                          <a:latin typeface="微软雅黑 Light" panose="020B0502040204020203" pitchFamily="34" charset="-122"/>
                          <a:ea typeface="微软雅黑" panose="020B0503020204020204" charset="-122"/>
                          <a:cs typeface="Times New Roman" panose="02020603050405020304" charset="0"/>
                        </a:rPr>
                        <a:t>项目</a:t>
                      </a:r>
                    </a:p>
                  </a:txBody>
                  <a:tcPr marL="12700" marR="12700" marT="1270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alpha val="18000"/>
                      </a:srgb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dirty="0">
                          <a:ln>
                            <a:noFill/>
                          </a:ln>
                          <a:solidFill>
                            <a:schemeClr val="tx1"/>
                          </a:solidFill>
                          <a:effectLst/>
                          <a:latin typeface="Arial" panose="020B0604020202020204" pitchFamily="34" charset="0"/>
                          <a:ea typeface="微软雅黑" panose="020B0503020204020204" charset="-122"/>
                          <a:cs typeface="Times New Roman" panose="02020603050405020304" charset="0"/>
                        </a:rPr>
                        <a:t>D</a:t>
                      </a:r>
                      <a:r>
                        <a:rPr kumimoji="0" lang="zh-CN" altLang="en-US" sz="2400" b="0" i="0" u="none" strike="noStrike" cap="none" normalizeH="0" baseline="0" dirty="0">
                          <a:ln>
                            <a:noFill/>
                          </a:ln>
                          <a:solidFill>
                            <a:schemeClr val="tx1"/>
                          </a:solidFill>
                          <a:effectLst/>
                          <a:latin typeface="微软雅黑 Light" panose="020B0502040204020203" pitchFamily="34" charset="-122"/>
                          <a:ea typeface="微软雅黑" panose="020B0503020204020204" charset="-122"/>
                          <a:cs typeface="Times New Roman" panose="02020603050405020304" charset="0"/>
                        </a:rPr>
                        <a:t>项目</a:t>
                      </a:r>
                    </a:p>
                  </a:txBody>
                  <a:tcPr marL="12700" marR="12700" marT="1270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alpha val="18000"/>
                      </a:srgbClr>
                    </a:solidFill>
                  </a:tcPr>
                </a:tc>
                <a:extLst>
                  <a:ext uri="{0D108BD9-81ED-4DB2-BD59-A6C34878D82A}">
                    <a16:rowId xmlns:a16="http://schemas.microsoft.com/office/drawing/2014/main" val="10001"/>
                  </a:ext>
                </a:extLst>
              </a:tr>
              <a:tr h="410845">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dirty="0">
                          <a:ln>
                            <a:noFill/>
                          </a:ln>
                          <a:solidFill>
                            <a:schemeClr val="tx1"/>
                          </a:solidFill>
                          <a:effectLst/>
                          <a:latin typeface="Arial" panose="020B0604020202020204" pitchFamily="34" charset="0"/>
                          <a:ea typeface="微软雅黑" panose="020B0503020204020204" charset="-122"/>
                          <a:cs typeface="Times New Roman" panose="02020603050405020304" charset="0"/>
                        </a:rPr>
                        <a:t>1</a:t>
                      </a:r>
                    </a:p>
                  </a:txBody>
                  <a:tcPr marL="12700" marR="12700" marT="1270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0" i="0" u="none" strike="noStrike" cap="none" normalizeH="0" baseline="0" dirty="0">
                          <a:ln>
                            <a:noFill/>
                          </a:ln>
                          <a:solidFill>
                            <a:schemeClr val="tx1"/>
                          </a:solidFill>
                          <a:effectLst/>
                          <a:latin typeface="微软雅黑 Light" panose="020B0502040204020203" pitchFamily="34" charset="-122"/>
                          <a:ea typeface="微软雅黑" panose="020B0503020204020204" charset="-122"/>
                          <a:cs typeface="Times New Roman" panose="02020603050405020304" charset="0"/>
                        </a:rPr>
                        <a:t>张三</a:t>
                      </a:r>
                    </a:p>
                  </a:txBody>
                  <a:tcPr marL="12700" marR="12700" marT="1270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dirty="0">
                          <a:ln>
                            <a:noFill/>
                          </a:ln>
                          <a:solidFill>
                            <a:schemeClr val="tx1"/>
                          </a:solidFill>
                          <a:effectLst/>
                          <a:latin typeface="Arial" panose="020B0604020202020204" pitchFamily="34" charset="0"/>
                          <a:ea typeface="微软雅黑" panose="020B0503020204020204" charset="-122"/>
                          <a:cs typeface="Times New Roman" panose="02020603050405020304" charset="0"/>
                        </a:rPr>
                        <a:t>22</a:t>
                      </a:r>
                    </a:p>
                  </a:txBody>
                  <a:tcPr marL="12700" marR="12700" marT="1270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dirty="0">
                          <a:ln>
                            <a:noFill/>
                          </a:ln>
                          <a:solidFill>
                            <a:schemeClr val="tx1"/>
                          </a:solidFill>
                          <a:effectLst/>
                          <a:latin typeface="Arial" panose="020B0604020202020204" pitchFamily="34" charset="0"/>
                          <a:ea typeface="微软雅黑" panose="020B0503020204020204" charset="-122"/>
                          <a:cs typeface="Times New Roman" panose="02020603050405020304" charset="0"/>
                        </a:rPr>
                        <a:t>8</a:t>
                      </a:r>
                    </a:p>
                  </a:txBody>
                  <a:tcPr marL="12700" marR="12700" marT="1270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dirty="0">
                          <a:ln>
                            <a:noFill/>
                          </a:ln>
                          <a:solidFill>
                            <a:schemeClr val="tx1"/>
                          </a:solidFill>
                          <a:effectLst/>
                          <a:latin typeface="Arial" panose="020B0604020202020204" pitchFamily="34" charset="0"/>
                          <a:ea typeface="微软雅黑" panose="020B0503020204020204" charset="-122"/>
                          <a:cs typeface="Times New Roman" panose="02020603050405020304" charset="0"/>
                        </a:rPr>
                        <a:t>3</a:t>
                      </a:r>
                    </a:p>
                  </a:txBody>
                  <a:tcPr marL="12700" marR="12700" marT="1270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dirty="0">
                          <a:ln>
                            <a:noFill/>
                          </a:ln>
                          <a:solidFill>
                            <a:schemeClr val="tx1"/>
                          </a:solidFill>
                          <a:effectLst/>
                          <a:latin typeface="Arial" panose="020B0604020202020204" pitchFamily="34" charset="0"/>
                          <a:ea typeface="微软雅黑" panose="020B0503020204020204" charset="-122"/>
                          <a:cs typeface="Times New Roman" panose="02020603050405020304" charset="0"/>
                        </a:rPr>
                        <a:t>6</a:t>
                      </a:r>
                    </a:p>
                  </a:txBody>
                  <a:tcPr marL="12700" marR="12700" marT="1270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dirty="0">
                          <a:ln>
                            <a:noFill/>
                          </a:ln>
                          <a:solidFill>
                            <a:schemeClr val="tx1"/>
                          </a:solidFill>
                          <a:effectLst/>
                          <a:latin typeface="Arial" panose="020B0604020202020204" pitchFamily="34" charset="0"/>
                          <a:ea typeface="微软雅黑" panose="020B0503020204020204" charset="-122"/>
                          <a:cs typeface="Times New Roman" panose="02020603050405020304" charset="0"/>
                        </a:rPr>
                        <a:t>5</a:t>
                      </a:r>
                    </a:p>
                  </a:txBody>
                  <a:tcPr marL="12700" marR="12700" marT="1270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1148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dirty="0">
                          <a:ln>
                            <a:noFill/>
                          </a:ln>
                          <a:solidFill>
                            <a:schemeClr val="tx1"/>
                          </a:solidFill>
                          <a:effectLst/>
                          <a:latin typeface="Arial" panose="020B0604020202020204" pitchFamily="34" charset="0"/>
                          <a:ea typeface="微软雅黑" panose="020B0503020204020204" charset="-122"/>
                          <a:cs typeface="Times New Roman" panose="02020603050405020304" charset="0"/>
                        </a:rPr>
                        <a:t>2</a:t>
                      </a:r>
                    </a:p>
                  </a:txBody>
                  <a:tcPr marL="12700" marR="12700" marT="1270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0" i="0" u="none" strike="noStrike" cap="none" normalizeH="0" baseline="0" dirty="0">
                          <a:ln>
                            <a:noFill/>
                          </a:ln>
                          <a:solidFill>
                            <a:schemeClr val="tx1"/>
                          </a:solidFill>
                          <a:effectLst/>
                          <a:latin typeface="微软雅黑 Light" panose="020B0502040204020203" pitchFamily="34" charset="-122"/>
                          <a:ea typeface="微软雅黑" panose="020B0503020204020204" charset="-122"/>
                          <a:cs typeface="Times New Roman" panose="02020603050405020304" charset="0"/>
                        </a:rPr>
                        <a:t>李四</a:t>
                      </a:r>
                    </a:p>
                  </a:txBody>
                  <a:tcPr marL="12700" marR="12700" marT="1270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dirty="0">
                          <a:ln>
                            <a:noFill/>
                          </a:ln>
                          <a:solidFill>
                            <a:schemeClr val="tx1"/>
                          </a:solidFill>
                          <a:effectLst/>
                          <a:latin typeface="Arial" panose="020B0604020202020204" pitchFamily="34" charset="0"/>
                          <a:ea typeface="微软雅黑" panose="020B0503020204020204" charset="-122"/>
                          <a:cs typeface="Times New Roman" panose="02020603050405020304" charset="0"/>
                        </a:rPr>
                        <a:t>22</a:t>
                      </a:r>
                    </a:p>
                  </a:txBody>
                  <a:tcPr marL="12700" marR="12700" marT="1270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dirty="0">
                          <a:ln>
                            <a:noFill/>
                          </a:ln>
                          <a:solidFill>
                            <a:schemeClr val="tx1"/>
                          </a:solidFill>
                          <a:effectLst/>
                          <a:latin typeface="Arial" panose="020B0604020202020204" pitchFamily="34" charset="0"/>
                          <a:ea typeface="微软雅黑" panose="020B0503020204020204" charset="-122"/>
                          <a:cs typeface="Times New Roman" panose="02020603050405020304" charset="0"/>
                        </a:rPr>
                        <a:t>6</a:t>
                      </a:r>
                    </a:p>
                  </a:txBody>
                  <a:tcPr marL="12700" marR="12700" marT="1270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dirty="0">
                          <a:ln>
                            <a:noFill/>
                          </a:ln>
                          <a:solidFill>
                            <a:schemeClr val="tx1"/>
                          </a:solidFill>
                          <a:effectLst/>
                          <a:latin typeface="Arial" panose="020B0604020202020204" pitchFamily="34" charset="0"/>
                          <a:ea typeface="微软雅黑" panose="020B0503020204020204" charset="-122"/>
                          <a:cs typeface="Times New Roman" panose="02020603050405020304" charset="0"/>
                        </a:rPr>
                        <a:t>6</a:t>
                      </a:r>
                    </a:p>
                  </a:txBody>
                  <a:tcPr marL="12700" marR="12700" marT="1270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dirty="0">
                          <a:ln>
                            <a:noFill/>
                          </a:ln>
                          <a:solidFill>
                            <a:schemeClr val="tx1"/>
                          </a:solidFill>
                          <a:effectLst/>
                          <a:latin typeface="Arial" panose="020B0604020202020204" pitchFamily="34" charset="0"/>
                          <a:ea typeface="微软雅黑" panose="020B0503020204020204" charset="-122"/>
                          <a:cs typeface="Times New Roman" panose="02020603050405020304" charset="0"/>
                        </a:rPr>
                        <a:t>5</a:t>
                      </a:r>
                    </a:p>
                  </a:txBody>
                  <a:tcPr marL="12700" marR="12700" marT="1270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dirty="0">
                          <a:ln>
                            <a:noFill/>
                          </a:ln>
                          <a:solidFill>
                            <a:schemeClr val="tx1"/>
                          </a:solidFill>
                          <a:effectLst/>
                          <a:latin typeface="Arial" panose="020B0604020202020204" pitchFamily="34" charset="0"/>
                          <a:ea typeface="微软雅黑" panose="020B0503020204020204" charset="-122"/>
                          <a:cs typeface="Times New Roman" panose="02020603050405020304" charset="0"/>
                        </a:rPr>
                        <a:t>5</a:t>
                      </a:r>
                    </a:p>
                  </a:txBody>
                  <a:tcPr marL="12700" marR="12700" marT="1270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10845">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dirty="0">
                          <a:ln>
                            <a:noFill/>
                          </a:ln>
                          <a:solidFill>
                            <a:schemeClr val="tx1"/>
                          </a:solidFill>
                          <a:effectLst/>
                          <a:latin typeface="Arial" panose="020B0604020202020204" pitchFamily="34" charset="0"/>
                          <a:ea typeface="微软雅黑" panose="020B0503020204020204" charset="-122"/>
                          <a:cs typeface="Times New Roman" panose="02020603050405020304" charset="0"/>
                        </a:rPr>
                        <a:t>3</a:t>
                      </a:r>
                    </a:p>
                  </a:txBody>
                  <a:tcPr marL="12700" marR="12700" marT="1270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0" i="0" u="none" strike="noStrike" cap="none" normalizeH="0" baseline="0" dirty="0">
                          <a:ln>
                            <a:noFill/>
                          </a:ln>
                          <a:solidFill>
                            <a:schemeClr val="tx1"/>
                          </a:solidFill>
                          <a:effectLst/>
                          <a:latin typeface="微软雅黑 Light" panose="020B0502040204020203" pitchFamily="34" charset="-122"/>
                          <a:ea typeface="微软雅黑" panose="020B0503020204020204" charset="-122"/>
                          <a:cs typeface="Times New Roman" panose="02020603050405020304" charset="0"/>
                        </a:rPr>
                        <a:t>王五</a:t>
                      </a:r>
                    </a:p>
                  </a:txBody>
                  <a:tcPr marL="12700" marR="12700" marT="1270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dirty="0">
                          <a:ln>
                            <a:noFill/>
                          </a:ln>
                          <a:solidFill>
                            <a:schemeClr val="tx1"/>
                          </a:solidFill>
                          <a:effectLst/>
                          <a:latin typeface="Arial" panose="020B0604020202020204" pitchFamily="34" charset="0"/>
                          <a:ea typeface="微软雅黑" panose="020B0503020204020204" charset="-122"/>
                          <a:cs typeface="Times New Roman" panose="02020603050405020304" charset="0"/>
                        </a:rPr>
                        <a:t>22</a:t>
                      </a:r>
                    </a:p>
                  </a:txBody>
                  <a:tcPr marL="12700" marR="12700" marT="1270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dirty="0">
                          <a:ln>
                            <a:noFill/>
                          </a:ln>
                          <a:solidFill>
                            <a:schemeClr val="tx1"/>
                          </a:solidFill>
                          <a:effectLst/>
                          <a:latin typeface="Arial" panose="020B0604020202020204" pitchFamily="34" charset="0"/>
                          <a:ea typeface="微软雅黑" panose="020B0503020204020204" charset="-122"/>
                          <a:cs typeface="Times New Roman" panose="02020603050405020304" charset="0"/>
                        </a:rPr>
                        <a:t>7</a:t>
                      </a:r>
                    </a:p>
                  </a:txBody>
                  <a:tcPr marL="12700" marR="12700" marT="1270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0" i="0" u="none" strike="noStrike" cap="none" normalizeH="0" baseline="0" dirty="0">
                          <a:ln>
                            <a:noFill/>
                          </a:ln>
                          <a:solidFill>
                            <a:schemeClr val="tx1"/>
                          </a:solidFill>
                          <a:effectLst/>
                          <a:latin typeface="微软雅黑 Light" panose="020B0502040204020203" pitchFamily="34" charset="-122"/>
                          <a:ea typeface="微软雅黑" panose="020B0503020204020204" charset="-122"/>
                          <a:cs typeface="Times New Roman" panose="02020603050405020304" charset="0"/>
                        </a:rPr>
                        <a:t>　</a:t>
                      </a:r>
                    </a:p>
                  </a:txBody>
                  <a:tcPr marL="12700" marR="12700" marT="1270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dirty="0">
                          <a:ln>
                            <a:noFill/>
                          </a:ln>
                          <a:solidFill>
                            <a:schemeClr val="tx1"/>
                          </a:solidFill>
                          <a:effectLst/>
                          <a:latin typeface="Arial" panose="020B0604020202020204" pitchFamily="34" charset="0"/>
                          <a:ea typeface="微软雅黑" panose="020B0503020204020204" charset="-122"/>
                          <a:cs typeface="Times New Roman" panose="02020603050405020304" charset="0"/>
                        </a:rPr>
                        <a:t>7</a:t>
                      </a:r>
                    </a:p>
                  </a:txBody>
                  <a:tcPr marL="12700" marR="12700" marT="1270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dirty="0">
                          <a:ln>
                            <a:noFill/>
                          </a:ln>
                          <a:solidFill>
                            <a:schemeClr val="tx1"/>
                          </a:solidFill>
                          <a:effectLst/>
                          <a:latin typeface="Arial" panose="020B0604020202020204" pitchFamily="34" charset="0"/>
                          <a:ea typeface="微软雅黑" panose="020B0503020204020204" charset="-122"/>
                          <a:cs typeface="Times New Roman" panose="02020603050405020304" charset="0"/>
                        </a:rPr>
                        <a:t>8</a:t>
                      </a:r>
                    </a:p>
                  </a:txBody>
                  <a:tcPr marL="12700" marR="12700" marT="1270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1148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dirty="0">
                          <a:ln>
                            <a:noFill/>
                          </a:ln>
                          <a:solidFill>
                            <a:schemeClr val="tx1"/>
                          </a:solidFill>
                          <a:effectLst/>
                          <a:latin typeface="Arial" panose="020B0604020202020204" pitchFamily="34" charset="0"/>
                          <a:ea typeface="微软雅黑" panose="020B0503020204020204" charset="-122"/>
                          <a:cs typeface="Times New Roman" panose="02020603050405020304" charset="0"/>
                        </a:rPr>
                        <a:t>4</a:t>
                      </a:r>
                    </a:p>
                  </a:txBody>
                  <a:tcPr marL="12700" marR="12700" marT="1270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0" i="0" u="none" strike="noStrike" cap="none" normalizeH="0" baseline="0" dirty="0">
                          <a:ln>
                            <a:noFill/>
                          </a:ln>
                          <a:solidFill>
                            <a:schemeClr val="tx1"/>
                          </a:solidFill>
                          <a:effectLst/>
                          <a:latin typeface="微软雅黑 Light" panose="020B0502040204020203" pitchFamily="34" charset="-122"/>
                          <a:ea typeface="微软雅黑" panose="020B0503020204020204" charset="-122"/>
                          <a:cs typeface="Times New Roman" panose="02020603050405020304" charset="0"/>
                        </a:rPr>
                        <a:t>赵六</a:t>
                      </a:r>
                    </a:p>
                  </a:txBody>
                  <a:tcPr marL="12700" marR="12700" marT="1270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dirty="0">
                          <a:ln>
                            <a:noFill/>
                          </a:ln>
                          <a:solidFill>
                            <a:schemeClr val="tx1"/>
                          </a:solidFill>
                          <a:effectLst/>
                          <a:latin typeface="Arial" panose="020B0604020202020204" pitchFamily="34" charset="0"/>
                          <a:ea typeface="微软雅黑" panose="020B0503020204020204" charset="-122"/>
                          <a:cs typeface="Times New Roman" panose="02020603050405020304" charset="0"/>
                        </a:rPr>
                        <a:t>22</a:t>
                      </a:r>
                    </a:p>
                  </a:txBody>
                  <a:tcPr marL="12700" marR="12700" marT="1270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0" i="0" u="none" strike="noStrike" cap="none" normalizeH="0" baseline="0" dirty="0">
                          <a:ln>
                            <a:noFill/>
                          </a:ln>
                          <a:solidFill>
                            <a:schemeClr val="tx1"/>
                          </a:solidFill>
                          <a:effectLst/>
                          <a:latin typeface="微软雅黑 Light" panose="020B0502040204020203" pitchFamily="34" charset="-122"/>
                          <a:ea typeface="微软雅黑" panose="020B0503020204020204" charset="-122"/>
                          <a:cs typeface="Times New Roman" panose="02020603050405020304" charset="0"/>
                        </a:rPr>
                        <a:t>　</a:t>
                      </a:r>
                    </a:p>
                  </a:txBody>
                  <a:tcPr marL="12700" marR="12700" marT="1270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dirty="0">
                          <a:ln>
                            <a:noFill/>
                          </a:ln>
                          <a:solidFill>
                            <a:schemeClr val="tx1"/>
                          </a:solidFill>
                          <a:effectLst/>
                          <a:latin typeface="Arial" panose="020B0604020202020204" pitchFamily="34" charset="0"/>
                          <a:ea typeface="微软雅黑" panose="020B0503020204020204" charset="-122"/>
                          <a:cs typeface="Times New Roman" panose="02020603050405020304" charset="0"/>
                        </a:rPr>
                        <a:t>6</a:t>
                      </a:r>
                    </a:p>
                  </a:txBody>
                  <a:tcPr marL="12700" marR="12700" marT="1270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dirty="0">
                          <a:ln>
                            <a:noFill/>
                          </a:ln>
                          <a:solidFill>
                            <a:schemeClr val="tx1"/>
                          </a:solidFill>
                          <a:effectLst/>
                          <a:latin typeface="Arial" panose="020B0604020202020204" pitchFamily="34" charset="0"/>
                          <a:ea typeface="微软雅黑" panose="020B0503020204020204" charset="-122"/>
                          <a:cs typeface="Times New Roman" panose="02020603050405020304" charset="0"/>
                        </a:rPr>
                        <a:t>10</a:t>
                      </a:r>
                    </a:p>
                  </a:txBody>
                  <a:tcPr marL="12700" marR="12700" marT="1270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dirty="0">
                          <a:ln>
                            <a:noFill/>
                          </a:ln>
                          <a:solidFill>
                            <a:schemeClr val="tx1"/>
                          </a:solidFill>
                          <a:effectLst/>
                          <a:latin typeface="Arial" panose="020B0604020202020204" pitchFamily="34" charset="0"/>
                          <a:ea typeface="微软雅黑" panose="020B0503020204020204" charset="-122"/>
                          <a:cs typeface="Times New Roman" panose="02020603050405020304" charset="0"/>
                        </a:rPr>
                        <a:t>6</a:t>
                      </a:r>
                    </a:p>
                  </a:txBody>
                  <a:tcPr marL="12700" marR="12700" marT="1270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30225">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400" b="0" i="0" u="none" strike="noStrike" cap="none" normalizeH="0" baseline="0" dirty="0">
                        <a:ln>
                          <a:noFill/>
                        </a:ln>
                        <a:solidFill>
                          <a:schemeClr val="tx1"/>
                        </a:solidFill>
                        <a:effectLst/>
                        <a:latin typeface="微软雅黑 Light" panose="020B0502040204020203" pitchFamily="34" charset="-122"/>
                        <a:ea typeface="微软雅黑" panose="020B0503020204020204" charset="-122"/>
                      </a:endParaRPr>
                    </a:p>
                  </a:txBody>
                  <a:tcPr marL="121920" marR="121920" marT="60960" marB="609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2400" b="0" i="0" u="none" strike="noStrike" cap="none" normalizeH="0" baseline="0" dirty="0">
                          <a:ln>
                            <a:noFill/>
                          </a:ln>
                          <a:solidFill>
                            <a:schemeClr val="tx1"/>
                          </a:solidFill>
                          <a:effectLst/>
                          <a:latin typeface="微软雅黑 Light" panose="020B0502040204020203" pitchFamily="34" charset="-122"/>
                          <a:ea typeface="微软雅黑" panose="020B0503020204020204" charset="-122"/>
                          <a:cs typeface="Times New Roman" panose="02020603050405020304" charset="0"/>
                        </a:rPr>
                        <a:t>……</a:t>
                      </a:r>
                    </a:p>
                  </a:txBody>
                  <a:tcPr marL="12700" marR="12700" marT="1270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400" b="0" i="0" u="none" strike="noStrike" cap="none" normalizeH="0" baseline="0" dirty="0">
                        <a:ln>
                          <a:noFill/>
                        </a:ln>
                        <a:solidFill>
                          <a:schemeClr val="tx1"/>
                        </a:solidFill>
                        <a:effectLst/>
                        <a:latin typeface="微软雅黑 Light" panose="020B0502040204020203" pitchFamily="34" charset="-122"/>
                        <a:ea typeface="微软雅黑" panose="020B0503020204020204" charset="-122"/>
                      </a:endParaRPr>
                    </a:p>
                  </a:txBody>
                  <a:tcPr marL="121920" marR="121920" marT="60960" marB="609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400" b="0" i="0" u="none" strike="noStrike" cap="none" normalizeH="0" baseline="0" dirty="0">
                        <a:ln>
                          <a:noFill/>
                        </a:ln>
                        <a:solidFill>
                          <a:schemeClr val="tx1"/>
                        </a:solidFill>
                        <a:effectLst/>
                        <a:latin typeface="微软雅黑 Light" panose="020B0502040204020203" pitchFamily="34" charset="-122"/>
                        <a:ea typeface="微软雅黑" panose="020B0503020204020204" charset="-122"/>
                      </a:endParaRPr>
                    </a:p>
                  </a:txBody>
                  <a:tcPr marL="121920" marR="121920" marT="60960" marB="609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400" b="0" i="0" u="none" strike="noStrike" cap="none" normalizeH="0" baseline="0" dirty="0">
                        <a:ln>
                          <a:noFill/>
                        </a:ln>
                        <a:solidFill>
                          <a:schemeClr val="tx1"/>
                        </a:solidFill>
                        <a:effectLst/>
                        <a:latin typeface="微软雅黑 Light" panose="020B0502040204020203" pitchFamily="34" charset="-122"/>
                        <a:ea typeface="微软雅黑" panose="020B0503020204020204" charset="-122"/>
                      </a:endParaRPr>
                    </a:p>
                  </a:txBody>
                  <a:tcPr marL="121920" marR="121920" marT="60960" marB="609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400" b="0" i="0" u="none" strike="noStrike" cap="none" normalizeH="0" baseline="0" dirty="0">
                        <a:ln>
                          <a:noFill/>
                        </a:ln>
                        <a:solidFill>
                          <a:schemeClr val="tx1"/>
                        </a:solidFill>
                        <a:effectLst/>
                        <a:latin typeface="微软雅黑 Light" panose="020B0502040204020203" pitchFamily="34" charset="-122"/>
                        <a:ea typeface="微软雅黑" panose="020B0503020204020204" charset="-122"/>
                      </a:endParaRPr>
                    </a:p>
                  </a:txBody>
                  <a:tcPr marL="121920" marR="121920" marT="60960" marB="609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400" b="0" i="0" u="none" strike="noStrike" cap="none" normalizeH="0" baseline="0" dirty="0">
                        <a:ln>
                          <a:noFill/>
                        </a:ln>
                        <a:solidFill>
                          <a:schemeClr val="tx1"/>
                        </a:solidFill>
                        <a:effectLst/>
                        <a:latin typeface="微软雅黑 Light" panose="020B0502040204020203" pitchFamily="34" charset="-122"/>
                        <a:ea typeface="微软雅黑" panose="020B0503020204020204" charset="-122"/>
                      </a:endParaRPr>
                    </a:p>
                  </a:txBody>
                  <a:tcPr marL="121920" marR="121920" marT="60960" marB="609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29590">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400" b="0" i="0" u="none" strike="noStrike" cap="none" normalizeH="0" baseline="0" dirty="0">
                        <a:ln>
                          <a:noFill/>
                        </a:ln>
                        <a:solidFill>
                          <a:schemeClr val="tx1"/>
                        </a:solidFill>
                        <a:effectLst/>
                        <a:latin typeface="微软雅黑 Light" panose="020B0502040204020203" pitchFamily="34" charset="-122"/>
                        <a:ea typeface="微软雅黑" panose="020B0503020204020204" charset="-122"/>
                      </a:endParaRPr>
                    </a:p>
                  </a:txBody>
                  <a:tcPr marL="121920" marR="121920" marT="60960" marB="609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0" i="0" u="none" strike="noStrike" cap="none" normalizeH="0" baseline="0" dirty="0">
                          <a:ln>
                            <a:noFill/>
                          </a:ln>
                          <a:solidFill>
                            <a:schemeClr val="tx1"/>
                          </a:solidFill>
                          <a:effectLst/>
                          <a:latin typeface="微软雅黑 Light" panose="020B0502040204020203" pitchFamily="34" charset="-122"/>
                          <a:ea typeface="微软雅黑" panose="020B0503020204020204" charset="-122"/>
                          <a:cs typeface="Times New Roman" panose="02020603050405020304" charset="0"/>
                        </a:rPr>
                        <a:t>合计</a:t>
                      </a:r>
                    </a:p>
                  </a:txBody>
                  <a:tcPr marL="12700" marR="12700" marT="1270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dirty="0">
                          <a:ln>
                            <a:noFill/>
                          </a:ln>
                          <a:solidFill>
                            <a:schemeClr val="tx1"/>
                          </a:solidFill>
                          <a:effectLst/>
                          <a:latin typeface="Arial" panose="020B0604020202020204" pitchFamily="34" charset="0"/>
                          <a:ea typeface="微软雅黑" panose="020B0503020204020204" charset="-122"/>
                          <a:cs typeface="Times New Roman" panose="02020603050405020304" charset="0"/>
                        </a:rPr>
                        <a:t>88</a:t>
                      </a:r>
                    </a:p>
                  </a:txBody>
                  <a:tcPr marL="121920" marR="121920" marT="60960" marB="609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dirty="0">
                          <a:ln>
                            <a:noFill/>
                          </a:ln>
                          <a:solidFill>
                            <a:schemeClr val="tx1"/>
                          </a:solidFill>
                          <a:effectLst/>
                          <a:latin typeface="Arial" panose="020B0604020202020204" pitchFamily="34" charset="0"/>
                          <a:ea typeface="微软雅黑" panose="020B0503020204020204" charset="-122"/>
                          <a:cs typeface="Times New Roman" panose="02020603050405020304" charset="0"/>
                        </a:rPr>
                        <a:t>21</a:t>
                      </a:r>
                    </a:p>
                  </a:txBody>
                  <a:tcPr marL="121920" marR="121920" marT="60960" marB="609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dirty="0">
                          <a:ln>
                            <a:noFill/>
                          </a:ln>
                          <a:solidFill>
                            <a:schemeClr val="tx1"/>
                          </a:solidFill>
                          <a:effectLst/>
                          <a:latin typeface="Arial" panose="020B0604020202020204" pitchFamily="34" charset="0"/>
                          <a:ea typeface="微软雅黑" panose="020B0503020204020204" charset="-122"/>
                          <a:cs typeface="Times New Roman" panose="02020603050405020304" charset="0"/>
                        </a:rPr>
                        <a:t>15</a:t>
                      </a:r>
                    </a:p>
                  </a:txBody>
                  <a:tcPr marL="121920" marR="121920" marT="60960" marB="609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dirty="0">
                          <a:ln>
                            <a:noFill/>
                          </a:ln>
                          <a:solidFill>
                            <a:schemeClr val="tx1"/>
                          </a:solidFill>
                          <a:effectLst/>
                          <a:latin typeface="Arial" panose="020B0604020202020204" pitchFamily="34" charset="0"/>
                          <a:ea typeface="微软雅黑" panose="020B0503020204020204" charset="-122"/>
                          <a:cs typeface="Times New Roman" panose="02020603050405020304" charset="0"/>
                        </a:rPr>
                        <a:t>28</a:t>
                      </a:r>
                    </a:p>
                  </a:txBody>
                  <a:tcPr marL="121920" marR="121920" marT="60960" marB="609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dirty="0">
                          <a:ln>
                            <a:noFill/>
                          </a:ln>
                          <a:solidFill>
                            <a:schemeClr val="tx1"/>
                          </a:solidFill>
                          <a:effectLst/>
                          <a:latin typeface="Arial" panose="020B0604020202020204" pitchFamily="34" charset="0"/>
                          <a:ea typeface="微软雅黑" panose="020B0503020204020204" charset="-122"/>
                          <a:cs typeface="Times New Roman" panose="02020603050405020304" charset="0"/>
                        </a:rPr>
                        <a:t>24</a:t>
                      </a:r>
                    </a:p>
                  </a:txBody>
                  <a:tcPr marL="121920" marR="121920" marT="60960" marB="609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 0" descr="https://kimi-img.moonshot.cn/pub/slides/slides_tmpl/image/25-09-04-11:33:06-d2sggsm1bb2p4onbon10.jpg"/>
          <p:cNvPicPr>
            <a:picLocks noChangeAspect="1"/>
          </p:cNvPicPr>
          <p:nvPr/>
        </p:nvPicPr>
        <p:blipFill>
          <a:blip r:embed="rId4"/>
          <a:stretch>
            <a:fillRect/>
          </a:stretch>
        </p:blipFill>
        <p:spPr>
          <a:xfrm>
            <a:off x="0" y="0"/>
            <a:ext cx="12192000" cy="6858000"/>
          </a:xfrm>
          <a:prstGeom prst="rect">
            <a:avLst/>
          </a:prstGeom>
        </p:spPr>
      </p:pic>
      <p:cxnSp>
        <p:nvCxnSpPr>
          <p:cNvPr id="5" name="直接连接符 4"/>
          <p:cNvCxnSpPr/>
          <p:nvPr/>
        </p:nvCxnSpPr>
        <p:spPr>
          <a:xfrm>
            <a:off x="2619061" y="644689"/>
            <a:ext cx="1920213" cy="0"/>
          </a:xfrm>
          <a:prstGeom prst="line">
            <a:avLst/>
          </a:prstGeom>
          <a:ln>
            <a:gradFill flip="none" rotWithShape="1">
              <a:gsLst>
                <a:gs pos="0">
                  <a:schemeClr val="bg1">
                    <a:alpha val="0"/>
                  </a:schemeClr>
                </a:gs>
                <a:gs pos="100000">
                  <a:schemeClr val="bg1"/>
                </a:gs>
              </a:gsLst>
              <a:lin ang="0" scaled="1"/>
              <a:tileRect/>
            </a:gradFill>
            <a:tailEnd type="oval"/>
          </a:ln>
        </p:spPr>
        <p:style>
          <a:lnRef idx="1">
            <a:schemeClr val="accent1"/>
          </a:lnRef>
          <a:fillRef idx="0">
            <a:schemeClr val="accent1"/>
          </a:fillRef>
          <a:effectRef idx="0">
            <a:schemeClr val="accent1"/>
          </a:effectRef>
          <a:fontRef idx="minor">
            <a:schemeClr val="tx1"/>
          </a:fontRef>
        </p:style>
      </p:cxnSp>
      <p:sp>
        <p:nvSpPr>
          <p:cNvPr id="14" name="TextBox 1"/>
          <p:cNvSpPr txBox="1"/>
          <p:nvPr/>
        </p:nvSpPr>
        <p:spPr>
          <a:xfrm>
            <a:off x="3579168" y="380600"/>
            <a:ext cx="4992555" cy="534035"/>
          </a:xfrm>
          <a:prstGeom prst="rect">
            <a:avLst/>
          </a:prstGeom>
          <a:noFill/>
        </p:spPr>
        <p:txBody>
          <a:bodyPr wrap="square" rtlCol="0">
            <a:spAutoFit/>
          </a:bodyPr>
          <a:lstStyle/>
          <a:p>
            <a:pPr algn="ctr" defTabSz="431800">
              <a:lnSpc>
                <a:spcPct val="120000"/>
              </a:lnSpc>
              <a:defRPr/>
            </a:pPr>
            <a:r>
              <a:rPr lang="zh-CN" sz="2400" b="1" kern="0" dirty="0">
                <a:solidFill>
                  <a:schemeClr val="tx1"/>
                </a:solidFill>
                <a:latin typeface="Arial" panose="020B0604020202020204" pitchFamily="34" charset="0"/>
                <a:ea typeface="微软雅黑" panose="020B0503020204020204" charset="-122"/>
                <a:cs typeface="Arial" panose="020B0604020202020204" pitchFamily="34" charset="0"/>
              </a:rPr>
              <a:t>研发费用</a:t>
            </a:r>
            <a:r>
              <a:rPr lang="en-US" altLang="zh-CN" sz="2400" b="1" kern="0" dirty="0">
                <a:solidFill>
                  <a:schemeClr val="tx1"/>
                </a:solidFill>
                <a:latin typeface="Arial" panose="020B0604020202020204" pitchFamily="34" charset="0"/>
                <a:ea typeface="微软雅黑" panose="020B0503020204020204" charset="-122"/>
                <a:cs typeface="Arial" panose="020B0604020202020204" pitchFamily="34" charset="0"/>
              </a:rPr>
              <a:t>“</a:t>
            </a:r>
            <a:r>
              <a:rPr lang="zh-CN" sz="2400" b="1" kern="0" dirty="0">
                <a:solidFill>
                  <a:schemeClr val="tx1"/>
                </a:solidFill>
                <a:latin typeface="Arial" panose="020B0604020202020204" pitchFamily="34" charset="0"/>
                <a:ea typeface="微软雅黑" panose="020B0503020204020204" charset="-122"/>
                <a:cs typeface="Arial" panose="020B0604020202020204" pitchFamily="34" charset="0"/>
              </a:rPr>
              <a:t>合理</a:t>
            </a:r>
            <a:r>
              <a:rPr lang="en-US" altLang="zh-CN" sz="2400" b="1" kern="0" dirty="0">
                <a:solidFill>
                  <a:schemeClr val="tx1"/>
                </a:solidFill>
                <a:latin typeface="Arial" panose="020B0604020202020204" pitchFamily="34" charset="0"/>
                <a:ea typeface="微软雅黑" panose="020B0503020204020204" charset="-122"/>
                <a:cs typeface="Arial" panose="020B0604020202020204" pitchFamily="34" charset="0"/>
              </a:rPr>
              <a:t>”</a:t>
            </a:r>
            <a:r>
              <a:rPr lang="zh-CN" sz="2400" b="1" kern="0" dirty="0">
                <a:solidFill>
                  <a:schemeClr val="tx1"/>
                </a:solidFill>
                <a:latin typeface="Arial" panose="020B0604020202020204" pitchFamily="34" charset="0"/>
                <a:ea typeface="微软雅黑" panose="020B0503020204020204" charset="-122"/>
                <a:cs typeface="Arial" panose="020B0604020202020204" pitchFamily="34" charset="0"/>
              </a:rPr>
              <a:t>归集</a:t>
            </a:r>
          </a:p>
        </p:txBody>
      </p:sp>
      <p:cxnSp>
        <p:nvCxnSpPr>
          <p:cNvPr id="15" name="直接连接符 14"/>
          <p:cNvCxnSpPr/>
          <p:nvPr/>
        </p:nvCxnSpPr>
        <p:spPr>
          <a:xfrm flipH="1">
            <a:off x="7611616" y="644689"/>
            <a:ext cx="1920213" cy="0"/>
          </a:xfrm>
          <a:prstGeom prst="line">
            <a:avLst/>
          </a:prstGeom>
          <a:ln>
            <a:gradFill flip="none" rotWithShape="1">
              <a:gsLst>
                <a:gs pos="0">
                  <a:schemeClr val="bg1">
                    <a:alpha val="0"/>
                  </a:schemeClr>
                </a:gs>
                <a:gs pos="100000">
                  <a:schemeClr val="bg1"/>
                </a:gs>
              </a:gsLst>
              <a:lin ang="0" scaled="1"/>
              <a:tileRect/>
            </a:gradFill>
            <a:tailEnd type="oval"/>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527473" y="2870200"/>
            <a:ext cx="10638367" cy="1120140"/>
          </a:xfrm>
          <a:prstGeom prst="rect">
            <a:avLst/>
          </a:prstGeom>
          <a:noFill/>
        </p:spPr>
        <p:txBody>
          <a:bodyPr wrap="square" rtlCol="0">
            <a:noAutofit/>
          </a:bodyPr>
          <a:lstStyle/>
          <a:p>
            <a:pPr algn="l"/>
            <a:endParaRPr lang="en-US" altLang="zh-CN" sz="2400" dirty="0">
              <a:solidFill>
                <a:schemeClr val="tx1"/>
              </a:solidFill>
              <a:ea typeface="微软雅黑" panose="020B0503020204020204" charset="-122"/>
              <a:sym typeface="+mn-ea"/>
            </a:endParaRPr>
          </a:p>
          <a:p>
            <a:pPr algn="l"/>
            <a:r>
              <a:rPr lang="en-US" altLang="zh-CN" sz="2400" dirty="0">
                <a:solidFill>
                  <a:schemeClr val="tx1"/>
                </a:solidFill>
                <a:ea typeface="微软雅黑" panose="020B0503020204020204" charset="-122"/>
                <a:sym typeface="+mn-ea"/>
              </a:rPr>
              <a:t>      </a:t>
            </a:r>
          </a:p>
          <a:p>
            <a:pPr algn="l"/>
            <a:endParaRPr lang="en-US" altLang="zh-CN" sz="2400" dirty="0">
              <a:solidFill>
                <a:schemeClr val="tx1"/>
              </a:solidFill>
              <a:ea typeface="微软雅黑" panose="020B0503020204020204" charset="-122"/>
              <a:sym typeface="+mn-ea"/>
            </a:endParaRPr>
          </a:p>
          <a:p>
            <a:pPr algn="l"/>
            <a:endParaRPr lang="en-US" altLang="zh-CN" sz="2400" dirty="0">
              <a:solidFill>
                <a:schemeClr val="tx1"/>
              </a:solidFill>
              <a:ea typeface="微软雅黑" panose="020B0503020204020204" charset="-122"/>
              <a:sym typeface="+mn-ea"/>
            </a:endParaRPr>
          </a:p>
        </p:txBody>
      </p:sp>
      <p:sp>
        <p:nvSpPr>
          <p:cNvPr id="4" name="文本框 3"/>
          <p:cNvSpPr txBox="1"/>
          <p:nvPr/>
        </p:nvSpPr>
        <p:spPr>
          <a:xfrm>
            <a:off x="825500" y="1192107"/>
            <a:ext cx="2732193" cy="460375"/>
          </a:xfrm>
          <a:prstGeom prst="rect">
            <a:avLst/>
          </a:prstGeom>
          <a:noFill/>
        </p:spPr>
        <p:txBody>
          <a:bodyPr wrap="square" rtlCol="0">
            <a:spAutoFit/>
          </a:bodyPr>
          <a:lstStyle/>
          <a:p>
            <a:r>
              <a:rPr lang="zh-CN" altLang="en-US" sz="2400" dirty="0">
                <a:solidFill>
                  <a:schemeClr val="tx1"/>
                </a:solidFill>
                <a:ea typeface="微软雅黑" panose="020B0503020204020204" charset="-122"/>
              </a:rPr>
              <a:t>人员人工（表样三）</a:t>
            </a:r>
          </a:p>
        </p:txBody>
      </p:sp>
      <p:sp>
        <p:nvSpPr>
          <p:cNvPr id="7" name="文本框 6"/>
          <p:cNvSpPr txBox="1"/>
          <p:nvPr/>
        </p:nvSpPr>
        <p:spPr>
          <a:xfrm>
            <a:off x="1308100" y="1636607"/>
            <a:ext cx="8006080" cy="1198880"/>
          </a:xfrm>
          <a:prstGeom prst="rect">
            <a:avLst/>
          </a:prstGeom>
          <a:noFill/>
        </p:spPr>
        <p:txBody>
          <a:bodyPr wrap="square" rtlCol="0">
            <a:spAutoFit/>
          </a:bodyPr>
          <a:lstStyle/>
          <a:p>
            <a:r>
              <a:rPr lang="en-US" altLang="zh-CN" sz="2400" b="1" dirty="0">
                <a:solidFill>
                  <a:schemeClr val="tx1"/>
                </a:solidFill>
                <a:ea typeface="微软雅黑" panose="020B0503020204020204" charset="-122"/>
                <a:sym typeface="+mn-ea"/>
              </a:rPr>
              <a:t>                                                  202*</a:t>
            </a:r>
            <a:r>
              <a:rPr lang="zh-CN" altLang="en-US" sz="2400" b="1" dirty="0">
                <a:solidFill>
                  <a:schemeClr val="tx1"/>
                </a:solidFill>
                <a:latin typeface="微软雅黑 Light" panose="020B0502040204020203" pitchFamily="34" charset="-122"/>
                <a:ea typeface="微软雅黑 Light" panose="020B0502040204020203" pitchFamily="34" charset="-122"/>
                <a:sym typeface="+mn-ea"/>
              </a:rPr>
              <a:t>年</a:t>
            </a:r>
            <a:r>
              <a:rPr lang="en-US" altLang="zh-CN" sz="2400" b="1" dirty="0">
                <a:solidFill>
                  <a:schemeClr val="tx1"/>
                </a:solidFill>
                <a:ea typeface="微软雅黑" panose="020B0503020204020204" charset="-122"/>
                <a:sym typeface="+mn-ea"/>
              </a:rPr>
              <a:t>**</a:t>
            </a:r>
            <a:r>
              <a:rPr lang="zh-CN" altLang="en-US" sz="2400" b="1" dirty="0">
                <a:solidFill>
                  <a:schemeClr val="tx1"/>
                </a:solidFill>
                <a:latin typeface="微软雅黑 Light" panose="020B0502040204020203" pitchFamily="34" charset="-122"/>
                <a:ea typeface="微软雅黑 Light" panose="020B0502040204020203" pitchFamily="34" charset="-122"/>
                <a:sym typeface="+mn-ea"/>
              </a:rPr>
              <a:t>月份工资分配表</a:t>
            </a:r>
          </a:p>
          <a:p>
            <a:r>
              <a:rPr lang="zh-CN" altLang="en-US" sz="2400" dirty="0">
                <a:solidFill>
                  <a:schemeClr val="tx1"/>
                </a:solidFill>
                <a:latin typeface="Cambria" panose="02040503050406030204" pitchFamily="18" charset="0"/>
                <a:ea typeface="微软雅黑 Light" panose="020B0502040204020203" pitchFamily="34" charset="-122"/>
                <a:sym typeface="+mn-ea"/>
              </a:rPr>
              <a:t>部门：技术研发部</a:t>
            </a:r>
            <a:endParaRPr lang="zh-CN" altLang="en-US" sz="2400" dirty="0">
              <a:solidFill>
                <a:schemeClr val="tx1"/>
              </a:solidFill>
              <a:latin typeface="微软雅黑" panose="020B0503020204020204" charset="-122"/>
              <a:ea typeface="微软雅黑" panose="020B0503020204020204" charset="-122"/>
            </a:endParaRPr>
          </a:p>
          <a:p>
            <a:endParaRPr lang="zh-CN" altLang="en-US" sz="2400" dirty="0">
              <a:solidFill>
                <a:schemeClr val="tx1"/>
              </a:solidFill>
              <a:latin typeface="微软雅黑" panose="020B0503020204020204" charset="-122"/>
              <a:ea typeface="微软雅黑" panose="020B0503020204020204" charset="-122"/>
            </a:endParaRPr>
          </a:p>
        </p:txBody>
      </p:sp>
      <p:graphicFrame>
        <p:nvGraphicFramePr>
          <p:cNvPr id="53251" name="表格 2"/>
          <p:cNvGraphicFramePr>
            <a:graphicFrameLocks noGrp="1"/>
          </p:cNvGraphicFramePr>
          <p:nvPr>
            <p:custDataLst>
              <p:tags r:id="rId1"/>
            </p:custDataLst>
          </p:nvPr>
        </p:nvGraphicFramePr>
        <p:xfrm>
          <a:off x="697653" y="2664460"/>
          <a:ext cx="10269855" cy="3380740"/>
        </p:xfrm>
        <a:graphic>
          <a:graphicData uri="http://schemas.openxmlformats.org/drawingml/2006/table">
            <a:tbl>
              <a:tblPr/>
              <a:tblGrid>
                <a:gridCol w="706755">
                  <a:extLst>
                    <a:ext uri="{9D8B030D-6E8A-4147-A177-3AD203B41FA5}">
                      <a16:colId xmlns:a16="http://schemas.microsoft.com/office/drawing/2014/main" val="20000"/>
                    </a:ext>
                  </a:extLst>
                </a:gridCol>
                <a:gridCol w="1111250">
                  <a:extLst>
                    <a:ext uri="{9D8B030D-6E8A-4147-A177-3AD203B41FA5}">
                      <a16:colId xmlns:a16="http://schemas.microsoft.com/office/drawing/2014/main" val="20001"/>
                    </a:ext>
                  </a:extLst>
                </a:gridCol>
                <a:gridCol w="1852930">
                  <a:extLst>
                    <a:ext uri="{9D8B030D-6E8A-4147-A177-3AD203B41FA5}">
                      <a16:colId xmlns:a16="http://schemas.microsoft.com/office/drawing/2014/main" val="20002"/>
                    </a:ext>
                  </a:extLst>
                </a:gridCol>
                <a:gridCol w="1518285">
                  <a:extLst>
                    <a:ext uri="{9D8B030D-6E8A-4147-A177-3AD203B41FA5}">
                      <a16:colId xmlns:a16="http://schemas.microsoft.com/office/drawing/2014/main" val="20003"/>
                    </a:ext>
                  </a:extLst>
                </a:gridCol>
                <a:gridCol w="1649095">
                  <a:extLst>
                    <a:ext uri="{9D8B030D-6E8A-4147-A177-3AD203B41FA5}">
                      <a16:colId xmlns:a16="http://schemas.microsoft.com/office/drawing/2014/main" val="20004"/>
                    </a:ext>
                  </a:extLst>
                </a:gridCol>
                <a:gridCol w="1750695">
                  <a:extLst>
                    <a:ext uri="{9D8B030D-6E8A-4147-A177-3AD203B41FA5}">
                      <a16:colId xmlns:a16="http://schemas.microsoft.com/office/drawing/2014/main" val="20005"/>
                    </a:ext>
                  </a:extLst>
                </a:gridCol>
                <a:gridCol w="1680845">
                  <a:extLst>
                    <a:ext uri="{9D8B030D-6E8A-4147-A177-3AD203B41FA5}">
                      <a16:colId xmlns:a16="http://schemas.microsoft.com/office/drawing/2014/main" val="20006"/>
                    </a:ext>
                  </a:extLst>
                </a:gridCol>
              </a:tblGrid>
              <a:tr h="317500">
                <a:tc rowSpan="2">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dirty="0">
                          <a:ln>
                            <a:noFill/>
                          </a:ln>
                          <a:solidFill>
                            <a:schemeClr val="tx1"/>
                          </a:solidFill>
                          <a:effectLst/>
                          <a:latin typeface="Calibri" panose="020F0502020204030204" charset="0"/>
                          <a:ea typeface="微软雅黑" panose="020B0503020204020204" charset="-122"/>
                          <a:cs typeface="Times New Roman" panose="02020603050405020304" charset="0"/>
                        </a:rPr>
                        <a:t>序号</a:t>
                      </a:r>
                    </a:p>
                  </a:txBody>
                  <a:tcPr marL="12700" marR="12700" marT="1270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alpha val="24000"/>
                      </a:srgbClr>
                    </a:solidFill>
                  </a:tcPr>
                </a:tc>
                <a:tc rowSpan="2">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dirty="0">
                          <a:ln>
                            <a:noFill/>
                          </a:ln>
                          <a:solidFill>
                            <a:schemeClr val="tx1"/>
                          </a:solidFill>
                          <a:effectLst/>
                          <a:latin typeface="Calibri" panose="020F0502020204030204" charset="0"/>
                          <a:ea typeface="微软雅黑" panose="020B0503020204020204" charset="-122"/>
                          <a:cs typeface="Times New Roman" panose="02020603050405020304" charset="0"/>
                        </a:rPr>
                        <a:t>姓名</a:t>
                      </a:r>
                    </a:p>
                  </a:txBody>
                  <a:tcPr marL="12700" marR="12700" marT="1270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alpha val="24000"/>
                      </a:srgbClr>
                    </a:solidFill>
                  </a:tcPr>
                </a:tc>
                <a:tc rowSpan="2">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dirty="0">
                          <a:ln>
                            <a:noFill/>
                          </a:ln>
                          <a:solidFill>
                            <a:schemeClr val="tx1"/>
                          </a:solidFill>
                          <a:effectLst/>
                          <a:latin typeface="Calibri" panose="020F0502020204030204" charset="0"/>
                          <a:ea typeface="微软雅黑" panose="020B0503020204020204" charset="-122"/>
                          <a:cs typeface="Times New Roman" panose="02020603050405020304" charset="0"/>
                        </a:rPr>
                        <a:t>工资分配金额</a:t>
                      </a:r>
                    </a:p>
                  </a:txBody>
                  <a:tcPr marL="12700" marR="12700" marT="1270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alpha val="24000"/>
                      </a:srgbClr>
                    </a:solidFill>
                  </a:tcPr>
                </a:tc>
                <a:tc gridSpan="4">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dirty="0">
                          <a:ln>
                            <a:noFill/>
                          </a:ln>
                          <a:solidFill>
                            <a:schemeClr val="tx1"/>
                          </a:solidFill>
                          <a:effectLst/>
                          <a:latin typeface="Calibri" panose="020F0502020204030204" charset="0"/>
                          <a:ea typeface="微软雅黑" panose="020B0503020204020204" charset="-122"/>
                          <a:cs typeface="Times New Roman" panose="02020603050405020304" charset="0"/>
                        </a:rPr>
                        <a:t>其中</a:t>
                      </a:r>
                    </a:p>
                  </a:txBody>
                  <a:tcPr marL="12700" marR="12700" marT="1270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alpha val="24000"/>
                      </a:srgbClr>
                    </a:solidFill>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0"/>
                  </a:ext>
                </a:extLst>
              </a:tr>
              <a:tr h="317500">
                <a:tc vMerge="1">
                  <a:txBody>
                    <a:bodyPr/>
                    <a:lstStyle/>
                    <a:p>
                      <a:endParaRPr lang="zh-CN"/>
                    </a:p>
                  </a:txBody>
                  <a:tcPr/>
                </a:tc>
                <a:tc vMerge="1">
                  <a:txBody>
                    <a:bodyPr/>
                    <a:lstStyle/>
                    <a:p>
                      <a:endParaRPr lang="zh-CN"/>
                    </a:p>
                  </a:txBody>
                  <a:tcPr/>
                </a:tc>
                <a:tc vMerge="1">
                  <a:txBody>
                    <a:bodyPr/>
                    <a:lstStyle/>
                    <a:p>
                      <a:endParaRPr lang="zh-CN"/>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dirty="0">
                          <a:ln>
                            <a:noFill/>
                          </a:ln>
                          <a:solidFill>
                            <a:schemeClr val="tx1"/>
                          </a:solidFill>
                          <a:effectLst/>
                          <a:latin typeface="Calibri" panose="020F0502020204030204" charset="0"/>
                          <a:ea typeface="微软雅黑" panose="020B0503020204020204" charset="-122"/>
                          <a:cs typeface="Times New Roman" panose="02020603050405020304" charset="0"/>
                        </a:rPr>
                        <a:t>A</a:t>
                      </a:r>
                      <a:r>
                        <a:rPr kumimoji="0" lang="zh-CN" altLang="en-US" sz="2000" b="1" i="0" u="none" strike="noStrike" cap="none" normalizeH="0" baseline="0" dirty="0">
                          <a:ln>
                            <a:noFill/>
                          </a:ln>
                          <a:solidFill>
                            <a:schemeClr val="tx1"/>
                          </a:solidFill>
                          <a:effectLst/>
                          <a:latin typeface="Calibri" panose="020F0502020204030204" charset="0"/>
                          <a:ea typeface="微软雅黑" panose="020B0503020204020204" charset="-122"/>
                          <a:cs typeface="Times New Roman" panose="02020603050405020304" charset="0"/>
                        </a:rPr>
                        <a:t>项目</a:t>
                      </a:r>
                    </a:p>
                  </a:txBody>
                  <a:tcPr marL="12700" marR="12700" marT="1270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alpha val="24000"/>
                      </a:srgb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dirty="0">
                          <a:ln>
                            <a:noFill/>
                          </a:ln>
                          <a:solidFill>
                            <a:schemeClr val="tx1"/>
                          </a:solidFill>
                          <a:effectLst/>
                          <a:latin typeface="Calibri" panose="020F0502020204030204" charset="0"/>
                          <a:ea typeface="微软雅黑" panose="020B0503020204020204" charset="-122"/>
                          <a:cs typeface="Times New Roman" panose="02020603050405020304" charset="0"/>
                        </a:rPr>
                        <a:t>B</a:t>
                      </a:r>
                      <a:r>
                        <a:rPr kumimoji="0" lang="zh-CN" altLang="en-US" sz="2000" b="1" i="0" u="none" strike="noStrike" cap="none" normalizeH="0" baseline="0" dirty="0">
                          <a:ln>
                            <a:noFill/>
                          </a:ln>
                          <a:solidFill>
                            <a:schemeClr val="tx1"/>
                          </a:solidFill>
                          <a:effectLst/>
                          <a:latin typeface="Calibri" panose="020F0502020204030204" charset="0"/>
                          <a:ea typeface="微软雅黑" panose="020B0503020204020204" charset="-122"/>
                          <a:cs typeface="Times New Roman" panose="02020603050405020304" charset="0"/>
                        </a:rPr>
                        <a:t>项目</a:t>
                      </a:r>
                    </a:p>
                  </a:txBody>
                  <a:tcPr marL="12700" marR="12700" marT="1270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alpha val="24000"/>
                      </a:srgb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dirty="0">
                          <a:ln>
                            <a:noFill/>
                          </a:ln>
                          <a:solidFill>
                            <a:schemeClr val="tx1"/>
                          </a:solidFill>
                          <a:effectLst/>
                          <a:latin typeface="Calibri" panose="020F0502020204030204" charset="0"/>
                          <a:ea typeface="微软雅黑" panose="020B0503020204020204" charset="-122"/>
                          <a:cs typeface="Times New Roman" panose="02020603050405020304" charset="0"/>
                        </a:rPr>
                        <a:t>C</a:t>
                      </a:r>
                      <a:r>
                        <a:rPr kumimoji="0" lang="zh-CN" altLang="en-US" sz="2000" b="1" i="0" u="none" strike="noStrike" cap="none" normalizeH="0" baseline="0" dirty="0">
                          <a:ln>
                            <a:noFill/>
                          </a:ln>
                          <a:solidFill>
                            <a:schemeClr val="tx1"/>
                          </a:solidFill>
                          <a:effectLst/>
                          <a:latin typeface="Calibri" panose="020F0502020204030204" charset="0"/>
                          <a:ea typeface="微软雅黑" panose="020B0503020204020204" charset="-122"/>
                          <a:cs typeface="Times New Roman" panose="02020603050405020304" charset="0"/>
                        </a:rPr>
                        <a:t>项目</a:t>
                      </a:r>
                    </a:p>
                  </a:txBody>
                  <a:tcPr marL="12700" marR="12700" marT="1270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alpha val="24000"/>
                      </a:srgb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dirty="0">
                          <a:ln>
                            <a:noFill/>
                          </a:ln>
                          <a:solidFill>
                            <a:schemeClr val="tx1"/>
                          </a:solidFill>
                          <a:effectLst/>
                          <a:latin typeface="Calibri" panose="020F0502020204030204" charset="0"/>
                          <a:ea typeface="微软雅黑" panose="020B0503020204020204" charset="-122"/>
                          <a:cs typeface="Times New Roman" panose="02020603050405020304" charset="0"/>
                        </a:rPr>
                        <a:t>D</a:t>
                      </a:r>
                      <a:r>
                        <a:rPr kumimoji="0" lang="zh-CN" altLang="en-US" sz="2000" b="1" i="0" u="none" strike="noStrike" cap="none" normalizeH="0" baseline="0" dirty="0">
                          <a:ln>
                            <a:noFill/>
                          </a:ln>
                          <a:solidFill>
                            <a:schemeClr val="tx1"/>
                          </a:solidFill>
                          <a:effectLst/>
                          <a:latin typeface="Calibri" panose="020F0502020204030204" charset="0"/>
                          <a:ea typeface="微软雅黑" panose="020B0503020204020204" charset="-122"/>
                          <a:cs typeface="Times New Roman" panose="02020603050405020304" charset="0"/>
                        </a:rPr>
                        <a:t>项目</a:t>
                      </a:r>
                    </a:p>
                  </a:txBody>
                  <a:tcPr marL="12700" marR="12700" marT="1270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alpha val="24000"/>
                      </a:srgbClr>
                    </a:solidFill>
                  </a:tcPr>
                </a:tc>
                <a:extLst>
                  <a:ext uri="{0D108BD9-81ED-4DB2-BD59-A6C34878D82A}">
                    <a16:rowId xmlns:a16="http://schemas.microsoft.com/office/drawing/2014/main" val="10001"/>
                  </a:ext>
                </a:extLst>
              </a:tr>
              <a:tr h="31750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dirty="0">
                          <a:ln>
                            <a:noFill/>
                          </a:ln>
                          <a:solidFill>
                            <a:schemeClr val="tx1"/>
                          </a:solidFill>
                          <a:effectLst/>
                          <a:latin typeface="Calibri" panose="020F0502020204030204" charset="0"/>
                          <a:ea typeface="微软雅黑" panose="020B0503020204020204" charset="-122"/>
                          <a:cs typeface="Times New Roman" panose="02020603050405020304" charset="0"/>
                        </a:rPr>
                        <a:t>1</a:t>
                      </a:r>
                    </a:p>
                  </a:txBody>
                  <a:tcPr marL="12700" marR="12700" marT="1270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dirty="0">
                          <a:ln>
                            <a:noFill/>
                          </a:ln>
                          <a:solidFill>
                            <a:schemeClr val="tx1"/>
                          </a:solidFill>
                          <a:effectLst/>
                          <a:latin typeface="Calibri" panose="020F0502020204030204" charset="0"/>
                          <a:ea typeface="微软雅黑" panose="020B0503020204020204" charset="-122"/>
                          <a:cs typeface="Times New Roman" panose="02020603050405020304" charset="0"/>
                        </a:rPr>
                        <a:t>张三</a:t>
                      </a:r>
                    </a:p>
                  </a:txBody>
                  <a:tcPr marL="12700" marR="12700" marT="1270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dirty="0">
                          <a:ln>
                            <a:noFill/>
                          </a:ln>
                          <a:solidFill>
                            <a:schemeClr val="tx1"/>
                          </a:solidFill>
                          <a:effectLst/>
                          <a:latin typeface="Calibri" panose="020F0502020204030204" charset="0"/>
                          <a:ea typeface="微软雅黑" panose="020B0503020204020204" charset="-122"/>
                          <a:cs typeface="Times New Roman" panose="02020603050405020304" charset="0"/>
                        </a:rPr>
                        <a:t>  3,800.00 </a:t>
                      </a:r>
                    </a:p>
                  </a:txBody>
                  <a:tcPr marL="12700" marR="12700" marT="1270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dirty="0">
                          <a:ln>
                            <a:noFill/>
                          </a:ln>
                          <a:solidFill>
                            <a:schemeClr val="tx1"/>
                          </a:solidFill>
                          <a:effectLst/>
                          <a:latin typeface="Calibri" panose="020F0502020204030204" charset="0"/>
                          <a:ea typeface="微软雅黑" panose="020B0503020204020204" charset="-122"/>
                          <a:cs typeface="Times New Roman" panose="02020603050405020304" charset="0"/>
                        </a:rPr>
                        <a:t> 1,381.82</a:t>
                      </a:r>
                    </a:p>
                  </a:txBody>
                  <a:tcPr marL="12700" marR="12700" marT="1270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dirty="0">
                          <a:ln>
                            <a:noFill/>
                          </a:ln>
                          <a:solidFill>
                            <a:schemeClr val="tx1"/>
                          </a:solidFill>
                          <a:effectLst/>
                          <a:latin typeface="Calibri" panose="020F0502020204030204" charset="0"/>
                          <a:ea typeface="微软雅黑" panose="020B0503020204020204" charset="-122"/>
                          <a:cs typeface="Times New Roman" panose="02020603050405020304" charset="0"/>
                        </a:rPr>
                        <a:t>    518.18</a:t>
                      </a:r>
                    </a:p>
                  </a:txBody>
                  <a:tcPr marL="12700" marR="12700" marT="1270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dirty="0">
                          <a:ln>
                            <a:noFill/>
                          </a:ln>
                          <a:solidFill>
                            <a:schemeClr val="tx1"/>
                          </a:solidFill>
                          <a:effectLst/>
                          <a:latin typeface="Calibri" panose="020F0502020204030204" charset="0"/>
                          <a:ea typeface="微软雅黑" panose="020B0503020204020204" charset="-122"/>
                          <a:cs typeface="Times New Roman" panose="02020603050405020304" charset="0"/>
                        </a:rPr>
                        <a:t>   1,036.36</a:t>
                      </a:r>
                    </a:p>
                  </a:txBody>
                  <a:tcPr marL="12700" marR="12700" marT="1270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dirty="0">
                          <a:ln>
                            <a:noFill/>
                          </a:ln>
                          <a:solidFill>
                            <a:schemeClr val="tx1"/>
                          </a:solidFill>
                          <a:effectLst/>
                          <a:latin typeface="Calibri" panose="020F0502020204030204" charset="0"/>
                          <a:ea typeface="微软雅黑" panose="020B0503020204020204" charset="-122"/>
                          <a:cs typeface="Times New Roman" panose="02020603050405020304" charset="0"/>
                        </a:rPr>
                        <a:t>    863.64</a:t>
                      </a:r>
                    </a:p>
                  </a:txBody>
                  <a:tcPr marL="12700" marR="12700" marT="1270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79425">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dirty="0">
                          <a:ln>
                            <a:noFill/>
                          </a:ln>
                          <a:solidFill>
                            <a:schemeClr val="tx1"/>
                          </a:solidFill>
                          <a:effectLst/>
                          <a:latin typeface="Calibri" panose="020F0502020204030204" charset="0"/>
                          <a:ea typeface="微软雅黑" panose="020B0503020204020204" charset="-122"/>
                          <a:cs typeface="Times New Roman" panose="02020603050405020304" charset="0"/>
                        </a:rPr>
                        <a:t>2</a:t>
                      </a:r>
                    </a:p>
                  </a:txBody>
                  <a:tcPr marL="12700" marR="12700" marT="1270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dirty="0">
                          <a:ln>
                            <a:noFill/>
                          </a:ln>
                          <a:solidFill>
                            <a:schemeClr val="tx1"/>
                          </a:solidFill>
                          <a:effectLst/>
                          <a:latin typeface="Calibri" panose="020F0502020204030204" charset="0"/>
                          <a:ea typeface="微软雅黑" panose="020B0503020204020204" charset="-122"/>
                          <a:cs typeface="Times New Roman" panose="02020603050405020304" charset="0"/>
                        </a:rPr>
                        <a:t>李四</a:t>
                      </a:r>
                    </a:p>
                  </a:txBody>
                  <a:tcPr marL="12700" marR="12700" marT="1270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dirty="0">
                          <a:ln>
                            <a:noFill/>
                          </a:ln>
                          <a:solidFill>
                            <a:schemeClr val="tx1"/>
                          </a:solidFill>
                          <a:effectLst/>
                          <a:latin typeface="Calibri" panose="020F0502020204030204" charset="0"/>
                          <a:ea typeface="微软雅黑" panose="020B0503020204020204" charset="-122"/>
                          <a:cs typeface="Times New Roman" panose="02020603050405020304" charset="0"/>
                        </a:rPr>
                        <a:t>  3,700.00 </a:t>
                      </a:r>
                    </a:p>
                  </a:txBody>
                  <a:tcPr marL="12700" marR="12700" marT="1270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dirty="0">
                          <a:ln>
                            <a:noFill/>
                          </a:ln>
                          <a:solidFill>
                            <a:schemeClr val="tx1"/>
                          </a:solidFill>
                          <a:effectLst/>
                          <a:latin typeface="Calibri" panose="020F0502020204030204" charset="0"/>
                          <a:ea typeface="微软雅黑" panose="020B0503020204020204" charset="-122"/>
                          <a:cs typeface="Times New Roman" panose="02020603050405020304" charset="0"/>
                        </a:rPr>
                        <a:t>1,009.09</a:t>
                      </a:r>
                    </a:p>
                  </a:txBody>
                  <a:tcPr marL="12700" marR="12700" marT="1270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dirty="0">
                          <a:ln>
                            <a:noFill/>
                          </a:ln>
                          <a:solidFill>
                            <a:schemeClr val="tx1"/>
                          </a:solidFill>
                          <a:effectLst/>
                          <a:latin typeface="Calibri" panose="020F0502020204030204" charset="0"/>
                          <a:ea typeface="微软雅黑" panose="020B0503020204020204" charset="-122"/>
                          <a:cs typeface="Times New Roman" panose="02020603050405020304" charset="0"/>
                        </a:rPr>
                        <a:t> 1,009.09</a:t>
                      </a:r>
                    </a:p>
                  </a:txBody>
                  <a:tcPr marL="12700" marR="12700" marT="1270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dirty="0">
                          <a:ln>
                            <a:noFill/>
                          </a:ln>
                          <a:solidFill>
                            <a:schemeClr val="tx1"/>
                          </a:solidFill>
                          <a:effectLst/>
                          <a:latin typeface="Calibri" panose="020F0502020204030204" charset="0"/>
                          <a:ea typeface="微软雅黑" panose="020B0503020204020204" charset="-122"/>
                          <a:cs typeface="Times New Roman" panose="02020603050405020304" charset="0"/>
                        </a:rPr>
                        <a:t>             840.91</a:t>
                      </a:r>
                    </a:p>
                  </a:txBody>
                  <a:tcPr marL="12700" marR="12700" marT="1270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dirty="0">
                          <a:ln>
                            <a:noFill/>
                          </a:ln>
                          <a:solidFill>
                            <a:schemeClr val="tx1"/>
                          </a:solidFill>
                          <a:effectLst/>
                          <a:latin typeface="Calibri" panose="020F0502020204030204" charset="0"/>
                          <a:ea typeface="微软雅黑" panose="020B0503020204020204" charset="-122"/>
                          <a:cs typeface="Times New Roman" panose="02020603050405020304" charset="0"/>
                        </a:rPr>
                        <a:t>            840.91</a:t>
                      </a:r>
                    </a:p>
                  </a:txBody>
                  <a:tcPr marL="12700" marR="12700" marT="1270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79425">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dirty="0">
                          <a:ln>
                            <a:noFill/>
                          </a:ln>
                          <a:solidFill>
                            <a:schemeClr val="tx1"/>
                          </a:solidFill>
                          <a:effectLst/>
                          <a:latin typeface="Calibri" panose="020F0502020204030204" charset="0"/>
                          <a:ea typeface="微软雅黑" panose="020B0503020204020204" charset="-122"/>
                          <a:cs typeface="Times New Roman" panose="02020603050405020304" charset="0"/>
                        </a:rPr>
                        <a:t>3</a:t>
                      </a:r>
                    </a:p>
                  </a:txBody>
                  <a:tcPr marL="12700" marR="12700" marT="1270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dirty="0">
                          <a:ln>
                            <a:noFill/>
                          </a:ln>
                          <a:solidFill>
                            <a:schemeClr val="tx1"/>
                          </a:solidFill>
                          <a:effectLst/>
                          <a:latin typeface="Calibri" panose="020F0502020204030204" charset="0"/>
                          <a:ea typeface="微软雅黑" panose="020B0503020204020204" charset="-122"/>
                          <a:cs typeface="Times New Roman" panose="02020603050405020304" charset="0"/>
                        </a:rPr>
                        <a:t>王五</a:t>
                      </a:r>
                    </a:p>
                  </a:txBody>
                  <a:tcPr marL="12700" marR="12700" marT="1270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dirty="0">
                          <a:ln>
                            <a:noFill/>
                          </a:ln>
                          <a:solidFill>
                            <a:schemeClr val="tx1"/>
                          </a:solidFill>
                          <a:effectLst/>
                          <a:latin typeface="Calibri" panose="020F0502020204030204" charset="0"/>
                          <a:ea typeface="微软雅黑" panose="020B0503020204020204" charset="-122"/>
                          <a:cs typeface="Times New Roman" panose="02020603050405020304" charset="0"/>
                        </a:rPr>
                        <a:t>  6,000.00 </a:t>
                      </a:r>
                    </a:p>
                  </a:txBody>
                  <a:tcPr marL="12700" marR="12700" marT="1270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dirty="0">
                          <a:ln>
                            <a:noFill/>
                          </a:ln>
                          <a:solidFill>
                            <a:schemeClr val="tx1"/>
                          </a:solidFill>
                          <a:effectLst/>
                          <a:latin typeface="Calibri" panose="020F0502020204030204" charset="0"/>
                          <a:ea typeface="微软雅黑" panose="020B0503020204020204" charset="-122"/>
                          <a:cs typeface="Times New Roman" panose="02020603050405020304" charset="0"/>
                        </a:rPr>
                        <a:t>1,909.09</a:t>
                      </a:r>
                    </a:p>
                  </a:txBody>
                  <a:tcPr marL="12700" marR="12700" marT="1270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dirty="0">
                          <a:ln>
                            <a:noFill/>
                          </a:ln>
                          <a:solidFill>
                            <a:schemeClr val="tx1"/>
                          </a:solidFill>
                          <a:effectLst/>
                          <a:latin typeface="Calibri" panose="020F0502020204030204" charset="0"/>
                          <a:ea typeface="微软雅黑" panose="020B0503020204020204" charset="-122"/>
                          <a:cs typeface="Times New Roman" panose="02020603050405020304" charset="0"/>
                        </a:rPr>
                        <a:t>        -   </a:t>
                      </a:r>
                    </a:p>
                  </a:txBody>
                  <a:tcPr marL="12700" marR="12700" marT="1270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dirty="0">
                          <a:ln>
                            <a:noFill/>
                          </a:ln>
                          <a:solidFill>
                            <a:schemeClr val="tx1"/>
                          </a:solidFill>
                          <a:effectLst/>
                          <a:latin typeface="Calibri" panose="020F0502020204030204" charset="0"/>
                          <a:ea typeface="微软雅黑" panose="020B0503020204020204" charset="-122"/>
                          <a:cs typeface="Times New Roman" panose="02020603050405020304" charset="0"/>
                        </a:rPr>
                        <a:t>          1,909.09</a:t>
                      </a:r>
                    </a:p>
                  </a:txBody>
                  <a:tcPr marL="12700" marR="12700" marT="1270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dirty="0">
                          <a:ln>
                            <a:noFill/>
                          </a:ln>
                          <a:solidFill>
                            <a:schemeClr val="tx1"/>
                          </a:solidFill>
                          <a:effectLst/>
                          <a:latin typeface="Calibri" panose="020F0502020204030204" charset="0"/>
                          <a:ea typeface="微软雅黑" panose="020B0503020204020204" charset="-122"/>
                          <a:cs typeface="Times New Roman" panose="02020603050405020304" charset="0"/>
                        </a:rPr>
                        <a:t>         2,181.82</a:t>
                      </a:r>
                    </a:p>
                  </a:txBody>
                  <a:tcPr marL="12700" marR="12700" marT="1270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79425">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dirty="0">
                          <a:ln>
                            <a:noFill/>
                          </a:ln>
                          <a:solidFill>
                            <a:schemeClr val="tx1"/>
                          </a:solidFill>
                          <a:effectLst/>
                          <a:latin typeface="Calibri" panose="020F0502020204030204" charset="0"/>
                          <a:ea typeface="微软雅黑" panose="020B0503020204020204" charset="-122"/>
                          <a:cs typeface="Times New Roman" panose="02020603050405020304" charset="0"/>
                        </a:rPr>
                        <a:t>4</a:t>
                      </a:r>
                    </a:p>
                  </a:txBody>
                  <a:tcPr marL="12700" marR="12700" marT="1270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dirty="0">
                          <a:ln>
                            <a:noFill/>
                          </a:ln>
                          <a:solidFill>
                            <a:schemeClr val="tx1"/>
                          </a:solidFill>
                          <a:effectLst/>
                          <a:latin typeface="Calibri" panose="020F0502020204030204" charset="0"/>
                          <a:ea typeface="微软雅黑" panose="020B0503020204020204" charset="-122"/>
                          <a:cs typeface="Times New Roman" panose="02020603050405020304" charset="0"/>
                        </a:rPr>
                        <a:t>赵六</a:t>
                      </a:r>
                    </a:p>
                  </a:txBody>
                  <a:tcPr marL="12700" marR="12700" marT="1270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dirty="0">
                          <a:ln>
                            <a:noFill/>
                          </a:ln>
                          <a:solidFill>
                            <a:schemeClr val="tx1"/>
                          </a:solidFill>
                          <a:effectLst/>
                          <a:latin typeface="Calibri" panose="020F0502020204030204" charset="0"/>
                          <a:ea typeface="微软雅黑" panose="020B0503020204020204" charset="-122"/>
                          <a:cs typeface="Times New Roman" panose="02020603050405020304" charset="0"/>
                        </a:rPr>
                        <a:t>  5,000.00 </a:t>
                      </a:r>
                    </a:p>
                  </a:txBody>
                  <a:tcPr marL="12700" marR="12700" marT="1270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dirty="0">
                          <a:ln>
                            <a:noFill/>
                          </a:ln>
                          <a:solidFill>
                            <a:schemeClr val="tx1"/>
                          </a:solidFill>
                          <a:effectLst/>
                          <a:latin typeface="Calibri" panose="020F0502020204030204" charset="0"/>
                          <a:ea typeface="微软雅黑" panose="020B0503020204020204" charset="-122"/>
                          <a:cs typeface="Times New Roman" panose="02020603050405020304" charset="0"/>
                        </a:rPr>
                        <a:t>        -   </a:t>
                      </a:r>
                    </a:p>
                  </a:txBody>
                  <a:tcPr marL="12700" marR="12700" marT="1270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dirty="0">
                          <a:ln>
                            <a:noFill/>
                          </a:ln>
                          <a:solidFill>
                            <a:schemeClr val="tx1"/>
                          </a:solidFill>
                          <a:effectLst/>
                          <a:latin typeface="Calibri" panose="020F0502020204030204" charset="0"/>
                          <a:ea typeface="微软雅黑" panose="020B0503020204020204" charset="-122"/>
                          <a:cs typeface="Times New Roman" panose="02020603050405020304" charset="0"/>
                        </a:rPr>
                        <a:t>       1,363.64</a:t>
                      </a:r>
                    </a:p>
                  </a:txBody>
                  <a:tcPr marL="12700" marR="12700" marT="1270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dirty="0">
                          <a:ln>
                            <a:noFill/>
                          </a:ln>
                          <a:solidFill>
                            <a:schemeClr val="tx1"/>
                          </a:solidFill>
                          <a:effectLst/>
                          <a:latin typeface="Calibri" panose="020F0502020204030204" charset="0"/>
                          <a:ea typeface="微软雅黑" panose="020B0503020204020204" charset="-122"/>
                          <a:cs typeface="Times New Roman" panose="02020603050405020304" charset="0"/>
                        </a:rPr>
                        <a:t>          2,272.72</a:t>
                      </a:r>
                    </a:p>
                  </a:txBody>
                  <a:tcPr marL="12700" marR="12700" marT="1270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dirty="0">
                          <a:ln>
                            <a:noFill/>
                          </a:ln>
                          <a:solidFill>
                            <a:schemeClr val="tx1"/>
                          </a:solidFill>
                          <a:effectLst/>
                          <a:latin typeface="Calibri" panose="020F0502020204030204" charset="0"/>
                          <a:ea typeface="微软雅黑" panose="020B0503020204020204" charset="-122"/>
                          <a:cs typeface="Times New Roman" panose="02020603050405020304" charset="0"/>
                        </a:rPr>
                        <a:t>         1,363.64</a:t>
                      </a:r>
                    </a:p>
                  </a:txBody>
                  <a:tcPr marL="12700" marR="12700" marT="1270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26720">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dirty="0">
                        <a:ln>
                          <a:noFill/>
                        </a:ln>
                        <a:solidFill>
                          <a:schemeClr val="tx1"/>
                        </a:solidFill>
                        <a:effectLst/>
                        <a:latin typeface="Calibri" panose="020F0502020204030204" charset="0"/>
                        <a:ea typeface="微软雅黑" panose="020B0503020204020204" charset="-122"/>
                      </a:endParaRPr>
                    </a:p>
                  </a:txBody>
                  <a:tcPr marL="121917" marR="121917" marT="60960" marB="609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2000" b="1" i="0" u="none" strike="noStrike" cap="none" normalizeH="0" baseline="0" dirty="0">
                          <a:ln>
                            <a:noFill/>
                          </a:ln>
                          <a:solidFill>
                            <a:schemeClr val="tx1"/>
                          </a:solidFill>
                          <a:effectLst/>
                          <a:latin typeface="Calibri" panose="020F0502020204030204" charset="0"/>
                          <a:ea typeface="微软雅黑" panose="020B0503020204020204" charset="-122"/>
                          <a:cs typeface="Times New Roman" panose="02020603050405020304" charset="0"/>
                        </a:rPr>
                        <a:t>……</a:t>
                      </a:r>
                    </a:p>
                  </a:txBody>
                  <a:tcPr marL="12700" marR="12700" marT="1270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dirty="0">
                        <a:ln>
                          <a:noFill/>
                        </a:ln>
                        <a:solidFill>
                          <a:schemeClr val="tx1"/>
                        </a:solidFill>
                        <a:effectLst/>
                        <a:latin typeface="Calibri" panose="020F0502020204030204" charset="0"/>
                        <a:ea typeface="微软雅黑" panose="020B0503020204020204" charset="-122"/>
                      </a:endParaRPr>
                    </a:p>
                  </a:txBody>
                  <a:tcPr marL="121917" marR="121917" marT="60960" marB="609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1" i="0" u="none" strike="noStrike" cap="none" normalizeH="0" baseline="0" dirty="0">
                        <a:ln>
                          <a:noFill/>
                        </a:ln>
                        <a:solidFill>
                          <a:schemeClr val="tx1"/>
                        </a:solidFill>
                        <a:effectLst/>
                        <a:latin typeface="Calibri" panose="020F0502020204030204" charset="0"/>
                        <a:ea typeface="微软雅黑" panose="020B0503020204020204" charset="-122"/>
                        <a:cs typeface="Times New Roman" panose="02020603050405020304" charset="0"/>
                      </a:endParaRPr>
                    </a:p>
                  </a:txBody>
                  <a:tcPr marL="121917" marR="121917" marT="60960" marB="609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1" i="0" u="none" strike="noStrike" cap="none" normalizeH="0" baseline="0" dirty="0">
                        <a:ln>
                          <a:noFill/>
                        </a:ln>
                        <a:solidFill>
                          <a:schemeClr val="tx1"/>
                        </a:solidFill>
                        <a:effectLst/>
                        <a:latin typeface="Calibri" panose="020F0502020204030204" charset="0"/>
                        <a:ea typeface="微软雅黑" panose="020B0503020204020204" charset="-122"/>
                        <a:cs typeface="Times New Roman" panose="02020603050405020304" charset="0"/>
                      </a:endParaRPr>
                    </a:p>
                  </a:txBody>
                  <a:tcPr marL="121917" marR="121917" marT="60960" marB="609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1" i="0" u="none" strike="noStrike" cap="none" normalizeH="0" baseline="0" dirty="0">
                        <a:ln>
                          <a:noFill/>
                        </a:ln>
                        <a:solidFill>
                          <a:schemeClr val="tx1"/>
                        </a:solidFill>
                        <a:effectLst/>
                        <a:latin typeface="Calibri" panose="020F0502020204030204" charset="0"/>
                        <a:ea typeface="微软雅黑" panose="020B0503020204020204" charset="-122"/>
                        <a:cs typeface="Times New Roman" panose="02020603050405020304" charset="0"/>
                      </a:endParaRPr>
                    </a:p>
                  </a:txBody>
                  <a:tcPr marL="121917" marR="121917" marT="60960" marB="609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1" i="0" u="none" strike="noStrike" cap="none" normalizeH="0" baseline="0" dirty="0">
                        <a:ln>
                          <a:noFill/>
                        </a:ln>
                        <a:solidFill>
                          <a:schemeClr val="tx1"/>
                        </a:solidFill>
                        <a:effectLst/>
                        <a:latin typeface="Calibri" panose="020F0502020204030204" charset="0"/>
                        <a:ea typeface="微软雅黑" panose="020B0503020204020204" charset="-122"/>
                        <a:cs typeface="Times New Roman" panose="02020603050405020304" charset="0"/>
                      </a:endParaRPr>
                    </a:p>
                  </a:txBody>
                  <a:tcPr marL="121917" marR="121917" marT="60960" marB="609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63245">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000" b="0" i="0" u="none" strike="noStrike" cap="none" normalizeH="0" baseline="0" dirty="0">
                        <a:ln>
                          <a:noFill/>
                        </a:ln>
                        <a:solidFill>
                          <a:schemeClr val="tx1"/>
                        </a:solidFill>
                        <a:effectLst/>
                        <a:latin typeface="Calibri" panose="020F0502020204030204" charset="0"/>
                        <a:ea typeface="微软雅黑" panose="020B0503020204020204" charset="-122"/>
                      </a:endParaRPr>
                    </a:p>
                  </a:txBody>
                  <a:tcPr marL="121917" marR="121917" marT="60960" marB="6096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dirty="0">
                          <a:ln>
                            <a:noFill/>
                          </a:ln>
                          <a:solidFill>
                            <a:schemeClr val="tx1"/>
                          </a:solidFill>
                          <a:effectLst/>
                          <a:latin typeface="Calibri" panose="020F0502020204030204" charset="0"/>
                          <a:ea typeface="微软雅黑" panose="020B0503020204020204" charset="-122"/>
                          <a:cs typeface="Times New Roman" panose="02020603050405020304" charset="0"/>
                        </a:rPr>
                        <a:t>合计</a:t>
                      </a:r>
                    </a:p>
                  </a:txBody>
                  <a:tcPr marL="12700" marR="12700" marT="1270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dirty="0">
                          <a:ln>
                            <a:noFill/>
                          </a:ln>
                          <a:solidFill>
                            <a:schemeClr val="tx1"/>
                          </a:solidFill>
                          <a:effectLst/>
                          <a:latin typeface="Calibri" panose="020F0502020204030204" charset="0"/>
                          <a:ea typeface="微软雅黑" panose="020B0503020204020204" charset="-122"/>
                          <a:cs typeface="Times New Roman" panose="02020603050405020304" charset="0"/>
                        </a:rPr>
                        <a:t> 18,500.00 </a:t>
                      </a:r>
                    </a:p>
                  </a:txBody>
                  <a:tcPr marL="121917" marR="121917" marT="60960" marB="609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dirty="0">
                          <a:ln>
                            <a:noFill/>
                          </a:ln>
                          <a:solidFill>
                            <a:schemeClr val="tx1"/>
                          </a:solidFill>
                          <a:effectLst/>
                          <a:latin typeface="Calibri" panose="020F0502020204030204" charset="0"/>
                          <a:ea typeface="微软雅黑" panose="020B0503020204020204" charset="-122"/>
                          <a:cs typeface="Times New Roman" panose="02020603050405020304" charset="0"/>
                        </a:rPr>
                        <a:t>4,300.00</a:t>
                      </a:r>
                    </a:p>
                  </a:txBody>
                  <a:tcPr marL="121917" marR="121917" marT="60960" marB="609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dirty="0">
                          <a:ln>
                            <a:noFill/>
                          </a:ln>
                          <a:solidFill>
                            <a:schemeClr val="tx1"/>
                          </a:solidFill>
                          <a:effectLst/>
                          <a:latin typeface="Calibri" panose="020F0502020204030204" charset="0"/>
                          <a:ea typeface="微软雅黑" panose="020B0503020204020204" charset="-122"/>
                          <a:cs typeface="Times New Roman" panose="02020603050405020304" charset="0"/>
                        </a:rPr>
                        <a:t>2,890.91</a:t>
                      </a:r>
                    </a:p>
                  </a:txBody>
                  <a:tcPr marL="121917" marR="121917" marT="60960" marB="609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dirty="0">
                          <a:ln>
                            <a:noFill/>
                          </a:ln>
                          <a:solidFill>
                            <a:schemeClr val="tx1"/>
                          </a:solidFill>
                          <a:effectLst/>
                          <a:latin typeface="Calibri" panose="020F0502020204030204" charset="0"/>
                          <a:ea typeface="微软雅黑" panose="020B0503020204020204" charset="-122"/>
                          <a:cs typeface="Times New Roman" panose="02020603050405020304" charset="0"/>
                        </a:rPr>
                        <a:t>  6,059.08</a:t>
                      </a:r>
                    </a:p>
                  </a:txBody>
                  <a:tcPr marL="121917" marR="121917" marT="60960" marB="609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dirty="0">
                          <a:ln>
                            <a:noFill/>
                          </a:ln>
                          <a:solidFill>
                            <a:schemeClr val="tx1"/>
                          </a:solidFill>
                          <a:effectLst/>
                          <a:latin typeface="Calibri" panose="020F0502020204030204" charset="0"/>
                          <a:ea typeface="微软雅黑" panose="020B0503020204020204" charset="-122"/>
                          <a:cs typeface="Times New Roman" panose="02020603050405020304" charset="0"/>
                        </a:rPr>
                        <a:t>  5,250.01 </a:t>
                      </a:r>
                    </a:p>
                  </a:txBody>
                  <a:tcPr marL="121917" marR="121917" marT="60960" marB="6096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0" descr="https://kimi-img.moonshot.cn/pub/slides/slides_tmpl/image/25-09-04-11:33:06-d2sggsm1bb2p4onbon10.jpg"/>
          <p:cNvPicPr>
            <a:picLocks noChangeAspect="1"/>
          </p:cNvPicPr>
          <p:nvPr/>
        </p:nvPicPr>
        <p:blipFill>
          <a:blip r:embed="rId3"/>
          <a:stretch>
            <a:fillRect/>
          </a:stretch>
        </p:blipFill>
        <p:spPr>
          <a:xfrm>
            <a:off x="0" y="0"/>
            <a:ext cx="12192000" cy="6858000"/>
          </a:xfrm>
          <a:prstGeom prst="rect">
            <a:avLst/>
          </a:prstGeom>
        </p:spPr>
      </p:pic>
      <p:cxnSp>
        <p:nvCxnSpPr>
          <p:cNvPr id="5" name="直接连接符 4"/>
          <p:cNvCxnSpPr/>
          <p:nvPr/>
        </p:nvCxnSpPr>
        <p:spPr>
          <a:xfrm>
            <a:off x="2619061" y="644689"/>
            <a:ext cx="1920213" cy="0"/>
          </a:xfrm>
          <a:prstGeom prst="line">
            <a:avLst/>
          </a:prstGeom>
          <a:ln>
            <a:gradFill flip="none" rotWithShape="1">
              <a:gsLst>
                <a:gs pos="0">
                  <a:schemeClr val="bg1">
                    <a:alpha val="0"/>
                  </a:schemeClr>
                </a:gs>
                <a:gs pos="100000">
                  <a:schemeClr val="bg1"/>
                </a:gs>
              </a:gsLst>
              <a:lin ang="0" scaled="1"/>
              <a:tileRect/>
            </a:gradFill>
            <a:tailEnd type="oval"/>
          </a:ln>
        </p:spPr>
        <p:style>
          <a:lnRef idx="1">
            <a:schemeClr val="accent1"/>
          </a:lnRef>
          <a:fillRef idx="0">
            <a:schemeClr val="accent1"/>
          </a:fillRef>
          <a:effectRef idx="0">
            <a:schemeClr val="accent1"/>
          </a:effectRef>
          <a:fontRef idx="minor">
            <a:schemeClr val="tx1"/>
          </a:fontRef>
        </p:style>
      </p:cxnSp>
      <p:sp>
        <p:nvSpPr>
          <p:cNvPr id="14" name="TextBox 1"/>
          <p:cNvSpPr txBox="1"/>
          <p:nvPr/>
        </p:nvSpPr>
        <p:spPr>
          <a:xfrm>
            <a:off x="3579168" y="380600"/>
            <a:ext cx="4992555" cy="534035"/>
          </a:xfrm>
          <a:prstGeom prst="rect">
            <a:avLst/>
          </a:prstGeom>
          <a:noFill/>
        </p:spPr>
        <p:txBody>
          <a:bodyPr wrap="square" rtlCol="0">
            <a:spAutoFit/>
          </a:bodyPr>
          <a:lstStyle/>
          <a:p>
            <a:pPr algn="ctr" defTabSz="431800">
              <a:lnSpc>
                <a:spcPct val="120000"/>
              </a:lnSpc>
              <a:defRPr/>
            </a:pPr>
            <a:r>
              <a:rPr lang="zh-CN" sz="2400" b="1" kern="0" dirty="0">
                <a:solidFill>
                  <a:schemeClr val="tx1"/>
                </a:solidFill>
                <a:latin typeface="Arial" panose="020B0604020202020204" pitchFamily="34" charset="0"/>
                <a:ea typeface="微软雅黑" panose="020B0503020204020204" charset="-122"/>
                <a:cs typeface="Arial" panose="020B0604020202020204" pitchFamily="34" charset="0"/>
              </a:rPr>
              <a:t>研发费用</a:t>
            </a:r>
            <a:r>
              <a:rPr lang="en-US" altLang="zh-CN" sz="2400" b="1" kern="0" dirty="0">
                <a:solidFill>
                  <a:schemeClr val="tx1"/>
                </a:solidFill>
                <a:latin typeface="Arial" panose="020B0604020202020204" pitchFamily="34" charset="0"/>
                <a:ea typeface="微软雅黑" panose="020B0503020204020204" charset="-122"/>
                <a:cs typeface="Arial" panose="020B0604020202020204" pitchFamily="34" charset="0"/>
              </a:rPr>
              <a:t>“</a:t>
            </a:r>
            <a:r>
              <a:rPr lang="zh-CN" sz="2400" b="1" kern="0" dirty="0">
                <a:solidFill>
                  <a:schemeClr val="tx1"/>
                </a:solidFill>
                <a:latin typeface="Arial" panose="020B0604020202020204" pitchFamily="34" charset="0"/>
                <a:ea typeface="微软雅黑" panose="020B0503020204020204" charset="-122"/>
                <a:cs typeface="Arial" panose="020B0604020202020204" pitchFamily="34" charset="0"/>
              </a:rPr>
              <a:t>合理</a:t>
            </a:r>
            <a:r>
              <a:rPr lang="en-US" altLang="zh-CN" sz="2400" b="1" kern="0" dirty="0">
                <a:solidFill>
                  <a:schemeClr val="tx1"/>
                </a:solidFill>
                <a:latin typeface="Arial" panose="020B0604020202020204" pitchFamily="34" charset="0"/>
                <a:ea typeface="微软雅黑" panose="020B0503020204020204" charset="-122"/>
                <a:cs typeface="Arial" panose="020B0604020202020204" pitchFamily="34" charset="0"/>
              </a:rPr>
              <a:t>”</a:t>
            </a:r>
            <a:r>
              <a:rPr lang="zh-CN" sz="2400" b="1" kern="0" dirty="0">
                <a:solidFill>
                  <a:schemeClr val="tx1"/>
                </a:solidFill>
                <a:latin typeface="Arial" panose="020B0604020202020204" pitchFamily="34" charset="0"/>
                <a:ea typeface="微软雅黑" panose="020B0503020204020204" charset="-122"/>
                <a:cs typeface="Arial" panose="020B0604020202020204" pitchFamily="34" charset="0"/>
              </a:rPr>
              <a:t>归集</a:t>
            </a:r>
          </a:p>
        </p:txBody>
      </p:sp>
      <p:cxnSp>
        <p:nvCxnSpPr>
          <p:cNvPr id="15" name="直接连接符 14"/>
          <p:cNvCxnSpPr/>
          <p:nvPr/>
        </p:nvCxnSpPr>
        <p:spPr>
          <a:xfrm flipH="1">
            <a:off x="7611616" y="644689"/>
            <a:ext cx="1920213" cy="0"/>
          </a:xfrm>
          <a:prstGeom prst="line">
            <a:avLst/>
          </a:prstGeom>
          <a:ln>
            <a:gradFill flip="none" rotWithShape="1">
              <a:gsLst>
                <a:gs pos="0">
                  <a:schemeClr val="bg1">
                    <a:alpha val="0"/>
                  </a:schemeClr>
                </a:gs>
                <a:gs pos="100000">
                  <a:schemeClr val="bg1"/>
                </a:gs>
              </a:gsLst>
              <a:lin ang="0" scaled="1"/>
              <a:tileRect/>
            </a:gradFill>
            <a:tailEnd type="oval"/>
          </a:ln>
        </p:spPr>
        <p:style>
          <a:lnRef idx="1">
            <a:schemeClr val="accent1"/>
          </a:lnRef>
          <a:fillRef idx="0">
            <a:schemeClr val="accent1"/>
          </a:fillRef>
          <a:effectRef idx="0">
            <a:schemeClr val="accent1"/>
          </a:effectRef>
          <a:fontRef idx="minor">
            <a:schemeClr val="tx1"/>
          </a:fontRef>
        </p:style>
      </p:cxnSp>
      <p:sp>
        <p:nvSpPr>
          <p:cNvPr id="20" name="圆角矩形 19"/>
          <p:cNvSpPr/>
          <p:nvPr/>
        </p:nvSpPr>
        <p:spPr>
          <a:xfrm>
            <a:off x="911860" y="1028700"/>
            <a:ext cx="3270673" cy="546100"/>
          </a:xfrm>
          <a:prstGeom prst="roundRect">
            <a:avLst>
              <a:gd name="adj" fmla="val 50000"/>
            </a:avLst>
          </a:prstGeom>
          <a:solidFill>
            <a:srgbClr val="AA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ea typeface="微软雅黑" panose="020B0503020204020204" charset="-122"/>
            </a:endParaRPr>
          </a:p>
        </p:txBody>
      </p:sp>
      <p:sp>
        <p:nvSpPr>
          <p:cNvPr id="19" name="Text Box 4"/>
          <p:cNvSpPr txBox="1">
            <a:spLocks noChangeArrowheads="1"/>
          </p:cNvSpPr>
          <p:nvPr/>
        </p:nvSpPr>
        <p:spPr bwMode="auto">
          <a:xfrm>
            <a:off x="527473" y="1018540"/>
            <a:ext cx="4028440" cy="501227"/>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400" b="1" noProof="0" dirty="0">
                <a:ln>
                  <a:noFill/>
                </a:ln>
                <a:solidFill>
                  <a:schemeClr val="bg1"/>
                </a:solidFill>
                <a:effectLst/>
                <a:uLnTx/>
                <a:uFillTx/>
                <a:latin typeface="Verdana" panose="020B0604030504040204" pitchFamily="34" charset="0"/>
                <a:ea typeface="微软雅黑" panose="020B0503020204020204" charset="-122"/>
                <a:sym typeface="+mn-ea"/>
              </a:rPr>
              <a:t>会计分录</a:t>
            </a:r>
            <a:endParaRPr kumimoji="1" lang="zh-CN" altLang="en-US" sz="2400" b="1" noProof="0" dirty="0">
              <a:ln>
                <a:noFill/>
              </a:ln>
              <a:solidFill>
                <a:schemeClr val="bg1"/>
              </a:solidFill>
              <a:effectLst/>
              <a:uLnTx/>
              <a:uFillTx/>
              <a:latin typeface="Verdana" panose="020B0604030504040204" pitchFamily="34" charset="0"/>
              <a:ea typeface="微软雅黑" panose="020B0503020204020204" charset="-122"/>
              <a:sym typeface="+mn-ea"/>
            </a:endParaRPr>
          </a:p>
        </p:txBody>
      </p:sp>
      <p:sp>
        <p:nvSpPr>
          <p:cNvPr id="8" name="文本框 7"/>
          <p:cNvSpPr txBox="1"/>
          <p:nvPr/>
        </p:nvSpPr>
        <p:spPr>
          <a:xfrm>
            <a:off x="352213" y="1412240"/>
            <a:ext cx="11778827" cy="5540587"/>
          </a:xfrm>
          <a:prstGeom prst="rect">
            <a:avLst/>
          </a:prstGeom>
          <a:noFill/>
        </p:spPr>
        <p:txBody>
          <a:bodyPr wrap="square" rtlCol="0">
            <a:noAutofit/>
          </a:bodyPr>
          <a:lstStyle/>
          <a:p>
            <a:pPr algn="l"/>
            <a:endParaRPr lang="en-US" altLang="zh-CN" sz="2400" dirty="0">
              <a:solidFill>
                <a:schemeClr val="tx1"/>
              </a:solidFill>
              <a:ea typeface="微软雅黑" panose="020B0503020204020204" charset="-122"/>
              <a:sym typeface="+mn-ea"/>
            </a:endParaRPr>
          </a:p>
          <a:p>
            <a:pPr algn="l"/>
            <a:endParaRPr lang="en-US" altLang="zh-CN" sz="2400" b="1" dirty="0">
              <a:solidFill>
                <a:schemeClr val="tx1"/>
              </a:solidFill>
              <a:ea typeface="微软雅黑" panose="020B0503020204020204" charset="-122"/>
              <a:sym typeface="+mn-ea"/>
            </a:endParaRPr>
          </a:p>
          <a:p>
            <a:pPr algn="l"/>
            <a:endParaRPr lang="en-US" altLang="zh-CN" sz="2400" b="1" dirty="0">
              <a:solidFill>
                <a:schemeClr val="tx1"/>
              </a:solidFill>
              <a:ea typeface="微软雅黑" panose="020B0503020204020204" charset="-122"/>
              <a:sym typeface="+mn-ea"/>
            </a:endParaRPr>
          </a:p>
          <a:p>
            <a:pPr algn="l"/>
            <a:r>
              <a:rPr lang="en-US" altLang="zh-CN" sz="2400" b="1" dirty="0" err="1">
                <a:solidFill>
                  <a:schemeClr val="tx1"/>
                </a:solidFill>
                <a:ea typeface="微软雅黑" panose="020B0503020204020204" charset="-122"/>
                <a:sym typeface="+mn-ea"/>
              </a:rPr>
              <a:t>将以上各表作为附件，据此作为记账凭证的依据，会计分录如下</a:t>
            </a:r>
            <a:r>
              <a:rPr lang="en-US" altLang="zh-CN" sz="2400" b="1" dirty="0">
                <a:solidFill>
                  <a:schemeClr val="tx1"/>
                </a:solidFill>
                <a:ea typeface="微软雅黑" panose="020B0503020204020204" charset="-122"/>
                <a:sym typeface="+mn-ea"/>
              </a:rPr>
              <a:t>：</a:t>
            </a:r>
          </a:p>
          <a:p>
            <a:pPr algn="l"/>
            <a:endParaRPr lang="en-US" altLang="zh-CN" sz="2400" b="1" dirty="0">
              <a:solidFill>
                <a:schemeClr val="tx1"/>
              </a:solidFill>
              <a:ea typeface="微软雅黑" panose="020B0503020204020204" charset="-122"/>
              <a:sym typeface="+mn-ea"/>
            </a:endParaRPr>
          </a:p>
          <a:p>
            <a:pPr algn="l">
              <a:lnSpc>
                <a:spcPct val="150000"/>
              </a:lnSpc>
            </a:pPr>
            <a:r>
              <a:rPr lang="en-US" altLang="zh-CN" sz="2400" b="1" dirty="0">
                <a:solidFill>
                  <a:schemeClr val="tx1"/>
                </a:solidFill>
                <a:ea typeface="微软雅黑" panose="020B0503020204020204" charset="-122"/>
                <a:sym typeface="+mn-ea"/>
              </a:rPr>
              <a:t>借： </a:t>
            </a:r>
            <a:r>
              <a:rPr lang="en-US" altLang="zh-CN" sz="2400" b="1" dirty="0" err="1">
                <a:solidFill>
                  <a:schemeClr val="tx1"/>
                </a:solidFill>
                <a:ea typeface="微软雅黑" panose="020B0503020204020204" charset="-122"/>
                <a:sym typeface="+mn-ea"/>
              </a:rPr>
              <a:t>研发支出</a:t>
            </a:r>
            <a:r>
              <a:rPr lang="en-US" altLang="zh-CN" sz="2400" b="1" dirty="0">
                <a:solidFill>
                  <a:schemeClr val="tx1"/>
                </a:solidFill>
                <a:ea typeface="微软雅黑" panose="020B0503020204020204" charset="-122"/>
                <a:sym typeface="+mn-ea"/>
              </a:rPr>
              <a:t>—</a:t>
            </a:r>
            <a:r>
              <a:rPr lang="en-US" altLang="zh-CN" sz="2400" b="1" dirty="0" err="1">
                <a:solidFill>
                  <a:schemeClr val="tx1"/>
                </a:solidFill>
                <a:ea typeface="微软雅黑" panose="020B0503020204020204" charset="-122"/>
                <a:sym typeface="+mn-ea"/>
              </a:rPr>
              <a:t>费用化支出</a:t>
            </a:r>
            <a:r>
              <a:rPr lang="en-US" altLang="zh-CN" sz="2400" b="1" dirty="0">
                <a:solidFill>
                  <a:schemeClr val="tx1"/>
                </a:solidFill>
                <a:ea typeface="微软雅黑" panose="020B0503020204020204" charset="-122"/>
                <a:sym typeface="+mn-ea"/>
              </a:rPr>
              <a:t>--</a:t>
            </a:r>
            <a:r>
              <a:rPr lang="en-US" altLang="zh-CN" sz="2400" b="1" dirty="0" err="1">
                <a:solidFill>
                  <a:schemeClr val="tx1"/>
                </a:solidFill>
                <a:ea typeface="微软雅黑" panose="020B0503020204020204" charset="-122"/>
                <a:sym typeface="+mn-ea"/>
              </a:rPr>
              <a:t>A项目-人员人工费</a:t>
            </a:r>
            <a:r>
              <a:rPr lang="en-US" altLang="zh-CN" sz="2400" b="1" dirty="0">
                <a:solidFill>
                  <a:schemeClr val="tx1"/>
                </a:solidFill>
                <a:ea typeface="微软雅黑" panose="020B0503020204020204" charset="-122"/>
                <a:sym typeface="+mn-ea"/>
              </a:rPr>
              <a:t> 4300.00元</a:t>
            </a:r>
          </a:p>
          <a:p>
            <a:pPr algn="l">
              <a:lnSpc>
                <a:spcPct val="150000"/>
              </a:lnSpc>
            </a:pPr>
            <a:r>
              <a:rPr lang="en-US" altLang="zh-CN" sz="2400" b="1" dirty="0">
                <a:solidFill>
                  <a:schemeClr val="tx1"/>
                </a:solidFill>
                <a:ea typeface="微软雅黑" panose="020B0503020204020204" charset="-122"/>
                <a:sym typeface="+mn-ea"/>
              </a:rPr>
              <a:t>          </a:t>
            </a:r>
            <a:r>
              <a:rPr lang="en-US" altLang="zh-CN" sz="2400" b="1" dirty="0" err="1">
                <a:solidFill>
                  <a:schemeClr val="tx1"/>
                </a:solidFill>
                <a:ea typeface="微软雅黑" panose="020B0503020204020204" charset="-122"/>
                <a:sym typeface="+mn-ea"/>
              </a:rPr>
              <a:t>研发支出</a:t>
            </a:r>
            <a:r>
              <a:rPr lang="en-US" altLang="zh-CN" sz="2400" b="1" dirty="0">
                <a:solidFill>
                  <a:schemeClr val="tx1"/>
                </a:solidFill>
                <a:ea typeface="微软雅黑" panose="020B0503020204020204" charset="-122"/>
                <a:sym typeface="+mn-ea"/>
              </a:rPr>
              <a:t>—</a:t>
            </a:r>
            <a:r>
              <a:rPr lang="en-US" altLang="zh-CN" sz="2400" b="1" dirty="0" err="1">
                <a:solidFill>
                  <a:schemeClr val="tx1"/>
                </a:solidFill>
                <a:ea typeface="微软雅黑" panose="020B0503020204020204" charset="-122"/>
                <a:sym typeface="+mn-ea"/>
              </a:rPr>
              <a:t>费用化支出</a:t>
            </a:r>
            <a:r>
              <a:rPr lang="en-US" altLang="zh-CN" sz="2400" b="1" dirty="0">
                <a:solidFill>
                  <a:schemeClr val="tx1"/>
                </a:solidFill>
                <a:ea typeface="微软雅黑" panose="020B0503020204020204" charset="-122"/>
                <a:sym typeface="+mn-ea"/>
              </a:rPr>
              <a:t>--</a:t>
            </a:r>
            <a:r>
              <a:rPr lang="en-US" altLang="zh-CN" sz="2400" b="1" dirty="0" err="1">
                <a:solidFill>
                  <a:schemeClr val="tx1"/>
                </a:solidFill>
                <a:ea typeface="微软雅黑" panose="020B0503020204020204" charset="-122"/>
                <a:sym typeface="+mn-ea"/>
              </a:rPr>
              <a:t>B项目-人员人工</a:t>
            </a:r>
            <a:r>
              <a:rPr lang="en-US" altLang="zh-CN" sz="2400" b="1" dirty="0">
                <a:solidFill>
                  <a:schemeClr val="tx1"/>
                </a:solidFill>
                <a:ea typeface="微软雅黑" panose="020B0503020204020204" charset="-122"/>
                <a:sym typeface="+mn-ea"/>
              </a:rPr>
              <a:t> 费 2890.91元</a:t>
            </a:r>
          </a:p>
          <a:p>
            <a:pPr algn="l">
              <a:lnSpc>
                <a:spcPct val="150000"/>
              </a:lnSpc>
            </a:pPr>
            <a:r>
              <a:rPr lang="en-US" altLang="zh-CN" sz="2400" b="1" dirty="0">
                <a:solidFill>
                  <a:schemeClr val="tx1"/>
                </a:solidFill>
                <a:ea typeface="微软雅黑" panose="020B0503020204020204" charset="-122"/>
                <a:sym typeface="+mn-ea"/>
              </a:rPr>
              <a:t>          </a:t>
            </a:r>
            <a:r>
              <a:rPr lang="en-US" altLang="zh-CN" sz="2400" b="1" dirty="0" err="1">
                <a:solidFill>
                  <a:schemeClr val="tx1"/>
                </a:solidFill>
                <a:ea typeface="微软雅黑" panose="020B0503020204020204" charset="-122"/>
                <a:sym typeface="+mn-ea"/>
              </a:rPr>
              <a:t>研发支出</a:t>
            </a:r>
            <a:r>
              <a:rPr lang="en-US" altLang="zh-CN" sz="2400" b="1" dirty="0">
                <a:solidFill>
                  <a:schemeClr val="tx1"/>
                </a:solidFill>
                <a:ea typeface="微软雅黑" panose="020B0503020204020204" charset="-122"/>
                <a:sym typeface="+mn-ea"/>
              </a:rPr>
              <a:t>—</a:t>
            </a:r>
            <a:r>
              <a:rPr lang="en-US" altLang="zh-CN" sz="2400" b="1" dirty="0" err="1">
                <a:solidFill>
                  <a:schemeClr val="tx1"/>
                </a:solidFill>
                <a:ea typeface="微软雅黑" panose="020B0503020204020204" charset="-122"/>
                <a:sym typeface="+mn-ea"/>
              </a:rPr>
              <a:t>费用化支出</a:t>
            </a:r>
            <a:r>
              <a:rPr lang="en-US" altLang="zh-CN" sz="2400" b="1" dirty="0">
                <a:solidFill>
                  <a:schemeClr val="tx1"/>
                </a:solidFill>
                <a:ea typeface="微软雅黑" panose="020B0503020204020204" charset="-122"/>
                <a:sym typeface="+mn-ea"/>
              </a:rPr>
              <a:t>--</a:t>
            </a:r>
            <a:r>
              <a:rPr lang="en-US" altLang="zh-CN" sz="2400" b="1" dirty="0" err="1">
                <a:solidFill>
                  <a:schemeClr val="tx1"/>
                </a:solidFill>
                <a:ea typeface="微软雅黑" panose="020B0503020204020204" charset="-122"/>
                <a:sym typeface="+mn-ea"/>
              </a:rPr>
              <a:t>C项目-人员人工费</a:t>
            </a:r>
            <a:r>
              <a:rPr lang="en-US" altLang="zh-CN" sz="2400" b="1" dirty="0">
                <a:solidFill>
                  <a:schemeClr val="tx1"/>
                </a:solidFill>
                <a:ea typeface="微软雅黑" panose="020B0503020204020204" charset="-122"/>
                <a:sym typeface="+mn-ea"/>
              </a:rPr>
              <a:t> 6059.08元</a:t>
            </a:r>
          </a:p>
          <a:p>
            <a:pPr algn="l">
              <a:lnSpc>
                <a:spcPct val="150000"/>
              </a:lnSpc>
            </a:pPr>
            <a:r>
              <a:rPr lang="en-US" altLang="zh-CN" sz="2400" b="1" dirty="0">
                <a:solidFill>
                  <a:schemeClr val="tx1"/>
                </a:solidFill>
                <a:ea typeface="微软雅黑" panose="020B0503020204020204" charset="-122"/>
                <a:sym typeface="+mn-ea"/>
              </a:rPr>
              <a:t>          </a:t>
            </a:r>
            <a:r>
              <a:rPr lang="en-US" altLang="zh-CN" sz="2400" b="1" dirty="0" err="1">
                <a:solidFill>
                  <a:schemeClr val="tx1"/>
                </a:solidFill>
                <a:ea typeface="微软雅黑" panose="020B0503020204020204" charset="-122"/>
                <a:sym typeface="+mn-ea"/>
              </a:rPr>
              <a:t>研发支出</a:t>
            </a:r>
            <a:r>
              <a:rPr lang="en-US" altLang="zh-CN" sz="2400" b="1" dirty="0">
                <a:solidFill>
                  <a:schemeClr val="tx1"/>
                </a:solidFill>
                <a:ea typeface="微软雅黑" panose="020B0503020204020204" charset="-122"/>
                <a:sym typeface="+mn-ea"/>
              </a:rPr>
              <a:t>—</a:t>
            </a:r>
            <a:r>
              <a:rPr lang="en-US" altLang="zh-CN" sz="2400" b="1" dirty="0" err="1">
                <a:solidFill>
                  <a:schemeClr val="tx1"/>
                </a:solidFill>
                <a:ea typeface="微软雅黑" panose="020B0503020204020204" charset="-122"/>
                <a:sym typeface="+mn-ea"/>
              </a:rPr>
              <a:t>费用化支出</a:t>
            </a:r>
            <a:r>
              <a:rPr lang="en-US" altLang="zh-CN" sz="2400" b="1" dirty="0">
                <a:solidFill>
                  <a:schemeClr val="tx1"/>
                </a:solidFill>
                <a:ea typeface="微软雅黑" panose="020B0503020204020204" charset="-122"/>
                <a:sym typeface="+mn-ea"/>
              </a:rPr>
              <a:t>--</a:t>
            </a:r>
            <a:r>
              <a:rPr lang="en-US" altLang="zh-CN" sz="2400" b="1" dirty="0" err="1">
                <a:solidFill>
                  <a:schemeClr val="tx1"/>
                </a:solidFill>
                <a:ea typeface="微软雅黑" panose="020B0503020204020204" charset="-122"/>
                <a:sym typeface="+mn-ea"/>
              </a:rPr>
              <a:t>D项目-人员人工</a:t>
            </a:r>
            <a:r>
              <a:rPr lang="en-US" altLang="zh-CN" sz="2400" b="1" dirty="0">
                <a:solidFill>
                  <a:schemeClr val="tx1"/>
                </a:solidFill>
                <a:ea typeface="微软雅黑" panose="020B0503020204020204" charset="-122"/>
                <a:sym typeface="+mn-ea"/>
              </a:rPr>
              <a:t> 费 5250.01元</a:t>
            </a:r>
          </a:p>
          <a:p>
            <a:pPr algn="l">
              <a:lnSpc>
                <a:spcPct val="150000"/>
              </a:lnSpc>
            </a:pPr>
            <a:r>
              <a:rPr lang="en-US" altLang="zh-CN" sz="2400" b="1" dirty="0">
                <a:solidFill>
                  <a:schemeClr val="tx1"/>
                </a:solidFill>
                <a:ea typeface="微软雅黑" panose="020B0503020204020204" charset="-122"/>
                <a:sym typeface="+mn-ea"/>
              </a:rPr>
              <a:t>           </a:t>
            </a:r>
            <a:r>
              <a:rPr lang="en-US" altLang="zh-CN" sz="2400" b="1" dirty="0" err="1">
                <a:solidFill>
                  <a:schemeClr val="tx1"/>
                </a:solidFill>
                <a:ea typeface="微软雅黑" panose="020B0503020204020204" charset="-122"/>
                <a:sym typeface="+mn-ea"/>
              </a:rPr>
              <a:t>贷：应付职工薪酬</a:t>
            </a:r>
            <a:r>
              <a:rPr lang="en-US" altLang="zh-CN" sz="2400" b="1" dirty="0">
                <a:solidFill>
                  <a:schemeClr val="tx1"/>
                </a:solidFill>
                <a:ea typeface="微软雅黑" panose="020B0503020204020204" charset="-122"/>
                <a:sym typeface="+mn-ea"/>
              </a:rPr>
              <a:t>—</a:t>
            </a:r>
            <a:r>
              <a:rPr lang="en-US" altLang="zh-CN" sz="2400" b="1" dirty="0" err="1">
                <a:solidFill>
                  <a:schemeClr val="tx1"/>
                </a:solidFill>
                <a:ea typeface="微软雅黑" panose="020B0503020204020204" charset="-122"/>
                <a:sym typeface="+mn-ea"/>
              </a:rPr>
              <a:t>工资</a:t>
            </a:r>
            <a:r>
              <a:rPr lang="en-US" altLang="zh-CN" sz="2400" b="1" dirty="0">
                <a:solidFill>
                  <a:schemeClr val="tx1"/>
                </a:solidFill>
                <a:ea typeface="微软雅黑" panose="020B0503020204020204" charset="-122"/>
                <a:sym typeface="+mn-ea"/>
              </a:rPr>
              <a:t> 18500.00元</a:t>
            </a:r>
          </a:p>
          <a:p>
            <a:pPr algn="l"/>
            <a:endParaRPr lang="en-US" altLang="zh-CN" sz="2400" b="1" dirty="0">
              <a:solidFill>
                <a:schemeClr val="tx1"/>
              </a:solidFill>
              <a:highlight>
                <a:srgbClr val="FF0000"/>
              </a:highlight>
              <a:ea typeface="微软雅黑" panose="020B0503020204020204"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ttps://kimi-img.moonshot.cn/pub/slides/slides_tmpl/image/25-10-11-20:14:20-d3l4k70s8jdo4os5ema0.png"/>
          <p:cNvPicPr>
            <a:picLocks noChangeAspect="1"/>
          </p:cNvPicPr>
          <p:nvPr/>
        </p:nvPicPr>
        <p:blipFill>
          <a:blip r:embed="rId3"/>
          <a:srcRect l="12" r="12"/>
          <a:stretch>
            <a:fillRect/>
          </a:stretch>
        </p:blipFill>
        <p:spPr>
          <a:xfrm>
            <a:off x="3154680" y="1669415"/>
            <a:ext cx="8303895" cy="4935220"/>
          </a:xfrm>
          <a:prstGeom prst="rect">
            <a:avLst/>
          </a:prstGeom>
        </p:spPr>
      </p:pic>
      <p:sp>
        <p:nvSpPr>
          <p:cNvPr id="3" name="Text 0"/>
          <p:cNvSpPr/>
          <p:nvPr/>
        </p:nvSpPr>
        <p:spPr>
          <a:xfrm>
            <a:off x="530860" y="775335"/>
            <a:ext cx="11169650" cy="822920"/>
          </a:xfrm>
          <a:prstGeom prst="rect">
            <a:avLst/>
          </a:prstGeom>
          <a:noFill/>
        </p:spPr>
        <p:txBody>
          <a:bodyPr wrap="square" lIns="0" tIns="0" rIns="0" bIns="0" rtlCol="0" anchor="t">
            <a:spAutoFit/>
          </a:bodyPr>
          <a:lstStyle/>
          <a:p>
            <a:pPr>
              <a:lnSpc>
                <a:spcPct val="150000"/>
              </a:lnSpc>
            </a:pPr>
            <a:r>
              <a:rPr lang="en-US" sz="3600" dirty="0">
                <a:solidFill>
                  <a:srgbClr val="0D0D0D"/>
                </a:solidFill>
                <a:latin typeface="MiSans" panose="00000500000000000000" pitchFamily="34" charset="-122"/>
                <a:ea typeface="MiSans" panose="00000500000000000000" pitchFamily="34" charset="-122"/>
                <a:cs typeface="MiSans" panose="00000500000000000000" pitchFamily="34" charset="-120"/>
              </a:rPr>
              <a:t>直接投入费用的归集方法与凭证要求</a:t>
            </a:r>
            <a:endParaRPr lang="en-US" sz="1600" dirty="0"/>
          </a:p>
        </p:txBody>
      </p:sp>
      <p:pic>
        <p:nvPicPr>
          <p:cNvPr id="4" name="Image 1" descr="https://kimi-img.moonshot.cn/pub/slides/slides_tmpl/image/25-10-11-20:14:19-d3l4k6os8jdo4os5em70.png"/>
          <p:cNvPicPr>
            <a:picLocks noChangeAspect="1"/>
          </p:cNvPicPr>
          <p:nvPr/>
        </p:nvPicPr>
        <p:blipFill>
          <a:blip r:embed="rId4"/>
          <a:stretch>
            <a:fillRect/>
          </a:stretch>
        </p:blipFill>
        <p:spPr>
          <a:xfrm rot="5400000" flipH="1">
            <a:off x="4740275" y="1871345"/>
            <a:ext cx="1229995" cy="1043305"/>
          </a:xfrm>
          <a:prstGeom prst="rect">
            <a:avLst/>
          </a:prstGeom>
        </p:spPr>
      </p:pic>
      <p:pic>
        <p:nvPicPr>
          <p:cNvPr id="5" name="Image 2" descr="https://kimi-img.moonshot.cn/pub/slides/slides_tmpl/image/25-10-11-20:14:20-d3l4k70s8jdo4os5emb0.png"/>
          <p:cNvPicPr>
            <a:picLocks noChangeAspect="1"/>
          </p:cNvPicPr>
          <p:nvPr/>
        </p:nvPicPr>
        <p:blipFill>
          <a:blip r:embed="rId5"/>
          <a:srcRect r="12833" b="13027"/>
          <a:stretch>
            <a:fillRect/>
          </a:stretch>
        </p:blipFill>
        <p:spPr>
          <a:xfrm>
            <a:off x="492125" y="3007995"/>
            <a:ext cx="2559685" cy="2670175"/>
          </a:xfrm>
          <a:prstGeom prst="rect">
            <a:avLst/>
          </a:prstGeom>
        </p:spPr>
      </p:pic>
      <p:pic>
        <p:nvPicPr>
          <p:cNvPr id="6" name="Image 3" descr="https://kimi-img.moonshot.cn/pub/slides/slides_tmpl/image/25-10-11-20:14:19-d3l4k6os8jdo4os5em70.png"/>
          <p:cNvPicPr>
            <a:picLocks noChangeAspect="1"/>
          </p:cNvPicPr>
          <p:nvPr/>
        </p:nvPicPr>
        <p:blipFill>
          <a:blip r:embed="rId4"/>
          <a:stretch>
            <a:fillRect/>
          </a:stretch>
        </p:blipFill>
        <p:spPr>
          <a:xfrm rot="5400000" flipH="1">
            <a:off x="8733155" y="1871345"/>
            <a:ext cx="1229995" cy="1043305"/>
          </a:xfrm>
          <a:prstGeom prst="rect">
            <a:avLst/>
          </a:prstGeom>
        </p:spPr>
      </p:pic>
      <p:sp>
        <p:nvSpPr>
          <p:cNvPr id="7" name="Text 1"/>
          <p:cNvSpPr/>
          <p:nvPr/>
        </p:nvSpPr>
        <p:spPr>
          <a:xfrm>
            <a:off x="5010785" y="1990725"/>
            <a:ext cx="688975" cy="536575"/>
          </a:xfrm>
          <a:prstGeom prst="rect">
            <a:avLst/>
          </a:prstGeom>
          <a:noFill/>
        </p:spPr>
        <p:txBody>
          <a:bodyPr wrap="square" lIns="0" tIns="0" rIns="0" bIns="0" rtlCol="0" anchor="t"/>
          <a:lstStyle/>
          <a:p>
            <a:pPr algn="ctr">
              <a:lnSpc>
                <a:spcPct val="100000"/>
              </a:lnSpc>
            </a:pPr>
            <a:r>
              <a:rPr lang="en-US" sz="4000" dirty="0">
                <a:solidFill>
                  <a:srgbClr val="3373F8"/>
                </a:solidFill>
                <a:latin typeface="MiSans" panose="00000500000000000000" pitchFamily="34" charset="-122"/>
                <a:ea typeface="MiSans" panose="00000500000000000000" pitchFamily="34" charset="-122"/>
                <a:cs typeface="MiSans" panose="00000500000000000000" pitchFamily="34" charset="-120"/>
              </a:rPr>
              <a:t>1</a:t>
            </a:r>
            <a:endParaRPr lang="en-US" sz="1600" dirty="0"/>
          </a:p>
        </p:txBody>
      </p:sp>
      <p:sp>
        <p:nvSpPr>
          <p:cNvPr id="8" name="Text 2"/>
          <p:cNvSpPr/>
          <p:nvPr/>
        </p:nvSpPr>
        <p:spPr>
          <a:xfrm>
            <a:off x="3434080" y="3215005"/>
            <a:ext cx="3712210" cy="523240"/>
          </a:xfrm>
          <a:prstGeom prst="rect">
            <a:avLst/>
          </a:prstGeom>
          <a:noFill/>
        </p:spPr>
        <p:txBody>
          <a:bodyPr wrap="square" lIns="0" tIns="0" rIns="0" bIns="0" rtlCol="0" anchor="t"/>
          <a:lstStyle/>
          <a:p>
            <a:pPr algn="ctr">
              <a:lnSpc>
                <a:spcPct val="150000"/>
              </a:lnSpc>
            </a:pPr>
            <a:r>
              <a:rPr lang="en-US" sz="2000" dirty="0">
                <a:solidFill>
                  <a:srgbClr val="3373F8"/>
                </a:solidFill>
                <a:latin typeface="MiSans" panose="00000500000000000000" pitchFamily="34" charset="-122"/>
                <a:ea typeface="MiSans" panose="00000500000000000000" pitchFamily="34" charset="-122"/>
                <a:cs typeface="MiSans" panose="00000500000000000000" pitchFamily="34" charset="-120"/>
              </a:rPr>
              <a:t>费用范围与凭证管理</a:t>
            </a:r>
            <a:endParaRPr lang="en-US" sz="1600" dirty="0"/>
          </a:p>
        </p:txBody>
      </p:sp>
      <p:sp>
        <p:nvSpPr>
          <p:cNvPr id="9" name="Text 3"/>
          <p:cNvSpPr/>
          <p:nvPr/>
        </p:nvSpPr>
        <p:spPr>
          <a:xfrm>
            <a:off x="3576320" y="3797935"/>
            <a:ext cx="3385820" cy="2049145"/>
          </a:xfrm>
          <a:prstGeom prst="rect">
            <a:avLst/>
          </a:prstGeom>
          <a:noFill/>
        </p:spPr>
        <p:txBody>
          <a:bodyPr wrap="square" lIns="0" tIns="0" rIns="0" bIns="0" rtlCol="0" anchor="t"/>
          <a:lstStyle/>
          <a:p>
            <a:pPr algn="just">
              <a:lnSpc>
                <a:spcPct val="150000"/>
              </a:lnSpc>
            </a:pPr>
            <a:r>
              <a:rPr lang="en-US" sz="1400" dirty="0">
                <a:solidFill>
                  <a:srgbClr val="262626"/>
                </a:solidFill>
                <a:latin typeface="MiSans" panose="00000500000000000000" pitchFamily="34" charset="-122"/>
                <a:ea typeface="MiSans" panose="00000500000000000000" pitchFamily="34" charset="-122"/>
                <a:cs typeface="MiSans" panose="00000500000000000000" pitchFamily="34" charset="-120"/>
              </a:rPr>
              <a:t>包括研发直接消耗的材料、燃料、动力费用，中间试验和产品试制的模具、工艺装备开发制造费，样品样机购置费，试制产品检验费，研发仪器设备运行维护、租赁费等。原始凭据为实物领料单、检测费发票、合同等，须注明用途或部门、研发领料人等信息，单据较多时可用出库汇总单归集。</a:t>
            </a:r>
            <a:endParaRPr lang="en-US" sz="1600" dirty="0"/>
          </a:p>
        </p:txBody>
      </p:sp>
      <p:sp>
        <p:nvSpPr>
          <p:cNvPr id="10" name="Text 4"/>
          <p:cNvSpPr/>
          <p:nvPr/>
        </p:nvSpPr>
        <p:spPr>
          <a:xfrm>
            <a:off x="9003665" y="1990725"/>
            <a:ext cx="688975" cy="536575"/>
          </a:xfrm>
          <a:prstGeom prst="rect">
            <a:avLst/>
          </a:prstGeom>
          <a:noFill/>
        </p:spPr>
        <p:txBody>
          <a:bodyPr wrap="square" lIns="0" tIns="0" rIns="0" bIns="0" rtlCol="0" anchor="t"/>
          <a:lstStyle/>
          <a:p>
            <a:pPr algn="ctr">
              <a:lnSpc>
                <a:spcPct val="100000"/>
              </a:lnSpc>
            </a:pPr>
            <a:r>
              <a:rPr lang="en-US" sz="4000" dirty="0">
                <a:solidFill>
                  <a:srgbClr val="3373F8"/>
                </a:solidFill>
                <a:latin typeface="MiSans" panose="00000500000000000000" pitchFamily="34" charset="-122"/>
                <a:ea typeface="MiSans" panose="00000500000000000000" pitchFamily="34" charset="-122"/>
                <a:cs typeface="MiSans" panose="00000500000000000000" pitchFamily="34" charset="-120"/>
              </a:rPr>
              <a:t>2</a:t>
            </a:r>
            <a:endParaRPr lang="en-US" sz="1600" dirty="0"/>
          </a:p>
        </p:txBody>
      </p:sp>
      <p:sp>
        <p:nvSpPr>
          <p:cNvPr id="11" name="Text 5"/>
          <p:cNvSpPr/>
          <p:nvPr/>
        </p:nvSpPr>
        <p:spPr>
          <a:xfrm>
            <a:off x="7428865" y="3215005"/>
            <a:ext cx="3712210" cy="523240"/>
          </a:xfrm>
          <a:prstGeom prst="rect">
            <a:avLst/>
          </a:prstGeom>
          <a:noFill/>
        </p:spPr>
        <p:txBody>
          <a:bodyPr wrap="square" lIns="0" tIns="0" rIns="0" bIns="0" rtlCol="0" anchor="t"/>
          <a:lstStyle/>
          <a:p>
            <a:pPr algn="ctr">
              <a:lnSpc>
                <a:spcPct val="150000"/>
              </a:lnSpc>
            </a:pPr>
            <a:r>
              <a:rPr lang="en-US" sz="2000" dirty="0">
                <a:solidFill>
                  <a:srgbClr val="3373F8"/>
                </a:solidFill>
                <a:latin typeface="MiSans" panose="00000500000000000000" pitchFamily="34" charset="-122"/>
                <a:ea typeface="MiSans" panose="00000500000000000000" pitchFamily="34" charset="-122"/>
                <a:cs typeface="MiSans" panose="00000500000000000000" pitchFamily="34" charset="-120"/>
              </a:rPr>
              <a:t>分配方法与会计处理</a:t>
            </a:r>
            <a:endParaRPr lang="en-US" sz="1600" dirty="0"/>
          </a:p>
        </p:txBody>
      </p:sp>
      <p:sp>
        <p:nvSpPr>
          <p:cNvPr id="12" name="Text 6"/>
          <p:cNvSpPr/>
          <p:nvPr/>
        </p:nvSpPr>
        <p:spPr>
          <a:xfrm>
            <a:off x="7571105" y="3797935"/>
            <a:ext cx="3385820" cy="2049145"/>
          </a:xfrm>
          <a:prstGeom prst="rect">
            <a:avLst/>
          </a:prstGeom>
          <a:noFill/>
        </p:spPr>
        <p:txBody>
          <a:bodyPr wrap="square" lIns="0" tIns="0" rIns="0" bIns="0" rtlCol="0" anchor="t"/>
          <a:lstStyle/>
          <a:p>
            <a:pPr algn="just">
              <a:lnSpc>
                <a:spcPct val="150000"/>
              </a:lnSpc>
            </a:pPr>
            <a:r>
              <a:rPr lang="en-US" sz="1400" dirty="0">
                <a:solidFill>
                  <a:srgbClr val="262626"/>
                </a:solidFill>
                <a:latin typeface="MiSans" panose="00000500000000000000" pitchFamily="34" charset="-122"/>
                <a:ea typeface="MiSans" panose="00000500000000000000" pitchFamily="34" charset="-122"/>
                <a:cs typeface="MiSans" panose="00000500000000000000" pitchFamily="34" charset="-120"/>
              </a:rPr>
              <a:t>耗用的材料、检测费等一般按研发项目直接列支，耗用的动力须按一定分配标准在各研发项目间进行分配。会计分录按各项目实际发生额借记研发支出直接投入费用科目，贷记原材料等相关科目，确保账实相符、归集准确。</a:t>
            </a:r>
            <a:endParaRPr lang="en-US" sz="1600" dirty="0"/>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 0" descr="https://kimi-img.moonshot.cn/pub/slides/slides_tmpl/image/25-09-04-11:33:06-d2sggsm1bb2p4onbon10.jpg"/>
          <p:cNvPicPr>
            <a:picLocks noChangeAspect="1"/>
          </p:cNvPicPr>
          <p:nvPr/>
        </p:nvPicPr>
        <p:blipFill>
          <a:blip r:embed="rId4"/>
          <a:stretch>
            <a:fillRect/>
          </a:stretch>
        </p:blipFill>
        <p:spPr>
          <a:xfrm>
            <a:off x="0" y="0"/>
            <a:ext cx="12192000" cy="6858000"/>
          </a:xfrm>
          <a:prstGeom prst="rect">
            <a:avLst/>
          </a:prstGeom>
        </p:spPr>
      </p:pic>
      <p:cxnSp>
        <p:nvCxnSpPr>
          <p:cNvPr id="5" name="直接连接符 4"/>
          <p:cNvCxnSpPr/>
          <p:nvPr/>
        </p:nvCxnSpPr>
        <p:spPr>
          <a:xfrm>
            <a:off x="2619061" y="644689"/>
            <a:ext cx="1920213" cy="0"/>
          </a:xfrm>
          <a:prstGeom prst="line">
            <a:avLst/>
          </a:prstGeom>
          <a:ln>
            <a:gradFill flip="none" rotWithShape="1">
              <a:gsLst>
                <a:gs pos="0">
                  <a:schemeClr val="bg1">
                    <a:alpha val="0"/>
                  </a:schemeClr>
                </a:gs>
                <a:gs pos="100000">
                  <a:schemeClr val="bg1"/>
                </a:gs>
              </a:gsLst>
              <a:lin ang="0" scaled="1"/>
              <a:tileRect/>
            </a:gradFill>
            <a:tailEnd type="oval"/>
          </a:ln>
        </p:spPr>
        <p:style>
          <a:lnRef idx="1">
            <a:schemeClr val="accent1"/>
          </a:lnRef>
          <a:fillRef idx="0">
            <a:schemeClr val="accent1"/>
          </a:fillRef>
          <a:effectRef idx="0">
            <a:schemeClr val="accent1"/>
          </a:effectRef>
          <a:fontRef idx="minor">
            <a:schemeClr val="tx1"/>
          </a:fontRef>
        </p:style>
      </p:cxnSp>
      <p:sp>
        <p:nvSpPr>
          <p:cNvPr id="14" name="TextBox 1"/>
          <p:cNvSpPr txBox="1"/>
          <p:nvPr/>
        </p:nvSpPr>
        <p:spPr>
          <a:xfrm>
            <a:off x="3579168" y="380600"/>
            <a:ext cx="4992555" cy="534035"/>
          </a:xfrm>
          <a:prstGeom prst="rect">
            <a:avLst/>
          </a:prstGeom>
          <a:noFill/>
        </p:spPr>
        <p:txBody>
          <a:bodyPr wrap="square" rtlCol="0">
            <a:spAutoFit/>
          </a:bodyPr>
          <a:lstStyle/>
          <a:p>
            <a:pPr algn="ctr" defTabSz="431800">
              <a:lnSpc>
                <a:spcPct val="120000"/>
              </a:lnSpc>
              <a:defRPr/>
            </a:pPr>
            <a:r>
              <a:rPr lang="zh-CN" sz="2400" b="1" kern="0" dirty="0">
                <a:solidFill>
                  <a:schemeClr val="tx1"/>
                </a:solidFill>
                <a:latin typeface="Arial" panose="020B0604020202020204" pitchFamily="34" charset="0"/>
                <a:ea typeface="微软雅黑" panose="020B0503020204020204" charset="-122"/>
                <a:cs typeface="Arial" panose="020B0604020202020204" pitchFamily="34" charset="0"/>
              </a:rPr>
              <a:t>研发费用</a:t>
            </a:r>
            <a:r>
              <a:rPr lang="en-US" altLang="zh-CN" sz="2400" b="1" kern="0" dirty="0">
                <a:solidFill>
                  <a:schemeClr val="tx1"/>
                </a:solidFill>
                <a:latin typeface="Arial" panose="020B0604020202020204" pitchFamily="34" charset="0"/>
                <a:ea typeface="微软雅黑" panose="020B0503020204020204" charset="-122"/>
                <a:cs typeface="Arial" panose="020B0604020202020204" pitchFamily="34" charset="0"/>
              </a:rPr>
              <a:t>“</a:t>
            </a:r>
            <a:r>
              <a:rPr lang="zh-CN" sz="2400" b="1" kern="0" dirty="0">
                <a:solidFill>
                  <a:schemeClr val="tx1"/>
                </a:solidFill>
                <a:latin typeface="Arial" panose="020B0604020202020204" pitchFamily="34" charset="0"/>
                <a:ea typeface="微软雅黑" panose="020B0503020204020204" charset="-122"/>
                <a:cs typeface="Arial" panose="020B0604020202020204" pitchFamily="34" charset="0"/>
              </a:rPr>
              <a:t>合理</a:t>
            </a:r>
            <a:r>
              <a:rPr lang="en-US" altLang="zh-CN" sz="2400" b="1" kern="0" dirty="0">
                <a:solidFill>
                  <a:schemeClr val="tx1"/>
                </a:solidFill>
                <a:latin typeface="Arial" panose="020B0604020202020204" pitchFamily="34" charset="0"/>
                <a:ea typeface="微软雅黑" panose="020B0503020204020204" charset="-122"/>
                <a:cs typeface="Arial" panose="020B0604020202020204" pitchFamily="34" charset="0"/>
              </a:rPr>
              <a:t>”</a:t>
            </a:r>
            <a:r>
              <a:rPr lang="zh-CN" sz="2400" b="1" kern="0" dirty="0">
                <a:solidFill>
                  <a:schemeClr val="tx1"/>
                </a:solidFill>
                <a:latin typeface="Arial" panose="020B0604020202020204" pitchFamily="34" charset="0"/>
                <a:ea typeface="微软雅黑" panose="020B0503020204020204" charset="-122"/>
                <a:cs typeface="Arial" panose="020B0604020202020204" pitchFamily="34" charset="0"/>
              </a:rPr>
              <a:t>归集</a:t>
            </a:r>
          </a:p>
        </p:txBody>
      </p:sp>
      <p:cxnSp>
        <p:nvCxnSpPr>
          <p:cNvPr id="15" name="直接连接符 14"/>
          <p:cNvCxnSpPr/>
          <p:nvPr/>
        </p:nvCxnSpPr>
        <p:spPr>
          <a:xfrm flipH="1">
            <a:off x="7611616" y="644689"/>
            <a:ext cx="1920213" cy="0"/>
          </a:xfrm>
          <a:prstGeom prst="line">
            <a:avLst/>
          </a:prstGeom>
          <a:ln>
            <a:gradFill flip="none" rotWithShape="1">
              <a:gsLst>
                <a:gs pos="0">
                  <a:schemeClr val="bg1">
                    <a:alpha val="0"/>
                  </a:schemeClr>
                </a:gs>
                <a:gs pos="100000">
                  <a:schemeClr val="bg1"/>
                </a:gs>
              </a:gsLst>
              <a:lin ang="0" scaled="1"/>
              <a:tileRect/>
            </a:gradFill>
            <a:tailEnd type="oval"/>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756073" y="1413087"/>
            <a:ext cx="10638367" cy="1603587"/>
          </a:xfrm>
          <a:prstGeom prst="rect">
            <a:avLst/>
          </a:prstGeom>
          <a:noFill/>
        </p:spPr>
        <p:txBody>
          <a:bodyPr wrap="square" rtlCol="0">
            <a:noAutofit/>
          </a:bodyPr>
          <a:lstStyle/>
          <a:p>
            <a:pPr algn="l"/>
            <a:r>
              <a:rPr lang="en-US" altLang="zh-CN" sz="2400" dirty="0" err="1">
                <a:solidFill>
                  <a:schemeClr val="tx1"/>
                </a:solidFill>
                <a:ea typeface="微软雅黑" panose="020B0503020204020204" charset="-122"/>
                <a:sym typeface="+mn-ea"/>
              </a:rPr>
              <a:t>领料单（样表四</a:t>
            </a:r>
            <a:r>
              <a:rPr lang="en-US" altLang="zh-CN" sz="2400" dirty="0">
                <a:solidFill>
                  <a:schemeClr val="tx1"/>
                </a:solidFill>
                <a:ea typeface="微软雅黑" panose="020B0503020204020204" charset="-122"/>
                <a:sym typeface="+mn-ea"/>
              </a:rPr>
              <a:t>）</a:t>
            </a:r>
          </a:p>
          <a:p>
            <a:pPr marL="0" lvl="0" indent="0" algn="ctr" eaLnBrk="1" hangingPunct="1">
              <a:spcBef>
                <a:spcPct val="0"/>
              </a:spcBef>
              <a:buClrTx/>
              <a:buFontTx/>
              <a:buNone/>
            </a:pPr>
            <a:r>
              <a:rPr lang="zh-CN" altLang="en-US" sz="2400" b="1" dirty="0">
                <a:solidFill>
                  <a:schemeClr val="tx1"/>
                </a:solidFill>
                <a:latin typeface="微软雅黑 Light" panose="020B0502040204020203" pitchFamily="34" charset="-122"/>
                <a:ea typeface="微软雅黑 Light" panose="020B0502040204020203" pitchFamily="34" charset="-122"/>
                <a:sym typeface="+mn-ea"/>
              </a:rPr>
              <a:t>领料单</a:t>
            </a:r>
            <a:endParaRPr lang="en-US" altLang="zh-CN" sz="2400" b="1" dirty="0">
              <a:solidFill>
                <a:schemeClr val="tx1"/>
              </a:solidFill>
              <a:latin typeface="微软雅黑 Light" panose="020B0502040204020203" pitchFamily="34" charset="-122"/>
              <a:ea typeface="微软雅黑 Light" panose="020B0502040204020203" pitchFamily="34" charset="-122"/>
              <a:sym typeface="+mn-ea"/>
            </a:endParaRPr>
          </a:p>
          <a:p>
            <a:pPr marL="0" lvl="0" indent="0" algn="ctr" eaLnBrk="1" hangingPunct="1">
              <a:spcBef>
                <a:spcPct val="0"/>
              </a:spcBef>
              <a:buClrTx/>
              <a:buFontTx/>
              <a:buNone/>
            </a:pPr>
            <a:endParaRPr lang="zh-CN" altLang="en-US" sz="2400" dirty="0">
              <a:solidFill>
                <a:schemeClr val="tx1"/>
              </a:solidFill>
              <a:latin typeface="微软雅黑 Light" panose="020B0502040204020203" pitchFamily="34" charset="-122"/>
              <a:ea typeface="微软雅黑 Light" panose="020B0502040204020203" pitchFamily="34" charset="-122"/>
              <a:sym typeface="+mn-ea"/>
            </a:endParaRPr>
          </a:p>
          <a:p>
            <a:pPr marL="0" lvl="0" indent="0" eaLnBrk="1" hangingPunct="1">
              <a:spcBef>
                <a:spcPct val="0"/>
              </a:spcBef>
              <a:buClrTx/>
              <a:buFontTx/>
              <a:buNone/>
            </a:pPr>
            <a:r>
              <a:rPr lang="zh-CN" altLang="en-US" sz="2400" dirty="0">
                <a:solidFill>
                  <a:schemeClr val="tx1"/>
                </a:solidFill>
                <a:latin typeface="微软雅黑 Light" panose="020B0502040204020203" pitchFamily="34" charset="-122"/>
                <a:ea typeface="微软雅黑 Light" panose="020B0502040204020203" pitchFamily="34" charset="-122"/>
                <a:sym typeface="+mn-ea"/>
              </a:rPr>
              <a:t> </a:t>
            </a:r>
            <a:r>
              <a:rPr lang="zh-CN" altLang="en-US" sz="2135" dirty="0">
                <a:solidFill>
                  <a:schemeClr val="tx1"/>
                </a:solidFill>
                <a:highlight>
                  <a:srgbClr val="FF0000"/>
                </a:highlight>
                <a:latin typeface="微软雅黑 Light" panose="020B0502040204020203" pitchFamily="34" charset="-122"/>
                <a:ea typeface="微软雅黑 Light" panose="020B0502040204020203" pitchFamily="34" charset="-122"/>
                <a:sym typeface="+mn-ea"/>
              </a:rPr>
              <a:t>用途：</a:t>
            </a:r>
            <a:r>
              <a:rPr lang="en-US" altLang="zh-CN" sz="2135" dirty="0">
                <a:solidFill>
                  <a:schemeClr val="tx1"/>
                </a:solidFill>
                <a:highlight>
                  <a:srgbClr val="FF0000"/>
                </a:highlight>
                <a:ea typeface="微软雅黑" panose="020B0503020204020204" charset="-122"/>
                <a:sym typeface="+mn-ea"/>
              </a:rPr>
              <a:t>**RD</a:t>
            </a:r>
            <a:r>
              <a:rPr lang="zh-CN" altLang="en-US" sz="2135" dirty="0">
                <a:solidFill>
                  <a:schemeClr val="tx1"/>
                </a:solidFill>
                <a:highlight>
                  <a:srgbClr val="FF0000"/>
                </a:highlight>
                <a:latin typeface="微软雅黑 Light" panose="020B0502040204020203" pitchFamily="34" charset="-122"/>
                <a:ea typeface="微软雅黑 Light" panose="020B0502040204020203" pitchFamily="34" charset="-122"/>
                <a:sym typeface="+mn-ea"/>
              </a:rPr>
              <a:t>项目</a:t>
            </a:r>
            <a:r>
              <a:rPr lang="en-US" altLang="zh-CN" sz="2135" dirty="0">
                <a:solidFill>
                  <a:schemeClr val="tx1"/>
                </a:solidFill>
                <a:ea typeface="微软雅黑" panose="020B0503020204020204" charset="-122"/>
                <a:sym typeface="+mn-ea"/>
              </a:rPr>
              <a:t>                                                            </a:t>
            </a:r>
            <a:r>
              <a:rPr lang="zh-CN" altLang="en-US" sz="2135" dirty="0">
                <a:solidFill>
                  <a:schemeClr val="tx1"/>
                </a:solidFill>
                <a:latin typeface="微软雅黑 Light" panose="020B0502040204020203" pitchFamily="34" charset="-122"/>
                <a:ea typeface="微软雅黑 Light" panose="020B0502040204020203" pitchFamily="34" charset="-122"/>
                <a:sym typeface="+mn-ea"/>
              </a:rPr>
              <a:t>发料仓库：            </a:t>
            </a:r>
            <a:r>
              <a:rPr lang="en-US" altLang="zh-CN" sz="2135" dirty="0">
                <a:solidFill>
                  <a:schemeClr val="tx1"/>
                </a:solidFill>
                <a:latin typeface="微软雅黑 Light" panose="020B0502040204020203" pitchFamily="34" charset="-122"/>
                <a:ea typeface="微软雅黑 Light" panose="020B0502040204020203" pitchFamily="34" charset="-122"/>
                <a:sym typeface="+mn-ea"/>
              </a:rPr>
              <a:t>          </a:t>
            </a:r>
            <a:r>
              <a:rPr lang="zh-CN" altLang="en-US" sz="2135" dirty="0">
                <a:solidFill>
                  <a:schemeClr val="tx1"/>
                </a:solidFill>
                <a:latin typeface="微软雅黑 Light" panose="020B0502040204020203" pitchFamily="34" charset="-122"/>
                <a:ea typeface="微软雅黑 Light" panose="020B0502040204020203" pitchFamily="34" charset="-122"/>
                <a:sym typeface="+mn-ea"/>
              </a:rPr>
              <a:t>     </a:t>
            </a:r>
            <a:r>
              <a:rPr lang="en-US" altLang="zh-CN" sz="2135" dirty="0">
                <a:solidFill>
                  <a:schemeClr val="tx1"/>
                </a:solidFill>
                <a:latin typeface="微软雅黑 Light" panose="020B0502040204020203" pitchFamily="34" charset="-122"/>
                <a:ea typeface="微软雅黑 Light" panose="020B0502040204020203" pitchFamily="34" charset="-122"/>
                <a:sym typeface="+mn-ea"/>
              </a:rPr>
              <a:t>No.</a:t>
            </a:r>
            <a:endParaRPr lang="zh-CN" altLang="en-US" sz="2135" dirty="0">
              <a:solidFill>
                <a:schemeClr val="tx1"/>
              </a:solidFill>
              <a:latin typeface="微软雅黑 Light" panose="020B0502040204020203" pitchFamily="34" charset="-122"/>
              <a:ea typeface="微软雅黑 Light" panose="020B0502040204020203" pitchFamily="34" charset="-122"/>
            </a:endParaRPr>
          </a:p>
          <a:p>
            <a:pPr algn="l">
              <a:lnSpc>
                <a:spcPct val="150000"/>
              </a:lnSpc>
            </a:pPr>
            <a:endParaRPr lang="en-US" altLang="zh-CN" sz="2400" dirty="0">
              <a:solidFill>
                <a:schemeClr val="tx1"/>
              </a:solidFill>
              <a:ea typeface="微软雅黑" panose="020B0503020204020204" charset="-122"/>
              <a:sym typeface="+mn-ea"/>
            </a:endParaRPr>
          </a:p>
          <a:p>
            <a:pPr algn="l">
              <a:lnSpc>
                <a:spcPct val="150000"/>
              </a:lnSpc>
            </a:pPr>
            <a:r>
              <a:rPr lang="en-US" altLang="zh-CN" sz="2400" dirty="0">
                <a:solidFill>
                  <a:schemeClr val="tx1"/>
                </a:solidFill>
                <a:ea typeface="微软雅黑" panose="020B0503020204020204" charset="-122"/>
                <a:sym typeface="+mn-ea"/>
              </a:rPr>
              <a:t>          </a:t>
            </a:r>
          </a:p>
          <a:p>
            <a:pPr algn="l"/>
            <a:endParaRPr lang="en-US" altLang="zh-CN" sz="2400" dirty="0">
              <a:solidFill>
                <a:schemeClr val="tx1"/>
              </a:solidFill>
              <a:ea typeface="微软雅黑" panose="020B0503020204020204" charset="-122"/>
              <a:sym typeface="+mn-ea"/>
            </a:endParaRPr>
          </a:p>
          <a:p>
            <a:pPr algn="l"/>
            <a:endParaRPr lang="en-US" altLang="zh-CN" sz="2400" dirty="0">
              <a:solidFill>
                <a:schemeClr val="tx1"/>
              </a:solidFill>
              <a:ea typeface="微软雅黑" panose="020B0503020204020204" charset="-122"/>
              <a:sym typeface="+mn-ea"/>
            </a:endParaRPr>
          </a:p>
        </p:txBody>
      </p:sp>
      <p:graphicFrame>
        <p:nvGraphicFramePr>
          <p:cNvPr id="4" name="Group 59"/>
          <p:cNvGraphicFramePr>
            <a:graphicFrameLocks noGrp="1"/>
          </p:cNvGraphicFramePr>
          <p:nvPr>
            <p:custDataLst>
              <p:tags r:id="rId1"/>
            </p:custDataLst>
          </p:nvPr>
        </p:nvGraphicFramePr>
        <p:xfrm>
          <a:off x="816187" y="3044191"/>
          <a:ext cx="10273665" cy="2108200"/>
        </p:xfrm>
        <a:graphic>
          <a:graphicData uri="http://schemas.openxmlformats.org/drawingml/2006/table">
            <a:tbl>
              <a:tblPr/>
              <a:tblGrid>
                <a:gridCol w="114046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141095">
                  <a:extLst>
                    <a:ext uri="{9D8B030D-6E8A-4147-A177-3AD203B41FA5}">
                      <a16:colId xmlns:a16="http://schemas.microsoft.com/office/drawing/2014/main" val="20002"/>
                    </a:ext>
                  </a:extLst>
                </a:gridCol>
                <a:gridCol w="1140460">
                  <a:extLst>
                    <a:ext uri="{9D8B030D-6E8A-4147-A177-3AD203B41FA5}">
                      <a16:colId xmlns:a16="http://schemas.microsoft.com/office/drawing/2014/main" val="20003"/>
                    </a:ext>
                  </a:extLst>
                </a:gridCol>
                <a:gridCol w="1143000">
                  <a:extLst>
                    <a:ext uri="{9D8B030D-6E8A-4147-A177-3AD203B41FA5}">
                      <a16:colId xmlns:a16="http://schemas.microsoft.com/office/drawing/2014/main" val="20004"/>
                    </a:ext>
                  </a:extLst>
                </a:gridCol>
                <a:gridCol w="1141095">
                  <a:extLst>
                    <a:ext uri="{9D8B030D-6E8A-4147-A177-3AD203B41FA5}">
                      <a16:colId xmlns:a16="http://schemas.microsoft.com/office/drawing/2014/main" val="20005"/>
                    </a:ext>
                  </a:extLst>
                </a:gridCol>
                <a:gridCol w="1140460">
                  <a:extLst>
                    <a:ext uri="{9D8B030D-6E8A-4147-A177-3AD203B41FA5}">
                      <a16:colId xmlns:a16="http://schemas.microsoft.com/office/drawing/2014/main" val="20006"/>
                    </a:ext>
                  </a:extLst>
                </a:gridCol>
                <a:gridCol w="1143000">
                  <a:extLst>
                    <a:ext uri="{9D8B030D-6E8A-4147-A177-3AD203B41FA5}">
                      <a16:colId xmlns:a16="http://schemas.microsoft.com/office/drawing/2014/main" val="20007"/>
                    </a:ext>
                  </a:extLst>
                </a:gridCol>
                <a:gridCol w="1141095">
                  <a:extLst>
                    <a:ext uri="{9D8B030D-6E8A-4147-A177-3AD203B41FA5}">
                      <a16:colId xmlns:a16="http://schemas.microsoft.com/office/drawing/2014/main" val="20008"/>
                    </a:ext>
                  </a:extLst>
                </a:gridCol>
              </a:tblGrid>
              <a:tr h="523875">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735" b="0" i="0" u="none" strike="noStrike" cap="none" normalizeH="0" baseline="0" dirty="0">
                          <a:ln>
                            <a:noFill/>
                          </a:ln>
                          <a:solidFill>
                            <a:schemeClr val="tx1"/>
                          </a:solidFill>
                          <a:effectLst/>
                          <a:latin typeface="Calibri" panose="020F0502020204030204" charset="0"/>
                          <a:ea typeface="微软雅黑" panose="020B0503020204020204" charset="-122"/>
                          <a:cs typeface="Arial" panose="020B0604020202020204" pitchFamily="34" charset="0"/>
                        </a:rPr>
                        <a:t>材料编号</a:t>
                      </a:r>
                    </a:p>
                  </a:txBody>
                  <a:tcPr marL="12700" marR="12700" marT="1270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alpha val="18000"/>
                      </a:srgbClr>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735" b="0" i="0" u="none" strike="noStrike" cap="none" normalizeH="0" baseline="0" dirty="0">
                          <a:ln>
                            <a:noFill/>
                          </a:ln>
                          <a:solidFill>
                            <a:schemeClr val="tx1"/>
                          </a:solidFill>
                          <a:effectLst/>
                          <a:latin typeface="Calibri" panose="020F0502020204030204" charset="0"/>
                          <a:ea typeface="微软雅黑" panose="020B0503020204020204" charset="-122"/>
                          <a:cs typeface="Arial" panose="020B0604020202020204" pitchFamily="34" charset="0"/>
                        </a:rPr>
                        <a:t>材料类别</a:t>
                      </a:r>
                    </a:p>
                  </a:txBody>
                  <a:tcPr marL="12700" marR="12700" marT="1270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alpha val="18000"/>
                      </a:srgbClr>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735" b="0" i="0" u="none" strike="noStrike" cap="none" normalizeH="0" baseline="0" dirty="0">
                          <a:ln>
                            <a:noFill/>
                          </a:ln>
                          <a:solidFill>
                            <a:schemeClr val="tx1"/>
                          </a:solidFill>
                          <a:effectLst/>
                          <a:latin typeface="Calibri" panose="020F0502020204030204" charset="0"/>
                          <a:ea typeface="微软雅黑" panose="020B0503020204020204" charset="-122"/>
                          <a:cs typeface="Arial" panose="020B0604020202020204" pitchFamily="34" charset="0"/>
                        </a:rPr>
                        <a:t>材料名称</a:t>
                      </a:r>
                    </a:p>
                  </a:txBody>
                  <a:tcPr marL="12700" marR="12700" marT="1270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alpha val="18000"/>
                      </a:srgbClr>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735" b="0" i="0" u="none" strike="noStrike" cap="none" normalizeH="0" baseline="0" dirty="0">
                          <a:ln>
                            <a:noFill/>
                          </a:ln>
                          <a:solidFill>
                            <a:schemeClr val="tx1"/>
                          </a:solidFill>
                          <a:effectLst/>
                          <a:latin typeface="Calibri" panose="020F0502020204030204" charset="0"/>
                          <a:ea typeface="微软雅黑" panose="020B0503020204020204" charset="-122"/>
                          <a:cs typeface="Arial" panose="020B0604020202020204" pitchFamily="34" charset="0"/>
                        </a:rPr>
                        <a:t>型号</a:t>
                      </a:r>
                    </a:p>
                  </a:txBody>
                  <a:tcPr marL="12700" marR="12700" marT="1270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alpha val="18000"/>
                      </a:srgbClr>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735" b="0" i="0" u="none" strike="noStrike" cap="none" normalizeH="0" baseline="0" dirty="0">
                          <a:ln>
                            <a:noFill/>
                          </a:ln>
                          <a:solidFill>
                            <a:schemeClr val="tx1"/>
                          </a:solidFill>
                          <a:effectLst/>
                          <a:latin typeface="Calibri" panose="020F0502020204030204" charset="0"/>
                          <a:ea typeface="微软雅黑" panose="020B0503020204020204" charset="-122"/>
                          <a:cs typeface="Arial" panose="020B0604020202020204" pitchFamily="34" charset="0"/>
                        </a:rPr>
                        <a:t>计量单位</a:t>
                      </a:r>
                    </a:p>
                  </a:txBody>
                  <a:tcPr marL="12700" marR="12700" marT="1270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alpha val="18000"/>
                      </a:srgbClr>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735" b="0" i="0" u="none" strike="noStrike" cap="none" normalizeH="0" baseline="0" dirty="0">
                          <a:ln>
                            <a:noFill/>
                          </a:ln>
                          <a:solidFill>
                            <a:schemeClr val="tx1"/>
                          </a:solidFill>
                          <a:effectLst/>
                          <a:latin typeface="Calibri" panose="020F0502020204030204" charset="0"/>
                          <a:ea typeface="微软雅黑" panose="020B0503020204020204" charset="-122"/>
                          <a:cs typeface="Arial" panose="020B0604020202020204" pitchFamily="34" charset="0"/>
                        </a:rPr>
                        <a:t>请领数量</a:t>
                      </a:r>
                    </a:p>
                  </a:txBody>
                  <a:tcPr marL="12700" marR="12700" marT="1270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alpha val="18000"/>
                      </a:srgbClr>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735" b="0" i="0" u="none" strike="noStrike" cap="none" normalizeH="0" baseline="0" dirty="0">
                          <a:ln>
                            <a:noFill/>
                          </a:ln>
                          <a:solidFill>
                            <a:schemeClr val="tx1"/>
                          </a:solidFill>
                          <a:effectLst/>
                          <a:latin typeface="Calibri" panose="020F0502020204030204" charset="0"/>
                          <a:ea typeface="微软雅黑" panose="020B0503020204020204" charset="-122"/>
                          <a:cs typeface="Arial" panose="020B0604020202020204" pitchFamily="34" charset="0"/>
                        </a:rPr>
                        <a:t>实领数量</a:t>
                      </a:r>
                    </a:p>
                  </a:txBody>
                  <a:tcPr marL="12700" marR="12700" marT="1270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alpha val="18000"/>
                      </a:srgbClr>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735" b="0" i="0" u="none" strike="noStrike" cap="none" normalizeH="0" baseline="0" dirty="0">
                          <a:ln>
                            <a:noFill/>
                          </a:ln>
                          <a:solidFill>
                            <a:schemeClr val="tx1"/>
                          </a:solidFill>
                          <a:effectLst/>
                          <a:latin typeface="Calibri" panose="020F0502020204030204" charset="0"/>
                          <a:ea typeface="微软雅黑" panose="020B0503020204020204" charset="-122"/>
                          <a:cs typeface="Arial" panose="020B0604020202020204" pitchFamily="34" charset="0"/>
                        </a:rPr>
                        <a:t>单价</a:t>
                      </a:r>
                    </a:p>
                  </a:txBody>
                  <a:tcPr marL="12700" marR="12700" marT="1270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alpha val="18000"/>
                      </a:srgbClr>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735" b="0" i="0" u="none" strike="noStrike" cap="none" normalizeH="0" baseline="0" dirty="0">
                          <a:ln>
                            <a:noFill/>
                          </a:ln>
                          <a:solidFill>
                            <a:schemeClr val="tx1"/>
                          </a:solidFill>
                          <a:effectLst/>
                          <a:latin typeface="Calibri" panose="020F0502020204030204" charset="0"/>
                          <a:ea typeface="微软雅黑" panose="020B0503020204020204" charset="-122"/>
                          <a:cs typeface="Arial" panose="020B0604020202020204" pitchFamily="34" charset="0"/>
                        </a:rPr>
                        <a:t>金额</a:t>
                      </a:r>
                    </a:p>
                  </a:txBody>
                  <a:tcPr marL="12700" marR="12700" marT="1270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alpha val="18000"/>
                      </a:srgbClr>
                    </a:solidFill>
                  </a:tcPr>
                </a:tc>
                <a:extLst>
                  <a:ext uri="{0D108BD9-81ED-4DB2-BD59-A6C34878D82A}">
                    <a16:rowId xmlns:a16="http://schemas.microsoft.com/office/drawing/2014/main" val="10000"/>
                  </a:ext>
                </a:extLst>
              </a:tr>
              <a:tr h="386715">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735" b="1" i="0" u="none" strike="noStrike" cap="none" normalizeH="0" baseline="0" dirty="0">
                          <a:ln>
                            <a:noFill/>
                          </a:ln>
                          <a:solidFill>
                            <a:schemeClr val="tx1"/>
                          </a:solidFill>
                          <a:effectLst/>
                          <a:latin typeface="Calibri" panose="020F0502020204030204" charset="0"/>
                          <a:ea typeface="微软雅黑" panose="020B0503020204020204" charset="-122"/>
                          <a:cs typeface="Arial" panose="020B0604020202020204" pitchFamily="34" charset="0"/>
                        </a:rPr>
                        <a:t>…… </a:t>
                      </a:r>
                    </a:p>
                  </a:txBody>
                  <a:tcPr marL="121925" marR="121925" marT="60961" marB="6096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1335" b="0" i="0" u="none" strike="noStrike" cap="none" normalizeH="0" baseline="0" dirty="0">
                        <a:ln>
                          <a:noFill/>
                        </a:ln>
                        <a:solidFill>
                          <a:schemeClr val="tx1"/>
                        </a:solidFill>
                        <a:effectLst/>
                        <a:latin typeface="Calibri" panose="020F0502020204030204" charset="0"/>
                        <a:ea typeface="微软雅黑" panose="020B0503020204020204" charset="-122"/>
                      </a:endParaRPr>
                    </a:p>
                  </a:txBody>
                  <a:tcPr marL="121925" marR="121925" marT="60961" marB="6096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1335" b="0" i="0" u="none" strike="noStrike" cap="none" normalizeH="0" baseline="0" dirty="0">
                        <a:ln>
                          <a:noFill/>
                        </a:ln>
                        <a:solidFill>
                          <a:schemeClr val="tx1"/>
                        </a:solidFill>
                        <a:effectLst/>
                        <a:latin typeface="Calibri" panose="020F0502020204030204" charset="0"/>
                        <a:ea typeface="微软雅黑" panose="020B0503020204020204" charset="-122"/>
                      </a:endParaRPr>
                    </a:p>
                  </a:txBody>
                  <a:tcPr marL="121925" marR="121925" marT="60961" marB="6096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1335" b="0" i="0" u="none" strike="noStrike" cap="none" normalizeH="0" baseline="0" dirty="0">
                        <a:ln>
                          <a:noFill/>
                        </a:ln>
                        <a:solidFill>
                          <a:schemeClr val="tx1"/>
                        </a:solidFill>
                        <a:effectLst/>
                        <a:latin typeface="Calibri" panose="020F0502020204030204" charset="0"/>
                        <a:ea typeface="微软雅黑" panose="020B0503020204020204" charset="-122"/>
                      </a:endParaRPr>
                    </a:p>
                  </a:txBody>
                  <a:tcPr marL="121925" marR="121925" marT="60961" marB="6096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1335" b="0" i="0" u="none" strike="noStrike" cap="none" normalizeH="0" baseline="0" dirty="0">
                        <a:ln>
                          <a:noFill/>
                        </a:ln>
                        <a:solidFill>
                          <a:schemeClr val="tx1"/>
                        </a:solidFill>
                        <a:effectLst/>
                        <a:latin typeface="Calibri" panose="020F0502020204030204" charset="0"/>
                        <a:ea typeface="微软雅黑" panose="020B0503020204020204" charset="-122"/>
                      </a:endParaRPr>
                    </a:p>
                  </a:txBody>
                  <a:tcPr marL="121925" marR="121925" marT="60961" marB="6096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1335" b="0" i="0" u="none" strike="noStrike" cap="none" normalizeH="0" baseline="0" dirty="0">
                        <a:ln>
                          <a:noFill/>
                        </a:ln>
                        <a:solidFill>
                          <a:schemeClr val="tx1"/>
                        </a:solidFill>
                        <a:effectLst/>
                        <a:latin typeface="Calibri" panose="020F0502020204030204" charset="0"/>
                        <a:ea typeface="微软雅黑" panose="020B0503020204020204" charset="-122"/>
                      </a:endParaRPr>
                    </a:p>
                  </a:txBody>
                  <a:tcPr marL="121925" marR="121925" marT="60961" marB="6096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1335" b="0" i="0" u="none" strike="noStrike" cap="none" normalizeH="0" baseline="0" dirty="0">
                        <a:ln>
                          <a:noFill/>
                        </a:ln>
                        <a:solidFill>
                          <a:schemeClr val="tx1"/>
                        </a:solidFill>
                        <a:effectLst/>
                        <a:latin typeface="Calibri" panose="020F0502020204030204" charset="0"/>
                        <a:ea typeface="微软雅黑" panose="020B0503020204020204" charset="-122"/>
                      </a:endParaRPr>
                    </a:p>
                  </a:txBody>
                  <a:tcPr marL="121925" marR="121925" marT="60961" marB="6096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1335" b="0" i="0" u="none" strike="noStrike" cap="none" normalizeH="0" baseline="0" dirty="0">
                        <a:ln>
                          <a:noFill/>
                        </a:ln>
                        <a:solidFill>
                          <a:schemeClr val="tx1"/>
                        </a:solidFill>
                        <a:effectLst/>
                        <a:latin typeface="Calibri" panose="020F0502020204030204" charset="0"/>
                        <a:ea typeface="微软雅黑" panose="020B0503020204020204" charset="-122"/>
                      </a:endParaRPr>
                    </a:p>
                  </a:txBody>
                  <a:tcPr marL="121925" marR="121925" marT="60961" marB="6096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1335" b="0" i="0" u="none" strike="noStrike" cap="none" normalizeH="0" baseline="0" dirty="0">
                        <a:ln>
                          <a:noFill/>
                        </a:ln>
                        <a:solidFill>
                          <a:schemeClr val="tx1"/>
                        </a:solidFill>
                        <a:effectLst/>
                        <a:latin typeface="Calibri" panose="020F0502020204030204" charset="0"/>
                        <a:ea typeface="微软雅黑" panose="020B0503020204020204" charset="-122"/>
                      </a:endParaRPr>
                    </a:p>
                  </a:txBody>
                  <a:tcPr marL="121925" marR="121925" marT="60961" marB="6096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1275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735" b="1" i="0" u="none" strike="noStrike" cap="none" normalizeH="0" baseline="0" dirty="0">
                          <a:ln>
                            <a:noFill/>
                          </a:ln>
                          <a:solidFill>
                            <a:schemeClr val="tx1"/>
                          </a:solidFill>
                          <a:effectLst/>
                          <a:latin typeface="Calibri" panose="020F0502020204030204" charset="0"/>
                          <a:ea typeface="微软雅黑" panose="020B0503020204020204" charset="-122"/>
                          <a:cs typeface="Arial" panose="020B0604020202020204" pitchFamily="34" charset="0"/>
                        </a:rPr>
                        <a:t>…… </a:t>
                      </a:r>
                    </a:p>
                  </a:txBody>
                  <a:tcPr marL="121925" marR="121925" marT="60961" marB="6096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1335" b="0" i="0" u="none" strike="noStrike" cap="none" normalizeH="0" baseline="0" dirty="0">
                        <a:ln>
                          <a:noFill/>
                        </a:ln>
                        <a:solidFill>
                          <a:schemeClr val="tx1"/>
                        </a:solidFill>
                        <a:effectLst/>
                        <a:latin typeface="Calibri" panose="020F0502020204030204" charset="0"/>
                        <a:ea typeface="微软雅黑" panose="020B0503020204020204" charset="-122"/>
                      </a:endParaRPr>
                    </a:p>
                  </a:txBody>
                  <a:tcPr marL="121925" marR="121925" marT="60961" marB="6096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1335" b="0" i="0" u="none" strike="noStrike" cap="none" normalizeH="0" baseline="0" dirty="0">
                        <a:ln>
                          <a:noFill/>
                        </a:ln>
                        <a:solidFill>
                          <a:schemeClr val="tx1"/>
                        </a:solidFill>
                        <a:effectLst/>
                        <a:latin typeface="Calibri" panose="020F0502020204030204" charset="0"/>
                        <a:ea typeface="微软雅黑" panose="020B0503020204020204" charset="-122"/>
                      </a:endParaRPr>
                    </a:p>
                  </a:txBody>
                  <a:tcPr marL="121925" marR="121925" marT="60961" marB="6096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1335" b="0" i="0" u="none" strike="noStrike" cap="none" normalizeH="0" baseline="0" dirty="0">
                        <a:ln>
                          <a:noFill/>
                        </a:ln>
                        <a:solidFill>
                          <a:schemeClr val="tx1"/>
                        </a:solidFill>
                        <a:effectLst/>
                        <a:latin typeface="Calibri" panose="020F0502020204030204" charset="0"/>
                        <a:ea typeface="微软雅黑" panose="020B0503020204020204" charset="-122"/>
                      </a:endParaRPr>
                    </a:p>
                  </a:txBody>
                  <a:tcPr marL="121925" marR="121925" marT="60961" marB="6096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1335" b="0" i="0" u="none" strike="noStrike" cap="none" normalizeH="0" baseline="0" dirty="0">
                        <a:ln>
                          <a:noFill/>
                        </a:ln>
                        <a:solidFill>
                          <a:schemeClr val="tx1"/>
                        </a:solidFill>
                        <a:effectLst/>
                        <a:latin typeface="Calibri" panose="020F0502020204030204" charset="0"/>
                        <a:ea typeface="微软雅黑" panose="020B0503020204020204" charset="-122"/>
                      </a:endParaRPr>
                    </a:p>
                  </a:txBody>
                  <a:tcPr marL="121925" marR="121925" marT="60961" marB="6096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1335" b="0" i="0" u="none" strike="noStrike" cap="none" normalizeH="0" baseline="0" dirty="0">
                        <a:ln>
                          <a:noFill/>
                        </a:ln>
                        <a:solidFill>
                          <a:schemeClr val="tx1"/>
                        </a:solidFill>
                        <a:effectLst/>
                        <a:latin typeface="Calibri" panose="020F0502020204030204" charset="0"/>
                        <a:ea typeface="微软雅黑" panose="020B0503020204020204" charset="-122"/>
                      </a:endParaRPr>
                    </a:p>
                  </a:txBody>
                  <a:tcPr marL="121925" marR="121925" marT="60961" marB="6096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1335" b="0" i="0" u="none" strike="noStrike" cap="none" normalizeH="0" baseline="0" dirty="0">
                        <a:ln>
                          <a:noFill/>
                        </a:ln>
                        <a:solidFill>
                          <a:schemeClr val="tx1"/>
                        </a:solidFill>
                        <a:effectLst/>
                        <a:latin typeface="Calibri" panose="020F0502020204030204" charset="0"/>
                        <a:ea typeface="微软雅黑" panose="020B0503020204020204" charset="-122"/>
                      </a:endParaRPr>
                    </a:p>
                  </a:txBody>
                  <a:tcPr marL="121925" marR="121925" marT="60961" marB="6096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1335" b="0" i="0" u="none" strike="noStrike" cap="none" normalizeH="0" baseline="0" dirty="0">
                        <a:ln>
                          <a:noFill/>
                        </a:ln>
                        <a:solidFill>
                          <a:schemeClr val="tx1"/>
                        </a:solidFill>
                        <a:effectLst/>
                        <a:latin typeface="Calibri" panose="020F0502020204030204" charset="0"/>
                        <a:ea typeface="微软雅黑" panose="020B0503020204020204" charset="-122"/>
                      </a:endParaRPr>
                    </a:p>
                  </a:txBody>
                  <a:tcPr marL="121925" marR="121925" marT="60961" marB="6096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1335" b="0" i="0" u="none" strike="noStrike" cap="none" normalizeH="0" baseline="0" dirty="0">
                        <a:ln>
                          <a:noFill/>
                        </a:ln>
                        <a:solidFill>
                          <a:schemeClr val="tx1"/>
                        </a:solidFill>
                        <a:effectLst/>
                        <a:latin typeface="Calibri" panose="020F0502020204030204" charset="0"/>
                        <a:ea typeface="微软雅黑" panose="020B0503020204020204" charset="-122"/>
                      </a:endParaRPr>
                    </a:p>
                  </a:txBody>
                  <a:tcPr marL="121925" marR="121925" marT="60961" marB="6096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8486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265" b="0" i="0" u="none" strike="noStrike" cap="none" normalizeH="0" baseline="0" dirty="0">
                          <a:ln>
                            <a:noFill/>
                          </a:ln>
                          <a:solidFill>
                            <a:schemeClr val="tx1"/>
                          </a:solidFill>
                          <a:effectLst/>
                          <a:latin typeface="Verdana" panose="020B0604030504040204" pitchFamily="34" charset="0"/>
                          <a:ea typeface="微软雅黑" panose="020B0503020204020204" charset="-122"/>
                        </a:rPr>
                        <a:t> </a:t>
                      </a:r>
                      <a:r>
                        <a:rPr kumimoji="0" lang="zh-CN" altLang="en-US" sz="2265" b="0" i="0" u="none" strike="noStrike" cap="none" normalizeH="0" baseline="0" dirty="0">
                          <a:ln>
                            <a:noFill/>
                          </a:ln>
                          <a:solidFill>
                            <a:schemeClr val="tx1"/>
                          </a:solidFill>
                          <a:effectLst/>
                          <a:latin typeface="Verdana" panose="020B0604030504040204" pitchFamily="34" charset="0"/>
                          <a:ea typeface="微软雅黑" panose="020B0503020204020204" charset="-122"/>
                        </a:rPr>
                        <a:t>合计</a:t>
                      </a:r>
                    </a:p>
                  </a:txBody>
                  <a:tcPr marL="121925" marR="121925" marT="60961" marB="6096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265" b="0" i="0" u="none" strike="noStrike" cap="none" normalizeH="0" baseline="0" dirty="0">
                        <a:ln>
                          <a:noFill/>
                        </a:ln>
                        <a:solidFill>
                          <a:schemeClr val="tx1"/>
                        </a:solidFill>
                        <a:effectLst/>
                        <a:latin typeface="Verdana" panose="020B0604030504040204" pitchFamily="34" charset="0"/>
                        <a:ea typeface="微软雅黑" panose="020B0503020204020204" charset="-122"/>
                      </a:endParaRPr>
                    </a:p>
                  </a:txBody>
                  <a:tcPr marL="121925" marR="121925" marT="60961" marB="6096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265" b="0" i="0" u="none" strike="noStrike" cap="none" normalizeH="0" baseline="0" dirty="0">
                        <a:ln>
                          <a:noFill/>
                        </a:ln>
                        <a:solidFill>
                          <a:schemeClr val="tx1"/>
                        </a:solidFill>
                        <a:effectLst/>
                        <a:latin typeface="Verdana" panose="020B0604030504040204" pitchFamily="34" charset="0"/>
                        <a:ea typeface="微软雅黑" panose="020B0503020204020204" charset="-122"/>
                      </a:endParaRPr>
                    </a:p>
                  </a:txBody>
                  <a:tcPr marL="121925" marR="121925" marT="60961" marB="6096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265" b="0" i="0" u="none" strike="noStrike" cap="none" normalizeH="0" baseline="0" dirty="0">
                        <a:ln>
                          <a:noFill/>
                        </a:ln>
                        <a:solidFill>
                          <a:schemeClr val="tx1"/>
                        </a:solidFill>
                        <a:effectLst/>
                        <a:latin typeface="Verdana" panose="020B0604030504040204" pitchFamily="34" charset="0"/>
                        <a:ea typeface="微软雅黑" panose="020B0503020204020204" charset="-122"/>
                      </a:endParaRPr>
                    </a:p>
                  </a:txBody>
                  <a:tcPr marL="121925" marR="121925" marT="60961" marB="6096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265" b="0" i="0" u="none" strike="noStrike" cap="none" normalizeH="0" baseline="0" dirty="0">
                        <a:ln>
                          <a:noFill/>
                        </a:ln>
                        <a:solidFill>
                          <a:schemeClr val="tx1"/>
                        </a:solidFill>
                        <a:effectLst/>
                        <a:latin typeface="Verdana" panose="020B0604030504040204" pitchFamily="34" charset="0"/>
                        <a:ea typeface="微软雅黑" panose="020B0503020204020204" charset="-122"/>
                      </a:endParaRPr>
                    </a:p>
                  </a:txBody>
                  <a:tcPr marL="121925" marR="121925" marT="60961" marB="6096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en-US" sz="2265" b="0" i="0" u="none" strike="noStrike" cap="none" normalizeH="0" baseline="0" dirty="0">
                        <a:ln>
                          <a:noFill/>
                        </a:ln>
                        <a:solidFill>
                          <a:schemeClr val="tx1"/>
                        </a:solidFill>
                        <a:effectLst/>
                        <a:latin typeface="Verdana" panose="020B0604030504040204" pitchFamily="34" charset="0"/>
                        <a:ea typeface="微软雅黑" panose="020B0503020204020204" charset="-122"/>
                      </a:endParaRPr>
                    </a:p>
                  </a:txBody>
                  <a:tcPr marL="121925" marR="121925" marT="60961" marB="6096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en-US" sz="2265" b="0" i="0" u="none" strike="noStrike" cap="none" normalizeH="0" baseline="0" dirty="0">
                        <a:ln>
                          <a:noFill/>
                        </a:ln>
                        <a:solidFill>
                          <a:schemeClr val="tx1"/>
                        </a:solidFill>
                        <a:effectLst/>
                        <a:latin typeface="Verdana" panose="020B0604030504040204" pitchFamily="34" charset="0"/>
                        <a:ea typeface="微软雅黑" panose="020B0503020204020204" charset="-122"/>
                      </a:endParaRPr>
                    </a:p>
                  </a:txBody>
                  <a:tcPr marL="121925" marR="121925" marT="60961" marB="6096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en-US" sz="2265" b="0" i="0" u="none" strike="noStrike" cap="none" normalizeH="0" baseline="0" dirty="0">
                        <a:ln>
                          <a:noFill/>
                        </a:ln>
                        <a:solidFill>
                          <a:schemeClr val="tx1"/>
                        </a:solidFill>
                        <a:effectLst/>
                        <a:latin typeface="Verdana" panose="020B0604030504040204" pitchFamily="34" charset="0"/>
                        <a:ea typeface="微软雅黑" panose="020B0503020204020204" charset="-122"/>
                      </a:endParaRPr>
                    </a:p>
                  </a:txBody>
                  <a:tcPr marL="121925" marR="121925" marT="60961" marB="6096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en-US" sz="2265" b="0" i="0" u="none" strike="noStrike" cap="none" normalizeH="0" baseline="0" dirty="0">
                        <a:ln>
                          <a:noFill/>
                        </a:ln>
                        <a:solidFill>
                          <a:schemeClr val="tx1"/>
                        </a:solidFill>
                        <a:effectLst/>
                        <a:latin typeface="Verdana" panose="020B0604030504040204" pitchFamily="34" charset="0"/>
                        <a:ea typeface="微软雅黑" panose="020B0503020204020204" charset="-122"/>
                      </a:endParaRPr>
                    </a:p>
                  </a:txBody>
                  <a:tcPr marL="121925" marR="121925" marT="60961" marB="6096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7" name="文本框 6"/>
          <p:cNvSpPr txBox="1"/>
          <p:nvPr/>
        </p:nvSpPr>
        <p:spPr>
          <a:xfrm>
            <a:off x="883920" y="5243407"/>
            <a:ext cx="9532620" cy="829945"/>
          </a:xfrm>
          <a:prstGeom prst="rect">
            <a:avLst/>
          </a:prstGeom>
          <a:noFill/>
        </p:spPr>
        <p:txBody>
          <a:bodyPr wrap="square" rtlCol="0">
            <a:spAutoFit/>
          </a:bodyPr>
          <a:lstStyle/>
          <a:p>
            <a:r>
              <a:rPr lang="zh-CN" altLang="en-US" sz="2400" dirty="0">
                <a:solidFill>
                  <a:schemeClr val="tx1"/>
                </a:solidFill>
                <a:highlight>
                  <a:srgbClr val="FF0000"/>
                </a:highlight>
                <a:latin typeface="微软雅黑" panose="020B0503020204020204" charset="-122"/>
                <a:ea typeface="微软雅黑" panose="020B0503020204020204" charset="-122"/>
                <a:cs typeface="+mn-ea"/>
                <a:sym typeface="+mn-ea"/>
              </a:rPr>
              <a:t>研发部门负责人</a:t>
            </a:r>
            <a:r>
              <a:rPr lang="en-US" altLang="zh-CN" sz="2400" dirty="0">
                <a:solidFill>
                  <a:schemeClr val="tx1"/>
                </a:solidFill>
                <a:highlight>
                  <a:srgbClr val="FF0000"/>
                </a:highlight>
                <a:latin typeface="微软雅黑" panose="020B0503020204020204" charset="-122"/>
                <a:ea typeface="微软雅黑" panose="020B0503020204020204" charset="-122"/>
                <a:cs typeface="+mn-ea"/>
                <a:sym typeface="+mn-ea"/>
              </a:rPr>
              <a:t>:</a:t>
            </a:r>
            <a:r>
              <a:rPr lang="en-US" altLang="zh-CN" sz="2400" dirty="0">
                <a:solidFill>
                  <a:schemeClr val="tx1"/>
                </a:solidFill>
                <a:latin typeface="微软雅黑" panose="020B0503020204020204" charset="-122"/>
                <a:ea typeface="微软雅黑" panose="020B0503020204020204" charset="-122"/>
                <a:cs typeface="+mn-ea"/>
                <a:sym typeface="+mn-ea"/>
              </a:rPr>
              <a:t>         </a:t>
            </a:r>
            <a:r>
              <a:rPr lang="zh-CN" altLang="en-US" sz="2400" dirty="0">
                <a:solidFill>
                  <a:schemeClr val="tx1"/>
                </a:solidFill>
                <a:latin typeface="微软雅黑" panose="020B0503020204020204" charset="-122"/>
                <a:ea typeface="微软雅黑" panose="020B0503020204020204" charset="-122"/>
                <a:cs typeface="+mn-ea"/>
                <a:sym typeface="+mn-ea"/>
              </a:rPr>
              <a:t>领料人：</a:t>
            </a:r>
            <a:r>
              <a:rPr lang="en-US" altLang="zh-CN" sz="2400" dirty="0">
                <a:solidFill>
                  <a:schemeClr val="tx1"/>
                </a:solidFill>
                <a:latin typeface="微软雅黑" panose="020B0503020204020204" charset="-122"/>
                <a:ea typeface="微软雅黑" panose="020B0503020204020204" charset="-122"/>
                <a:cs typeface="+mn-ea"/>
                <a:sym typeface="+mn-ea"/>
              </a:rPr>
              <a:t>        </a:t>
            </a:r>
            <a:r>
              <a:rPr lang="zh-CN" altLang="en-US" sz="2400" dirty="0">
                <a:solidFill>
                  <a:schemeClr val="tx1"/>
                </a:solidFill>
                <a:latin typeface="微软雅黑" panose="020B0503020204020204" charset="-122"/>
                <a:ea typeface="微软雅黑" panose="020B0503020204020204" charset="-122"/>
                <a:cs typeface="+mn-ea"/>
                <a:sym typeface="+mn-ea"/>
              </a:rPr>
              <a:t>仓库管理员：</a:t>
            </a:r>
            <a:endParaRPr lang="zh-CN" altLang="en-US" sz="2400" dirty="0">
              <a:solidFill>
                <a:schemeClr val="tx1"/>
              </a:solidFill>
              <a:latin typeface="微软雅黑" panose="020B0503020204020204" charset="-122"/>
              <a:ea typeface="微软雅黑" panose="020B0503020204020204" charset="-122"/>
              <a:cs typeface="+mn-ea"/>
            </a:endParaRPr>
          </a:p>
          <a:p>
            <a:endParaRPr lang="zh-CN" altLang="en-US" sz="2400" dirty="0">
              <a:solidFill>
                <a:schemeClr val="tx1"/>
              </a:solidFill>
              <a:latin typeface="微软雅黑" panose="020B0503020204020204" charset="-122"/>
              <a:ea typeface="微软雅黑" panose="020B0503020204020204" charset="-122"/>
              <a:cs typeface="+mn-ea"/>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 0" descr="https://kimi-img.moonshot.cn/pub/slides/slides_tmpl/image/25-09-04-11:33:06-d2sggsm1bb2p4onbon10.jpg"/>
          <p:cNvPicPr>
            <a:picLocks noChangeAspect="1"/>
          </p:cNvPicPr>
          <p:nvPr/>
        </p:nvPicPr>
        <p:blipFill>
          <a:blip r:embed="rId3"/>
          <a:stretch>
            <a:fillRect/>
          </a:stretch>
        </p:blipFill>
        <p:spPr>
          <a:xfrm>
            <a:off x="0" y="0"/>
            <a:ext cx="12192000" cy="6858000"/>
          </a:xfrm>
          <a:prstGeom prst="rect">
            <a:avLst/>
          </a:prstGeom>
        </p:spPr>
      </p:pic>
      <p:cxnSp>
        <p:nvCxnSpPr>
          <p:cNvPr id="5" name="直接连接符 4"/>
          <p:cNvCxnSpPr/>
          <p:nvPr/>
        </p:nvCxnSpPr>
        <p:spPr>
          <a:xfrm>
            <a:off x="2619061" y="644689"/>
            <a:ext cx="1920213" cy="0"/>
          </a:xfrm>
          <a:prstGeom prst="line">
            <a:avLst/>
          </a:prstGeom>
          <a:ln>
            <a:gradFill flip="none" rotWithShape="1">
              <a:gsLst>
                <a:gs pos="0">
                  <a:schemeClr val="bg1">
                    <a:alpha val="0"/>
                  </a:schemeClr>
                </a:gs>
                <a:gs pos="100000">
                  <a:schemeClr val="bg1"/>
                </a:gs>
              </a:gsLst>
              <a:lin ang="0" scaled="1"/>
              <a:tileRect/>
            </a:gradFill>
            <a:tailEnd type="oval"/>
          </a:ln>
        </p:spPr>
        <p:style>
          <a:lnRef idx="1">
            <a:schemeClr val="accent1"/>
          </a:lnRef>
          <a:fillRef idx="0">
            <a:schemeClr val="accent1"/>
          </a:fillRef>
          <a:effectRef idx="0">
            <a:schemeClr val="accent1"/>
          </a:effectRef>
          <a:fontRef idx="minor">
            <a:schemeClr val="tx1"/>
          </a:fontRef>
        </p:style>
      </p:cxnSp>
      <p:sp>
        <p:nvSpPr>
          <p:cNvPr id="14" name="TextBox 1"/>
          <p:cNvSpPr txBox="1"/>
          <p:nvPr/>
        </p:nvSpPr>
        <p:spPr>
          <a:xfrm>
            <a:off x="3579168" y="380600"/>
            <a:ext cx="4992555" cy="534035"/>
          </a:xfrm>
          <a:prstGeom prst="rect">
            <a:avLst/>
          </a:prstGeom>
          <a:noFill/>
        </p:spPr>
        <p:txBody>
          <a:bodyPr wrap="square" rtlCol="0">
            <a:spAutoFit/>
          </a:bodyPr>
          <a:lstStyle/>
          <a:p>
            <a:pPr algn="ctr" defTabSz="431800">
              <a:lnSpc>
                <a:spcPct val="120000"/>
              </a:lnSpc>
              <a:defRPr/>
            </a:pPr>
            <a:r>
              <a:rPr lang="zh-CN" sz="2400" b="1" kern="0" dirty="0">
                <a:solidFill>
                  <a:schemeClr val="tx1"/>
                </a:solidFill>
                <a:latin typeface="Arial" panose="020B0604020202020204" pitchFamily="34" charset="0"/>
                <a:ea typeface="微软雅黑" panose="020B0503020204020204" charset="-122"/>
                <a:cs typeface="Arial" panose="020B0604020202020204" pitchFamily="34" charset="0"/>
              </a:rPr>
              <a:t>研发费用</a:t>
            </a:r>
            <a:r>
              <a:rPr lang="en-US" altLang="zh-CN" sz="2400" b="1" kern="0" dirty="0">
                <a:solidFill>
                  <a:schemeClr val="tx1"/>
                </a:solidFill>
                <a:latin typeface="Arial" panose="020B0604020202020204" pitchFamily="34" charset="0"/>
                <a:ea typeface="微软雅黑" panose="020B0503020204020204" charset="-122"/>
                <a:cs typeface="Arial" panose="020B0604020202020204" pitchFamily="34" charset="0"/>
              </a:rPr>
              <a:t>“</a:t>
            </a:r>
            <a:r>
              <a:rPr lang="zh-CN" sz="2400" b="1" kern="0" dirty="0">
                <a:solidFill>
                  <a:schemeClr val="tx1"/>
                </a:solidFill>
                <a:latin typeface="Arial" panose="020B0604020202020204" pitchFamily="34" charset="0"/>
                <a:ea typeface="微软雅黑" panose="020B0503020204020204" charset="-122"/>
                <a:cs typeface="Arial" panose="020B0604020202020204" pitchFamily="34" charset="0"/>
              </a:rPr>
              <a:t>合理</a:t>
            </a:r>
            <a:r>
              <a:rPr lang="en-US" altLang="zh-CN" sz="2400" b="1" kern="0" dirty="0">
                <a:solidFill>
                  <a:schemeClr val="tx1"/>
                </a:solidFill>
                <a:latin typeface="Arial" panose="020B0604020202020204" pitchFamily="34" charset="0"/>
                <a:ea typeface="微软雅黑" panose="020B0503020204020204" charset="-122"/>
                <a:cs typeface="Arial" panose="020B0604020202020204" pitchFamily="34" charset="0"/>
              </a:rPr>
              <a:t>”</a:t>
            </a:r>
            <a:r>
              <a:rPr lang="zh-CN" sz="2400" b="1" kern="0" dirty="0">
                <a:solidFill>
                  <a:schemeClr val="tx1"/>
                </a:solidFill>
                <a:latin typeface="Arial" panose="020B0604020202020204" pitchFamily="34" charset="0"/>
                <a:ea typeface="微软雅黑" panose="020B0503020204020204" charset="-122"/>
                <a:cs typeface="Arial" panose="020B0604020202020204" pitchFamily="34" charset="0"/>
              </a:rPr>
              <a:t>归集</a:t>
            </a:r>
          </a:p>
        </p:txBody>
      </p:sp>
      <p:cxnSp>
        <p:nvCxnSpPr>
          <p:cNvPr id="15" name="直接连接符 14"/>
          <p:cNvCxnSpPr/>
          <p:nvPr/>
        </p:nvCxnSpPr>
        <p:spPr>
          <a:xfrm flipH="1">
            <a:off x="7611616" y="644689"/>
            <a:ext cx="1920213" cy="0"/>
          </a:xfrm>
          <a:prstGeom prst="line">
            <a:avLst/>
          </a:prstGeom>
          <a:ln>
            <a:gradFill flip="none" rotWithShape="1">
              <a:gsLst>
                <a:gs pos="0">
                  <a:schemeClr val="bg1">
                    <a:alpha val="0"/>
                  </a:schemeClr>
                </a:gs>
                <a:gs pos="100000">
                  <a:schemeClr val="bg1"/>
                </a:gs>
              </a:gsLst>
              <a:lin ang="0" scaled="1"/>
              <a:tileRect/>
            </a:gradFill>
            <a:tailEnd type="oval"/>
          </a:ln>
        </p:spPr>
        <p:style>
          <a:lnRef idx="1">
            <a:schemeClr val="accent1"/>
          </a:lnRef>
          <a:fillRef idx="0">
            <a:schemeClr val="accent1"/>
          </a:fillRef>
          <a:effectRef idx="0">
            <a:schemeClr val="accent1"/>
          </a:effectRef>
          <a:fontRef idx="minor">
            <a:schemeClr val="tx1"/>
          </a:fontRef>
        </p:style>
      </p:cxnSp>
      <p:sp>
        <p:nvSpPr>
          <p:cNvPr id="20" name="圆角矩形 19"/>
          <p:cNvSpPr/>
          <p:nvPr/>
        </p:nvSpPr>
        <p:spPr>
          <a:xfrm>
            <a:off x="911860" y="1028700"/>
            <a:ext cx="3270673" cy="546100"/>
          </a:xfrm>
          <a:prstGeom prst="roundRect">
            <a:avLst>
              <a:gd name="adj" fmla="val 50000"/>
            </a:avLst>
          </a:prstGeom>
          <a:solidFill>
            <a:srgbClr val="AA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ea typeface="微软雅黑" panose="020B0503020204020204" charset="-122"/>
            </a:endParaRPr>
          </a:p>
        </p:txBody>
      </p:sp>
      <p:sp>
        <p:nvSpPr>
          <p:cNvPr id="19" name="Text Box 4"/>
          <p:cNvSpPr txBox="1">
            <a:spLocks noChangeArrowheads="1"/>
          </p:cNvSpPr>
          <p:nvPr/>
        </p:nvSpPr>
        <p:spPr bwMode="auto">
          <a:xfrm>
            <a:off x="527473" y="1018540"/>
            <a:ext cx="4028440" cy="501227"/>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400" b="1" noProof="0" dirty="0">
                <a:ln>
                  <a:noFill/>
                </a:ln>
                <a:solidFill>
                  <a:schemeClr val="bg1"/>
                </a:solidFill>
                <a:effectLst/>
                <a:uLnTx/>
                <a:uFillTx/>
                <a:latin typeface="Verdana" panose="020B0604030504040204" pitchFamily="34" charset="0"/>
                <a:ea typeface="微软雅黑" panose="020B0503020204020204" charset="-122"/>
                <a:sym typeface="+mn-ea"/>
              </a:rPr>
              <a:t>会计分录</a:t>
            </a:r>
            <a:endParaRPr kumimoji="1" lang="zh-CN" altLang="en-US" sz="2400" b="1" noProof="0" dirty="0">
              <a:ln>
                <a:noFill/>
              </a:ln>
              <a:solidFill>
                <a:schemeClr val="bg1"/>
              </a:solidFill>
              <a:effectLst/>
              <a:uLnTx/>
              <a:uFillTx/>
              <a:latin typeface="Verdana" panose="020B0604030504040204" pitchFamily="34" charset="0"/>
              <a:ea typeface="微软雅黑" panose="020B0503020204020204" charset="-122"/>
              <a:sym typeface="+mn-ea"/>
            </a:endParaRPr>
          </a:p>
        </p:txBody>
      </p:sp>
      <p:sp>
        <p:nvSpPr>
          <p:cNvPr id="8" name="文本框 7"/>
          <p:cNvSpPr txBox="1"/>
          <p:nvPr/>
        </p:nvSpPr>
        <p:spPr>
          <a:xfrm>
            <a:off x="352213" y="1412240"/>
            <a:ext cx="11778827" cy="5540587"/>
          </a:xfrm>
          <a:prstGeom prst="rect">
            <a:avLst/>
          </a:prstGeom>
          <a:noFill/>
        </p:spPr>
        <p:txBody>
          <a:bodyPr wrap="square" rtlCol="0">
            <a:noAutofit/>
          </a:bodyPr>
          <a:lstStyle/>
          <a:p>
            <a:pPr algn="l"/>
            <a:endParaRPr lang="en-US" altLang="zh-CN" sz="2400" dirty="0">
              <a:solidFill>
                <a:schemeClr val="tx1"/>
              </a:solidFill>
              <a:ea typeface="微软雅黑" panose="020B0503020204020204" charset="-122"/>
              <a:sym typeface="+mn-ea"/>
            </a:endParaRPr>
          </a:p>
          <a:p>
            <a:pPr algn="l"/>
            <a:endParaRPr lang="en-US" altLang="zh-CN" sz="2400" b="1" dirty="0">
              <a:solidFill>
                <a:schemeClr val="tx1"/>
              </a:solidFill>
              <a:ea typeface="微软雅黑" panose="020B0503020204020204" charset="-122"/>
              <a:sym typeface="+mn-ea"/>
            </a:endParaRPr>
          </a:p>
          <a:p>
            <a:pPr algn="l"/>
            <a:r>
              <a:rPr lang="en-US" altLang="zh-CN" sz="2400" b="1" dirty="0" err="1">
                <a:solidFill>
                  <a:schemeClr val="tx1"/>
                </a:solidFill>
                <a:ea typeface="微软雅黑" panose="020B0503020204020204" charset="-122"/>
                <a:sym typeface="+mn-ea"/>
              </a:rPr>
              <a:t>会计分录如下</a:t>
            </a:r>
            <a:r>
              <a:rPr lang="en-US" altLang="zh-CN" sz="2400" b="1" dirty="0">
                <a:solidFill>
                  <a:schemeClr val="tx1"/>
                </a:solidFill>
                <a:ea typeface="微软雅黑" panose="020B0503020204020204" charset="-122"/>
                <a:sym typeface="+mn-ea"/>
              </a:rPr>
              <a:t>：</a:t>
            </a:r>
          </a:p>
          <a:p>
            <a:pPr algn="l"/>
            <a:endParaRPr lang="en-US" altLang="zh-CN" sz="2400" b="1" dirty="0">
              <a:solidFill>
                <a:schemeClr val="tx1"/>
              </a:solidFill>
              <a:ea typeface="微软雅黑" panose="020B0503020204020204" charset="-122"/>
              <a:sym typeface="+mn-ea"/>
            </a:endParaRPr>
          </a:p>
          <a:p>
            <a:pPr algn="l">
              <a:lnSpc>
                <a:spcPct val="150000"/>
              </a:lnSpc>
            </a:pPr>
            <a:r>
              <a:rPr lang="en-US" altLang="zh-CN" sz="2400" b="1" dirty="0">
                <a:solidFill>
                  <a:schemeClr val="tx1"/>
                </a:solidFill>
                <a:ea typeface="微软雅黑" panose="020B0503020204020204" charset="-122"/>
                <a:sym typeface="+mn-ea"/>
              </a:rPr>
              <a:t>借： </a:t>
            </a:r>
            <a:r>
              <a:rPr lang="en-US" altLang="zh-CN" sz="2400" b="1" dirty="0" err="1">
                <a:solidFill>
                  <a:schemeClr val="tx1"/>
                </a:solidFill>
                <a:ea typeface="微软雅黑" panose="020B0503020204020204" charset="-122"/>
                <a:sym typeface="+mn-ea"/>
              </a:rPr>
              <a:t>研发支出</a:t>
            </a:r>
            <a:r>
              <a:rPr lang="en-US" altLang="zh-CN" sz="2400" b="1" dirty="0">
                <a:solidFill>
                  <a:schemeClr val="tx1"/>
                </a:solidFill>
                <a:ea typeface="微软雅黑" panose="020B0503020204020204" charset="-122"/>
                <a:sym typeface="+mn-ea"/>
              </a:rPr>
              <a:t>—</a:t>
            </a:r>
            <a:r>
              <a:rPr lang="en-US" altLang="zh-CN" sz="2400" b="1" dirty="0" err="1">
                <a:solidFill>
                  <a:schemeClr val="tx1"/>
                </a:solidFill>
                <a:ea typeface="微软雅黑" panose="020B0503020204020204" charset="-122"/>
                <a:sym typeface="+mn-ea"/>
              </a:rPr>
              <a:t>费用化支出</a:t>
            </a:r>
            <a:r>
              <a:rPr lang="en-US" altLang="zh-CN" sz="2400" b="1" dirty="0">
                <a:solidFill>
                  <a:schemeClr val="tx1"/>
                </a:solidFill>
                <a:ea typeface="微软雅黑" panose="020B0503020204020204" charset="-122"/>
                <a:sym typeface="+mn-ea"/>
              </a:rPr>
              <a:t>--</a:t>
            </a:r>
            <a:r>
              <a:rPr lang="en-US" altLang="zh-CN" sz="2400" b="1" dirty="0" err="1">
                <a:solidFill>
                  <a:schemeClr val="tx1"/>
                </a:solidFill>
                <a:ea typeface="微软雅黑" panose="020B0503020204020204" charset="-122"/>
                <a:sym typeface="+mn-ea"/>
              </a:rPr>
              <a:t>A项目</a:t>
            </a:r>
            <a:r>
              <a:rPr lang="en-US" altLang="zh-CN" sz="2400" b="1" dirty="0">
                <a:solidFill>
                  <a:schemeClr val="tx1"/>
                </a:solidFill>
                <a:ea typeface="微软雅黑" panose="020B0503020204020204" charset="-122"/>
                <a:sym typeface="+mn-ea"/>
              </a:rPr>
              <a:t>-</a:t>
            </a:r>
            <a:r>
              <a:rPr lang="zh-CN" altLang="en-US" sz="2400" b="1" dirty="0">
                <a:solidFill>
                  <a:schemeClr val="tx1"/>
                </a:solidFill>
                <a:ea typeface="微软雅黑" panose="020B0503020204020204" charset="-122"/>
                <a:sym typeface="+mn-ea"/>
              </a:rPr>
              <a:t>直接投入费用</a:t>
            </a:r>
            <a:r>
              <a:rPr lang="en-US" altLang="zh-CN" sz="2400" b="1" dirty="0">
                <a:solidFill>
                  <a:schemeClr val="tx1"/>
                </a:solidFill>
                <a:ea typeface="微软雅黑" panose="020B0503020204020204" charset="-122"/>
                <a:sym typeface="+mn-ea"/>
              </a:rPr>
              <a:t>        元</a:t>
            </a:r>
          </a:p>
          <a:p>
            <a:pPr algn="l">
              <a:lnSpc>
                <a:spcPct val="150000"/>
              </a:lnSpc>
            </a:pPr>
            <a:r>
              <a:rPr lang="en-US" altLang="zh-CN" sz="2400" b="1" dirty="0">
                <a:solidFill>
                  <a:schemeClr val="tx1"/>
                </a:solidFill>
                <a:ea typeface="微软雅黑" panose="020B0503020204020204" charset="-122"/>
                <a:sym typeface="+mn-ea"/>
              </a:rPr>
              <a:t>          </a:t>
            </a:r>
            <a:r>
              <a:rPr lang="en-US" altLang="zh-CN" sz="2400" b="1" dirty="0" err="1">
                <a:solidFill>
                  <a:schemeClr val="tx1"/>
                </a:solidFill>
                <a:ea typeface="微软雅黑" panose="020B0503020204020204" charset="-122"/>
                <a:sym typeface="+mn-ea"/>
              </a:rPr>
              <a:t>研发支出</a:t>
            </a:r>
            <a:r>
              <a:rPr lang="en-US" altLang="zh-CN" sz="2400" b="1" dirty="0">
                <a:solidFill>
                  <a:schemeClr val="tx1"/>
                </a:solidFill>
                <a:ea typeface="微软雅黑" panose="020B0503020204020204" charset="-122"/>
                <a:sym typeface="+mn-ea"/>
              </a:rPr>
              <a:t>—</a:t>
            </a:r>
            <a:r>
              <a:rPr lang="en-US" altLang="zh-CN" sz="2400" b="1" dirty="0" err="1">
                <a:solidFill>
                  <a:schemeClr val="tx1"/>
                </a:solidFill>
                <a:ea typeface="微软雅黑" panose="020B0503020204020204" charset="-122"/>
                <a:sym typeface="+mn-ea"/>
              </a:rPr>
              <a:t>费用化支出</a:t>
            </a:r>
            <a:r>
              <a:rPr lang="en-US" altLang="zh-CN" sz="2400" b="1" dirty="0">
                <a:solidFill>
                  <a:schemeClr val="tx1"/>
                </a:solidFill>
                <a:ea typeface="微软雅黑" panose="020B0503020204020204" charset="-122"/>
                <a:sym typeface="+mn-ea"/>
              </a:rPr>
              <a:t>--</a:t>
            </a:r>
            <a:r>
              <a:rPr lang="en-US" altLang="zh-CN" sz="2400" b="1" dirty="0" err="1">
                <a:solidFill>
                  <a:schemeClr val="tx1"/>
                </a:solidFill>
                <a:ea typeface="微软雅黑" panose="020B0503020204020204" charset="-122"/>
                <a:sym typeface="+mn-ea"/>
              </a:rPr>
              <a:t>B项目</a:t>
            </a:r>
            <a:r>
              <a:rPr lang="en-US" altLang="zh-CN" sz="2400" b="1" dirty="0">
                <a:solidFill>
                  <a:schemeClr val="tx1"/>
                </a:solidFill>
                <a:ea typeface="微软雅黑" panose="020B0503020204020204" charset="-122"/>
                <a:sym typeface="+mn-ea"/>
              </a:rPr>
              <a:t>-</a:t>
            </a:r>
            <a:r>
              <a:rPr lang="zh-CN" altLang="en-US" sz="2400" b="1" dirty="0">
                <a:solidFill>
                  <a:schemeClr val="tx1"/>
                </a:solidFill>
                <a:ea typeface="微软雅黑" panose="020B0503020204020204" charset="-122"/>
                <a:sym typeface="+mn-ea"/>
              </a:rPr>
              <a:t>直接投入费用</a:t>
            </a:r>
            <a:r>
              <a:rPr lang="en-US" altLang="zh-CN" sz="2400" b="1" dirty="0">
                <a:solidFill>
                  <a:schemeClr val="tx1"/>
                </a:solidFill>
                <a:ea typeface="微软雅黑" panose="020B0503020204020204" charset="-122"/>
                <a:sym typeface="+mn-ea"/>
              </a:rPr>
              <a:t>        元</a:t>
            </a:r>
          </a:p>
          <a:p>
            <a:pPr algn="l">
              <a:lnSpc>
                <a:spcPct val="150000"/>
              </a:lnSpc>
            </a:pPr>
            <a:r>
              <a:rPr lang="en-US" altLang="zh-CN" sz="2400" b="1" dirty="0">
                <a:solidFill>
                  <a:schemeClr val="tx1"/>
                </a:solidFill>
                <a:ea typeface="微软雅黑" panose="020B0503020204020204" charset="-122"/>
                <a:sym typeface="+mn-ea"/>
              </a:rPr>
              <a:t>         </a:t>
            </a:r>
            <a:r>
              <a:rPr lang="en-US" altLang="zh-CN" sz="2400" b="1" dirty="0" err="1">
                <a:solidFill>
                  <a:schemeClr val="tx1"/>
                </a:solidFill>
                <a:ea typeface="微软雅黑" panose="020B0503020204020204" charset="-122"/>
                <a:sym typeface="+mn-ea"/>
              </a:rPr>
              <a:t>研发支出</a:t>
            </a:r>
            <a:r>
              <a:rPr lang="en-US" altLang="zh-CN" sz="2400" b="1" dirty="0">
                <a:solidFill>
                  <a:schemeClr val="tx1"/>
                </a:solidFill>
                <a:ea typeface="微软雅黑" panose="020B0503020204020204" charset="-122"/>
                <a:sym typeface="+mn-ea"/>
              </a:rPr>
              <a:t>—</a:t>
            </a:r>
            <a:r>
              <a:rPr lang="en-US" altLang="zh-CN" sz="2400" b="1" dirty="0" err="1">
                <a:solidFill>
                  <a:schemeClr val="tx1"/>
                </a:solidFill>
                <a:ea typeface="微软雅黑" panose="020B0503020204020204" charset="-122"/>
                <a:sym typeface="+mn-ea"/>
              </a:rPr>
              <a:t>费用化支出</a:t>
            </a:r>
            <a:r>
              <a:rPr lang="en-US" altLang="zh-CN" sz="2400" b="1" dirty="0">
                <a:solidFill>
                  <a:schemeClr val="tx1"/>
                </a:solidFill>
                <a:ea typeface="微软雅黑" panose="020B0503020204020204" charset="-122"/>
                <a:sym typeface="+mn-ea"/>
              </a:rPr>
              <a:t>--</a:t>
            </a:r>
            <a:r>
              <a:rPr lang="en-US" altLang="zh-CN" sz="2400" b="1" dirty="0" err="1">
                <a:solidFill>
                  <a:schemeClr val="tx1"/>
                </a:solidFill>
                <a:ea typeface="微软雅黑" panose="020B0503020204020204" charset="-122"/>
                <a:sym typeface="+mn-ea"/>
              </a:rPr>
              <a:t>C项目</a:t>
            </a:r>
            <a:r>
              <a:rPr lang="en-US" altLang="zh-CN" sz="2400" b="1" dirty="0">
                <a:solidFill>
                  <a:schemeClr val="tx1"/>
                </a:solidFill>
                <a:ea typeface="微软雅黑" panose="020B0503020204020204" charset="-122"/>
                <a:sym typeface="+mn-ea"/>
              </a:rPr>
              <a:t>-</a:t>
            </a:r>
            <a:r>
              <a:rPr lang="zh-CN" altLang="en-US" sz="2400" b="1" dirty="0">
                <a:solidFill>
                  <a:schemeClr val="tx1"/>
                </a:solidFill>
                <a:ea typeface="微软雅黑" panose="020B0503020204020204" charset="-122"/>
                <a:sym typeface="+mn-ea"/>
              </a:rPr>
              <a:t>直接投入费用</a:t>
            </a:r>
            <a:r>
              <a:rPr lang="en-US" altLang="zh-CN" sz="2400" b="1" dirty="0">
                <a:solidFill>
                  <a:schemeClr val="tx1"/>
                </a:solidFill>
                <a:ea typeface="微软雅黑" panose="020B0503020204020204" charset="-122"/>
                <a:sym typeface="+mn-ea"/>
              </a:rPr>
              <a:t>        元</a:t>
            </a:r>
          </a:p>
          <a:p>
            <a:pPr algn="l">
              <a:lnSpc>
                <a:spcPct val="150000"/>
              </a:lnSpc>
            </a:pPr>
            <a:r>
              <a:rPr lang="en-US" altLang="zh-CN" sz="2400" b="1" dirty="0">
                <a:solidFill>
                  <a:schemeClr val="tx1"/>
                </a:solidFill>
                <a:ea typeface="微软雅黑" panose="020B0503020204020204" charset="-122"/>
                <a:sym typeface="+mn-ea"/>
              </a:rPr>
              <a:t>          </a:t>
            </a:r>
            <a:r>
              <a:rPr lang="en-US" altLang="zh-CN" sz="2400" b="1" dirty="0" err="1">
                <a:solidFill>
                  <a:schemeClr val="tx1"/>
                </a:solidFill>
                <a:ea typeface="微软雅黑" panose="020B0503020204020204" charset="-122"/>
                <a:sym typeface="+mn-ea"/>
              </a:rPr>
              <a:t>研发支出</a:t>
            </a:r>
            <a:r>
              <a:rPr lang="en-US" altLang="zh-CN" sz="2400" b="1" dirty="0">
                <a:solidFill>
                  <a:schemeClr val="tx1"/>
                </a:solidFill>
                <a:ea typeface="微软雅黑" panose="020B0503020204020204" charset="-122"/>
                <a:sym typeface="+mn-ea"/>
              </a:rPr>
              <a:t>—</a:t>
            </a:r>
            <a:r>
              <a:rPr lang="en-US" altLang="zh-CN" sz="2400" b="1" dirty="0" err="1">
                <a:solidFill>
                  <a:schemeClr val="tx1"/>
                </a:solidFill>
                <a:ea typeface="微软雅黑" panose="020B0503020204020204" charset="-122"/>
                <a:sym typeface="+mn-ea"/>
              </a:rPr>
              <a:t>费用化支出</a:t>
            </a:r>
            <a:r>
              <a:rPr lang="en-US" altLang="zh-CN" sz="2400" b="1" dirty="0">
                <a:solidFill>
                  <a:schemeClr val="tx1"/>
                </a:solidFill>
                <a:ea typeface="微软雅黑" panose="020B0503020204020204" charset="-122"/>
                <a:sym typeface="+mn-ea"/>
              </a:rPr>
              <a:t>--</a:t>
            </a:r>
            <a:r>
              <a:rPr lang="en-US" altLang="zh-CN" sz="2400" b="1" dirty="0" err="1">
                <a:solidFill>
                  <a:schemeClr val="tx1"/>
                </a:solidFill>
                <a:ea typeface="微软雅黑" panose="020B0503020204020204" charset="-122"/>
                <a:sym typeface="+mn-ea"/>
              </a:rPr>
              <a:t>D项目</a:t>
            </a:r>
            <a:r>
              <a:rPr lang="en-US" altLang="zh-CN" sz="2400" b="1" dirty="0">
                <a:solidFill>
                  <a:schemeClr val="tx1"/>
                </a:solidFill>
                <a:ea typeface="微软雅黑" panose="020B0503020204020204" charset="-122"/>
                <a:sym typeface="+mn-ea"/>
              </a:rPr>
              <a:t>-</a:t>
            </a:r>
            <a:r>
              <a:rPr lang="zh-CN" altLang="en-US" sz="2400" b="1" dirty="0">
                <a:solidFill>
                  <a:schemeClr val="tx1"/>
                </a:solidFill>
                <a:ea typeface="微软雅黑" panose="020B0503020204020204" charset="-122"/>
                <a:sym typeface="+mn-ea"/>
              </a:rPr>
              <a:t>直接投入费用</a:t>
            </a:r>
            <a:r>
              <a:rPr lang="en-US" altLang="zh-CN" sz="2400" b="1" dirty="0">
                <a:solidFill>
                  <a:schemeClr val="tx1"/>
                </a:solidFill>
                <a:ea typeface="微软雅黑" panose="020B0503020204020204" charset="-122"/>
                <a:sym typeface="+mn-ea"/>
              </a:rPr>
              <a:t>        元</a:t>
            </a:r>
          </a:p>
          <a:p>
            <a:pPr algn="l">
              <a:lnSpc>
                <a:spcPct val="150000"/>
              </a:lnSpc>
            </a:pPr>
            <a:r>
              <a:rPr lang="en-US" altLang="zh-CN" sz="2400" b="1" dirty="0">
                <a:solidFill>
                  <a:schemeClr val="tx1"/>
                </a:solidFill>
                <a:ea typeface="微软雅黑" panose="020B0503020204020204" charset="-122"/>
                <a:sym typeface="+mn-ea"/>
              </a:rPr>
              <a:t>           贷：</a:t>
            </a:r>
            <a:r>
              <a:rPr lang="zh-CN" altLang="en-US" sz="2400" b="1" dirty="0">
                <a:solidFill>
                  <a:schemeClr val="tx1"/>
                </a:solidFill>
                <a:ea typeface="微软雅黑" panose="020B0503020204020204" charset="-122"/>
                <a:sym typeface="+mn-ea"/>
              </a:rPr>
              <a:t>原材料</a:t>
            </a:r>
            <a:r>
              <a:rPr lang="en-US" altLang="zh-CN" sz="2400" b="1" dirty="0">
                <a:solidFill>
                  <a:schemeClr val="tx1"/>
                </a:solidFill>
                <a:ea typeface="微软雅黑" panose="020B0503020204020204" charset="-122"/>
                <a:sym typeface="+mn-ea"/>
              </a:rPr>
              <a:t>—     元</a:t>
            </a:r>
          </a:p>
          <a:p>
            <a:pPr algn="l"/>
            <a:endParaRPr lang="en-US" altLang="zh-CN" sz="2400" b="1" dirty="0">
              <a:solidFill>
                <a:schemeClr val="tx1"/>
              </a:solidFill>
              <a:highlight>
                <a:srgbClr val="FF0000"/>
              </a:highlight>
              <a:ea typeface="微软雅黑" panose="020B0503020204020204"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ttps://kimi-img.moonshot.cn/pub/slides/slides_tmpl/image/25-10-11-20:14:20-d3l4k70s8jdo4os5ema0.png"/>
          <p:cNvPicPr>
            <a:picLocks noChangeAspect="1"/>
          </p:cNvPicPr>
          <p:nvPr>
            <p:custDataLst>
              <p:tags r:id="rId1"/>
            </p:custDataLst>
          </p:nvPr>
        </p:nvPicPr>
        <p:blipFill>
          <a:blip r:embed="rId12"/>
          <a:srcRect l="12" r="12"/>
          <a:stretch>
            <a:fillRect/>
          </a:stretch>
        </p:blipFill>
        <p:spPr>
          <a:xfrm rot="5400000">
            <a:off x="7885430" y="2225040"/>
            <a:ext cx="3709670" cy="4062095"/>
          </a:xfrm>
          <a:prstGeom prst="rect">
            <a:avLst/>
          </a:prstGeom>
        </p:spPr>
      </p:pic>
      <p:pic>
        <p:nvPicPr>
          <p:cNvPr id="3" name="Image 1" descr="https://kimi-img.moonshot.cn/pub/slides/slides_tmpl/image/25-10-11-20:14:20-d3l4k70s8jdo4os5ema0.png"/>
          <p:cNvPicPr>
            <a:picLocks noChangeAspect="1"/>
          </p:cNvPicPr>
          <p:nvPr>
            <p:custDataLst>
              <p:tags r:id="rId2"/>
            </p:custDataLst>
          </p:nvPr>
        </p:nvPicPr>
        <p:blipFill>
          <a:blip r:embed="rId12"/>
          <a:srcRect l="12" r="12"/>
          <a:stretch>
            <a:fillRect/>
          </a:stretch>
        </p:blipFill>
        <p:spPr>
          <a:xfrm rot="5400000">
            <a:off x="4325620" y="1628775"/>
            <a:ext cx="3709670" cy="4062095"/>
          </a:xfrm>
          <a:prstGeom prst="rect">
            <a:avLst/>
          </a:prstGeom>
        </p:spPr>
      </p:pic>
      <p:sp>
        <p:nvSpPr>
          <p:cNvPr id="4" name="Text 0"/>
          <p:cNvSpPr/>
          <p:nvPr/>
        </p:nvSpPr>
        <p:spPr>
          <a:xfrm>
            <a:off x="856298" y="657860"/>
            <a:ext cx="10479405" cy="822920"/>
          </a:xfrm>
          <a:prstGeom prst="rect">
            <a:avLst/>
          </a:prstGeom>
          <a:noFill/>
        </p:spPr>
        <p:txBody>
          <a:bodyPr wrap="square" lIns="0" tIns="0" rIns="0" bIns="0" rtlCol="0" anchor="t">
            <a:spAutoFit/>
          </a:bodyPr>
          <a:lstStyle/>
          <a:p>
            <a:pPr>
              <a:lnSpc>
                <a:spcPct val="150000"/>
              </a:lnSpc>
            </a:pPr>
            <a:r>
              <a:rPr lang="en-US" sz="3600" dirty="0">
                <a:solidFill>
                  <a:srgbClr val="0D0D0D"/>
                </a:solidFill>
                <a:latin typeface="MiSans" panose="00000500000000000000" pitchFamily="34" charset="-122"/>
                <a:ea typeface="MiSans" panose="00000500000000000000" pitchFamily="34" charset="-122"/>
                <a:cs typeface="MiSans" panose="00000500000000000000" pitchFamily="34" charset="-120"/>
              </a:rPr>
              <a:t>折旧与摊销费用的归集与分配方法</a:t>
            </a:r>
            <a:endParaRPr lang="en-US" sz="1600" dirty="0"/>
          </a:p>
        </p:txBody>
      </p:sp>
      <p:pic>
        <p:nvPicPr>
          <p:cNvPr id="5" name="Image 2" descr="https://kimi-img.moonshot.cn/pub/slides/slides_tmpl/image/25-10-11-20:14:20-d3l4k70s8jdo4os5ema0.png"/>
          <p:cNvPicPr>
            <a:picLocks noChangeAspect="1"/>
          </p:cNvPicPr>
          <p:nvPr>
            <p:custDataLst>
              <p:tags r:id="rId3"/>
            </p:custDataLst>
          </p:nvPr>
        </p:nvPicPr>
        <p:blipFill>
          <a:blip r:embed="rId12"/>
          <a:srcRect l="12" r="12"/>
          <a:stretch>
            <a:fillRect/>
          </a:stretch>
        </p:blipFill>
        <p:spPr>
          <a:xfrm rot="5400000">
            <a:off x="621030" y="2165985"/>
            <a:ext cx="3709670" cy="4062095"/>
          </a:xfrm>
          <a:prstGeom prst="rect">
            <a:avLst/>
          </a:prstGeom>
        </p:spPr>
      </p:pic>
      <p:pic>
        <p:nvPicPr>
          <p:cNvPr id="6" name="Image 3" descr="https://kimi-img.moonshot.cn/pub/slides/slides_tmpl/image/25-10-11-20:14:19-d3l4k6os8jdo4os5em70.png"/>
          <p:cNvPicPr>
            <a:picLocks noChangeAspect="1"/>
          </p:cNvPicPr>
          <p:nvPr/>
        </p:nvPicPr>
        <p:blipFill>
          <a:blip r:embed="rId13"/>
          <a:stretch>
            <a:fillRect/>
          </a:stretch>
        </p:blipFill>
        <p:spPr>
          <a:xfrm rot="5400000" flipH="1">
            <a:off x="9662795" y="636905"/>
            <a:ext cx="1503680" cy="1275080"/>
          </a:xfrm>
          <a:prstGeom prst="rect">
            <a:avLst/>
          </a:prstGeom>
        </p:spPr>
      </p:pic>
      <p:sp>
        <p:nvSpPr>
          <p:cNvPr id="7" name="Text 1"/>
          <p:cNvSpPr/>
          <p:nvPr>
            <p:custDataLst>
              <p:tags r:id="rId4"/>
            </p:custDataLst>
          </p:nvPr>
        </p:nvSpPr>
        <p:spPr>
          <a:xfrm>
            <a:off x="1049655" y="2749550"/>
            <a:ext cx="2853690" cy="714375"/>
          </a:xfrm>
          <a:prstGeom prst="rect">
            <a:avLst/>
          </a:prstGeom>
          <a:noFill/>
        </p:spPr>
        <p:txBody>
          <a:bodyPr wrap="square" lIns="0" tIns="0" rIns="0" bIns="0" rtlCol="0" anchor="t"/>
          <a:lstStyle/>
          <a:p>
            <a:pPr algn="ctr">
              <a:lnSpc>
                <a:spcPct val="100000"/>
              </a:lnSpc>
            </a:pPr>
            <a:r>
              <a:rPr lang="en-US" sz="2000" dirty="0">
                <a:solidFill>
                  <a:srgbClr val="3373F8"/>
                </a:solidFill>
                <a:latin typeface="MiSans" panose="00000500000000000000" pitchFamily="34" charset="-122"/>
                <a:ea typeface="MiSans" panose="00000500000000000000" pitchFamily="34" charset="-122"/>
                <a:cs typeface="MiSans" panose="00000500000000000000" pitchFamily="34" charset="-120"/>
              </a:rPr>
              <a:t>费用范围界定</a:t>
            </a:r>
            <a:endParaRPr lang="en-US" sz="1600" dirty="0"/>
          </a:p>
        </p:txBody>
      </p:sp>
      <p:sp>
        <p:nvSpPr>
          <p:cNvPr id="8" name="Text 2"/>
          <p:cNvSpPr/>
          <p:nvPr>
            <p:custDataLst>
              <p:tags r:id="rId5"/>
            </p:custDataLst>
          </p:nvPr>
        </p:nvSpPr>
        <p:spPr>
          <a:xfrm>
            <a:off x="1049655" y="3463290"/>
            <a:ext cx="2853055" cy="2515870"/>
          </a:xfrm>
          <a:prstGeom prst="rect">
            <a:avLst/>
          </a:prstGeom>
          <a:noFill/>
        </p:spPr>
        <p:txBody>
          <a:bodyPr wrap="square" lIns="0" tIns="0" rIns="0" bIns="0" rtlCol="0" anchor="t"/>
          <a:lstStyle/>
          <a:p>
            <a:pPr algn="just">
              <a:lnSpc>
                <a:spcPct val="150000"/>
              </a:lnSpc>
            </a:pPr>
            <a:r>
              <a:rPr lang="en-US" sz="1400" dirty="0">
                <a:solidFill>
                  <a:srgbClr val="262626"/>
                </a:solidFill>
                <a:latin typeface="MiSans" panose="00000500000000000000" pitchFamily="34" charset="-122"/>
                <a:ea typeface="MiSans" panose="00000500000000000000" pitchFamily="34" charset="-122"/>
                <a:cs typeface="MiSans" panose="00000500000000000000" pitchFamily="34" charset="-120"/>
              </a:rPr>
              <a:t>折旧费用指用于研发活动的仪器、设备和在用建筑物的折旧费；长期待摊费用指研发设施改建、改装、装修和修理过程中的费用；无形资产摊销包括用于研发活动的软件、专利权、非专利技术的摊销。</a:t>
            </a:r>
            <a:endParaRPr lang="en-US" sz="1600" dirty="0"/>
          </a:p>
        </p:txBody>
      </p:sp>
      <p:sp>
        <p:nvSpPr>
          <p:cNvPr id="9" name="Text 3"/>
          <p:cNvSpPr/>
          <p:nvPr>
            <p:custDataLst>
              <p:tags r:id="rId6"/>
            </p:custDataLst>
          </p:nvPr>
        </p:nvSpPr>
        <p:spPr>
          <a:xfrm>
            <a:off x="4650105" y="2190115"/>
            <a:ext cx="2853690" cy="714375"/>
          </a:xfrm>
          <a:prstGeom prst="rect">
            <a:avLst/>
          </a:prstGeom>
          <a:noFill/>
        </p:spPr>
        <p:txBody>
          <a:bodyPr wrap="square" lIns="0" tIns="0" rIns="0" bIns="0" rtlCol="0" anchor="t"/>
          <a:lstStyle/>
          <a:p>
            <a:pPr algn="ctr">
              <a:lnSpc>
                <a:spcPct val="100000"/>
              </a:lnSpc>
            </a:pPr>
            <a:r>
              <a:rPr lang="en-US" sz="2000" dirty="0">
                <a:solidFill>
                  <a:srgbClr val="3373F8"/>
                </a:solidFill>
                <a:latin typeface="MiSans" panose="00000500000000000000" pitchFamily="34" charset="-122"/>
                <a:ea typeface="MiSans" panose="00000500000000000000" pitchFamily="34" charset="-122"/>
                <a:cs typeface="MiSans" panose="00000500000000000000" pitchFamily="34" charset="-120"/>
              </a:rPr>
              <a:t>分配方法与数据来源</a:t>
            </a:r>
            <a:endParaRPr lang="en-US" sz="1600" dirty="0"/>
          </a:p>
        </p:txBody>
      </p:sp>
      <p:sp>
        <p:nvSpPr>
          <p:cNvPr id="10" name="Text 4"/>
          <p:cNvSpPr/>
          <p:nvPr>
            <p:custDataLst>
              <p:tags r:id="rId7"/>
            </p:custDataLst>
          </p:nvPr>
        </p:nvSpPr>
        <p:spPr>
          <a:xfrm>
            <a:off x="4650105" y="2903855"/>
            <a:ext cx="2853055" cy="2515870"/>
          </a:xfrm>
          <a:prstGeom prst="rect">
            <a:avLst/>
          </a:prstGeom>
          <a:noFill/>
        </p:spPr>
        <p:txBody>
          <a:bodyPr wrap="square" lIns="0" tIns="0" rIns="0" bIns="0" rtlCol="0" anchor="t"/>
          <a:lstStyle/>
          <a:p>
            <a:pPr algn="just">
              <a:lnSpc>
                <a:spcPct val="150000"/>
              </a:lnSpc>
            </a:pPr>
            <a:r>
              <a:rPr lang="en-US" sz="1400" dirty="0">
                <a:solidFill>
                  <a:srgbClr val="262626"/>
                </a:solidFill>
                <a:latin typeface="MiSans" panose="00000500000000000000" pitchFamily="34" charset="-122"/>
                <a:ea typeface="MiSans" panose="00000500000000000000" pitchFamily="34" charset="-122"/>
                <a:cs typeface="MiSans" panose="00000500000000000000" pitchFamily="34" charset="-120"/>
              </a:rPr>
              <a:t>公共研发用固定资产折旧额按当月各研发项目使用设备时间占当月设备运行时间比例在各项目间分配，数据来源于设备使用部门提供的运行记录。若设备既用于研发又用于生产，折旧费应按生产工时或其他标准合理分摊。</a:t>
            </a:r>
            <a:endParaRPr lang="en-US" sz="1600" dirty="0"/>
          </a:p>
        </p:txBody>
      </p:sp>
      <p:sp>
        <p:nvSpPr>
          <p:cNvPr id="11" name="Text 5"/>
          <p:cNvSpPr/>
          <p:nvPr>
            <p:custDataLst>
              <p:tags r:id="rId8"/>
            </p:custDataLst>
          </p:nvPr>
        </p:nvSpPr>
        <p:spPr>
          <a:xfrm>
            <a:off x="8249920" y="2881630"/>
            <a:ext cx="2853690" cy="716280"/>
          </a:xfrm>
          <a:prstGeom prst="rect">
            <a:avLst/>
          </a:prstGeom>
          <a:noFill/>
        </p:spPr>
        <p:txBody>
          <a:bodyPr wrap="square" lIns="0" tIns="0" rIns="0" bIns="0" rtlCol="0" anchor="t"/>
          <a:lstStyle/>
          <a:p>
            <a:pPr algn="ctr">
              <a:lnSpc>
                <a:spcPct val="100000"/>
              </a:lnSpc>
            </a:pPr>
            <a:r>
              <a:rPr lang="en-US" sz="2000" dirty="0">
                <a:solidFill>
                  <a:srgbClr val="3373F8"/>
                </a:solidFill>
                <a:latin typeface="MiSans" panose="00000500000000000000" pitchFamily="34" charset="-122"/>
                <a:ea typeface="MiSans" panose="00000500000000000000" pitchFamily="34" charset="-122"/>
                <a:cs typeface="MiSans" panose="00000500000000000000" pitchFamily="34" charset="-120"/>
              </a:rPr>
              <a:t>会计处理</a:t>
            </a:r>
            <a:endParaRPr lang="en-US" sz="1600" dirty="0"/>
          </a:p>
        </p:txBody>
      </p:sp>
      <p:sp>
        <p:nvSpPr>
          <p:cNvPr id="12" name="Text 6"/>
          <p:cNvSpPr/>
          <p:nvPr>
            <p:custDataLst>
              <p:tags r:id="rId9"/>
            </p:custDataLst>
          </p:nvPr>
        </p:nvSpPr>
        <p:spPr>
          <a:xfrm>
            <a:off x="8249920" y="3595370"/>
            <a:ext cx="2853055" cy="2515870"/>
          </a:xfrm>
          <a:prstGeom prst="rect">
            <a:avLst/>
          </a:prstGeom>
          <a:noFill/>
        </p:spPr>
        <p:txBody>
          <a:bodyPr wrap="square" lIns="0" tIns="0" rIns="0" bIns="0" rtlCol="0" anchor="t"/>
          <a:lstStyle/>
          <a:p>
            <a:pPr algn="just">
              <a:lnSpc>
                <a:spcPct val="150000"/>
              </a:lnSpc>
            </a:pPr>
            <a:r>
              <a:rPr lang="en-US" sz="1400" dirty="0">
                <a:solidFill>
                  <a:srgbClr val="262626"/>
                </a:solidFill>
                <a:latin typeface="MiSans" panose="00000500000000000000" pitchFamily="34" charset="-122"/>
                <a:ea typeface="MiSans" panose="00000500000000000000" pitchFamily="34" charset="-122"/>
                <a:cs typeface="MiSans" panose="00000500000000000000" pitchFamily="34" charset="-120"/>
              </a:rPr>
              <a:t>原始凭证为计提固定资产折旧明细表。会计分录按各项目分配金额借记研发支出折旧费用科目，贷记累计折旧科目，确保折旧费用准确归集至各研发项目。</a:t>
            </a:r>
            <a:endParaRPr lang="en-US" sz="1600" dirty="0"/>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 0" descr="https://kimi-img.moonshot.cn/pub/slides/slides_tmpl/image/25-09-04-11:33:06-d2sggsm1bb2p4onbon10.jpg"/>
          <p:cNvPicPr>
            <a:picLocks noChangeAspect="1"/>
          </p:cNvPicPr>
          <p:nvPr/>
        </p:nvPicPr>
        <p:blipFill>
          <a:blip r:embed="rId4"/>
          <a:stretch>
            <a:fillRect/>
          </a:stretch>
        </p:blipFill>
        <p:spPr>
          <a:xfrm>
            <a:off x="0" y="0"/>
            <a:ext cx="12192000" cy="6858000"/>
          </a:xfrm>
          <a:prstGeom prst="rect">
            <a:avLst/>
          </a:prstGeom>
        </p:spPr>
      </p:pic>
      <p:cxnSp>
        <p:nvCxnSpPr>
          <p:cNvPr id="5" name="直接连接符 4"/>
          <p:cNvCxnSpPr/>
          <p:nvPr/>
        </p:nvCxnSpPr>
        <p:spPr>
          <a:xfrm>
            <a:off x="2619061" y="644689"/>
            <a:ext cx="1920213" cy="0"/>
          </a:xfrm>
          <a:prstGeom prst="line">
            <a:avLst/>
          </a:prstGeom>
          <a:ln>
            <a:gradFill flip="none" rotWithShape="1">
              <a:gsLst>
                <a:gs pos="0">
                  <a:schemeClr val="bg1">
                    <a:alpha val="0"/>
                  </a:schemeClr>
                </a:gs>
                <a:gs pos="100000">
                  <a:schemeClr val="bg1"/>
                </a:gs>
              </a:gsLst>
              <a:lin ang="0" scaled="1"/>
              <a:tileRect/>
            </a:gradFill>
            <a:tailEnd type="oval"/>
          </a:ln>
        </p:spPr>
        <p:style>
          <a:lnRef idx="1">
            <a:schemeClr val="accent1"/>
          </a:lnRef>
          <a:fillRef idx="0">
            <a:schemeClr val="accent1"/>
          </a:fillRef>
          <a:effectRef idx="0">
            <a:schemeClr val="accent1"/>
          </a:effectRef>
          <a:fontRef idx="minor">
            <a:schemeClr val="tx1"/>
          </a:fontRef>
        </p:style>
      </p:cxnSp>
      <p:sp>
        <p:nvSpPr>
          <p:cNvPr id="14" name="TextBox 1"/>
          <p:cNvSpPr txBox="1"/>
          <p:nvPr/>
        </p:nvSpPr>
        <p:spPr>
          <a:xfrm>
            <a:off x="3579168" y="380600"/>
            <a:ext cx="4992555" cy="534035"/>
          </a:xfrm>
          <a:prstGeom prst="rect">
            <a:avLst/>
          </a:prstGeom>
          <a:noFill/>
        </p:spPr>
        <p:txBody>
          <a:bodyPr wrap="square" rtlCol="0">
            <a:spAutoFit/>
          </a:bodyPr>
          <a:lstStyle/>
          <a:p>
            <a:pPr algn="ctr" defTabSz="431800">
              <a:lnSpc>
                <a:spcPct val="120000"/>
              </a:lnSpc>
              <a:defRPr/>
            </a:pPr>
            <a:r>
              <a:rPr lang="zh-CN" sz="2400" b="1" kern="0" dirty="0">
                <a:solidFill>
                  <a:schemeClr val="tx1"/>
                </a:solidFill>
                <a:latin typeface="Arial" panose="020B0604020202020204" pitchFamily="34" charset="0"/>
                <a:ea typeface="微软雅黑" panose="020B0503020204020204" charset="-122"/>
                <a:cs typeface="Arial" panose="020B0604020202020204" pitchFamily="34" charset="0"/>
              </a:rPr>
              <a:t>研发费用</a:t>
            </a:r>
            <a:r>
              <a:rPr lang="en-US" altLang="zh-CN" sz="2400" b="1" kern="0" dirty="0">
                <a:solidFill>
                  <a:schemeClr val="tx1"/>
                </a:solidFill>
                <a:latin typeface="Arial" panose="020B0604020202020204" pitchFamily="34" charset="0"/>
                <a:ea typeface="微软雅黑" panose="020B0503020204020204" charset="-122"/>
                <a:cs typeface="Arial" panose="020B0604020202020204" pitchFamily="34" charset="0"/>
              </a:rPr>
              <a:t>“</a:t>
            </a:r>
            <a:r>
              <a:rPr lang="zh-CN" sz="2400" b="1" kern="0" dirty="0">
                <a:solidFill>
                  <a:schemeClr val="tx1"/>
                </a:solidFill>
                <a:latin typeface="Arial" panose="020B0604020202020204" pitchFamily="34" charset="0"/>
                <a:ea typeface="微软雅黑" panose="020B0503020204020204" charset="-122"/>
                <a:cs typeface="Arial" panose="020B0604020202020204" pitchFamily="34" charset="0"/>
              </a:rPr>
              <a:t>合理</a:t>
            </a:r>
            <a:r>
              <a:rPr lang="en-US" altLang="zh-CN" sz="2400" b="1" kern="0" dirty="0">
                <a:solidFill>
                  <a:schemeClr val="tx1"/>
                </a:solidFill>
                <a:latin typeface="Arial" panose="020B0604020202020204" pitchFamily="34" charset="0"/>
                <a:ea typeface="微软雅黑" panose="020B0503020204020204" charset="-122"/>
                <a:cs typeface="Arial" panose="020B0604020202020204" pitchFamily="34" charset="0"/>
              </a:rPr>
              <a:t>”</a:t>
            </a:r>
            <a:r>
              <a:rPr lang="zh-CN" sz="2400" b="1" kern="0" dirty="0">
                <a:solidFill>
                  <a:schemeClr val="tx1"/>
                </a:solidFill>
                <a:latin typeface="Arial" panose="020B0604020202020204" pitchFamily="34" charset="0"/>
                <a:ea typeface="微软雅黑" panose="020B0503020204020204" charset="-122"/>
                <a:cs typeface="Arial" panose="020B0604020202020204" pitchFamily="34" charset="0"/>
              </a:rPr>
              <a:t>归集</a:t>
            </a:r>
          </a:p>
        </p:txBody>
      </p:sp>
      <p:cxnSp>
        <p:nvCxnSpPr>
          <p:cNvPr id="15" name="直接连接符 14"/>
          <p:cNvCxnSpPr/>
          <p:nvPr/>
        </p:nvCxnSpPr>
        <p:spPr>
          <a:xfrm flipH="1">
            <a:off x="7611616" y="644689"/>
            <a:ext cx="1920213" cy="0"/>
          </a:xfrm>
          <a:prstGeom prst="line">
            <a:avLst/>
          </a:prstGeom>
          <a:ln>
            <a:gradFill flip="none" rotWithShape="1">
              <a:gsLst>
                <a:gs pos="0">
                  <a:schemeClr val="bg1">
                    <a:alpha val="0"/>
                  </a:schemeClr>
                </a:gs>
                <a:gs pos="100000">
                  <a:schemeClr val="bg1"/>
                </a:gs>
              </a:gsLst>
              <a:lin ang="0" scaled="1"/>
              <a:tileRect/>
            </a:gradFill>
            <a:tailEnd type="oval"/>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756073" y="1413087"/>
            <a:ext cx="10638367" cy="1051560"/>
          </a:xfrm>
          <a:prstGeom prst="rect">
            <a:avLst/>
          </a:prstGeom>
          <a:noFill/>
        </p:spPr>
        <p:txBody>
          <a:bodyPr wrap="square" rtlCol="0">
            <a:noAutofit/>
          </a:bodyPr>
          <a:lstStyle/>
          <a:p>
            <a:pPr algn="l"/>
            <a:r>
              <a:rPr lang="zh-CN" altLang="en-US" sz="2400" dirty="0">
                <a:solidFill>
                  <a:schemeClr val="tx1"/>
                </a:solidFill>
                <a:ea typeface="微软雅黑" panose="020B0503020204020204" charset="-122"/>
                <a:sym typeface="+mn-ea"/>
              </a:rPr>
              <a:t>折旧表</a:t>
            </a:r>
            <a:r>
              <a:rPr lang="en-US" altLang="zh-CN" sz="2400" dirty="0">
                <a:solidFill>
                  <a:schemeClr val="tx1"/>
                </a:solidFill>
                <a:ea typeface="微软雅黑" panose="020B0503020204020204" charset="-122"/>
                <a:sym typeface="+mn-ea"/>
              </a:rPr>
              <a:t>（</a:t>
            </a:r>
            <a:r>
              <a:rPr lang="en-US" altLang="zh-CN" sz="2400" dirty="0" err="1">
                <a:solidFill>
                  <a:schemeClr val="tx1"/>
                </a:solidFill>
                <a:ea typeface="微软雅黑" panose="020B0503020204020204" charset="-122"/>
                <a:sym typeface="+mn-ea"/>
              </a:rPr>
              <a:t>样表</a:t>
            </a:r>
            <a:r>
              <a:rPr lang="zh-CN" altLang="en-US" sz="2400" dirty="0">
                <a:solidFill>
                  <a:schemeClr val="tx1"/>
                </a:solidFill>
                <a:ea typeface="微软雅黑" panose="020B0503020204020204" charset="-122"/>
                <a:sym typeface="+mn-ea"/>
              </a:rPr>
              <a:t>五</a:t>
            </a:r>
            <a:r>
              <a:rPr lang="en-US" altLang="zh-CN" sz="2400" dirty="0">
                <a:solidFill>
                  <a:schemeClr val="tx1"/>
                </a:solidFill>
                <a:ea typeface="微软雅黑" panose="020B0503020204020204" charset="-122"/>
                <a:sym typeface="+mn-ea"/>
              </a:rPr>
              <a:t>）</a:t>
            </a:r>
          </a:p>
          <a:p>
            <a:pPr marL="0" lvl="0" indent="0" algn="ctr" eaLnBrk="1" hangingPunct="1">
              <a:spcBef>
                <a:spcPct val="0"/>
              </a:spcBef>
              <a:buClrTx/>
              <a:buFontTx/>
              <a:buNone/>
            </a:pPr>
            <a:r>
              <a:rPr lang="zh-CN" altLang="en-US" sz="2400" b="1" dirty="0">
                <a:solidFill>
                  <a:schemeClr val="tx1"/>
                </a:solidFill>
                <a:latin typeface="微软雅黑 Light" panose="020B0502040204020203" pitchFamily="34" charset="-122"/>
                <a:ea typeface="微软雅黑 Light" panose="020B0502040204020203" pitchFamily="34" charset="-122"/>
                <a:sym typeface="+mn-ea"/>
              </a:rPr>
              <a:t>计提固定资产折旧明细表</a:t>
            </a:r>
            <a:endParaRPr lang="en-US" altLang="zh-CN" sz="2400" dirty="0">
              <a:solidFill>
                <a:schemeClr val="tx1"/>
              </a:solidFill>
              <a:ea typeface="微软雅黑" panose="020B0503020204020204" charset="-122"/>
              <a:sym typeface="+mn-ea"/>
            </a:endParaRPr>
          </a:p>
          <a:p>
            <a:pPr algn="l">
              <a:lnSpc>
                <a:spcPct val="150000"/>
              </a:lnSpc>
            </a:pPr>
            <a:r>
              <a:rPr lang="en-US" altLang="zh-CN" sz="2400" dirty="0">
                <a:solidFill>
                  <a:schemeClr val="tx1"/>
                </a:solidFill>
                <a:ea typeface="微软雅黑" panose="020B0503020204020204" charset="-122"/>
                <a:sym typeface="+mn-ea"/>
              </a:rPr>
              <a:t>          </a:t>
            </a:r>
          </a:p>
          <a:p>
            <a:pPr algn="l"/>
            <a:endParaRPr lang="en-US" altLang="zh-CN" sz="2400" dirty="0">
              <a:solidFill>
                <a:schemeClr val="tx1"/>
              </a:solidFill>
              <a:ea typeface="微软雅黑" panose="020B0503020204020204" charset="-122"/>
              <a:sym typeface="+mn-ea"/>
            </a:endParaRPr>
          </a:p>
          <a:p>
            <a:pPr algn="l"/>
            <a:endParaRPr lang="en-US" altLang="zh-CN" sz="2400" dirty="0">
              <a:solidFill>
                <a:schemeClr val="tx1"/>
              </a:solidFill>
              <a:ea typeface="微软雅黑" panose="020B0503020204020204" charset="-122"/>
              <a:sym typeface="+mn-ea"/>
            </a:endParaRPr>
          </a:p>
        </p:txBody>
      </p:sp>
      <p:graphicFrame>
        <p:nvGraphicFramePr>
          <p:cNvPr id="10" name="表格 1"/>
          <p:cNvGraphicFramePr>
            <a:graphicFrameLocks noGrp="1"/>
          </p:cNvGraphicFramePr>
          <p:nvPr>
            <p:custDataLst>
              <p:tags r:id="rId1"/>
            </p:custDataLst>
          </p:nvPr>
        </p:nvGraphicFramePr>
        <p:xfrm>
          <a:off x="719667" y="2564553"/>
          <a:ext cx="10841355" cy="3908425"/>
        </p:xfrm>
        <a:graphic>
          <a:graphicData uri="http://schemas.openxmlformats.org/drawingml/2006/table">
            <a:tbl>
              <a:tblPr/>
              <a:tblGrid>
                <a:gridCol w="581025">
                  <a:extLst>
                    <a:ext uri="{9D8B030D-6E8A-4147-A177-3AD203B41FA5}">
                      <a16:colId xmlns:a16="http://schemas.microsoft.com/office/drawing/2014/main" val="20000"/>
                    </a:ext>
                  </a:extLst>
                </a:gridCol>
                <a:gridCol w="699770">
                  <a:extLst>
                    <a:ext uri="{9D8B030D-6E8A-4147-A177-3AD203B41FA5}">
                      <a16:colId xmlns:a16="http://schemas.microsoft.com/office/drawing/2014/main" val="20001"/>
                    </a:ext>
                  </a:extLst>
                </a:gridCol>
                <a:gridCol w="655320">
                  <a:extLst>
                    <a:ext uri="{9D8B030D-6E8A-4147-A177-3AD203B41FA5}">
                      <a16:colId xmlns:a16="http://schemas.microsoft.com/office/drawing/2014/main" val="20002"/>
                    </a:ext>
                  </a:extLst>
                </a:gridCol>
                <a:gridCol w="1162685">
                  <a:extLst>
                    <a:ext uri="{9D8B030D-6E8A-4147-A177-3AD203B41FA5}">
                      <a16:colId xmlns:a16="http://schemas.microsoft.com/office/drawing/2014/main" val="20003"/>
                    </a:ext>
                  </a:extLst>
                </a:gridCol>
                <a:gridCol w="1353820">
                  <a:extLst>
                    <a:ext uri="{9D8B030D-6E8A-4147-A177-3AD203B41FA5}">
                      <a16:colId xmlns:a16="http://schemas.microsoft.com/office/drawing/2014/main" val="20004"/>
                    </a:ext>
                  </a:extLst>
                </a:gridCol>
                <a:gridCol w="581660">
                  <a:extLst>
                    <a:ext uri="{9D8B030D-6E8A-4147-A177-3AD203B41FA5}">
                      <a16:colId xmlns:a16="http://schemas.microsoft.com/office/drawing/2014/main" val="20005"/>
                    </a:ext>
                  </a:extLst>
                </a:gridCol>
                <a:gridCol w="1257935">
                  <a:extLst>
                    <a:ext uri="{9D8B030D-6E8A-4147-A177-3AD203B41FA5}">
                      <a16:colId xmlns:a16="http://schemas.microsoft.com/office/drawing/2014/main" val="20006"/>
                    </a:ext>
                  </a:extLst>
                </a:gridCol>
                <a:gridCol w="677545">
                  <a:extLst>
                    <a:ext uri="{9D8B030D-6E8A-4147-A177-3AD203B41FA5}">
                      <a16:colId xmlns:a16="http://schemas.microsoft.com/office/drawing/2014/main" val="20007"/>
                    </a:ext>
                  </a:extLst>
                </a:gridCol>
                <a:gridCol w="1161415">
                  <a:extLst>
                    <a:ext uri="{9D8B030D-6E8A-4147-A177-3AD203B41FA5}">
                      <a16:colId xmlns:a16="http://schemas.microsoft.com/office/drawing/2014/main" val="20008"/>
                    </a:ext>
                  </a:extLst>
                </a:gridCol>
                <a:gridCol w="1257300">
                  <a:extLst>
                    <a:ext uri="{9D8B030D-6E8A-4147-A177-3AD203B41FA5}">
                      <a16:colId xmlns:a16="http://schemas.microsoft.com/office/drawing/2014/main" val="20009"/>
                    </a:ext>
                  </a:extLst>
                </a:gridCol>
                <a:gridCol w="1452880">
                  <a:extLst>
                    <a:ext uri="{9D8B030D-6E8A-4147-A177-3AD203B41FA5}">
                      <a16:colId xmlns:a16="http://schemas.microsoft.com/office/drawing/2014/main" val="20010"/>
                    </a:ext>
                  </a:extLst>
                </a:gridCol>
              </a:tblGrid>
              <a:tr h="853440">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735" b="1" i="0" u="none" strike="noStrike" cap="none" normalizeH="0" baseline="0" dirty="0">
                          <a:ln>
                            <a:noFill/>
                          </a:ln>
                          <a:solidFill>
                            <a:schemeClr val="tx1"/>
                          </a:solidFill>
                          <a:effectLst/>
                          <a:latin typeface="Calibri" panose="020F0502020204030204" charset="0"/>
                          <a:ea typeface="微软雅黑" panose="020B0503020204020204" charset="-122"/>
                          <a:cs typeface="Arial" panose="020B0604020202020204" pitchFamily="34" charset="0"/>
                        </a:rPr>
                        <a:t>序号</a:t>
                      </a:r>
                    </a:p>
                  </a:txBody>
                  <a:tcPr marL="12698" marR="12698" marT="1270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alpha val="19000"/>
                      </a:srgbClr>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735" b="1" i="0" u="none" strike="noStrike" cap="none" normalizeH="0" baseline="0" dirty="0">
                          <a:ln>
                            <a:noFill/>
                          </a:ln>
                          <a:solidFill>
                            <a:schemeClr val="tx1"/>
                          </a:solidFill>
                          <a:effectLst/>
                          <a:latin typeface="Calibri" panose="020F0502020204030204" charset="0"/>
                          <a:ea typeface="微软雅黑" panose="020B0503020204020204" charset="-122"/>
                          <a:cs typeface="Arial" panose="020B0604020202020204" pitchFamily="34" charset="0"/>
                        </a:rPr>
                        <a:t>设备名称</a:t>
                      </a:r>
                    </a:p>
                  </a:txBody>
                  <a:tcPr marL="12698" marR="12698" marT="1270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alpha val="19000"/>
                      </a:srgbClr>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735" b="1" i="0" u="none" strike="noStrike" cap="none" normalizeH="0" baseline="0" dirty="0">
                          <a:ln>
                            <a:noFill/>
                          </a:ln>
                          <a:solidFill>
                            <a:schemeClr val="tx1"/>
                          </a:solidFill>
                          <a:effectLst/>
                          <a:latin typeface="Calibri" panose="020F0502020204030204" charset="0"/>
                          <a:ea typeface="微软雅黑" panose="020B0503020204020204" charset="-122"/>
                          <a:cs typeface="Arial" panose="020B0604020202020204" pitchFamily="34" charset="0"/>
                        </a:rPr>
                        <a:t>设备型号</a:t>
                      </a:r>
                    </a:p>
                  </a:txBody>
                  <a:tcPr marL="12698" marR="12698" marT="1270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alpha val="19000"/>
                      </a:srgbClr>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735" b="1" i="0" u="none" strike="noStrike" cap="none" normalizeH="0" baseline="0" dirty="0">
                          <a:ln>
                            <a:noFill/>
                          </a:ln>
                          <a:solidFill>
                            <a:schemeClr val="tx1"/>
                          </a:solidFill>
                          <a:effectLst/>
                          <a:latin typeface="Calibri" panose="020F0502020204030204" charset="0"/>
                          <a:ea typeface="微软雅黑" panose="020B0503020204020204" charset="-122"/>
                          <a:cs typeface="Arial" panose="020B0604020202020204" pitchFamily="34" charset="0"/>
                        </a:rPr>
                        <a:t>使用部门</a:t>
                      </a:r>
                    </a:p>
                  </a:txBody>
                  <a:tcPr marL="12698" marR="12698" marT="1270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alpha val="19000"/>
                      </a:srgbClr>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735" b="1" i="0" u="none" strike="noStrike" cap="none" normalizeH="0" baseline="0" dirty="0">
                          <a:ln>
                            <a:noFill/>
                          </a:ln>
                          <a:solidFill>
                            <a:schemeClr val="tx1"/>
                          </a:solidFill>
                          <a:effectLst/>
                          <a:latin typeface="Calibri" panose="020F0502020204030204" charset="0"/>
                          <a:ea typeface="微软雅黑" panose="020B0503020204020204" charset="-122"/>
                          <a:cs typeface="Arial" panose="020B0604020202020204" pitchFamily="34" charset="0"/>
                        </a:rPr>
                        <a:t>购入时间</a:t>
                      </a:r>
                    </a:p>
                  </a:txBody>
                  <a:tcPr marL="12698" marR="12698" marT="1270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alpha val="19000"/>
                      </a:srgbClr>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735" b="1" i="0" u="none" strike="noStrike" cap="none" normalizeH="0" baseline="0" dirty="0">
                          <a:ln>
                            <a:noFill/>
                          </a:ln>
                          <a:solidFill>
                            <a:schemeClr val="tx1"/>
                          </a:solidFill>
                          <a:effectLst/>
                          <a:latin typeface="Calibri" panose="020F0502020204030204" charset="0"/>
                          <a:ea typeface="微软雅黑" panose="020B0503020204020204" charset="-122"/>
                          <a:cs typeface="Arial" panose="020B0604020202020204" pitchFamily="34" charset="0"/>
                        </a:rPr>
                        <a:t>使用年限</a:t>
                      </a:r>
                    </a:p>
                  </a:txBody>
                  <a:tcPr marL="12698" marR="12698" marT="1270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alpha val="19000"/>
                      </a:srgbClr>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735" b="1" i="0" u="none" strike="noStrike" cap="none" normalizeH="0" baseline="0" dirty="0">
                          <a:ln>
                            <a:noFill/>
                          </a:ln>
                          <a:solidFill>
                            <a:schemeClr val="tx1"/>
                          </a:solidFill>
                          <a:effectLst/>
                          <a:latin typeface="Calibri" panose="020F0502020204030204" charset="0"/>
                          <a:ea typeface="微软雅黑" panose="020B0503020204020204" charset="-122"/>
                          <a:cs typeface="Arial" panose="020B0604020202020204" pitchFamily="34" charset="0"/>
                        </a:rPr>
                        <a:t>固定资产</a:t>
                      </a:r>
                      <a:endParaRPr kumimoji="0" lang="en-US" altLang="zh-CN" sz="1735" b="1" i="0" u="none" strike="noStrike" cap="none" normalizeH="0" baseline="0" dirty="0">
                        <a:ln>
                          <a:noFill/>
                        </a:ln>
                        <a:solidFill>
                          <a:schemeClr val="tx1"/>
                        </a:solidFill>
                        <a:effectLst/>
                        <a:latin typeface="Calibri" panose="020F0502020204030204" charset="0"/>
                        <a:ea typeface="微软雅黑" panose="020B0503020204020204" charset="-122"/>
                        <a:cs typeface="Arial" panose="020B0604020202020204" pitchFamily="34" charset="0"/>
                      </a:endParaRPr>
                    </a:p>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735" b="1" i="0" u="none" strike="noStrike" cap="none" normalizeH="0" baseline="0" dirty="0">
                          <a:ln>
                            <a:noFill/>
                          </a:ln>
                          <a:solidFill>
                            <a:schemeClr val="tx1"/>
                          </a:solidFill>
                          <a:effectLst/>
                          <a:latin typeface="Calibri" panose="020F0502020204030204" charset="0"/>
                          <a:ea typeface="微软雅黑" panose="020B0503020204020204" charset="-122"/>
                          <a:cs typeface="Arial" panose="020B0604020202020204" pitchFamily="34" charset="0"/>
                        </a:rPr>
                        <a:t>原值</a:t>
                      </a:r>
                    </a:p>
                  </a:txBody>
                  <a:tcPr marL="12698" marR="12698" marT="1270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alpha val="19000"/>
                      </a:srgbClr>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735" b="1" i="0" u="none" strike="noStrike" cap="none" normalizeH="0" baseline="0" dirty="0">
                          <a:ln>
                            <a:noFill/>
                          </a:ln>
                          <a:solidFill>
                            <a:schemeClr val="tx1"/>
                          </a:solidFill>
                          <a:effectLst/>
                          <a:latin typeface="Calibri" panose="020F0502020204030204" charset="0"/>
                          <a:ea typeface="微软雅黑" panose="020B0503020204020204" charset="-122"/>
                          <a:cs typeface="Arial" panose="020B0604020202020204" pitchFamily="34" charset="0"/>
                        </a:rPr>
                        <a:t>预计</a:t>
                      </a:r>
                      <a:endParaRPr kumimoji="0" lang="en-US" altLang="zh-CN" sz="1735" b="1" i="0" u="none" strike="noStrike" cap="none" normalizeH="0" baseline="0" dirty="0">
                        <a:ln>
                          <a:noFill/>
                        </a:ln>
                        <a:solidFill>
                          <a:schemeClr val="tx1"/>
                        </a:solidFill>
                        <a:effectLst/>
                        <a:latin typeface="Calibri" panose="020F0502020204030204" charset="0"/>
                        <a:ea typeface="微软雅黑" panose="020B0503020204020204" charset="-122"/>
                        <a:cs typeface="Arial" panose="020B0604020202020204" pitchFamily="34" charset="0"/>
                      </a:endParaRPr>
                    </a:p>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735" b="1" i="0" u="none" strike="noStrike" cap="none" normalizeH="0" baseline="0" dirty="0">
                          <a:ln>
                            <a:noFill/>
                          </a:ln>
                          <a:solidFill>
                            <a:schemeClr val="tx1"/>
                          </a:solidFill>
                          <a:effectLst/>
                          <a:latin typeface="Calibri" panose="020F0502020204030204" charset="0"/>
                          <a:ea typeface="微软雅黑" panose="020B0503020204020204" charset="-122"/>
                          <a:cs typeface="Arial" panose="020B0604020202020204" pitchFamily="34" charset="0"/>
                        </a:rPr>
                        <a:t>残值率</a:t>
                      </a:r>
                    </a:p>
                  </a:txBody>
                  <a:tcPr marL="12698" marR="12698" marT="1270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alpha val="19000"/>
                      </a:srgbClr>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735" b="1" i="0" u="none" strike="noStrike" cap="none" normalizeH="0" baseline="0" dirty="0">
                          <a:ln>
                            <a:noFill/>
                          </a:ln>
                          <a:solidFill>
                            <a:schemeClr val="tx1"/>
                          </a:solidFill>
                          <a:effectLst/>
                          <a:latin typeface="Calibri" panose="020F0502020204030204" charset="0"/>
                          <a:ea typeface="微软雅黑" panose="020B0503020204020204" charset="-122"/>
                          <a:cs typeface="Arial" panose="020B0604020202020204" pitchFamily="34" charset="0"/>
                        </a:rPr>
                        <a:t>月折旧额</a:t>
                      </a:r>
                    </a:p>
                  </a:txBody>
                  <a:tcPr marL="12698" marR="12698" marT="1270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alpha val="19000"/>
                      </a:srgbClr>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735" b="1" i="0" u="none" strike="noStrike" cap="none" normalizeH="0" baseline="0" dirty="0">
                          <a:ln>
                            <a:noFill/>
                          </a:ln>
                          <a:solidFill>
                            <a:schemeClr val="tx1"/>
                          </a:solidFill>
                          <a:effectLst/>
                          <a:latin typeface="Calibri" panose="020F0502020204030204" charset="0"/>
                          <a:ea typeface="微软雅黑" panose="020B0503020204020204" charset="-122"/>
                          <a:cs typeface="Arial" panose="020B0604020202020204" pitchFamily="34" charset="0"/>
                        </a:rPr>
                        <a:t>累计</a:t>
                      </a:r>
                      <a:endParaRPr kumimoji="0" lang="en-US" altLang="zh-CN" sz="1735" b="1" i="0" u="none" strike="noStrike" cap="none" normalizeH="0" baseline="0" dirty="0">
                        <a:ln>
                          <a:noFill/>
                        </a:ln>
                        <a:solidFill>
                          <a:schemeClr val="tx1"/>
                        </a:solidFill>
                        <a:effectLst/>
                        <a:latin typeface="Calibri" panose="020F0502020204030204" charset="0"/>
                        <a:ea typeface="微软雅黑" panose="020B0503020204020204" charset="-122"/>
                        <a:cs typeface="Arial" panose="020B0604020202020204" pitchFamily="34" charset="0"/>
                      </a:endParaRPr>
                    </a:p>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735" b="1" i="0" u="none" strike="noStrike" cap="none" normalizeH="0" baseline="0" dirty="0">
                          <a:ln>
                            <a:noFill/>
                          </a:ln>
                          <a:solidFill>
                            <a:schemeClr val="tx1"/>
                          </a:solidFill>
                          <a:effectLst/>
                          <a:latin typeface="Calibri" panose="020F0502020204030204" charset="0"/>
                          <a:ea typeface="微软雅黑" panose="020B0503020204020204" charset="-122"/>
                          <a:cs typeface="Arial" panose="020B0604020202020204" pitchFamily="34" charset="0"/>
                        </a:rPr>
                        <a:t>折旧额</a:t>
                      </a:r>
                    </a:p>
                  </a:txBody>
                  <a:tcPr marL="12698" marR="12698" marT="1270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alpha val="19000"/>
                      </a:srgbClr>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735" b="1" i="0" u="none" strike="noStrike" cap="none" normalizeH="0" baseline="0" dirty="0">
                          <a:ln>
                            <a:noFill/>
                          </a:ln>
                          <a:solidFill>
                            <a:schemeClr val="tx1"/>
                          </a:solidFill>
                          <a:effectLst/>
                          <a:latin typeface="Calibri" panose="020F0502020204030204" charset="0"/>
                          <a:ea typeface="微软雅黑" panose="020B0503020204020204" charset="-122"/>
                          <a:cs typeface="Arial" panose="020B0604020202020204" pitchFamily="34" charset="0"/>
                        </a:rPr>
                        <a:t>净值</a:t>
                      </a:r>
                    </a:p>
                  </a:txBody>
                  <a:tcPr marL="12698" marR="12698" marT="1270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alpha val="19000"/>
                      </a:srgbClr>
                    </a:solidFill>
                  </a:tcPr>
                </a:tc>
                <a:extLst>
                  <a:ext uri="{0D108BD9-81ED-4DB2-BD59-A6C34878D82A}">
                    <a16:rowId xmlns:a16="http://schemas.microsoft.com/office/drawing/2014/main" val="10000"/>
                  </a:ext>
                </a:extLst>
              </a:tr>
              <a:tr h="688975">
                <a:tc>
                  <a:txBody>
                    <a:bodyPr/>
                    <a:lstStyle/>
                    <a:p>
                      <a:pPr algn="ctr" fontAlgn="ctr">
                        <a:spcAft>
                          <a:spcPts val="0"/>
                        </a:spcAft>
                      </a:pPr>
                      <a:r>
                        <a:rPr lang="en-US" sz="1865" b="1" kern="1200" dirty="0">
                          <a:solidFill>
                            <a:schemeClr val="tx1"/>
                          </a:solidFill>
                          <a:latin typeface="微软雅黑" panose="020B0503020204020204" charset="-122"/>
                          <a:ea typeface="微软雅黑" panose="020B0503020204020204" charset="-122"/>
                          <a:cs typeface="Arial" panose="020B0604020202020204"/>
                        </a:rPr>
                        <a:t>1</a:t>
                      </a:r>
                    </a:p>
                  </a:txBody>
                  <a:tcPr marL="12698" marR="12698"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ctr">
                        <a:spcAft>
                          <a:spcPts val="0"/>
                        </a:spcAft>
                      </a:pPr>
                      <a:r>
                        <a:rPr lang="zh-CN" sz="1865" b="1" kern="1200" dirty="0">
                          <a:solidFill>
                            <a:schemeClr val="tx1"/>
                          </a:solidFill>
                          <a:latin typeface="Calibri" panose="020F0502020204030204"/>
                          <a:ea typeface="微软雅黑" panose="020B0503020204020204" charset="-122"/>
                          <a:cs typeface="Arial" panose="020B0604020202020204"/>
                        </a:rPr>
                        <a:t>甲 </a:t>
                      </a:r>
                    </a:p>
                  </a:txBody>
                  <a:tcPr marL="12698" marR="12698"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ctr">
                        <a:spcAft>
                          <a:spcPts val="0"/>
                        </a:spcAft>
                      </a:pPr>
                      <a:r>
                        <a:rPr lang="en-US" sz="1865" b="1" kern="1200" dirty="0">
                          <a:solidFill>
                            <a:schemeClr val="tx1"/>
                          </a:solidFill>
                          <a:latin typeface="微软雅黑" panose="020B0503020204020204" charset="-122"/>
                          <a:ea typeface="微软雅黑" panose="020B0503020204020204" charset="-122"/>
                          <a:cs typeface="Arial" panose="020B0604020202020204"/>
                        </a:rPr>
                        <a:t>****</a:t>
                      </a:r>
                    </a:p>
                  </a:txBody>
                  <a:tcPr marL="12698" marR="12698"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ctr">
                        <a:spcAft>
                          <a:spcPts val="0"/>
                        </a:spcAft>
                      </a:pPr>
                      <a:r>
                        <a:rPr lang="zh-CN" sz="1865" b="1" kern="1200" dirty="0">
                          <a:solidFill>
                            <a:schemeClr val="tx1"/>
                          </a:solidFill>
                          <a:latin typeface="Calibri" panose="020F0502020204030204"/>
                          <a:ea typeface="微软雅黑" panose="020B0503020204020204" charset="-122"/>
                          <a:cs typeface="Arial" panose="020B0604020202020204"/>
                        </a:rPr>
                        <a:t>研发部</a:t>
                      </a:r>
                    </a:p>
                  </a:txBody>
                  <a:tcPr marL="12698" marR="12698"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ctr">
                        <a:spcAft>
                          <a:spcPts val="0"/>
                        </a:spcAft>
                      </a:pPr>
                      <a:r>
                        <a:rPr lang="en-US" sz="1865" b="1" kern="1200" dirty="0">
                          <a:solidFill>
                            <a:schemeClr val="tx1"/>
                          </a:solidFill>
                          <a:latin typeface="微软雅黑" panose="020B0503020204020204" charset="-122"/>
                          <a:ea typeface="微软雅黑" panose="020B0503020204020204" charset="-122"/>
                          <a:cs typeface="Arial" panose="020B0604020202020204"/>
                        </a:rPr>
                        <a:t>20**-**-**</a:t>
                      </a:r>
                    </a:p>
                  </a:txBody>
                  <a:tcPr marL="12698" marR="12698"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ctr">
                        <a:spcAft>
                          <a:spcPts val="0"/>
                        </a:spcAft>
                      </a:pPr>
                      <a:r>
                        <a:rPr lang="en-US" sz="1865" b="1" kern="1200" dirty="0">
                          <a:solidFill>
                            <a:schemeClr val="tx1"/>
                          </a:solidFill>
                          <a:latin typeface="微软雅黑" panose="020B0503020204020204" charset="-122"/>
                          <a:ea typeface="微软雅黑" panose="020B0503020204020204" charset="-122"/>
                          <a:cs typeface="Arial" panose="020B0604020202020204"/>
                        </a:rPr>
                        <a:t>10</a:t>
                      </a:r>
                    </a:p>
                  </a:txBody>
                  <a:tcPr marL="12698" marR="12698"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l" fontAlgn="ctr">
                        <a:spcAft>
                          <a:spcPts val="0"/>
                        </a:spcAft>
                      </a:pPr>
                      <a:r>
                        <a:rPr lang="en-US" sz="1865" b="1" kern="1200" dirty="0">
                          <a:solidFill>
                            <a:schemeClr val="tx1"/>
                          </a:solidFill>
                          <a:latin typeface="微软雅黑" panose="020B0503020204020204" charset="-122"/>
                          <a:ea typeface="微软雅黑" panose="020B0503020204020204" charset="-122"/>
                          <a:cs typeface="Arial" panose="020B0604020202020204"/>
                        </a:rPr>
                        <a:t>200,000.00 </a:t>
                      </a:r>
                    </a:p>
                  </a:txBody>
                  <a:tcPr marL="12698" marR="12698"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ctr">
                        <a:spcAft>
                          <a:spcPts val="0"/>
                        </a:spcAft>
                      </a:pPr>
                      <a:r>
                        <a:rPr lang="en-US" sz="1865" b="1" kern="1200" dirty="0">
                          <a:solidFill>
                            <a:schemeClr val="tx1"/>
                          </a:solidFill>
                          <a:latin typeface="微软雅黑" panose="020B0503020204020204" charset="-122"/>
                          <a:ea typeface="微软雅黑" panose="020B0503020204020204" charset="-122"/>
                          <a:cs typeface="Arial" panose="020B0604020202020204"/>
                        </a:rPr>
                        <a:t>5%</a:t>
                      </a:r>
                    </a:p>
                  </a:txBody>
                  <a:tcPr marL="12698" marR="12698"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l" fontAlgn="ctr">
                        <a:spcAft>
                          <a:spcPts val="0"/>
                        </a:spcAft>
                      </a:pPr>
                      <a:r>
                        <a:rPr lang="en-US" sz="1865" b="1" kern="1200" dirty="0">
                          <a:solidFill>
                            <a:schemeClr val="tx1"/>
                          </a:solidFill>
                          <a:latin typeface="微软雅黑" panose="020B0503020204020204" charset="-122"/>
                          <a:ea typeface="微软雅黑" panose="020B0503020204020204" charset="-122"/>
                          <a:cs typeface="Arial" panose="020B0604020202020204"/>
                        </a:rPr>
                        <a:t> 1,583.33 </a:t>
                      </a:r>
                    </a:p>
                  </a:txBody>
                  <a:tcPr marL="12698" marR="12698"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l" fontAlgn="ctr">
                        <a:spcAft>
                          <a:spcPts val="0"/>
                        </a:spcAft>
                      </a:pPr>
                      <a:r>
                        <a:rPr lang="en-US" sz="1865" b="1" kern="1200" dirty="0">
                          <a:solidFill>
                            <a:schemeClr val="tx1"/>
                          </a:solidFill>
                          <a:latin typeface="微软雅黑" panose="020B0503020204020204" charset="-122"/>
                          <a:ea typeface="微软雅黑" panose="020B0503020204020204" charset="-122"/>
                          <a:cs typeface="Arial" panose="020B0604020202020204"/>
                        </a:rPr>
                        <a:t> 19,000.00 </a:t>
                      </a:r>
                    </a:p>
                  </a:txBody>
                  <a:tcPr marL="12698" marR="12698"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l" fontAlgn="ctr">
                        <a:spcAft>
                          <a:spcPts val="0"/>
                        </a:spcAft>
                      </a:pPr>
                      <a:r>
                        <a:rPr lang="en-US" sz="1865" b="1" kern="1200" dirty="0">
                          <a:solidFill>
                            <a:schemeClr val="tx1"/>
                          </a:solidFill>
                          <a:latin typeface="微软雅黑" panose="020B0503020204020204" charset="-122"/>
                          <a:ea typeface="微软雅黑" panose="020B0503020204020204" charset="-122"/>
                          <a:cs typeface="Arial" panose="020B0604020202020204"/>
                        </a:rPr>
                        <a:t> 181,000.00 </a:t>
                      </a:r>
                    </a:p>
                  </a:txBody>
                  <a:tcPr marL="12698" marR="12698"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89610">
                <a:tc>
                  <a:txBody>
                    <a:bodyPr/>
                    <a:lstStyle/>
                    <a:p>
                      <a:pPr algn="ctr" fontAlgn="ctr">
                        <a:spcAft>
                          <a:spcPts val="0"/>
                        </a:spcAft>
                      </a:pPr>
                      <a:r>
                        <a:rPr lang="en-US" sz="1865" b="1" kern="1200" dirty="0">
                          <a:solidFill>
                            <a:schemeClr val="tx1"/>
                          </a:solidFill>
                          <a:latin typeface="微软雅黑" panose="020B0503020204020204" charset="-122"/>
                          <a:ea typeface="微软雅黑" panose="020B0503020204020204" charset="-122"/>
                          <a:cs typeface="Arial" panose="020B0604020202020204"/>
                        </a:rPr>
                        <a:t>2</a:t>
                      </a:r>
                    </a:p>
                  </a:txBody>
                  <a:tcPr marL="12698" marR="12698"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ctr">
                        <a:spcAft>
                          <a:spcPts val="0"/>
                        </a:spcAft>
                      </a:pPr>
                      <a:r>
                        <a:rPr lang="zh-CN" sz="1865" b="1" kern="1200" dirty="0">
                          <a:solidFill>
                            <a:schemeClr val="tx1"/>
                          </a:solidFill>
                          <a:latin typeface="Calibri" panose="020F0502020204030204"/>
                          <a:ea typeface="微软雅黑" panose="020B0503020204020204" charset="-122"/>
                          <a:cs typeface="Arial" panose="020B0604020202020204"/>
                        </a:rPr>
                        <a:t>乙 </a:t>
                      </a:r>
                    </a:p>
                  </a:txBody>
                  <a:tcPr marL="12698" marR="12698"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ctr">
                        <a:spcAft>
                          <a:spcPts val="0"/>
                        </a:spcAft>
                      </a:pPr>
                      <a:r>
                        <a:rPr lang="en-US" sz="1865" b="1" kern="1200" dirty="0">
                          <a:solidFill>
                            <a:schemeClr val="tx1"/>
                          </a:solidFill>
                          <a:latin typeface="微软雅黑" panose="020B0503020204020204" charset="-122"/>
                          <a:ea typeface="微软雅黑" panose="020B0503020204020204" charset="-122"/>
                          <a:cs typeface="Arial" panose="020B0604020202020204"/>
                        </a:rPr>
                        <a:t>****</a:t>
                      </a:r>
                    </a:p>
                  </a:txBody>
                  <a:tcPr marL="12698" marR="12698"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ctr">
                        <a:spcAft>
                          <a:spcPts val="0"/>
                        </a:spcAft>
                      </a:pPr>
                      <a:r>
                        <a:rPr lang="zh-CN" sz="1865" b="1" kern="1200" dirty="0">
                          <a:solidFill>
                            <a:schemeClr val="tx1"/>
                          </a:solidFill>
                          <a:latin typeface="Calibri" panose="020F0502020204030204"/>
                          <a:ea typeface="微软雅黑" panose="020B0503020204020204" charset="-122"/>
                          <a:cs typeface="Arial" panose="020B0604020202020204"/>
                        </a:rPr>
                        <a:t>研发部</a:t>
                      </a:r>
                    </a:p>
                  </a:txBody>
                  <a:tcPr marL="12698" marR="12698"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ctr">
                        <a:spcAft>
                          <a:spcPts val="0"/>
                        </a:spcAft>
                      </a:pPr>
                      <a:r>
                        <a:rPr lang="en-US" sz="1865" b="1" kern="1200" dirty="0">
                          <a:solidFill>
                            <a:schemeClr val="tx1"/>
                          </a:solidFill>
                          <a:latin typeface="微软雅黑" panose="020B0503020204020204" charset="-122"/>
                          <a:ea typeface="微软雅黑" panose="020B0503020204020204" charset="-122"/>
                          <a:cs typeface="Arial" panose="020B0604020202020204"/>
                        </a:rPr>
                        <a:t>20**-**-**</a:t>
                      </a:r>
                    </a:p>
                  </a:txBody>
                  <a:tcPr marL="12698" marR="12698"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ctr">
                        <a:spcAft>
                          <a:spcPts val="0"/>
                        </a:spcAft>
                      </a:pPr>
                      <a:r>
                        <a:rPr lang="en-US" sz="1865" b="1" kern="1200" dirty="0">
                          <a:solidFill>
                            <a:schemeClr val="tx1"/>
                          </a:solidFill>
                          <a:latin typeface="微软雅黑" panose="020B0503020204020204" charset="-122"/>
                          <a:ea typeface="微软雅黑" panose="020B0503020204020204" charset="-122"/>
                          <a:cs typeface="Arial" panose="020B0604020202020204"/>
                        </a:rPr>
                        <a:t>10</a:t>
                      </a:r>
                    </a:p>
                  </a:txBody>
                  <a:tcPr marL="12698" marR="12698"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l" fontAlgn="ctr">
                        <a:spcAft>
                          <a:spcPts val="0"/>
                        </a:spcAft>
                      </a:pPr>
                      <a:r>
                        <a:rPr lang="en-US" sz="1865" b="1" kern="1200" dirty="0">
                          <a:solidFill>
                            <a:schemeClr val="tx1"/>
                          </a:solidFill>
                          <a:latin typeface="微软雅黑" panose="020B0503020204020204" charset="-122"/>
                          <a:ea typeface="微软雅黑" panose="020B0503020204020204" charset="-122"/>
                          <a:cs typeface="Arial" panose="020B0604020202020204"/>
                        </a:rPr>
                        <a:t>150,000.00 </a:t>
                      </a:r>
                    </a:p>
                  </a:txBody>
                  <a:tcPr marL="12698" marR="12698"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ctr">
                        <a:spcAft>
                          <a:spcPts val="0"/>
                        </a:spcAft>
                      </a:pPr>
                      <a:r>
                        <a:rPr lang="en-US" sz="1865" b="1" kern="1200" dirty="0">
                          <a:solidFill>
                            <a:schemeClr val="tx1"/>
                          </a:solidFill>
                          <a:latin typeface="微软雅黑" panose="020B0503020204020204" charset="-122"/>
                          <a:ea typeface="微软雅黑" panose="020B0503020204020204" charset="-122"/>
                          <a:cs typeface="Arial" panose="020B0604020202020204"/>
                        </a:rPr>
                        <a:t>5%</a:t>
                      </a:r>
                    </a:p>
                  </a:txBody>
                  <a:tcPr marL="12698" marR="12698"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l" fontAlgn="ctr">
                        <a:spcAft>
                          <a:spcPts val="0"/>
                        </a:spcAft>
                      </a:pPr>
                      <a:r>
                        <a:rPr lang="en-US" sz="1865" b="1" kern="1200" dirty="0">
                          <a:solidFill>
                            <a:schemeClr val="tx1"/>
                          </a:solidFill>
                          <a:latin typeface="微软雅黑" panose="020B0503020204020204" charset="-122"/>
                          <a:ea typeface="微软雅黑" panose="020B0503020204020204" charset="-122"/>
                          <a:cs typeface="Arial" panose="020B0604020202020204"/>
                        </a:rPr>
                        <a:t> 1,187.50 </a:t>
                      </a:r>
                    </a:p>
                  </a:txBody>
                  <a:tcPr marL="12698" marR="12698"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l" fontAlgn="ctr">
                        <a:spcAft>
                          <a:spcPts val="0"/>
                        </a:spcAft>
                      </a:pPr>
                      <a:r>
                        <a:rPr lang="en-US" sz="1865" b="1" kern="1200" dirty="0">
                          <a:solidFill>
                            <a:schemeClr val="tx1"/>
                          </a:solidFill>
                          <a:latin typeface="微软雅黑" panose="020B0503020204020204" charset="-122"/>
                          <a:ea typeface="微软雅黑" panose="020B0503020204020204" charset="-122"/>
                          <a:cs typeface="Arial" panose="020B0604020202020204"/>
                        </a:rPr>
                        <a:t> 17,812.50 </a:t>
                      </a:r>
                    </a:p>
                  </a:txBody>
                  <a:tcPr marL="12698" marR="12698"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l" fontAlgn="ctr">
                        <a:spcAft>
                          <a:spcPts val="0"/>
                        </a:spcAft>
                      </a:pPr>
                      <a:r>
                        <a:rPr lang="en-US" sz="1865" b="1" kern="1200" dirty="0">
                          <a:solidFill>
                            <a:schemeClr val="tx1"/>
                          </a:solidFill>
                          <a:latin typeface="微软雅黑" panose="020B0503020204020204" charset="-122"/>
                          <a:ea typeface="微软雅黑" panose="020B0503020204020204" charset="-122"/>
                          <a:cs typeface="Arial" panose="020B0604020202020204"/>
                        </a:rPr>
                        <a:t> 132,187.50 </a:t>
                      </a:r>
                    </a:p>
                  </a:txBody>
                  <a:tcPr marL="12698" marR="12698"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89610">
                <a:tc>
                  <a:txBody>
                    <a:bodyPr/>
                    <a:lstStyle/>
                    <a:p>
                      <a:pPr algn="ctr" fontAlgn="ctr">
                        <a:spcAft>
                          <a:spcPts val="0"/>
                        </a:spcAft>
                      </a:pPr>
                      <a:r>
                        <a:rPr lang="en-US" sz="1865" b="1" kern="1200" dirty="0">
                          <a:solidFill>
                            <a:schemeClr val="tx1"/>
                          </a:solidFill>
                          <a:latin typeface="微软雅黑" panose="020B0503020204020204" charset="-122"/>
                          <a:ea typeface="微软雅黑" panose="020B0503020204020204" charset="-122"/>
                          <a:cs typeface="Arial" panose="020B0604020202020204"/>
                        </a:rPr>
                        <a:t>3</a:t>
                      </a:r>
                    </a:p>
                  </a:txBody>
                  <a:tcPr marL="12698" marR="12698"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ctr">
                        <a:spcAft>
                          <a:spcPts val="0"/>
                        </a:spcAft>
                      </a:pPr>
                      <a:r>
                        <a:rPr lang="zh-CN" sz="1865" b="1" kern="1200" dirty="0">
                          <a:solidFill>
                            <a:schemeClr val="tx1"/>
                          </a:solidFill>
                          <a:latin typeface="Calibri" panose="020F0502020204030204"/>
                          <a:ea typeface="微软雅黑" panose="020B0503020204020204" charset="-122"/>
                          <a:cs typeface="Arial" panose="020B0604020202020204"/>
                        </a:rPr>
                        <a:t>丙 </a:t>
                      </a:r>
                    </a:p>
                  </a:txBody>
                  <a:tcPr marL="12698" marR="12698"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ctr">
                        <a:spcAft>
                          <a:spcPts val="0"/>
                        </a:spcAft>
                      </a:pPr>
                      <a:r>
                        <a:rPr lang="en-US" sz="1865" b="1" kern="1200" dirty="0">
                          <a:solidFill>
                            <a:schemeClr val="tx1"/>
                          </a:solidFill>
                          <a:latin typeface="微软雅黑" panose="020B0503020204020204" charset="-122"/>
                          <a:ea typeface="微软雅黑" panose="020B0503020204020204" charset="-122"/>
                          <a:cs typeface="Arial" panose="020B0604020202020204"/>
                        </a:rPr>
                        <a:t>****</a:t>
                      </a:r>
                    </a:p>
                  </a:txBody>
                  <a:tcPr marL="12698" marR="12698"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ctr">
                        <a:spcAft>
                          <a:spcPts val="0"/>
                        </a:spcAft>
                      </a:pPr>
                      <a:r>
                        <a:rPr lang="zh-CN" sz="1865" b="1" kern="1200" dirty="0">
                          <a:solidFill>
                            <a:schemeClr val="tx1"/>
                          </a:solidFill>
                          <a:latin typeface="Calibri" panose="020F0502020204030204"/>
                          <a:ea typeface="微软雅黑" panose="020B0503020204020204" charset="-122"/>
                          <a:cs typeface="Arial" panose="020B0604020202020204"/>
                        </a:rPr>
                        <a:t>研发部</a:t>
                      </a:r>
                    </a:p>
                  </a:txBody>
                  <a:tcPr marL="12698" marR="12698"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ctr">
                        <a:spcAft>
                          <a:spcPts val="0"/>
                        </a:spcAft>
                      </a:pPr>
                      <a:r>
                        <a:rPr lang="en-US" sz="1865" b="1" kern="1200" dirty="0">
                          <a:solidFill>
                            <a:schemeClr val="tx1"/>
                          </a:solidFill>
                          <a:latin typeface="微软雅黑" panose="020B0503020204020204" charset="-122"/>
                          <a:ea typeface="微软雅黑" panose="020B0503020204020204" charset="-122"/>
                          <a:cs typeface="Arial" panose="020B0604020202020204"/>
                        </a:rPr>
                        <a:t>20**-**-**</a:t>
                      </a:r>
                    </a:p>
                  </a:txBody>
                  <a:tcPr marL="12698" marR="12698"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ctr">
                        <a:spcAft>
                          <a:spcPts val="0"/>
                        </a:spcAft>
                      </a:pPr>
                      <a:r>
                        <a:rPr lang="en-US" sz="1865" b="1" kern="1200" dirty="0">
                          <a:solidFill>
                            <a:schemeClr val="tx1"/>
                          </a:solidFill>
                          <a:latin typeface="微软雅黑" panose="020B0503020204020204" charset="-122"/>
                          <a:ea typeface="微软雅黑" panose="020B0503020204020204" charset="-122"/>
                          <a:cs typeface="Arial" panose="020B0604020202020204"/>
                        </a:rPr>
                        <a:t>5</a:t>
                      </a:r>
                    </a:p>
                  </a:txBody>
                  <a:tcPr marL="12698" marR="12698"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l" fontAlgn="ctr">
                        <a:spcAft>
                          <a:spcPts val="0"/>
                        </a:spcAft>
                      </a:pPr>
                      <a:r>
                        <a:rPr lang="en-US" sz="1865" b="1" kern="1200" dirty="0">
                          <a:solidFill>
                            <a:schemeClr val="tx1"/>
                          </a:solidFill>
                          <a:latin typeface="微软雅黑" panose="020B0503020204020204" charset="-122"/>
                          <a:ea typeface="微软雅黑" panose="020B0503020204020204" charset="-122"/>
                          <a:cs typeface="Arial" panose="020B0604020202020204"/>
                        </a:rPr>
                        <a:t>100,000.00 </a:t>
                      </a:r>
                    </a:p>
                  </a:txBody>
                  <a:tcPr marL="12698" marR="12698"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ctr">
                        <a:spcAft>
                          <a:spcPts val="0"/>
                        </a:spcAft>
                      </a:pPr>
                      <a:r>
                        <a:rPr lang="en-US" sz="1865" b="1" kern="1200" dirty="0">
                          <a:solidFill>
                            <a:schemeClr val="tx1"/>
                          </a:solidFill>
                          <a:latin typeface="微软雅黑" panose="020B0503020204020204" charset="-122"/>
                          <a:ea typeface="微软雅黑" panose="020B0503020204020204" charset="-122"/>
                          <a:cs typeface="Arial" panose="020B0604020202020204"/>
                        </a:rPr>
                        <a:t>5%</a:t>
                      </a:r>
                    </a:p>
                  </a:txBody>
                  <a:tcPr marL="12698" marR="12698"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l" fontAlgn="ctr">
                        <a:spcAft>
                          <a:spcPts val="0"/>
                        </a:spcAft>
                      </a:pPr>
                      <a:r>
                        <a:rPr lang="en-US" sz="1865" b="1" kern="1200" dirty="0">
                          <a:solidFill>
                            <a:schemeClr val="tx1"/>
                          </a:solidFill>
                          <a:latin typeface="微软雅黑" panose="020B0503020204020204" charset="-122"/>
                          <a:ea typeface="微软雅黑" panose="020B0503020204020204" charset="-122"/>
                          <a:cs typeface="Arial" panose="020B0604020202020204"/>
                        </a:rPr>
                        <a:t> 1,583.33 </a:t>
                      </a:r>
                    </a:p>
                  </a:txBody>
                  <a:tcPr marL="12698" marR="12698"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l" fontAlgn="ctr">
                        <a:spcAft>
                          <a:spcPts val="0"/>
                        </a:spcAft>
                      </a:pPr>
                      <a:r>
                        <a:rPr lang="en-US" sz="1865" b="1" kern="1200" dirty="0">
                          <a:solidFill>
                            <a:schemeClr val="tx1"/>
                          </a:solidFill>
                          <a:latin typeface="微软雅黑" panose="020B0503020204020204" charset="-122"/>
                          <a:ea typeface="微软雅黑" panose="020B0503020204020204" charset="-122"/>
                          <a:cs typeface="Arial" panose="020B0604020202020204"/>
                        </a:rPr>
                        <a:t> 12,666.67 </a:t>
                      </a:r>
                    </a:p>
                  </a:txBody>
                  <a:tcPr marL="12698" marR="12698"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l" fontAlgn="ctr">
                        <a:spcAft>
                          <a:spcPts val="0"/>
                        </a:spcAft>
                      </a:pPr>
                      <a:r>
                        <a:rPr lang="en-US" sz="1865" b="1" kern="1200" dirty="0">
                          <a:solidFill>
                            <a:schemeClr val="tx1"/>
                          </a:solidFill>
                          <a:latin typeface="微软雅黑" panose="020B0503020204020204" charset="-122"/>
                          <a:ea typeface="微软雅黑" panose="020B0503020204020204" charset="-122"/>
                          <a:cs typeface="Arial" panose="020B0604020202020204"/>
                        </a:rPr>
                        <a:t>  87,333.33 </a:t>
                      </a:r>
                    </a:p>
                  </a:txBody>
                  <a:tcPr marL="12698" marR="12698"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97180">
                <a:tc>
                  <a:txBody>
                    <a:bodyPr/>
                    <a:lstStyle/>
                    <a:p>
                      <a:pPr algn="l" fontAlgn="ctr">
                        <a:spcAft>
                          <a:spcPts val="0"/>
                        </a:spcAft>
                      </a:pPr>
                      <a:r>
                        <a:rPr lang="zh-CN" sz="1865" b="1" kern="1200" dirty="0">
                          <a:solidFill>
                            <a:schemeClr val="tx1"/>
                          </a:solidFill>
                          <a:latin typeface="Calibri" panose="020F0502020204030204"/>
                          <a:ea typeface="微软雅黑" panose="020B0503020204020204" charset="-122"/>
                          <a:cs typeface="Arial" panose="020B0604020202020204"/>
                        </a:rPr>
                        <a:t>　</a:t>
                      </a:r>
                    </a:p>
                  </a:txBody>
                  <a:tcPr marL="12698" marR="12698"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l" fontAlgn="ctr">
                        <a:spcAft>
                          <a:spcPts val="0"/>
                        </a:spcAft>
                      </a:pPr>
                      <a:endParaRPr lang="zh-CN" sz="1400" kern="100" dirty="0">
                        <a:solidFill>
                          <a:schemeClr val="tx1"/>
                        </a:solidFill>
                        <a:latin typeface="Calibri" panose="020F0502020204030204"/>
                        <a:ea typeface="微软雅黑" panose="020B0503020204020204" charset="-122"/>
                        <a:cs typeface="Times New Roman" panose="02020603050405020304"/>
                      </a:endParaRPr>
                    </a:p>
                  </a:txBody>
                  <a:tcPr marL="12698" marR="12698"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l" fontAlgn="ctr">
                        <a:spcAft>
                          <a:spcPts val="0"/>
                        </a:spcAft>
                      </a:pPr>
                      <a:endParaRPr lang="zh-CN" sz="1400" kern="100" dirty="0">
                        <a:solidFill>
                          <a:schemeClr val="tx1"/>
                        </a:solidFill>
                        <a:latin typeface="Calibri" panose="020F0502020204030204"/>
                        <a:ea typeface="微软雅黑" panose="020B0503020204020204" charset="-122"/>
                        <a:cs typeface="Times New Roman" panose="02020603050405020304"/>
                      </a:endParaRPr>
                    </a:p>
                  </a:txBody>
                  <a:tcPr marL="12698" marR="12698"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l" fontAlgn="ctr">
                        <a:spcAft>
                          <a:spcPts val="0"/>
                        </a:spcAft>
                      </a:pPr>
                      <a:endParaRPr lang="zh-CN" sz="1400" kern="100" dirty="0">
                        <a:solidFill>
                          <a:schemeClr val="tx1"/>
                        </a:solidFill>
                        <a:latin typeface="Calibri" panose="020F0502020204030204"/>
                        <a:ea typeface="微软雅黑" panose="020B0503020204020204" charset="-122"/>
                        <a:cs typeface="Times New Roman" panose="02020603050405020304"/>
                      </a:endParaRPr>
                    </a:p>
                  </a:txBody>
                  <a:tcPr marL="12698" marR="12698"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l" fontAlgn="ctr">
                        <a:spcAft>
                          <a:spcPts val="0"/>
                        </a:spcAft>
                      </a:pPr>
                      <a:endParaRPr lang="zh-CN" sz="1400" kern="100" dirty="0">
                        <a:solidFill>
                          <a:schemeClr val="tx1"/>
                        </a:solidFill>
                        <a:latin typeface="Calibri" panose="020F0502020204030204"/>
                        <a:ea typeface="微软雅黑" panose="020B0503020204020204" charset="-122"/>
                        <a:cs typeface="Times New Roman" panose="02020603050405020304"/>
                      </a:endParaRPr>
                    </a:p>
                  </a:txBody>
                  <a:tcPr marL="12698" marR="12698"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l" fontAlgn="ctr">
                        <a:spcAft>
                          <a:spcPts val="0"/>
                        </a:spcAft>
                      </a:pPr>
                      <a:endParaRPr lang="zh-CN" sz="1400" kern="100" dirty="0">
                        <a:solidFill>
                          <a:schemeClr val="tx1"/>
                        </a:solidFill>
                        <a:latin typeface="Calibri" panose="020F0502020204030204"/>
                        <a:ea typeface="微软雅黑" panose="020B0503020204020204" charset="-122"/>
                        <a:cs typeface="Times New Roman" panose="02020603050405020304"/>
                      </a:endParaRPr>
                    </a:p>
                  </a:txBody>
                  <a:tcPr marL="12698" marR="12698"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l" fontAlgn="ctr">
                        <a:spcAft>
                          <a:spcPts val="0"/>
                        </a:spcAft>
                      </a:pPr>
                      <a:endParaRPr lang="zh-CN" sz="1400" kern="100" dirty="0">
                        <a:solidFill>
                          <a:schemeClr val="tx1"/>
                        </a:solidFill>
                        <a:latin typeface="Calibri" panose="020F0502020204030204"/>
                        <a:ea typeface="微软雅黑" panose="020B0503020204020204" charset="-122"/>
                        <a:cs typeface="Times New Roman" panose="02020603050405020304"/>
                      </a:endParaRPr>
                    </a:p>
                  </a:txBody>
                  <a:tcPr marL="12698" marR="12698"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l" fontAlgn="ctr">
                        <a:spcAft>
                          <a:spcPts val="0"/>
                        </a:spcAft>
                      </a:pPr>
                      <a:endParaRPr lang="zh-CN" sz="1400" kern="100" dirty="0">
                        <a:solidFill>
                          <a:schemeClr val="tx1"/>
                        </a:solidFill>
                        <a:latin typeface="Calibri" panose="020F0502020204030204"/>
                        <a:ea typeface="微软雅黑" panose="020B0503020204020204" charset="-122"/>
                        <a:cs typeface="Times New Roman" panose="02020603050405020304"/>
                      </a:endParaRPr>
                    </a:p>
                  </a:txBody>
                  <a:tcPr marL="12698" marR="12698"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l" fontAlgn="ctr">
                        <a:spcAft>
                          <a:spcPts val="0"/>
                        </a:spcAft>
                      </a:pPr>
                      <a:endParaRPr lang="zh-CN" sz="1400" kern="100" dirty="0">
                        <a:solidFill>
                          <a:schemeClr val="tx1"/>
                        </a:solidFill>
                        <a:latin typeface="Calibri" panose="020F0502020204030204"/>
                        <a:ea typeface="微软雅黑" panose="020B0503020204020204" charset="-122"/>
                        <a:cs typeface="Times New Roman" panose="02020603050405020304"/>
                      </a:endParaRPr>
                    </a:p>
                  </a:txBody>
                  <a:tcPr marL="12698" marR="12698"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l" fontAlgn="ctr">
                        <a:spcAft>
                          <a:spcPts val="0"/>
                        </a:spcAft>
                      </a:pPr>
                      <a:endParaRPr lang="zh-CN" sz="1400" kern="100" dirty="0">
                        <a:solidFill>
                          <a:schemeClr val="tx1"/>
                        </a:solidFill>
                        <a:latin typeface="Calibri" panose="020F0502020204030204"/>
                        <a:ea typeface="微软雅黑" panose="020B0503020204020204" charset="-122"/>
                        <a:cs typeface="Times New Roman" panose="02020603050405020304"/>
                      </a:endParaRPr>
                    </a:p>
                  </a:txBody>
                  <a:tcPr marL="12698" marR="12698"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l" fontAlgn="ctr">
                        <a:spcAft>
                          <a:spcPts val="0"/>
                        </a:spcAft>
                      </a:pPr>
                      <a:r>
                        <a:rPr lang="zh-CN" sz="1865" b="1" kern="1200" dirty="0">
                          <a:solidFill>
                            <a:schemeClr val="tx1"/>
                          </a:solidFill>
                          <a:latin typeface="Calibri" panose="020F0502020204030204"/>
                          <a:ea typeface="微软雅黑" panose="020B0503020204020204" charset="-122"/>
                          <a:cs typeface="Arial" panose="020B0604020202020204"/>
                        </a:rPr>
                        <a:t>　</a:t>
                      </a:r>
                    </a:p>
                  </a:txBody>
                  <a:tcPr marL="12698" marR="12698"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689610">
                <a:tc>
                  <a:txBody>
                    <a:bodyPr/>
                    <a:lstStyle/>
                    <a:p>
                      <a:pPr algn="ctr" fontAlgn="ctr">
                        <a:spcAft>
                          <a:spcPts val="0"/>
                        </a:spcAft>
                      </a:pPr>
                      <a:r>
                        <a:rPr lang="zh-CN" sz="1865" b="1" kern="1200" dirty="0">
                          <a:solidFill>
                            <a:schemeClr val="tx1"/>
                          </a:solidFill>
                          <a:latin typeface="Calibri" panose="020F0502020204030204"/>
                          <a:ea typeface="微软雅黑" panose="020B0503020204020204" charset="-122"/>
                          <a:cs typeface="Arial" panose="020B0604020202020204"/>
                        </a:rPr>
                        <a:t>合计</a:t>
                      </a:r>
                    </a:p>
                  </a:txBody>
                  <a:tcPr marL="12698" marR="12698"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l" fontAlgn="ctr">
                        <a:spcAft>
                          <a:spcPts val="0"/>
                        </a:spcAft>
                      </a:pPr>
                      <a:r>
                        <a:rPr lang="zh-CN" sz="1865" b="1" kern="1200" dirty="0">
                          <a:solidFill>
                            <a:schemeClr val="tx1"/>
                          </a:solidFill>
                          <a:latin typeface="Calibri" panose="020F0502020204030204"/>
                          <a:ea typeface="微软雅黑" panose="020B0503020204020204" charset="-122"/>
                          <a:cs typeface="Arial" panose="020B0604020202020204"/>
                        </a:rPr>
                        <a:t>　</a:t>
                      </a:r>
                    </a:p>
                  </a:txBody>
                  <a:tcPr marL="12698" marR="12698"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l" fontAlgn="ctr">
                        <a:spcAft>
                          <a:spcPts val="0"/>
                        </a:spcAft>
                      </a:pPr>
                      <a:r>
                        <a:rPr lang="zh-CN" sz="1865" b="1" kern="1200" dirty="0">
                          <a:solidFill>
                            <a:schemeClr val="tx1"/>
                          </a:solidFill>
                          <a:latin typeface="Calibri" panose="020F0502020204030204"/>
                          <a:ea typeface="微软雅黑" panose="020B0503020204020204" charset="-122"/>
                          <a:cs typeface="Arial" panose="020B0604020202020204"/>
                        </a:rPr>
                        <a:t>　</a:t>
                      </a:r>
                    </a:p>
                  </a:txBody>
                  <a:tcPr marL="12698" marR="12698"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l" fontAlgn="ctr">
                        <a:spcAft>
                          <a:spcPts val="0"/>
                        </a:spcAft>
                      </a:pPr>
                      <a:r>
                        <a:rPr lang="zh-CN" sz="1865" b="1" kern="1200" dirty="0">
                          <a:solidFill>
                            <a:schemeClr val="tx1"/>
                          </a:solidFill>
                          <a:latin typeface="Calibri" panose="020F0502020204030204"/>
                          <a:ea typeface="微软雅黑" panose="020B0503020204020204" charset="-122"/>
                          <a:cs typeface="Arial" panose="020B0604020202020204"/>
                        </a:rPr>
                        <a:t>　</a:t>
                      </a:r>
                    </a:p>
                  </a:txBody>
                  <a:tcPr marL="12698" marR="12698"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l" fontAlgn="ctr">
                        <a:spcAft>
                          <a:spcPts val="0"/>
                        </a:spcAft>
                      </a:pPr>
                      <a:r>
                        <a:rPr lang="zh-CN" sz="1865" b="1" kern="1200" dirty="0">
                          <a:solidFill>
                            <a:schemeClr val="tx1"/>
                          </a:solidFill>
                          <a:latin typeface="Calibri" panose="020F0502020204030204"/>
                          <a:ea typeface="微软雅黑" panose="020B0503020204020204" charset="-122"/>
                          <a:cs typeface="Arial" panose="020B0604020202020204"/>
                        </a:rPr>
                        <a:t>　</a:t>
                      </a:r>
                    </a:p>
                  </a:txBody>
                  <a:tcPr marL="12698" marR="12698"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l" fontAlgn="ctr">
                        <a:spcAft>
                          <a:spcPts val="0"/>
                        </a:spcAft>
                      </a:pPr>
                      <a:r>
                        <a:rPr lang="zh-CN" sz="1865" b="1" kern="1200" dirty="0">
                          <a:solidFill>
                            <a:schemeClr val="tx1"/>
                          </a:solidFill>
                          <a:latin typeface="Calibri" panose="020F0502020204030204"/>
                          <a:ea typeface="微软雅黑" panose="020B0503020204020204" charset="-122"/>
                          <a:cs typeface="Arial" panose="020B0604020202020204"/>
                        </a:rPr>
                        <a:t>　</a:t>
                      </a:r>
                    </a:p>
                  </a:txBody>
                  <a:tcPr marL="12698" marR="12698"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l" fontAlgn="ctr">
                        <a:spcAft>
                          <a:spcPts val="0"/>
                        </a:spcAft>
                      </a:pPr>
                      <a:r>
                        <a:rPr lang="en-US" sz="1865" b="1" kern="1200" dirty="0">
                          <a:solidFill>
                            <a:schemeClr val="tx1"/>
                          </a:solidFill>
                          <a:latin typeface="微软雅黑" panose="020B0503020204020204" charset="-122"/>
                          <a:ea typeface="微软雅黑" panose="020B0503020204020204" charset="-122"/>
                          <a:cs typeface="Arial" panose="020B0604020202020204"/>
                        </a:rPr>
                        <a:t>450,000.00 </a:t>
                      </a:r>
                    </a:p>
                  </a:txBody>
                  <a:tcPr marL="12698" marR="12698"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l" fontAlgn="ctr">
                        <a:spcAft>
                          <a:spcPts val="0"/>
                        </a:spcAft>
                      </a:pPr>
                      <a:r>
                        <a:rPr lang="zh-CN" sz="1865" b="1" kern="1200" dirty="0">
                          <a:solidFill>
                            <a:schemeClr val="tx1"/>
                          </a:solidFill>
                          <a:latin typeface="Calibri" panose="020F0502020204030204"/>
                          <a:ea typeface="微软雅黑" panose="020B0503020204020204" charset="-122"/>
                          <a:cs typeface="Arial" panose="020B0604020202020204"/>
                        </a:rPr>
                        <a:t>　</a:t>
                      </a:r>
                    </a:p>
                  </a:txBody>
                  <a:tcPr marL="12698" marR="12698"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l" fontAlgn="ctr">
                        <a:spcAft>
                          <a:spcPts val="0"/>
                        </a:spcAft>
                      </a:pPr>
                      <a:r>
                        <a:rPr lang="en-US" sz="1865" b="1" kern="1200" dirty="0">
                          <a:solidFill>
                            <a:schemeClr val="tx1"/>
                          </a:solidFill>
                          <a:latin typeface="微软雅黑" panose="020B0503020204020204" charset="-122"/>
                          <a:ea typeface="微软雅黑" panose="020B0503020204020204" charset="-122"/>
                          <a:cs typeface="Arial" panose="020B0604020202020204"/>
                        </a:rPr>
                        <a:t> 4,354.16 </a:t>
                      </a:r>
                    </a:p>
                  </a:txBody>
                  <a:tcPr marL="12698" marR="12698"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l" fontAlgn="ctr">
                        <a:spcAft>
                          <a:spcPts val="0"/>
                        </a:spcAft>
                      </a:pPr>
                      <a:r>
                        <a:rPr lang="en-US" sz="1865" b="1" kern="1200" dirty="0">
                          <a:solidFill>
                            <a:schemeClr val="tx1"/>
                          </a:solidFill>
                          <a:latin typeface="微软雅黑" panose="020B0503020204020204" charset="-122"/>
                          <a:ea typeface="微软雅黑" panose="020B0503020204020204" charset="-122"/>
                          <a:cs typeface="Arial" panose="020B0604020202020204"/>
                        </a:rPr>
                        <a:t>49,479.17 </a:t>
                      </a:r>
                    </a:p>
                  </a:txBody>
                  <a:tcPr marL="12698" marR="12698"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l" fontAlgn="ctr">
                        <a:spcAft>
                          <a:spcPts val="0"/>
                        </a:spcAft>
                      </a:pPr>
                      <a:r>
                        <a:rPr lang="en-US" sz="1865" b="1" kern="1200" dirty="0">
                          <a:solidFill>
                            <a:schemeClr val="tx1"/>
                          </a:solidFill>
                          <a:latin typeface="微软雅黑" panose="020B0503020204020204" charset="-122"/>
                          <a:ea typeface="微软雅黑" panose="020B0503020204020204" charset="-122"/>
                          <a:cs typeface="Arial" panose="020B0604020202020204"/>
                        </a:rPr>
                        <a:t> 400,520.83 </a:t>
                      </a:r>
                    </a:p>
                  </a:txBody>
                  <a:tcPr marL="12698" marR="12698"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 0" descr="https://kimi-img.moonshot.cn/pub/slides/slides_tmpl/image/25-09-04-11:33:06-d2sggsm1bb2p4onbon10.jpg"/>
          <p:cNvPicPr>
            <a:picLocks noChangeAspect="1"/>
          </p:cNvPicPr>
          <p:nvPr/>
        </p:nvPicPr>
        <p:blipFill>
          <a:blip r:embed="rId4"/>
          <a:stretch>
            <a:fillRect/>
          </a:stretch>
        </p:blipFill>
        <p:spPr>
          <a:xfrm>
            <a:off x="0" y="0"/>
            <a:ext cx="12192000" cy="6858000"/>
          </a:xfrm>
          <a:prstGeom prst="rect">
            <a:avLst/>
          </a:prstGeom>
        </p:spPr>
      </p:pic>
      <p:cxnSp>
        <p:nvCxnSpPr>
          <p:cNvPr id="5" name="直接连接符 4"/>
          <p:cNvCxnSpPr/>
          <p:nvPr/>
        </p:nvCxnSpPr>
        <p:spPr>
          <a:xfrm>
            <a:off x="2619061" y="644689"/>
            <a:ext cx="1920213" cy="0"/>
          </a:xfrm>
          <a:prstGeom prst="line">
            <a:avLst/>
          </a:prstGeom>
          <a:ln>
            <a:gradFill flip="none" rotWithShape="1">
              <a:gsLst>
                <a:gs pos="0">
                  <a:schemeClr val="bg1">
                    <a:alpha val="0"/>
                  </a:schemeClr>
                </a:gs>
                <a:gs pos="100000">
                  <a:schemeClr val="bg1"/>
                </a:gs>
              </a:gsLst>
              <a:lin ang="0" scaled="1"/>
              <a:tileRect/>
            </a:gradFill>
            <a:tailEnd type="oval"/>
          </a:ln>
        </p:spPr>
        <p:style>
          <a:lnRef idx="1">
            <a:schemeClr val="accent1"/>
          </a:lnRef>
          <a:fillRef idx="0">
            <a:schemeClr val="accent1"/>
          </a:fillRef>
          <a:effectRef idx="0">
            <a:schemeClr val="accent1"/>
          </a:effectRef>
          <a:fontRef idx="minor">
            <a:schemeClr val="tx1"/>
          </a:fontRef>
        </p:style>
      </p:cxnSp>
      <p:sp>
        <p:nvSpPr>
          <p:cNvPr id="14" name="TextBox 1"/>
          <p:cNvSpPr txBox="1"/>
          <p:nvPr/>
        </p:nvSpPr>
        <p:spPr>
          <a:xfrm>
            <a:off x="3579168" y="380600"/>
            <a:ext cx="4992555" cy="534035"/>
          </a:xfrm>
          <a:prstGeom prst="rect">
            <a:avLst/>
          </a:prstGeom>
          <a:noFill/>
        </p:spPr>
        <p:txBody>
          <a:bodyPr wrap="square" rtlCol="0">
            <a:spAutoFit/>
          </a:bodyPr>
          <a:lstStyle/>
          <a:p>
            <a:pPr algn="ctr" defTabSz="431800">
              <a:lnSpc>
                <a:spcPct val="120000"/>
              </a:lnSpc>
              <a:defRPr/>
            </a:pPr>
            <a:r>
              <a:rPr lang="zh-CN" sz="2400" b="1" kern="0" dirty="0">
                <a:solidFill>
                  <a:schemeClr val="tx1"/>
                </a:solidFill>
                <a:latin typeface="Arial" panose="020B0604020202020204" pitchFamily="34" charset="0"/>
                <a:ea typeface="微软雅黑" panose="020B0503020204020204" charset="-122"/>
                <a:cs typeface="Arial" panose="020B0604020202020204" pitchFamily="34" charset="0"/>
              </a:rPr>
              <a:t>研发费用</a:t>
            </a:r>
            <a:r>
              <a:rPr lang="en-US" altLang="zh-CN" sz="2400" b="1" kern="0" dirty="0">
                <a:solidFill>
                  <a:schemeClr val="tx1"/>
                </a:solidFill>
                <a:latin typeface="Arial" panose="020B0604020202020204" pitchFamily="34" charset="0"/>
                <a:ea typeface="微软雅黑" panose="020B0503020204020204" charset="-122"/>
                <a:cs typeface="Arial" panose="020B0604020202020204" pitchFamily="34" charset="0"/>
              </a:rPr>
              <a:t>“</a:t>
            </a:r>
            <a:r>
              <a:rPr lang="zh-CN" sz="2400" b="1" kern="0" dirty="0">
                <a:solidFill>
                  <a:schemeClr val="tx1"/>
                </a:solidFill>
                <a:latin typeface="Arial" panose="020B0604020202020204" pitchFamily="34" charset="0"/>
                <a:ea typeface="微软雅黑" panose="020B0503020204020204" charset="-122"/>
                <a:cs typeface="Arial" panose="020B0604020202020204" pitchFamily="34" charset="0"/>
              </a:rPr>
              <a:t>合理</a:t>
            </a:r>
            <a:r>
              <a:rPr lang="en-US" altLang="zh-CN" sz="2400" b="1" kern="0" dirty="0">
                <a:solidFill>
                  <a:schemeClr val="tx1"/>
                </a:solidFill>
                <a:latin typeface="Arial" panose="020B0604020202020204" pitchFamily="34" charset="0"/>
                <a:ea typeface="微软雅黑" panose="020B0503020204020204" charset="-122"/>
                <a:cs typeface="Arial" panose="020B0604020202020204" pitchFamily="34" charset="0"/>
              </a:rPr>
              <a:t>”</a:t>
            </a:r>
            <a:r>
              <a:rPr lang="zh-CN" sz="2400" b="1" kern="0" dirty="0">
                <a:solidFill>
                  <a:schemeClr val="tx1"/>
                </a:solidFill>
                <a:latin typeface="Arial" panose="020B0604020202020204" pitchFamily="34" charset="0"/>
                <a:ea typeface="微软雅黑" panose="020B0503020204020204" charset="-122"/>
                <a:cs typeface="Arial" panose="020B0604020202020204" pitchFamily="34" charset="0"/>
              </a:rPr>
              <a:t>归集</a:t>
            </a:r>
          </a:p>
        </p:txBody>
      </p:sp>
      <p:cxnSp>
        <p:nvCxnSpPr>
          <p:cNvPr id="15" name="直接连接符 14"/>
          <p:cNvCxnSpPr/>
          <p:nvPr/>
        </p:nvCxnSpPr>
        <p:spPr>
          <a:xfrm flipH="1">
            <a:off x="7611616" y="644689"/>
            <a:ext cx="1920213" cy="0"/>
          </a:xfrm>
          <a:prstGeom prst="line">
            <a:avLst/>
          </a:prstGeom>
          <a:ln>
            <a:gradFill flip="none" rotWithShape="1">
              <a:gsLst>
                <a:gs pos="0">
                  <a:schemeClr val="bg1">
                    <a:alpha val="0"/>
                  </a:schemeClr>
                </a:gs>
                <a:gs pos="100000">
                  <a:schemeClr val="bg1"/>
                </a:gs>
              </a:gsLst>
              <a:lin ang="0" scaled="1"/>
              <a:tileRect/>
            </a:gradFill>
            <a:tailEnd type="oval"/>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756073" y="1413087"/>
            <a:ext cx="10638367" cy="1051560"/>
          </a:xfrm>
          <a:prstGeom prst="rect">
            <a:avLst/>
          </a:prstGeom>
          <a:noFill/>
        </p:spPr>
        <p:txBody>
          <a:bodyPr wrap="square" rtlCol="0">
            <a:noAutofit/>
          </a:bodyPr>
          <a:lstStyle/>
          <a:p>
            <a:pPr algn="l"/>
            <a:r>
              <a:rPr lang="zh-CN" altLang="en-US" sz="2400" dirty="0">
                <a:solidFill>
                  <a:schemeClr val="tx1"/>
                </a:solidFill>
                <a:ea typeface="微软雅黑" panose="020B0503020204020204" charset="-122"/>
                <a:sym typeface="+mn-ea"/>
              </a:rPr>
              <a:t>折旧表</a:t>
            </a:r>
            <a:r>
              <a:rPr lang="en-US" altLang="zh-CN" sz="2400" dirty="0">
                <a:solidFill>
                  <a:schemeClr val="tx1"/>
                </a:solidFill>
                <a:ea typeface="微软雅黑" panose="020B0503020204020204" charset="-122"/>
                <a:sym typeface="+mn-ea"/>
              </a:rPr>
              <a:t>（</a:t>
            </a:r>
            <a:r>
              <a:rPr lang="en-US" altLang="zh-CN" sz="2400" dirty="0" err="1">
                <a:solidFill>
                  <a:schemeClr val="tx1"/>
                </a:solidFill>
                <a:ea typeface="微软雅黑" panose="020B0503020204020204" charset="-122"/>
                <a:sym typeface="+mn-ea"/>
              </a:rPr>
              <a:t>样表</a:t>
            </a:r>
            <a:r>
              <a:rPr lang="zh-CN" altLang="en-US" sz="2400" dirty="0">
                <a:solidFill>
                  <a:schemeClr val="tx1"/>
                </a:solidFill>
                <a:ea typeface="微软雅黑" panose="020B0503020204020204" charset="-122"/>
                <a:sym typeface="+mn-ea"/>
              </a:rPr>
              <a:t>六</a:t>
            </a:r>
            <a:r>
              <a:rPr lang="en-US" altLang="zh-CN" sz="2400" dirty="0">
                <a:solidFill>
                  <a:schemeClr val="tx1"/>
                </a:solidFill>
                <a:ea typeface="微软雅黑" panose="020B0503020204020204" charset="-122"/>
                <a:sym typeface="+mn-ea"/>
              </a:rPr>
              <a:t>）</a:t>
            </a:r>
          </a:p>
          <a:p>
            <a:pPr marL="0" lvl="0" indent="0" algn="ctr" eaLnBrk="1" hangingPunct="1">
              <a:spcBef>
                <a:spcPct val="0"/>
              </a:spcBef>
              <a:buClrTx/>
              <a:buFontTx/>
              <a:buNone/>
            </a:pPr>
            <a:r>
              <a:rPr lang="zh-CN" altLang="en-US" sz="2400" b="1" dirty="0">
                <a:solidFill>
                  <a:schemeClr val="tx1"/>
                </a:solidFill>
                <a:latin typeface="微软雅黑 Light" panose="020B0502040204020203" pitchFamily="34" charset="-122"/>
                <a:ea typeface="微软雅黑 Light" panose="020B0502040204020203" pitchFamily="34" charset="-122"/>
                <a:sym typeface="+mn-ea"/>
              </a:rPr>
              <a:t>计提固定资产折旧分配表</a:t>
            </a:r>
            <a:endParaRPr lang="en-US" altLang="zh-CN" sz="2400" dirty="0">
              <a:solidFill>
                <a:schemeClr val="tx1"/>
              </a:solidFill>
              <a:ea typeface="微软雅黑" panose="020B0503020204020204" charset="-122"/>
              <a:sym typeface="+mn-ea"/>
            </a:endParaRPr>
          </a:p>
          <a:p>
            <a:pPr algn="l">
              <a:lnSpc>
                <a:spcPct val="150000"/>
              </a:lnSpc>
            </a:pPr>
            <a:r>
              <a:rPr lang="en-US" altLang="zh-CN" sz="2400" dirty="0">
                <a:solidFill>
                  <a:schemeClr val="tx1"/>
                </a:solidFill>
                <a:ea typeface="微软雅黑" panose="020B0503020204020204" charset="-122"/>
                <a:sym typeface="+mn-ea"/>
              </a:rPr>
              <a:t>          </a:t>
            </a:r>
          </a:p>
          <a:p>
            <a:pPr algn="l"/>
            <a:endParaRPr lang="en-US" altLang="zh-CN" sz="2400" dirty="0">
              <a:solidFill>
                <a:schemeClr val="tx1"/>
              </a:solidFill>
              <a:ea typeface="微软雅黑" panose="020B0503020204020204" charset="-122"/>
              <a:sym typeface="+mn-ea"/>
            </a:endParaRPr>
          </a:p>
          <a:p>
            <a:pPr algn="l"/>
            <a:endParaRPr lang="en-US" altLang="zh-CN" sz="2400" dirty="0">
              <a:solidFill>
                <a:schemeClr val="tx1"/>
              </a:solidFill>
              <a:ea typeface="微软雅黑" panose="020B0503020204020204" charset="-122"/>
              <a:sym typeface="+mn-ea"/>
            </a:endParaRPr>
          </a:p>
        </p:txBody>
      </p:sp>
      <p:graphicFrame>
        <p:nvGraphicFramePr>
          <p:cNvPr id="4" name="表格 1"/>
          <p:cNvGraphicFramePr>
            <a:graphicFrameLocks noGrp="1"/>
          </p:cNvGraphicFramePr>
          <p:nvPr>
            <p:custDataLst>
              <p:tags r:id="rId1"/>
            </p:custDataLst>
          </p:nvPr>
        </p:nvGraphicFramePr>
        <p:xfrm>
          <a:off x="911860" y="2335107"/>
          <a:ext cx="10752455" cy="4070350"/>
        </p:xfrm>
        <a:graphic>
          <a:graphicData uri="http://schemas.openxmlformats.org/drawingml/2006/table">
            <a:tbl>
              <a:tblPr/>
              <a:tblGrid>
                <a:gridCol w="398145">
                  <a:extLst>
                    <a:ext uri="{9D8B030D-6E8A-4147-A177-3AD203B41FA5}">
                      <a16:colId xmlns:a16="http://schemas.microsoft.com/office/drawing/2014/main" val="20000"/>
                    </a:ext>
                  </a:extLst>
                </a:gridCol>
                <a:gridCol w="499110">
                  <a:extLst>
                    <a:ext uri="{9D8B030D-6E8A-4147-A177-3AD203B41FA5}">
                      <a16:colId xmlns:a16="http://schemas.microsoft.com/office/drawing/2014/main" val="20001"/>
                    </a:ext>
                  </a:extLst>
                </a:gridCol>
                <a:gridCol w="694690">
                  <a:extLst>
                    <a:ext uri="{9D8B030D-6E8A-4147-A177-3AD203B41FA5}">
                      <a16:colId xmlns:a16="http://schemas.microsoft.com/office/drawing/2014/main" val="20002"/>
                    </a:ext>
                  </a:extLst>
                </a:gridCol>
                <a:gridCol w="797560">
                  <a:extLst>
                    <a:ext uri="{9D8B030D-6E8A-4147-A177-3AD203B41FA5}">
                      <a16:colId xmlns:a16="http://schemas.microsoft.com/office/drawing/2014/main" val="20003"/>
                    </a:ext>
                  </a:extLst>
                </a:gridCol>
                <a:gridCol w="696595">
                  <a:extLst>
                    <a:ext uri="{9D8B030D-6E8A-4147-A177-3AD203B41FA5}">
                      <a16:colId xmlns:a16="http://schemas.microsoft.com/office/drawing/2014/main" val="20004"/>
                    </a:ext>
                  </a:extLst>
                </a:gridCol>
                <a:gridCol w="897255">
                  <a:extLst>
                    <a:ext uri="{9D8B030D-6E8A-4147-A177-3AD203B41FA5}">
                      <a16:colId xmlns:a16="http://schemas.microsoft.com/office/drawing/2014/main" val="20005"/>
                    </a:ext>
                  </a:extLst>
                </a:gridCol>
                <a:gridCol w="795020">
                  <a:extLst>
                    <a:ext uri="{9D8B030D-6E8A-4147-A177-3AD203B41FA5}">
                      <a16:colId xmlns:a16="http://schemas.microsoft.com/office/drawing/2014/main" val="20006"/>
                    </a:ext>
                  </a:extLst>
                </a:gridCol>
                <a:gridCol w="897255">
                  <a:extLst>
                    <a:ext uri="{9D8B030D-6E8A-4147-A177-3AD203B41FA5}">
                      <a16:colId xmlns:a16="http://schemas.microsoft.com/office/drawing/2014/main" val="20007"/>
                    </a:ext>
                  </a:extLst>
                </a:gridCol>
                <a:gridCol w="1196340">
                  <a:extLst>
                    <a:ext uri="{9D8B030D-6E8A-4147-A177-3AD203B41FA5}">
                      <a16:colId xmlns:a16="http://schemas.microsoft.com/office/drawing/2014/main" val="20008"/>
                    </a:ext>
                  </a:extLst>
                </a:gridCol>
                <a:gridCol w="1292860">
                  <a:extLst>
                    <a:ext uri="{9D8B030D-6E8A-4147-A177-3AD203B41FA5}">
                      <a16:colId xmlns:a16="http://schemas.microsoft.com/office/drawing/2014/main" val="20009"/>
                    </a:ext>
                  </a:extLst>
                </a:gridCol>
                <a:gridCol w="1295400">
                  <a:extLst>
                    <a:ext uri="{9D8B030D-6E8A-4147-A177-3AD203B41FA5}">
                      <a16:colId xmlns:a16="http://schemas.microsoft.com/office/drawing/2014/main" val="20010"/>
                    </a:ext>
                  </a:extLst>
                </a:gridCol>
                <a:gridCol w="1292225">
                  <a:extLst>
                    <a:ext uri="{9D8B030D-6E8A-4147-A177-3AD203B41FA5}">
                      <a16:colId xmlns:a16="http://schemas.microsoft.com/office/drawing/2014/main" val="20011"/>
                    </a:ext>
                  </a:extLst>
                </a:gridCol>
              </a:tblGrid>
              <a:tr h="598170">
                <a:tc rowSpan="2">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465" b="1" i="0" u="none" strike="noStrike" cap="none" normalizeH="0" baseline="0" dirty="0">
                          <a:ln>
                            <a:noFill/>
                          </a:ln>
                          <a:solidFill>
                            <a:schemeClr val="tx1"/>
                          </a:solidFill>
                          <a:effectLst/>
                          <a:latin typeface="Calibri" panose="020F0502020204030204" charset="0"/>
                          <a:ea typeface="微软雅黑" panose="020B0503020204020204" charset="-122"/>
                          <a:cs typeface="Arial" panose="020B0604020202020204" pitchFamily="34" charset="0"/>
                        </a:rPr>
                        <a:t>序号</a:t>
                      </a:r>
                    </a:p>
                  </a:txBody>
                  <a:tcPr marL="12698" marR="12698" marT="1270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alpha val="14000"/>
                      </a:srgbClr>
                    </a:solidFill>
                  </a:tcPr>
                </a:tc>
                <a:tc rowSpan="2">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465" b="1" i="0" u="none" strike="noStrike" cap="none" normalizeH="0" baseline="0" dirty="0">
                          <a:ln>
                            <a:noFill/>
                          </a:ln>
                          <a:solidFill>
                            <a:schemeClr val="tx1"/>
                          </a:solidFill>
                          <a:effectLst/>
                          <a:latin typeface="Calibri" panose="020F0502020204030204" charset="0"/>
                          <a:ea typeface="微软雅黑" panose="020B0503020204020204" charset="-122"/>
                          <a:cs typeface="Arial" panose="020B0604020202020204" pitchFamily="34" charset="0"/>
                        </a:rPr>
                        <a:t>设备名称</a:t>
                      </a:r>
                    </a:p>
                  </a:txBody>
                  <a:tcPr marL="12698" marR="12698" marT="1270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alpha val="14000"/>
                      </a:srgbClr>
                    </a:solidFill>
                  </a:tcPr>
                </a:tc>
                <a:tc rowSpan="2">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465" b="1" i="0" u="none" strike="noStrike" cap="none" normalizeH="0" baseline="0" dirty="0">
                          <a:ln>
                            <a:noFill/>
                          </a:ln>
                          <a:solidFill>
                            <a:schemeClr val="tx1"/>
                          </a:solidFill>
                          <a:effectLst/>
                          <a:latin typeface="Calibri" panose="020F0502020204030204" charset="0"/>
                          <a:ea typeface="微软雅黑" panose="020B0503020204020204" charset="-122"/>
                          <a:cs typeface="Arial" panose="020B0604020202020204" pitchFamily="34" charset="0"/>
                        </a:rPr>
                        <a:t>设备</a:t>
                      </a:r>
                      <a:endParaRPr kumimoji="0" lang="en-US" altLang="zh-CN" sz="1465" b="1" i="0" u="none" strike="noStrike" cap="none" normalizeH="0" baseline="0" dirty="0">
                        <a:ln>
                          <a:noFill/>
                        </a:ln>
                        <a:solidFill>
                          <a:schemeClr val="tx1"/>
                        </a:solidFill>
                        <a:effectLst/>
                        <a:latin typeface="Calibri" panose="020F0502020204030204" charset="0"/>
                        <a:ea typeface="微软雅黑" panose="020B0503020204020204" charset="-122"/>
                        <a:cs typeface="Arial" panose="020B0604020202020204" pitchFamily="34" charset="0"/>
                      </a:endParaRPr>
                    </a:p>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465" b="1" i="0" u="none" strike="noStrike" cap="none" normalizeH="0" baseline="0" dirty="0">
                          <a:ln>
                            <a:noFill/>
                          </a:ln>
                          <a:solidFill>
                            <a:schemeClr val="tx1"/>
                          </a:solidFill>
                          <a:effectLst/>
                          <a:latin typeface="Calibri" panose="020F0502020204030204" charset="0"/>
                          <a:ea typeface="微软雅黑" panose="020B0503020204020204" charset="-122"/>
                          <a:cs typeface="Arial" panose="020B0604020202020204" pitchFamily="34" charset="0"/>
                        </a:rPr>
                        <a:t>型号</a:t>
                      </a:r>
                    </a:p>
                  </a:txBody>
                  <a:tcPr marL="12698" marR="12698" marT="1270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alpha val="14000"/>
                      </a:srgbClr>
                    </a:solidFill>
                  </a:tcPr>
                </a:tc>
                <a:tc rowSpan="2">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465" b="1" i="0" u="none" strike="noStrike" cap="none" normalizeH="0" baseline="0" dirty="0">
                          <a:ln>
                            <a:noFill/>
                          </a:ln>
                          <a:solidFill>
                            <a:schemeClr val="tx1"/>
                          </a:solidFill>
                          <a:effectLst/>
                          <a:latin typeface="Calibri" panose="020F0502020204030204" charset="0"/>
                          <a:ea typeface="微软雅黑" panose="020B0503020204020204" charset="-122"/>
                          <a:cs typeface="Arial" panose="020B0604020202020204" pitchFamily="34" charset="0"/>
                        </a:rPr>
                        <a:t>使用</a:t>
                      </a:r>
                      <a:endParaRPr kumimoji="0" lang="en-US" altLang="zh-CN" sz="1465" b="1" i="0" u="none" strike="noStrike" cap="none" normalizeH="0" baseline="0" dirty="0">
                        <a:ln>
                          <a:noFill/>
                        </a:ln>
                        <a:solidFill>
                          <a:schemeClr val="tx1"/>
                        </a:solidFill>
                        <a:effectLst/>
                        <a:latin typeface="Calibri" panose="020F0502020204030204" charset="0"/>
                        <a:ea typeface="微软雅黑" panose="020B0503020204020204" charset="-122"/>
                        <a:cs typeface="Arial" panose="020B0604020202020204" pitchFamily="34" charset="0"/>
                      </a:endParaRPr>
                    </a:p>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465" b="1" i="0" u="none" strike="noStrike" cap="none" normalizeH="0" baseline="0" dirty="0">
                          <a:ln>
                            <a:noFill/>
                          </a:ln>
                          <a:solidFill>
                            <a:schemeClr val="tx1"/>
                          </a:solidFill>
                          <a:effectLst/>
                          <a:latin typeface="Calibri" panose="020F0502020204030204" charset="0"/>
                          <a:ea typeface="微软雅黑" panose="020B0503020204020204" charset="-122"/>
                          <a:cs typeface="Arial" panose="020B0604020202020204" pitchFamily="34" charset="0"/>
                        </a:rPr>
                        <a:t>部门</a:t>
                      </a:r>
                    </a:p>
                  </a:txBody>
                  <a:tcPr marL="12698" marR="12698" marT="1270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alpha val="14000"/>
                      </a:srgbClr>
                    </a:solidFill>
                  </a:tcPr>
                </a:tc>
                <a:tc rowSpan="2">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465" b="1" i="0" u="none" strike="noStrike" cap="none" normalizeH="0" baseline="0" dirty="0">
                          <a:ln>
                            <a:noFill/>
                          </a:ln>
                          <a:solidFill>
                            <a:schemeClr val="tx1"/>
                          </a:solidFill>
                          <a:effectLst/>
                          <a:latin typeface="Calibri" panose="020F0502020204030204" charset="0"/>
                          <a:ea typeface="微软雅黑" panose="020B0503020204020204" charset="-122"/>
                          <a:cs typeface="Arial" panose="020B0604020202020204" pitchFamily="34" charset="0"/>
                        </a:rPr>
                        <a:t>运行</a:t>
                      </a:r>
                      <a:endParaRPr kumimoji="0" lang="en-US" altLang="zh-CN" sz="1465" b="1" i="0" u="none" strike="noStrike" cap="none" normalizeH="0" baseline="0" dirty="0">
                        <a:ln>
                          <a:noFill/>
                        </a:ln>
                        <a:solidFill>
                          <a:schemeClr val="tx1"/>
                        </a:solidFill>
                        <a:effectLst/>
                        <a:latin typeface="Calibri" panose="020F0502020204030204" charset="0"/>
                        <a:ea typeface="微软雅黑" panose="020B0503020204020204" charset="-122"/>
                        <a:cs typeface="Arial" panose="020B0604020202020204" pitchFamily="34" charset="0"/>
                      </a:endParaRPr>
                    </a:p>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465" b="1" i="0" u="none" strike="noStrike" cap="none" normalizeH="0" baseline="0" dirty="0">
                          <a:ln>
                            <a:noFill/>
                          </a:ln>
                          <a:solidFill>
                            <a:schemeClr val="tx1"/>
                          </a:solidFill>
                          <a:effectLst/>
                          <a:latin typeface="Calibri" panose="020F0502020204030204" charset="0"/>
                          <a:ea typeface="微软雅黑" panose="020B0503020204020204" charset="-122"/>
                          <a:cs typeface="Arial" panose="020B0604020202020204" pitchFamily="34" charset="0"/>
                        </a:rPr>
                        <a:t>工时</a:t>
                      </a:r>
                    </a:p>
                  </a:txBody>
                  <a:tcPr marL="12698" marR="12698" marT="1270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alpha val="14000"/>
                      </a:srgbClr>
                    </a:solidFill>
                  </a:tcPr>
                </a:tc>
                <a:tc gridSpan="3">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465" b="1" i="0" u="none" strike="noStrike" cap="none" normalizeH="0" baseline="0" dirty="0">
                          <a:ln>
                            <a:noFill/>
                          </a:ln>
                          <a:solidFill>
                            <a:schemeClr val="tx1"/>
                          </a:solidFill>
                          <a:effectLst/>
                          <a:latin typeface="Calibri" panose="020F0502020204030204" charset="0"/>
                          <a:ea typeface="微软雅黑" panose="020B0503020204020204" charset="-122"/>
                          <a:cs typeface="Arial" panose="020B0604020202020204" pitchFamily="34" charset="0"/>
                        </a:rPr>
                        <a:t>各研发项目使用工时</a:t>
                      </a:r>
                    </a:p>
                  </a:txBody>
                  <a:tcPr marL="12698" marR="12698" marT="1270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alpha val="14000"/>
                      </a:srgbClr>
                    </a:solidFill>
                  </a:tcPr>
                </a:tc>
                <a:tc hMerge="1">
                  <a:txBody>
                    <a:bodyPr/>
                    <a:lstStyle/>
                    <a:p>
                      <a:endParaRPr lang="zh-CN"/>
                    </a:p>
                  </a:txBody>
                  <a:tcPr/>
                </a:tc>
                <a:tc hMerge="1">
                  <a:txBody>
                    <a:bodyPr/>
                    <a:lstStyle/>
                    <a:p>
                      <a:endParaRPr lang="zh-CN"/>
                    </a:p>
                  </a:txBody>
                  <a:tcPr/>
                </a:tc>
                <a:tc gridSpan="4">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465" b="1" i="0" u="none" strike="noStrike" cap="none" normalizeH="0" baseline="0" dirty="0">
                          <a:ln>
                            <a:noFill/>
                          </a:ln>
                          <a:solidFill>
                            <a:schemeClr val="tx1"/>
                          </a:solidFill>
                          <a:effectLst/>
                          <a:latin typeface="Calibri" panose="020F0502020204030204" charset="0"/>
                          <a:ea typeface="微软雅黑" panose="020B0503020204020204" charset="-122"/>
                          <a:cs typeface="Arial" panose="020B0604020202020204" pitchFamily="34" charset="0"/>
                        </a:rPr>
                        <a:t>各研发项目折旧分配金额</a:t>
                      </a:r>
                    </a:p>
                  </a:txBody>
                  <a:tcPr marL="12698" marR="12698" marT="1270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alpha val="14000"/>
                      </a:srgbClr>
                    </a:solidFill>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0"/>
                  </a:ext>
                </a:extLst>
              </a:tr>
              <a:tr h="519430">
                <a:tc vMerge="1">
                  <a:txBody>
                    <a:bodyPr/>
                    <a:lstStyle/>
                    <a:p>
                      <a:endParaRPr lang="zh-CN"/>
                    </a:p>
                  </a:txBody>
                  <a:tcPr/>
                </a:tc>
                <a:tc vMerge="1">
                  <a:txBody>
                    <a:bodyPr/>
                    <a:lstStyle/>
                    <a:p>
                      <a:endParaRPr lang="zh-CN"/>
                    </a:p>
                  </a:txBody>
                  <a:tcPr/>
                </a:tc>
                <a:tc vMerge="1">
                  <a:txBody>
                    <a:bodyPr/>
                    <a:lstStyle/>
                    <a:p>
                      <a:endParaRPr lang="zh-CN"/>
                    </a:p>
                  </a:txBody>
                  <a:tcPr/>
                </a:tc>
                <a:tc vMerge="1">
                  <a:txBody>
                    <a:bodyPr/>
                    <a:lstStyle/>
                    <a:p>
                      <a:endParaRPr lang="zh-CN"/>
                    </a:p>
                  </a:txBody>
                  <a:tcPr/>
                </a:tc>
                <a:tc vMerge="1">
                  <a:txBody>
                    <a:bodyPr/>
                    <a:lstStyle/>
                    <a:p>
                      <a:endParaRPr lang="zh-CN"/>
                    </a:p>
                  </a:txBody>
                  <a:tcPr/>
                </a:tc>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en-US" altLang="zh-CN" sz="1465" b="1"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A</a:t>
                      </a:r>
                      <a:r>
                        <a:rPr kumimoji="0" lang="zh-CN" altLang="en-US" sz="1465" b="1" i="0" u="none" strike="noStrike" cap="none" normalizeH="0" baseline="0" dirty="0">
                          <a:ln>
                            <a:noFill/>
                          </a:ln>
                          <a:solidFill>
                            <a:schemeClr val="tx1"/>
                          </a:solidFill>
                          <a:effectLst/>
                          <a:latin typeface="Calibri" panose="020F0502020204030204" charset="0"/>
                          <a:ea typeface="微软雅黑" panose="020B0503020204020204" charset="-122"/>
                          <a:cs typeface="Arial" panose="020B0604020202020204" pitchFamily="34" charset="0"/>
                        </a:rPr>
                        <a:t>项目</a:t>
                      </a:r>
                    </a:p>
                  </a:txBody>
                  <a:tcPr marL="12698" marR="12698" marT="1270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alpha val="14000"/>
                      </a:srgbClr>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en-US" altLang="zh-CN" sz="1465" b="1"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B</a:t>
                      </a:r>
                      <a:r>
                        <a:rPr kumimoji="0" lang="zh-CN" altLang="en-US" sz="1465" b="1" i="0" u="none" strike="noStrike" cap="none" normalizeH="0" baseline="0" dirty="0">
                          <a:ln>
                            <a:noFill/>
                          </a:ln>
                          <a:solidFill>
                            <a:schemeClr val="tx1"/>
                          </a:solidFill>
                          <a:effectLst/>
                          <a:latin typeface="Calibri" panose="020F0502020204030204" charset="0"/>
                          <a:ea typeface="微软雅黑" panose="020B0503020204020204" charset="-122"/>
                          <a:cs typeface="Arial" panose="020B0604020202020204" pitchFamily="34" charset="0"/>
                        </a:rPr>
                        <a:t>项目</a:t>
                      </a:r>
                    </a:p>
                  </a:txBody>
                  <a:tcPr marL="12698" marR="12698" marT="1270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alpha val="14000"/>
                      </a:srgbClr>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en-US" altLang="zh-CN" sz="1465" b="1"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C</a:t>
                      </a:r>
                      <a:r>
                        <a:rPr kumimoji="0" lang="zh-CN" altLang="en-US" sz="1465" b="1" i="0" u="none" strike="noStrike" cap="none" normalizeH="0" baseline="0" dirty="0">
                          <a:ln>
                            <a:noFill/>
                          </a:ln>
                          <a:solidFill>
                            <a:schemeClr val="tx1"/>
                          </a:solidFill>
                          <a:effectLst/>
                          <a:latin typeface="Calibri" panose="020F0502020204030204" charset="0"/>
                          <a:ea typeface="微软雅黑" panose="020B0503020204020204" charset="-122"/>
                          <a:cs typeface="Arial" panose="020B0604020202020204" pitchFamily="34" charset="0"/>
                        </a:rPr>
                        <a:t>项目</a:t>
                      </a:r>
                    </a:p>
                  </a:txBody>
                  <a:tcPr marL="12698" marR="12698" marT="1270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alpha val="14000"/>
                      </a:srgbClr>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en-US" altLang="zh-CN" sz="1465" b="1"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A</a:t>
                      </a:r>
                      <a:r>
                        <a:rPr kumimoji="0" lang="zh-CN" altLang="en-US" sz="1465" b="1" i="0" u="none" strike="noStrike" cap="none" normalizeH="0" baseline="0" dirty="0">
                          <a:ln>
                            <a:noFill/>
                          </a:ln>
                          <a:solidFill>
                            <a:schemeClr val="tx1"/>
                          </a:solidFill>
                          <a:effectLst/>
                          <a:latin typeface="Calibri" panose="020F0502020204030204" charset="0"/>
                          <a:ea typeface="微软雅黑" panose="020B0503020204020204" charset="-122"/>
                          <a:cs typeface="Arial" panose="020B0604020202020204" pitchFamily="34" charset="0"/>
                        </a:rPr>
                        <a:t>项目</a:t>
                      </a:r>
                    </a:p>
                  </a:txBody>
                  <a:tcPr marL="12698" marR="12698" marT="1270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alpha val="14000"/>
                      </a:srgbClr>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en-US" altLang="zh-CN" sz="1465" b="1"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B</a:t>
                      </a:r>
                      <a:r>
                        <a:rPr kumimoji="0" lang="zh-CN" altLang="en-US" sz="1465" b="1" i="0" u="none" strike="noStrike" cap="none" normalizeH="0" baseline="0" dirty="0">
                          <a:ln>
                            <a:noFill/>
                          </a:ln>
                          <a:solidFill>
                            <a:schemeClr val="tx1"/>
                          </a:solidFill>
                          <a:effectLst/>
                          <a:latin typeface="Calibri" panose="020F0502020204030204" charset="0"/>
                          <a:ea typeface="微软雅黑" panose="020B0503020204020204" charset="-122"/>
                          <a:cs typeface="Arial" panose="020B0604020202020204" pitchFamily="34" charset="0"/>
                        </a:rPr>
                        <a:t>项目</a:t>
                      </a:r>
                    </a:p>
                  </a:txBody>
                  <a:tcPr marL="12698" marR="12698" marT="1270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alpha val="14000"/>
                      </a:srgbClr>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en-US" altLang="zh-CN" sz="1465" b="1"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C</a:t>
                      </a:r>
                      <a:r>
                        <a:rPr kumimoji="0" lang="zh-CN" altLang="en-US" sz="1465" b="1" i="0" u="none" strike="noStrike" cap="none" normalizeH="0" baseline="0" dirty="0">
                          <a:ln>
                            <a:noFill/>
                          </a:ln>
                          <a:solidFill>
                            <a:schemeClr val="tx1"/>
                          </a:solidFill>
                          <a:effectLst/>
                          <a:latin typeface="Calibri" panose="020F0502020204030204" charset="0"/>
                          <a:ea typeface="微软雅黑" panose="020B0503020204020204" charset="-122"/>
                          <a:cs typeface="Arial" panose="020B0604020202020204" pitchFamily="34" charset="0"/>
                        </a:rPr>
                        <a:t>项目</a:t>
                      </a:r>
                    </a:p>
                  </a:txBody>
                  <a:tcPr marL="12698" marR="12698" marT="1270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alpha val="14000"/>
                      </a:srgbClr>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465" b="1" i="0" u="none" strike="noStrike" cap="none" normalizeH="0" baseline="0" dirty="0">
                          <a:ln>
                            <a:noFill/>
                          </a:ln>
                          <a:solidFill>
                            <a:schemeClr val="tx1"/>
                          </a:solidFill>
                          <a:effectLst/>
                          <a:latin typeface="Calibri" panose="020F0502020204030204" charset="0"/>
                          <a:ea typeface="微软雅黑" panose="020B0503020204020204" charset="-122"/>
                          <a:cs typeface="Arial" panose="020B0604020202020204" pitchFamily="34" charset="0"/>
                        </a:rPr>
                        <a:t>合计</a:t>
                      </a:r>
                    </a:p>
                  </a:txBody>
                  <a:tcPr marL="12698" marR="12698" marT="1270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alpha val="14000"/>
                      </a:srgbClr>
                    </a:solidFill>
                  </a:tcPr>
                </a:tc>
                <a:extLst>
                  <a:ext uri="{0D108BD9-81ED-4DB2-BD59-A6C34878D82A}">
                    <a16:rowId xmlns:a16="http://schemas.microsoft.com/office/drawing/2014/main" val="10001"/>
                  </a:ext>
                </a:extLst>
              </a:tr>
              <a:tr h="608330">
                <a:tc>
                  <a:txBody>
                    <a:bodyPr/>
                    <a:lstStyle/>
                    <a:p>
                      <a:pPr algn="ctr" fontAlgn="ctr">
                        <a:spcAft>
                          <a:spcPts val="0"/>
                        </a:spcAft>
                      </a:pPr>
                      <a:r>
                        <a:rPr lang="en-US" sz="1600" b="1" kern="1200" dirty="0">
                          <a:solidFill>
                            <a:schemeClr val="tx1"/>
                          </a:solidFill>
                          <a:latin typeface="微软雅黑" panose="020B0503020204020204" charset="-122"/>
                          <a:ea typeface="微软雅黑" panose="020B0503020204020204" charset="-122"/>
                          <a:cs typeface="Arial" panose="020B0604020202020204"/>
                        </a:rPr>
                        <a:t>1</a:t>
                      </a:r>
                    </a:p>
                  </a:txBody>
                  <a:tcPr marL="12698" marR="12698"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ctr">
                        <a:spcAft>
                          <a:spcPts val="0"/>
                        </a:spcAft>
                      </a:pPr>
                      <a:r>
                        <a:rPr lang="zh-CN" sz="1600" b="1" kern="1200" dirty="0">
                          <a:solidFill>
                            <a:schemeClr val="tx1"/>
                          </a:solidFill>
                          <a:latin typeface="Calibri" panose="020F0502020204030204"/>
                          <a:ea typeface="微软雅黑" panose="020B0503020204020204" charset="-122"/>
                          <a:cs typeface="Arial" panose="020B0604020202020204"/>
                        </a:rPr>
                        <a:t>甲</a:t>
                      </a:r>
                    </a:p>
                  </a:txBody>
                  <a:tcPr marL="12698" marR="12698"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ctr">
                        <a:spcAft>
                          <a:spcPts val="0"/>
                        </a:spcAft>
                      </a:pPr>
                      <a:r>
                        <a:rPr lang="en-US" sz="1600" b="1" kern="1200" dirty="0">
                          <a:solidFill>
                            <a:schemeClr val="tx1"/>
                          </a:solidFill>
                          <a:latin typeface="微软雅黑" panose="020B0503020204020204" charset="-122"/>
                          <a:ea typeface="微软雅黑" panose="020B0503020204020204" charset="-122"/>
                          <a:cs typeface="Arial" panose="020B0604020202020204"/>
                        </a:rPr>
                        <a:t>****</a:t>
                      </a:r>
                    </a:p>
                  </a:txBody>
                  <a:tcPr marL="12698" marR="12698"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ctr">
                        <a:spcAft>
                          <a:spcPts val="0"/>
                        </a:spcAft>
                      </a:pPr>
                      <a:r>
                        <a:rPr lang="zh-CN" sz="1600" b="1" kern="1200" dirty="0">
                          <a:solidFill>
                            <a:schemeClr val="tx1"/>
                          </a:solidFill>
                          <a:latin typeface="Calibri" panose="020F0502020204030204"/>
                          <a:ea typeface="微软雅黑" panose="020B0503020204020204" charset="-122"/>
                          <a:cs typeface="Arial" panose="020B0604020202020204"/>
                        </a:rPr>
                        <a:t>研发部</a:t>
                      </a:r>
                    </a:p>
                  </a:txBody>
                  <a:tcPr marL="12698" marR="12698"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ctr">
                        <a:spcAft>
                          <a:spcPts val="0"/>
                        </a:spcAft>
                      </a:pPr>
                      <a:r>
                        <a:rPr lang="en-US" sz="1600" b="1" kern="1200" dirty="0">
                          <a:solidFill>
                            <a:schemeClr val="tx1"/>
                          </a:solidFill>
                          <a:latin typeface="微软雅黑" panose="020B0503020204020204" charset="-122"/>
                          <a:ea typeface="微软雅黑" panose="020B0503020204020204" charset="-122"/>
                          <a:cs typeface="Arial" panose="020B0604020202020204"/>
                        </a:rPr>
                        <a:t>200</a:t>
                      </a:r>
                    </a:p>
                  </a:txBody>
                  <a:tcPr marL="12698" marR="12698"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ctr">
                        <a:spcAft>
                          <a:spcPts val="0"/>
                        </a:spcAft>
                      </a:pPr>
                      <a:r>
                        <a:rPr lang="en-US" sz="1600" b="1" kern="1200" dirty="0">
                          <a:solidFill>
                            <a:schemeClr val="tx1"/>
                          </a:solidFill>
                          <a:latin typeface="微软雅黑" panose="020B0503020204020204" charset="-122"/>
                          <a:ea typeface="微软雅黑" panose="020B0503020204020204" charset="-122"/>
                          <a:cs typeface="Arial" panose="020B0604020202020204"/>
                        </a:rPr>
                        <a:t>100</a:t>
                      </a:r>
                    </a:p>
                  </a:txBody>
                  <a:tcPr marL="12698" marR="12698"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ctr">
                        <a:spcAft>
                          <a:spcPts val="0"/>
                        </a:spcAft>
                      </a:pPr>
                      <a:r>
                        <a:rPr lang="en-US" sz="1600" b="1" kern="1200" dirty="0">
                          <a:solidFill>
                            <a:schemeClr val="tx1"/>
                          </a:solidFill>
                          <a:latin typeface="微软雅黑" panose="020B0503020204020204" charset="-122"/>
                          <a:ea typeface="微软雅黑" panose="020B0503020204020204" charset="-122"/>
                          <a:cs typeface="Arial" panose="020B0604020202020204"/>
                        </a:rPr>
                        <a:t>40</a:t>
                      </a:r>
                    </a:p>
                  </a:txBody>
                  <a:tcPr marL="12698" marR="12698"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ctr">
                        <a:spcAft>
                          <a:spcPts val="0"/>
                        </a:spcAft>
                      </a:pPr>
                      <a:r>
                        <a:rPr lang="en-US" sz="1600" b="1" kern="1200" dirty="0">
                          <a:solidFill>
                            <a:schemeClr val="tx1"/>
                          </a:solidFill>
                          <a:latin typeface="微软雅黑" panose="020B0503020204020204" charset="-122"/>
                          <a:ea typeface="微软雅黑" panose="020B0503020204020204" charset="-122"/>
                          <a:cs typeface="Arial" panose="020B0604020202020204"/>
                        </a:rPr>
                        <a:t>60</a:t>
                      </a:r>
                    </a:p>
                  </a:txBody>
                  <a:tcPr marL="12698" marR="12698"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l" fontAlgn="ctr">
                        <a:spcAft>
                          <a:spcPts val="0"/>
                        </a:spcAft>
                      </a:pPr>
                      <a:r>
                        <a:rPr lang="en-US" sz="1600" b="1" kern="1200" dirty="0">
                          <a:solidFill>
                            <a:schemeClr val="tx1"/>
                          </a:solidFill>
                          <a:latin typeface="微软雅黑" panose="020B0503020204020204" charset="-122"/>
                          <a:ea typeface="微软雅黑" panose="020B0503020204020204" charset="-122"/>
                          <a:cs typeface="Arial" panose="020B0604020202020204"/>
                        </a:rPr>
                        <a:t>   791.67 </a:t>
                      </a:r>
                    </a:p>
                  </a:txBody>
                  <a:tcPr marL="12698" marR="12698"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l" fontAlgn="ctr">
                        <a:spcAft>
                          <a:spcPts val="0"/>
                        </a:spcAft>
                      </a:pPr>
                      <a:r>
                        <a:rPr lang="en-US" sz="1600" b="1" kern="1200" dirty="0">
                          <a:solidFill>
                            <a:schemeClr val="tx1"/>
                          </a:solidFill>
                          <a:latin typeface="微软雅黑" panose="020B0503020204020204" charset="-122"/>
                          <a:ea typeface="微软雅黑" panose="020B0503020204020204" charset="-122"/>
                          <a:cs typeface="Arial" panose="020B0604020202020204"/>
                        </a:rPr>
                        <a:t>   316.67 </a:t>
                      </a:r>
                    </a:p>
                  </a:txBody>
                  <a:tcPr marL="12698" marR="12698"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l" fontAlgn="ctr">
                        <a:spcAft>
                          <a:spcPts val="0"/>
                        </a:spcAft>
                      </a:pPr>
                      <a:r>
                        <a:rPr lang="en-US" sz="1600" b="1" kern="1200" dirty="0">
                          <a:solidFill>
                            <a:schemeClr val="tx1"/>
                          </a:solidFill>
                          <a:latin typeface="微软雅黑" panose="020B0503020204020204" charset="-122"/>
                          <a:ea typeface="微软雅黑" panose="020B0503020204020204" charset="-122"/>
                          <a:cs typeface="Arial" panose="020B0604020202020204"/>
                        </a:rPr>
                        <a:t>   475.00 </a:t>
                      </a:r>
                    </a:p>
                  </a:txBody>
                  <a:tcPr marL="12698" marR="12698"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l" fontAlgn="ctr">
                        <a:spcAft>
                          <a:spcPts val="0"/>
                        </a:spcAft>
                      </a:pPr>
                      <a:r>
                        <a:rPr lang="en-US" sz="1600" b="1" kern="1200" dirty="0">
                          <a:solidFill>
                            <a:schemeClr val="tx1"/>
                          </a:solidFill>
                          <a:latin typeface="微软雅黑" panose="020B0503020204020204" charset="-122"/>
                          <a:ea typeface="微软雅黑" panose="020B0503020204020204" charset="-122"/>
                          <a:cs typeface="Arial" panose="020B0604020202020204"/>
                        </a:rPr>
                        <a:t>   1,583.33 </a:t>
                      </a:r>
                    </a:p>
                  </a:txBody>
                  <a:tcPr marL="12698" marR="12698"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08330">
                <a:tc>
                  <a:txBody>
                    <a:bodyPr/>
                    <a:lstStyle/>
                    <a:p>
                      <a:pPr algn="ctr" fontAlgn="ctr">
                        <a:spcAft>
                          <a:spcPts val="0"/>
                        </a:spcAft>
                      </a:pPr>
                      <a:r>
                        <a:rPr lang="en-US" sz="1600" b="1" kern="1200" dirty="0">
                          <a:solidFill>
                            <a:schemeClr val="tx1"/>
                          </a:solidFill>
                          <a:latin typeface="微软雅黑" panose="020B0503020204020204" charset="-122"/>
                          <a:ea typeface="微软雅黑" panose="020B0503020204020204" charset="-122"/>
                          <a:cs typeface="Arial" panose="020B0604020202020204"/>
                        </a:rPr>
                        <a:t>2</a:t>
                      </a:r>
                    </a:p>
                  </a:txBody>
                  <a:tcPr marL="12698" marR="12698"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ctr">
                        <a:spcAft>
                          <a:spcPts val="0"/>
                        </a:spcAft>
                      </a:pPr>
                      <a:r>
                        <a:rPr lang="zh-CN" sz="1600" b="1" kern="1200" dirty="0">
                          <a:solidFill>
                            <a:schemeClr val="tx1"/>
                          </a:solidFill>
                          <a:latin typeface="Calibri" panose="020F0502020204030204"/>
                          <a:ea typeface="微软雅黑" panose="020B0503020204020204" charset="-122"/>
                          <a:cs typeface="Arial" panose="020B0604020202020204"/>
                        </a:rPr>
                        <a:t>乙</a:t>
                      </a:r>
                    </a:p>
                  </a:txBody>
                  <a:tcPr marL="12698" marR="12698"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ctr">
                        <a:spcAft>
                          <a:spcPts val="0"/>
                        </a:spcAft>
                      </a:pPr>
                      <a:r>
                        <a:rPr lang="en-US" sz="1600" b="1" kern="1200" dirty="0">
                          <a:solidFill>
                            <a:schemeClr val="tx1"/>
                          </a:solidFill>
                          <a:latin typeface="微软雅黑" panose="020B0503020204020204" charset="-122"/>
                          <a:ea typeface="微软雅黑" panose="020B0503020204020204" charset="-122"/>
                          <a:cs typeface="Arial" panose="020B0604020202020204"/>
                        </a:rPr>
                        <a:t>****</a:t>
                      </a:r>
                    </a:p>
                  </a:txBody>
                  <a:tcPr marL="12698" marR="12698"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ctr">
                        <a:spcAft>
                          <a:spcPts val="0"/>
                        </a:spcAft>
                      </a:pPr>
                      <a:r>
                        <a:rPr lang="zh-CN" sz="1600" b="1" kern="1200" dirty="0">
                          <a:solidFill>
                            <a:schemeClr val="tx1"/>
                          </a:solidFill>
                          <a:latin typeface="Calibri" panose="020F0502020204030204"/>
                          <a:ea typeface="微软雅黑" panose="020B0503020204020204" charset="-122"/>
                          <a:cs typeface="Arial" panose="020B0604020202020204"/>
                        </a:rPr>
                        <a:t>研发部</a:t>
                      </a:r>
                    </a:p>
                  </a:txBody>
                  <a:tcPr marL="12698" marR="12698"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ctr">
                        <a:spcAft>
                          <a:spcPts val="0"/>
                        </a:spcAft>
                      </a:pPr>
                      <a:r>
                        <a:rPr lang="en-US" sz="1600" b="1" kern="1200" dirty="0">
                          <a:solidFill>
                            <a:schemeClr val="tx1"/>
                          </a:solidFill>
                          <a:latin typeface="微软雅黑" panose="020B0503020204020204" charset="-122"/>
                          <a:ea typeface="微软雅黑" panose="020B0503020204020204" charset="-122"/>
                          <a:cs typeface="Arial" panose="020B0604020202020204"/>
                        </a:rPr>
                        <a:t>400</a:t>
                      </a:r>
                    </a:p>
                  </a:txBody>
                  <a:tcPr marL="12698" marR="12698"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ctr">
                        <a:spcAft>
                          <a:spcPts val="0"/>
                        </a:spcAft>
                      </a:pPr>
                      <a:r>
                        <a:rPr lang="en-US" sz="1600" b="1" kern="1200" dirty="0">
                          <a:solidFill>
                            <a:schemeClr val="tx1"/>
                          </a:solidFill>
                          <a:latin typeface="微软雅黑" panose="020B0503020204020204" charset="-122"/>
                          <a:ea typeface="微软雅黑" panose="020B0503020204020204" charset="-122"/>
                          <a:cs typeface="Arial" panose="020B0604020202020204"/>
                        </a:rPr>
                        <a:t>100</a:t>
                      </a:r>
                    </a:p>
                  </a:txBody>
                  <a:tcPr marL="12698" marR="12698"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ctr">
                        <a:spcAft>
                          <a:spcPts val="0"/>
                        </a:spcAft>
                      </a:pPr>
                      <a:r>
                        <a:rPr lang="en-US" sz="1600" b="1" kern="1200" dirty="0">
                          <a:solidFill>
                            <a:schemeClr val="tx1"/>
                          </a:solidFill>
                          <a:latin typeface="微软雅黑" panose="020B0503020204020204" charset="-122"/>
                          <a:ea typeface="微软雅黑" panose="020B0503020204020204" charset="-122"/>
                          <a:cs typeface="Arial" panose="020B0604020202020204"/>
                        </a:rPr>
                        <a:t>200</a:t>
                      </a:r>
                    </a:p>
                  </a:txBody>
                  <a:tcPr marL="12698" marR="12698"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ctr">
                        <a:spcAft>
                          <a:spcPts val="0"/>
                        </a:spcAft>
                      </a:pPr>
                      <a:r>
                        <a:rPr lang="en-US" sz="1600" b="1" kern="1200" dirty="0">
                          <a:solidFill>
                            <a:schemeClr val="tx1"/>
                          </a:solidFill>
                          <a:latin typeface="微软雅黑" panose="020B0503020204020204" charset="-122"/>
                          <a:ea typeface="微软雅黑" panose="020B0503020204020204" charset="-122"/>
                          <a:cs typeface="Arial" panose="020B0604020202020204"/>
                        </a:rPr>
                        <a:t>100</a:t>
                      </a:r>
                    </a:p>
                  </a:txBody>
                  <a:tcPr marL="12698" marR="12698"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l" fontAlgn="ctr">
                        <a:spcAft>
                          <a:spcPts val="0"/>
                        </a:spcAft>
                      </a:pPr>
                      <a:r>
                        <a:rPr lang="en-US" sz="1600" b="1" kern="1200" dirty="0">
                          <a:solidFill>
                            <a:schemeClr val="tx1"/>
                          </a:solidFill>
                          <a:latin typeface="微软雅黑" panose="020B0503020204020204" charset="-122"/>
                          <a:ea typeface="微软雅黑" panose="020B0503020204020204" charset="-122"/>
                          <a:cs typeface="Arial" panose="020B0604020202020204"/>
                        </a:rPr>
                        <a:t>   296.88 </a:t>
                      </a:r>
                    </a:p>
                  </a:txBody>
                  <a:tcPr marL="12698" marR="12698"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l" fontAlgn="ctr">
                        <a:spcAft>
                          <a:spcPts val="0"/>
                        </a:spcAft>
                      </a:pPr>
                      <a:r>
                        <a:rPr lang="en-US" sz="1600" b="1" kern="1200" dirty="0">
                          <a:solidFill>
                            <a:schemeClr val="tx1"/>
                          </a:solidFill>
                          <a:latin typeface="微软雅黑" panose="020B0503020204020204" charset="-122"/>
                          <a:ea typeface="微软雅黑" panose="020B0503020204020204" charset="-122"/>
                          <a:cs typeface="Arial" panose="020B0604020202020204"/>
                        </a:rPr>
                        <a:t>   593.75 </a:t>
                      </a:r>
                    </a:p>
                  </a:txBody>
                  <a:tcPr marL="12698" marR="12698"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l" fontAlgn="ctr">
                        <a:spcAft>
                          <a:spcPts val="0"/>
                        </a:spcAft>
                      </a:pPr>
                      <a:r>
                        <a:rPr lang="en-US" sz="1600" b="1" kern="1200" dirty="0">
                          <a:solidFill>
                            <a:schemeClr val="tx1"/>
                          </a:solidFill>
                          <a:latin typeface="微软雅黑" panose="020B0503020204020204" charset="-122"/>
                          <a:ea typeface="微软雅黑" panose="020B0503020204020204" charset="-122"/>
                          <a:cs typeface="Arial" panose="020B0604020202020204"/>
                        </a:rPr>
                        <a:t>   296.88 </a:t>
                      </a:r>
                    </a:p>
                  </a:txBody>
                  <a:tcPr marL="12698" marR="12698"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l" fontAlgn="ctr">
                        <a:spcAft>
                          <a:spcPts val="0"/>
                        </a:spcAft>
                      </a:pPr>
                      <a:r>
                        <a:rPr lang="en-US" sz="1600" b="1" kern="1200" dirty="0">
                          <a:solidFill>
                            <a:schemeClr val="tx1"/>
                          </a:solidFill>
                          <a:latin typeface="微软雅黑" panose="020B0503020204020204" charset="-122"/>
                          <a:ea typeface="微软雅黑" panose="020B0503020204020204" charset="-122"/>
                          <a:cs typeface="Arial" panose="020B0604020202020204"/>
                        </a:rPr>
                        <a:t>   1,187.50 </a:t>
                      </a:r>
                    </a:p>
                  </a:txBody>
                  <a:tcPr marL="12698" marR="12698"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08330">
                <a:tc>
                  <a:txBody>
                    <a:bodyPr/>
                    <a:lstStyle/>
                    <a:p>
                      <a:pPr algn="ctr" fontAlgn="ctr">
                        <a:spcAft>
                          <a:spcPts val="0"/>
                        </a:spcAft>
                      </a:pPr>
                      <a:r>
                        <a:rPr lang="en-US" sz="1600" b="1" kern="1200" dirty="0">
                          <a:solidFill>
                            <a:schemeClr val="tx1"/>
                          </a:solidFill>
                          <a:latin typeface="微软雅黑" panose="020B0503020204020204" charset="-122"/>
                          <a:ea typeface="微软雅黑" panose="020B0503020204020204" charset="-122"/>
                          <a:cs typeface="Arial" panose="020B0604020202020204"/>
                        </a:rPr>
                        <a:t>3</a:t>
                      </a:r>
                    </a:p>
                  </a:txBody>
                  <a:tcPr marL="12698" marR="12698"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ctr">
                        <a:spcAft>
                          <a:spcPts val="0"/>
                        </a:spcAft>
                      </a:pPr>
                      <a:r>
                        <a:rPr lang="zh-CN" sz="1600" b="1" kern="1200" dirty="0">
                          <a:solidFill>
                            <a:schemeClr val="tx1"/>
                          </a:solidFill>
                          <a:latin typeface="Calibri" panose="020F0502020204030204"/>
                          <a:ea typeface="微软雅黑" panose="020B0503020204020204" charset="-122"/>
                          <a:cs typeface="Arial" panose="020B0604020202020204"/>
                        </a:rPr>
                        <a:t>丙</a:t>
                      </a:r>
                    </a:p>
                  </a:txBody>
                  <a:tcPr marL="12698" marR="12698"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ctr">
                        <a:spcAft>
                          <a:spcPts val="0"/>
                        </a:spcAft>
                      </a:pPr>
                      <a:r>
                        <a:rPr lang="en-US" sz="1600" b="1" kern="1200" dirty="0">
                          <a:solidFill>
                            <a:schemeClr val="tx1"/>
                          </a:solidFill>
                          <a:latin typeface="微软雅黑" panose="020B0503020204020204" charset="-122"/>
                          <a:ea typeface="微软雅黑" panose="020B0503020204020204" charset="-122"/>
                          <a:cs typeface="Arial" panose="020B0604020202020204"/>
                        </a:rPr>
                        <a:t>****</a:t>
                      </a:r>
                    </a:p>
                  </a:txBody>
                  <a:tcPr marL="12698" marR="12698"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ctr">
                        <a:spcAft>
                          <a:spcPts val="0"/>
                        </a:spcAft>
                      </a:pPr>
                      <a:r>
                        <a:rPr lang="zh-CN" sz="1600" b="1" kern="1200" dirty="0">
                          <a:solidFill>
                            <a:schemeClr val="tx1"/>
                          </a:solidFill>
                          <a:latin typeface="Calibri" panose="020F0502020204030204"/>
                          <a:ea typeface="微软雅黑" panose="020B0503020204020204" charset="-122"/>
                          <a:cs typeface="Arial" panose="020B0604020202020204"/>
                        </a:rPr>
                        <a:t>研发部</a:t>
                      </a:r>
                    </a:p>
                  </a:txBody>
                  <a:tcPr marL="12698" marR="12698"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ctr">
                        <a:spcAft>
                          <a:spcPts val="0"/>
                        </a:spcAft>
                      </a:pPr>
                      <a:r>
                        <a:rPr lang="en-US" sz="1600" b="1" kern="1200" dirty="0">
                          <a:solidFill>
                            <a:schemeClr val="tx1"/>
                          </a:solidFill>
                          <a:latin typeface="微软雅黑" panose="020B0503020204020204" charset="-122"/>
                          <a:ea typeface="微软雅黑" panose="020B0503020204020204" charset="-122"/>
                          <a:cs typeface="Arial" panose="020B0604020202020204"/>
                        </a:rPr>
                        <a:t>150</a:t>
                      </a:r>
                    </a:p>
                  </a:txBody>
                  <a:tcPr marL="12698" marR="12698"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ctr">
                        <a:spcAft>
                          <a:spcPts val="0"/>
                        </a:spcAft>
                      </a:pPr>
                      <a:r>
                        <a:rPr lang="en-US" sz="1600" b="1" kern="1200" dirty="0">
                          <a:solidFill>
                            <a:schemeClr val="tx1"/>
                          </a:solidFill>
                          <a:latin typeface="微软雅黑" panose="020B0503020204020204" charset="-122"/>
                          <a:ea typeface="微软雅黑" panose="020B0503020204020204" charset="-122"/>
                          <a:cs typeface="Arial" panose="020B0604020202020204"/>
                        </a:rPr>
                        <a:t>50</a:t>
                      </a:r>
                    </a:p>
                  </a:txBody>
                  <a:tcPr marL="12698" marR="12698"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ctr">
                        <a:spcAft>
                          <a:spcPts val="0"/>
                        </a:spcAft>
                      </a:pPr>
                      <a:r>
                        <a:rPr lang="en-US" sz="1600" b="1" kern="1200" dirty="0">
                          <a:solidFill>
                            <a:schemeClr val="tx1"/>
                          </a:solidFill>
                          <a:latin typeface="微软雅黑" panose="020B0503020204020204" charset="-122"/>
                          <a:ea typeface="微软雅黑" panose="020B0503020204020204" charset="-122"/>
                          <a:cs typeface="Arial" panose="020B0604020202020204"/>
                        </a:rPr>
                        <a:t>50</a:t>
                      </a:r>
                    </a:p>
                  </a:txBody>
                  <a:tcPr marL="12698" marR="12698"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ctr">
                        <a:spcAft>
                          <a:spcPts val="0"/>
                        </a:spcAft>
                      </a:pPr>
                      <a:r>
                        <a:rPr lang="en-US" sz="1600" b="1" kern="1200" dirty="0">
                          <a:solidFill>
                            <a:schemeClr val="tx1"/>
                          </a:solidFill>
                          <a:latin typeface="微软雅黑" panose="020B0503020204020204" charset="-122"/>
                          <a:ea typeface="微软雅黑" panose="020B0503020204020204" charset="-122"/>
                          <a:cs typeface="Arial" panose="020B0604020202020204"/>
                        </a:rPr>
                        <a:t>50</a:t>
                      </a:r>
                    </a:p>
                  </a:txBody>
                  <a:tcPr marL="12698" marR="12698"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l" fontAlgn="ctr">
                        <a:spcAft>
                          <a:spcPts val="0"/>
                        </a:spcAft>
                      </a:pPr>
                      <a:r>
                        <a:rPr lang="en-US" sz="1600" b="1" kern="1200" dirty="0">
                          <a:solidFill>
                            <a:schemeClr val="tx1"/>
                          </a:solidFill>
                          <a:latin typeface="微软雅黑" panose="020B0503020204020204" charset="-122"/>
                          <a:ea typeface="微软雅黑" panose="020B0503020204020204" charset="-122"/>
                          <a:cs typeface="Arial" panose="020B0604020202020204"/>
                        </a:rPr>
                        <a:t>   527.78 </a:t>
                      </a:r>
                    </a:p>
                  </a:txBody>
                  <a:tcPr marL="12698" marR="12698"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l" fontAlgn="ctr">
                        <a:spcAft>
                          <a:spcPts val="0"/>
                        </a:spcAft>
                      </a:pPr>
                      <a:r>
                        <a:rPr lang="en-US" sz="1600" b="1" kern="1200" dirty="0">
                          <a:solidFill>
                            <a:schemeClr val="tx1"/>
                          </a:solidFill>
                          <a:latin typeface="微软雅黑" panose="020B0503020204020204" charset="-122"/>
                          <a:ea typeface="微软雅黑" panose="020B0503020204020204" charset="-122"/>
                          <a:cs typeface="Arial" panose="020B0604020202020204"/>
                        </a:rPr>
                        <a:t>   527.78 </a:t>
                      </a:r>
                    </a:p>
                  </a:txBody>
                  <a:tcPr marL="12698" marR="12698"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l" fontAlgn="ctr">
                        <a:spcAft>
                          <a:spcPts val="0"/>
                        </a:spcAft>
                      </a:pPr>
                      <a:r>
                        <a:rPr lang="en-US" sz="1600" b="1" kern="1200" dirty="0">
                          <a:solidFill>
                            <a:schemeClr val="tx1"/>
                          </a:solidFill>
                          <a:latin typeface="微软雅黑" panose="020B0503020204020204" charset="-122"/>
                          <a:ea typeface="微软雅黑" panose="020B0503020204020204" charset="-122"/>
                          <a:cs typeface="Arial" panose="020B0604020202020204"/>
                        </a:rPr>
                        <a:t>   527.78 </a:t>
                      </a:r>
                    </a:p>
                  </a:txBody>
                  <a:tcPr marL="12698" marR="12698"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l" fontAlgn="ctr">
                        <a:spcAft>
                          <a:spcPts val="0"/>
                        </a:spcAft>
                      </a:pPr>
                      <a:r>
                        <a:rPr lang="en-US" sz="1600" b="1" kern="1200" dirty="0">
                          <a:solidFill>
                            <a:schemeClr val="tx1"/>
                          </a:solidFill>
                          <a:latin typeface="微软雅黑" panose="020B0503020204020204" charset="-122"/>
                          <a:ea typeface="微软雅黑" panose="020B0503020204020204" charset="-122"/>
                          <a:cs typeface="Arial" panose="020B0604020202020204"/>
                        </a:rPr>
                        <a:t>   1,583.33 </a:t>
                      </a:r>
                    </a:p>
                  </a:txBody>
                  <a:tcPr marL="12698" marR="12698"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19430">
                <a:tc>
                  <a:txBody>
                    <a:bodyPr/>
                    <a:lstStyle/>
                    <a:p>
                      <a:pPr algn="ctr" fontAlgn="ctr">
                        <a:spcAft>
                          <a:spcPts val="0"/>
                        </a:spcAft>
                      </a:pPr>
                      <a:r>
                        <a:rPr lang="zh-CN" sz="1600" b="1" kern="1200" dirty="0">
                          <a:solidFill>
                            <a:schemeClr val="tx1"/>
                          </a:solidFill>
                          <a:latin typeface="Calibri" panose="020F0502020204030204"/>
                          <a:ea typeface="微软雅黑" panose="020B0503020204020204" charset="-122"/>
                          <a:cs typeface="Arial" panose="020B0604020202020204"/>
                        </a:rPr>
                        <a:t>　</a:t>
                      </a:r>
                    </a:p>
                  </a:txBody>
                  <a:tcPr marL="12698" marR="12698"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ctr">
                        <a:spcAft>
                          <a:spcPts val="0"/>
                        </a:spcAft>
                      </a:pPr>
                      <a:r>
                        <a:rPr lang="zh-CN" sz="1600" b="1" kern="1200" dirty="0">
                          <a:solidFill>
                            <a:schemeClr val="tx1"/>
                          </a:solidFill>
                          <a:latin typeface="Calibri" panose="020F0502020204030204"/>
                          <a:ea typeface="微软雅黑" panose="020B0503020204020204" charset="-122"/>
                          <a:cs typeface="Arial" panose="020B0604020202020204"/>
                        </a:rPr>
                        <a:t>　</a:t>
                      </a:r>
                    </a:p>
                  </a:txBody>
                  <a:tcPr marL="12698" marR="12698"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ctr">
                        <a:spcAft>
                          <a:spcPts val="0"/>
                        </a:spcAft>
                      </a:pPr>
                      <a:r>
                        <a:rPr lang="zh-CN" sz="1600" b="1" kern="1200" dirty="0">
                          <a:solidFill>
                            <a:schemeClr val="tx1"/>
                          </a:solidFill>
                          <a:latin typeface="Calibri" panose="020F0502020204030204"/>
                          <a:ea typeface="微软雅黑" panose="020B0503020204020204" charset="-122"/>
                          <a:cs typeface="Arial" panose="020B0604020202020204"/>
                        </a:rPr>
                        <a:t>　</a:t>
                      </a:r>
                    </a:p>
                  </a:txBody>
                  <a:tcPr marL="12698" marR="12698"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ctr">
                        <a:spcAft>
                          <a:spcPts val="0"/>
                        </a:spcAft>
                      </a:pPr>
                      <a:r>
                        <a:rPr lang="zh-CN" sz="1600" b="1" kern="1200" dirty="0">
                          <a:solidFill>
                            <a:schemeClr val="tx1"/>
                          </a:solidFill>
                          <a:latin typeface="Calibri" panose="020F0502020204030204"/>
                          <a:ea typeface="微软雅黑" panose="020B0503020204020204" charset="-122"/>
                          <a:cs typeface="Arial" panose="020B0604020202020204"/>
                        </a:rPr>
                        <a:t>　</a:t>
                      </a:r>
                    </a:p>
                  </a:txBody>
                  <a:tcPr marL="12698" marR="12698"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ctr">
                        <a:spcAft>
                          <a:spcPts val="0"/>
                        </a:spcAft>
                      </a:pPr>
                      <a:r>
                        <a:rPr lang="zh-CN" sz="1600" b="1" kern="1200" dirty="0">
                          <a:solidFill>
                            <a:schemeClr val="tx1"/>
                          </a:solidFill>
                          <a:latin typeface="Calibri" panose="020F0502020204030204"/>
                          <a:ea typeface="微软雅黑" panose="020B0503020204020204" charset="-122"/>
                          <a:cs typeface="Arial" panose="020B0604020202020204"/>
                        </a:rPr>
                        <a:t>　</a:t>
                      </a:r>
                    </a:p>
                  </a:txBody>
                  <a:tcPr marL="12698" marR="12698"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ctr">
                        <a:spcAft>
                          <a:spcPts val="0"/>
                        </a:spcAft>
                      </a:pPr>
                      <a:r>
                        <a:rPr lang="zh-CN" sz="1600" b="1" kern="1200" dirty="0">
                          <a:solidFill>
                            <a:schemeClr val="tx1"/>
                          </a:solidFill>
                          <a:latin typeface="Calibri" panose="020F0502020204030204"/>
                          <a:ea typeface="微软雅黑" panose="020B0503020204020204" charset="-122"/>
                          <a:cs typeface="Arial" panose="020B0604020202020204"/>
                        </a:rPr>
                        <a:t>　</a:t>
                      </a:r>
                    </a:p>
                  </a:txBody>
                  <a:tcPr marL="12698" marR="12698"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ctr">
                        <a:spcAft>
                          <a:spcPts val="0"/>
                        </a:spcAft>
                      </a:pPr>
                      <a:r>
                        <a:rPr lang="zh-CN" sz="1600" b="1" kern="1200" dirty="0">
                          <a:solidFill>
                            <a:schemeClr val="tx1"/>
                          </a:solidFill>
                          <a:latin typeface="Calibri" panose="020F0502020204030204"/>
                          <a:ea typeface="微软雅黑" panose="020B0503020204020204" charset="-122"/>
                          <a:cs typeface="Arial" panose="020B0604020202020204"/>
                        </a:rPr>
                        <a:t>　</a:t>
                      </a:r>
                    </a:p>
                  </a:txBody>
                  <a:tcPr marL="12698" marR="12698"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ctr">
                        <a:spcAft>
                          <a:spcPts val="0"/>
                        </a:spcAft>
                      </a:pPr>
                      <a:r>
                        <a:rPr lang="zh-CN" sz="1600" b="1" kern="1200" dirty="0">
                          <a:solidFill>
                            <a:schemeClr val="tx1"/>
                          </a:solidFill>
                          <a:latin typeface="Calibri" panose="020F0502020204030204"/>
                          <a:ea typeface="微软雅黑" panose="020B0503020204020204" charset="-122"/>
                          <a:cs typeface="Arial" panose="020B0604020202020204"/>
                        </a:rPr>
                        <a:t>　</a:t>
                      </a:r>
                    </a:p>
                  </a:txBody>
                  <a:tcPr marL="12698" marR="12698"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l" fontAlgn="ctr">
                        <a:spcAft>
                          <a:spcPts val="0"/>
                        </a:spcAft>
                      </a:pPr>
                      <a:r>
                        <a:rPr lang="zh-CN" sz="1600" b="1" kern="1200" dirty="0">
                          <a:solidFill>
                            <a:schemeClr val="tx1"/>
                          </a:solidFill>
                          <a:latin typeface="Calibri" panose="020F0502020204030204"/>
                          <a:ea typeface="微软雅黑" panose="020B0503020204020204" charset="-122"/>
                          <a:cs typeface="Arial" panose="020B0604020202020204"/>
                        </a:rPr>
                        <a:t>　</a:t>
                      </a:r>
                    </a:p>
                  </a:txBody>
                  <a:tcPr marL="12698" marR="12698"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l" fontAlgn="ctr">
                        <a:spcAft>
                          <a:spcPts val="0"/>
                        </a:spcAft>
                      </a:pPr>
                      <a:r>
                        <a:rPr lang="zh-CN" sz="1600" b="1" kern="1200" dirty="0">
                          <a:solidFill>
                            <a:schemeClr val="tx1"/>
                          </a:solidFill>
                          <a:latin typeface="Calibri" panose="020F0502020204030204"/>
                          <a:ea typeface="微软雅黑" panose="020B0503020204020204" charset="-122"/>
                          <a:cs typeface="Arial" panose="020B0604020202020204"/>
                        </a:rPr>
                        <a:t>　</a:t>
                      </a:r>
                    </a:p>
                  </a:txBody>
                  <a:tcPr marL="12698" marR="12698"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l" fontAlgn="ctr">
                        <a:spcAft>
                          <a:spcPts val="0"/>
                        </a:spcAft>
                      </a:pPr>
                      <a:r>
                        <a:rPr lang="zh-CN" sz="1600" b="1" kern="1200" dirty="0">
                          <a:solidFill>
                            <a:schemeClr val="tx1"/>
                          </a:solidFill>
                          <a:latin typeface="Calibri" panose="020F0502020204030204"/>
                          <a:ea typeface="微软雅黑" panose="020B0503020204020204" charset="-122"/>
                          <a:cs typeface="Arial" panose="020B0604020202020204"/>
                        </a:rPr>
                        <a:t>　</a:t>
                      </a:r>
                    </a:p>
                  </a:txBody>
                  <a:tcPr marL="12698" marR="12698"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l" fontAlgn="ctr">
                        <a:spcAft>
                          <a:spcPts val="0"/>
                        </a:spcAft>
                      </a:pPr>
                      <a:r>
                        <a:rPr lang="zh-CN" sz="1600" b="1" kern="1200" dirty="0">
                          <a:solidFill>
                            <a:schemeClr val="tx1"/>
                          </a:solidFill>
                          <a:latin typeface="Calibri" panose="020F0502020204030204"/>
                          <a:ea typeface="微软雅黑" panose="020B0503020204020204" charset="-122"/>
                          <a:cs typeface="Arial" panose="020B0604020202020204"/>
                        </a:rPr>
                        <a:t>　</a:t>
                      </a:r>
                    </a:p>
                  </a:txBody>
                  <a:tcPr marL="12698" marR="12698"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608330">
                <a:tc>
                  <a:txBody>
                    <a:bodyPr/>
                    <a:lstStyle/>
                    <a:p>
                      <a:pPr algn="ctr" fontAlgn="ctr">
                        <a:spcAft>
                          <a:spcPts val="0"/>
                        </a:spcAft>
                      </a:pPr>
                      <a:r>
                        <a:rPr lang="zh-CN" sz="1600" b="1" kern="1200" dirty="0">
                          <a:solidFill>
                            <a:schemeClr val="tx1"/>
                          </a:solidFill>
                          <a:latin typeface="Calibri" panose="020F0502020204030204"/>
                          <a:ea typeface="微软雅黑" panose="020B0503020204020204" charset="-122"/>
                          <a:cs typeface="Arial" panose="020B0604020202020204"/>
                        </a:rPr>
                        <a:t>合计</a:t>
                      </a:r>
                    </a:p>
                  </a:txBody>
                  <a:tcPr marL="12698" marR="12698"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l" fontAlgn="ctr">
                        <a:spcAft>
                          <a:spcPts val="0"/>
                        </a:spcAft>
                      </a:pPr>
                      <a:r>
                        <a:rPr lang="zh-CN" sz="1600" b="1" kern="1200" dirty="0">
                          <a:solidFill>
                            <a:schemeClr val="tx1"/>
                          </a:solidFill>
                          <a:latin typeface="Calibri" panose="020F0502020204030204"/>
                          <a:ea typeface="微软雅黑" panose="020B0503020204020204" charset="-122"/>
                          <a:cs typeface="Arial" panose="020B0604020202020204"/>
                        </a:rPr>
                        <a:t>　</a:t>
                      </a:r>
                    </a:p>
                  </a:txBody>
                  <a:tcPr marL="12698" marR="12698"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l" fontAlgn="ctr">
                        <a:spcAft>
                          <a:spcPts val="0"/>
                        </a:spcAft>
                      </a:pPr>
                      <a:r>
                        <a:rPr lang="zh-CN" sz="1600" b="1" kern="1200" dirty="0">
                          <a:solidFill>
                            <a:schemeClr val="tx1"/>
                          </a:solidFill>
                          <a:latin typeface="Calibri" panose="020F0502020204030204"/>
                          <a:ea typeface="微软雅黑" panose="020B0503020204020204" charset="-122"/>
                          <a:cs typeface="Arial" panose="020B0604020202020204"/>
                        </a:rPr>
                        <a:t>　</a:t>
                      </a:r>
                    </a:p>
                  </a:txBody>
                  <a:tcPr marL="12698" marR="12698"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l" fontAlgn="ctr">
                        <a:spcAft>
                          <a:spcPts val="0"/>
                        </a:spcAft>
                      </a:pPr>
                      <a:r>
                        <a:rPr lang="zh-CN" sz="1600" b="1" kern="1200" dirty="0">
                          <a:solidFill>
                            <a:schemeClr val="tx1"/>
                          </a:solidFill>
                          <a:latin typeface="Calibri" panose="020F0502020204030204"/>
                          <a:ea typeface="微软雅黑" panose="020B0503020204020204" charset="-122"/>
                          <a:cs typeface="Arial" panose="020B0604020202020204"/>
                        </a:rPr>
                        <a:t>　</a:t>
                      </a:r>
                    </a:p>
                  </a:txBody>
                  <a:tcPr marL="12698" marR="12698"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l" fontAlgn="ctr">
                        <a:spcAft>
                          <a:spcPts val="0"/>
                        </a:spcAft>
                      </a:pPr>
                      <a:r>
                        <a:rPr lang="zh-CN" sz="1600" b="1" kern="1200" dirty="0">
                          <a:solidFill>
                            <a:schemeClr val="tx1"/>
                          </a:solidFill>
                          <a:latin typeface="Calibri" panose="020F0502020204030204"/>
                          <a:ea typeface="微软雅黑" panose="020B0503020204020204" charset="-122"/>
                          <a:cs typeface="Arial" panose="020B0604020202020204"/>
                        </a:rPr>
                        <a:t>　</a:t>
                      </a:r>
                      <a:r>
                        <a:rPr lang="en-US" altLang="zh-CN" sz="1600" b="1" kern="1200" dirty="0">
                          <a:solidFill>
                            <a:schemeClr val="tx1"/>
                          </a:solidFill>
                          <a:latin typeface="Calibri" panose="020F0502020204030204"/>
                          <a:ea typeface="微软雅黑" panose="020B0503020204020204" charset="-122"/>
                          <a:cs typeface="Arial" panose="020B0604020202020204"/>
                        </a:rPr>
                        <a:t>450</a:t>
                      </a:r>
                    </a:p>
                  </a:txBody>
                  <a:tcPr marL="12698" marR="12698"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ctr">
                        <a:spcAft>
                          <a:spcPts val="0"/>
                        </a:spcAft>
                      </a:pPr>
                      <a:r>
                        <a:rPr lang="en-US" sz="1600" b="1" kern="1200" dirty="0">
                          <a:solidFill>
                            <a:schemeClr val="tx1"/>
                          </a:solidFill>
                          <a:latin typeface="微软雅黑" panose="020B0503020204020204" charset="-122"/>
                          <a:ea typeface="微软雅黑" panose="020B0503020204020204" charset="-122"/>
                          <a:cs typeface="Arial" panose="020B0604020202020204"/>
                        </a:rPr>
                        <a:t>250</a:t>
                      </a:r>
                    </a:p>
                  </a:txBody>
                  <a:tcPr marL="12698" marR="12698"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ctr">
                        <a:spcAft>
                          <a:spcPts val="0"/>
                        </a:spcAft>
                      </a:pPr>
                      <a:r>
                        <a:rPr lang="en-US" sz="1600" b="1" kern="1200" dirty="0">
                          <a:solidFill>
                            <a:schemeClr val="tx1"/>
                          </a:solidFill>
                          <a:latin typeface="微软雅黑" panose="020B0503020204020204" charset="-122"/>
                          <a:ea typeface="微软雅黑" panose="020B0503020204020204" charset="-122"/>
                          <a:cs typeface="Arial" panose="020B0604020202020204"/>
                        </a:rPr>
                        <a:t>290</a:t>
                      </a:r>
                    </a:p>
                  </a:txBody>
                  <a:tcPr marL="12698" marR="12698"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fontAlgn="ctr">
                        <a:spcAft>
                          <a:spcPts val="0"/>
                        </a:spcAft>
                      </a:pPr>
                      <a:r>
                        <a:rPr lang="en-US" sz="1600" b="1" kern="1200" dirty="0">
                          <a:solidFill>
                            <a:schemeClr val="tx1"/>
                          </a:solidFill>
                          <a:latin typeface="微软雅黑" panose="020B0503020204020204" charset="-122"/>
                          <a:ea typeface="微软雅黑" panose="020B0503020204020204" charset="-122"/>
                          <a:cs typeface="Arial" panose="020B0604020202020204"/>
                        </a:rPr>
                        <a:t>210</a:t>
                      </a:r>
                    </a:p>
                  </a:txBody>
                  <a:tcPr marL="12698" marR="12698"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l" fontAlgn="ctr">
                        <a:spcAft>
                          <a:spcPts val="0"/>
                        </a:spcAft>
                      </a:pPr>
                      <a:r>
                        <a:rPr lang="en-US" sz="1600" b="1" kern="1200" dirty="0">
                          <a:solidFill>
                            <a:schemeClr val="tx1"/>
                          </a:solidFill>
                          <a:latin typeface="微软雅黑" panose="020B0503020204020204" charset="-122"/>
                          <a:ea typeface="微软雅黑" panose="020B0503020204020204" charset="-122"/>
                          <a:cs typeface="Arial" panose="020B0604020202020204"/>
                        </a:rPr>
                        <a:t> 1,616.32 </a:t>
                      </a:r>
                    </a:p>
                  </a:txBody>
                  <a:tcPr marL="12698" marR="12698"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l" fontAlgn="ctr">
                        <a:spcAft>
                          <a:spcPts val="0"/>
                        </a:spcAft>
                      </a:pPr>
                      <a:r>
                        <a:rPr lang="en-US" sz="1600" b="1" kern="1200" dirty="0">
                          <a:solidFill>
                            <a:schemeClr val="tx1"/>
                          </a:solidFill>
                          <a:latin typeface="微软雅黑" panose="020B0503020204020204" charset="-122"/>
                          <a:ea typeface="微软雅黑" panose="020B0503020204020204" charset="-122"/>
                          <a:cs typeface="Arial" panose="020B0604020202020204"/>
                        </a:rPr>
                        <a:t> 1,438.19 </a:t>
                      </a:r>
                    </a:p>
                  </a:txBody>
                  <a:tcPr marL="12698" marR="12698"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l" fontAlgn="ctr">
                        <a:spcAft>
                          <a:spcPts val="0"/>
                        </a:spcAft>
                      </a:pPr>
                      <a:r>
                        <a:rPr lang="en-US" sz="1600" b="1" kern="1200" dirty="0">
                          <a:solidFill>
                            <a:schemeClr val="tx1"/>
                          </a:solidFill>
                          <a:latin typeface="微软雅黑" panose="020B0503020204020204" charset="-122"/>
                          <a:ea typeface="微软雅黑" panose="020B0503020204020204" charset="-122"/>
                          <a:cs typeface="Arial" panose="020B0604020202020204"/>
                        </a:rPr>
                        <a:t> 1,299.65 </a:t>
                      </a:r>
                    </a:p>
                  </a:txBody>
                  <a:tcPr marL="12698" marR="12698"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l" fontAlgn="ctr">
                        <a:spcAft>
                          <a:spcPts val="0"/>
                        </a:spcAft>
                      </a:pPr>
                      <a:r>
                        <a:rPr lang="en-US" sz="1600" b="1" kern="1200" dirty="0">
                          <a:solidFill>
                            <a:schemeClr val="tx1"/>
                          </a:solidFill>
                          <a:latin typeface="微软雅黑" panose="020B0503020204020204" charset="-122"/>
                          <a:ea typeface="微软雅黑" panose="020B0503020204020204" charset="-122"/>
                          <a:cs typeface="Arial" panose="020B0604020202020204"/>
                        </a:rPr>
                        <a:t>   4,354.16 </a:t>
                      </a:r>
                    </a:p>
                  </a:txBody>
                  <a:tcPr marL="12698" marR="12698" marT="127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 0" descr="https://kimi-img.moonshot.cn/pub/slides/slides_tmpl/image/25-09-04-11:33:06-d2sggsm1bb2p4onbon10.jpg"/>
          <p:cNvPicPr>
            <a:picLocks noChangeAspect="1"/>
          </p:cNvPicPr>
          <p:nvPr/>
        </p:nvPicPr>
        <p:blipFill>
          <a:blip r:embed="rId3"/>
          <a:stretch>
            <a:fillRect/>
          </a:stretch>
        </p:blipFill>
        <p:spPr>
          <a:xfrm>
            <a:off x="0" y="0"/>
            <a:ext cx="12192000" cy="6858000"/>
          </a:xfrm>
          <a:prstGeom prst="rect">
            <a:avLst/>
          </a:prstGeom>
        </p:spPr>
      </p:pic>
      <p:cxnSp>
        <p:nvCxnSpPr>
          <p:cNvPr id="5" name="直接连接符 4"/>
          <p:cNvCxnSpPr/>
          <p:nvPr/>
        </p:nvCxnSpPr>
        <p:spPr>
          <a:xfrm>
            <a:off x="2619061" y="644689"/>
            <a:ext cx="1920213" cy="0"/>
          </a:xfrm>
          <a:prstGeom prst="line">
            <a:avLst/>
          </a:prstGeom>
          <a:ln>
            <a:gradFill flip="none" rotWithShape="1">
              <a:gsLst>
                <a:gs pos="0">
                  <a:schemeClr val="bg1">
                    <a:alpha val="0"/>
                  </a:schemeClr>
                </a:gs>
                <a:gs pos="100000">
                  <a:schemeClr val="bg1"/>
                </a:gs>
              </a:gsLst>
              <a:lin ang="0" scaled="1"/>
              <a:tileRect/>
            </a:gradFill>
            <a:tailEnd type="oval"/>
          </a:ln>
        </p:spPr>
        <p:style>
          <a:lnRef idx="1">
            <a:schemeClr val="accent1"/>
          </a:lnRef>
          <a:fillRef idx="0">
            <a:schemeClr val="accent1"/>
          </a:fillRef>
          <a:effectRef idx="0">
            <a:schemeClr val="accent1"/>
          </a:effectRef>
          <a:fontRef idx="minor">
            <a:schemeClr val="tx1"/>
          </a:fontRef>
        </p:style>
      </p:cxnSp>
      <p:sp>
        <p:nvSpPr>
          <p:cNvPr id="14" name="TextBox 1"/>
          <p:cNvSpPr txBox="1"/>
          <p:nvPr/>
        </p:nvSpPr>
        <p:spPr>
          <a:xfrm>
            <a:off x="3579168" y="380600"/>
            <a:ext cx="4992555" cy="534035"/>
          </a:xfrm>
          <a:prstGeom prst="rect">
            <a:avLst/>
          </a:prstGeom>
          <a:noFill/>
        </p:spPr>
        <p:txBody>
          <a:bodyPr wrap="square" rtlCol="0">
            <a:spAutoFit/>
          </a:bodyPr>
          <a:lstStyle/>
          <a:p>
            <a:pPr algn="ctr" defTabSz="431800">
              <a:lnSpc>
                <a:spcPct val="120000"/>
              </a:lnSpc>
              <a:defRPr/>
            </a:pPr>
            <a:r>
              <a:rPr lang="zh-CN" sz="2400" b="1" kern="0" dirty="0">
                <a:solidFill>
                  <a:schemeClr val="tx1"/>
                </a:solidFill>
                <a:latin typeface="Arial" panose="020B0604020202020204" pitchFamily="34" charset="0"/>
                <a:ea typeface="微软雅黑" panose="020B0503020204020204" charset="-122"/>
                <a:cs typeface="Arial" panose="020B0604020202020204" pitchFamily="34" charset="0"/>
              </a:rPr>
              <a:t>研发费用</a:t>
            </a:r>
            <a:r>
              <a:rPr lang="en-US" altLang="zh-CN" sz="2400" b="1" kern="0" dirty="0">
                <a:solidFill>
                  <a:schemeClr val="tx1"/>
                </a:solidFill>
                <a:latin typeface="Arial" panose="020B0604020202020204" pitchFamily="34" charset="0"/>
                <a:ea typeface="微软雅黑" panose="020B0503020204020204" charset="-122"/>
                <a:cs typeface="Arial" panose="020B0604020202020204" pitchFamily="34" charset="0"/>
              </a:rPr>
              <a:t>“</a:t>
            </a:r>
            <a:r>
              <a:rPr lang="zh-CN" sz="2400" b="1" kern="0" dirty="0">
                <a:solidFill>
                  <a:schemeClr val="tx1"/>
                </a:solidFill>
                <a:latin typeface="Arial" panose="020B0604020202020204" pitchFamily="34" charset="0"/>
                <a:ea typeface="微软雅黑" panose="020B0503020204020204" charset="-122"/>
                <a:cs typeface="Arial" panose="020B0604020202020204" pitchFamily="34" charset="0"/>
              </a:rPr>
              <a:t>合理</a:t>
            </a:r>
            <a:r>
              <a:rPr lang="en-US" altLang="zh-CN" sz="2400" b="1" kern="0" dirty="0">
                <a:solidFill>
                  <a:schemeClr val="tx1"/>
                </a:solidFill>
                <a:latin typeface="Arial" panose="020B0604020202020204" pitchFamily="34" charset="0"/>
                <a:ea typeface="微软雅黑" panose="020B0503020204020204" charset="-122"/>
                <a:cs typeface="Arial" panose="020B0604020202020204" pitchFamily="34" charset="0"/>
              </a:rPr>
              <a:t>”</a:t>
            </a:r>
            <a:r>
              <a:rPr lang="zh-CN" sz="2400" b="1" kern="0" dirty="0">
                <a:solidFill>
                  <a:schemeClr val="tx1"/>
                </a:solidFill>
                <a:latin typeface="Arial" panose="020B0604020202020204" pitchFamily="34" charset="0"/>
                <a:ea typeface="微软雅黑" panose="020B0503020204020204" charset="-122"/>
                <a:cs typeface="Arial" panose="020B0604020202020204" pitchFamily="34" charset="0"/>
              </a:rPr>
              <a:t>归集</a:t>
            </a:r>
          </a:p>
        </p:txBody>
      </p:sp>
      <p:cxnSp>
        <p:nvCxnSpPr>
          <p:cNvPr id="15" name="直接连接符 14"/>
          <p:cNvCxnSpPr/>
          <p:nvPr/>
        </p:nvCxnSpPr>
        <p:spPr>
          <a:xfrm flipH="1">
            <a:off x="7611616" y="644689"/>
            <a:ext cx="1920213" cy="0"/>
          </a:xfrm>
          <a:prstGeom prst="line">
            <a:avLst/>
          </a:prstGeom>
          <a:ln>
            <a:gradFill flip="none" rotWithShape="1">
              <a:gsLst>
                <a:gs pos="0">
                  <a:schemeClr val="bg1">
                    <a:alpha val="0"/>
                  </a:schemeClr>
                </a:gs>
                <a:gs pos="100000">
                  <a:schemeClr val="bg1"/>
                </a:gs>
              </a:gsLst>
              <a:lin ang="0" scaled="1"/>
              <a:tileRect/>
            </a:gradFill>
            <a:tailEnd type="oval"/>
          </a:ln>
        </p:spPr>
        <p:style>
          <a:lnRef idx="1">
            <a:schemeClr val="accent1"/>
          </a:lnRef>
          <a:fillRef idx="0">
            <a:schemeClr val="accent1"/>
          </a:fillRef>
          <a:effectRef idx="0">
            <a:schemeClr val="accent1"/>
          </a:effectRef>
          <a:fontRef idx="minor">
            <a:schemeClr val="tx1"/>
          </a:fontRef>
        </p:style>
      </p:cxnSp>
      <p:sp>
        <p:nvSpPr>
          <p:cNvPr id="20" name="圆角矩形 19"/>
          <p:cNvSpPr/>
          <p:nvPr/>
        </p:nvSpPr>
        <p:spPr>
          <a:xfrm>
            <a:off x="911860" y="1028700"/>
            <a:ext cx="3270673" cy="546100"/>
          </a:xfrm>
          <a:prstGeom prst="roundRect">
            <a:avLst>
              <a:gd name="adj" fmla="val 50000"/>
            </a:avLst>
          </a:prstGeom>
          <a:solidFill>
            <a:srgbClr val="AA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solidFill>
              <a:ea typeface="微软雅黑" panose="020B0503020204020204" charset="-122"/>
            </a:endParaRPr>
          </a:p>
        </p:txBody>
      </p:sp>
      <p:sp>
        <p:nvSpPr>
          <p:cNvPr id="19" name="Text Box 4"/>
          <p:cNvSpPr txBox="1">
            <a:spLocks noChangeArrowheads="1"/>
          </p:cNvSpPr>
          <p:nvPr/>
        </p:nvSpPr>
        <p:spPr bwMode="auto">
          <a:xfrm>
            <a:off x="527473" y="1018540"/>
            <a:ext cx="4028440" cy="501227"/>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400" b="1" noProof="0" dirty="0">
                <a:ln>
                  <a:noFill/>
                </a:ln>
                <a:solidFill>
                  <a:schemeClr val="tx1"/>
                </a:solidFill>
                <a:effectLst/>
                <a:uLnTx/>
                <a:uFillTx/>
                <a:latin typeface="Verdana" panose="020B0604030504040204" pitchFamily="34" charset="0"/>
                <a:ea typeface="微软雅黑" panose="020B0503020204020204" charset="-122"/>
                <a:sym typeface="+mn-ea"/>
              </a:rPr>
              <a:t>会计分录</a:t>
            </a:r>
            <a:endParaRPr kumimoji="1" lang="zh-CN" altLang="en-US" sz="2400" b="1" noProof="0" dirty="0">
              <a:ln>
                <a:noFill/>
              </a:ln>
              <a:solidFill>
                <a:schemeClr val="tx1"/>
              </a:solidFill>
              <a:effectLst/>
              <a:uLnTx/>
              <a:uFillTx/>
              <a:latin typeface="Verdana" panose="020B0604030504040204" pitchFamily="34" charset="0"/>
              <a:ea typeface="微软雅黑" panose="020B0503020204020204" charset="-122"/>
              <a:sym typeface="+mn-ea"/>
            </a:endParaRPr>
          </a:p>
        </p:txBody>
      </p:sp>
      <p:sp>
        <p:nvSpPr>
          <p:cNvPr id="8" name="文本框 7"/>
          <p:cNvSpPr txBox="1"/>
          <p:nvPr/>
        </p:nvSpPr>
        <p:spPr>
          <a:xfrm>
            <a:off x="352213" y="1412240"/>
            <a:ext cx="11778827" cy="5540587"/>
          </a:xfrm>
          <a:prstGeom prst="rect">
            <a:avLst/>
          </a:prstGeom>
          <a:noFill/>
        </p:spPr>
        <p:txBody>
          <a:bodyPr wrap="square" rtlCol="0">
            <a:noAutofit/>
          </a:bodyPr>
          <a:lstStyle/>
          <a:p>
            <a:pPr algn="l"/>
            <a:endParaRPr lang="en-US" altLang="zh-CN" sz="2400" dirty="0">
              <a:solidFill>
                <a:schemeClr val="tx1"/>
              </a:solidFill>
              <a:ea typeface="微软雅黑" panose="020B0503020204020204" charset="-122"/>
              <a:sym typeface="+mn-ea"/>
            </a:endParaRPr>
          </a:p>
          <a:p>
            <a:pPr algn="l"/>
            <a:endParaRPr lang="en-US" altLang="zh-CN" sz="2400" b="1" dirty="0">
              <a:solidFill>
                <a:schemeClr val="tx1"/>
              </a:solidFill>
              <a:ea typeface="微软雅黑" panose="020B0503020204020204" charset="-122"/>
              <a:sym typeface="+mn-ea"/>
            </a:endParaRPr>
          </a:p>
          <a:p>
            <a:pPr algn="l"/>
            <a:r>
              <a:rPr lang="en-US" altLang="zh-CN" sz="2400" b="1" dirty="0" err="1">
                <a:solidFill>
                  <a:schemeClr val="tx1"/>
                </a:solidFill>
                <a:ea typeface="微软雅黑" panose="020B0503020204020204" charset="-122"/>
                <a:sym typeface="+mn-ea"/>
              </a:rPr>
              <a:t>会计分录如下</a:t>
            </a:r>
            <a:r>
              <a:rPr lang="en-US" altLang="zh-CN" sz="2400" b="1" dirty="0">
                <a:solidFill>
                  <a:schemeClr val="tx1"/>
                </a:solidFill>
                <a:ea typeface="微软雅黑" panose="020B0503020204020204" charset="-122"/>
                <a:sym typeface="+mn-ea"/>
              </a:rPr>
              <a:t>：</a:t>
            </a:r>
          </a:p>
          <a:p>
            <a:pPr algn="l"/>
            <a:endParaRPr lang="en-US" altLang="zh-CN" sz="2400" b="1" dirty="0">
              <a:solidFill>
                <a:schemeClr val="tx1"/>
              </a:solidFill>
              <a:ea typeface="微软雅黑" panose="020B0503020204020204" charset="-122"/>
              <a:sym typeface="+mn-ea"/>
            </a:endParaRPr>
          </a:p>
          <a:p>
            <a:pPr algn="l">
              <a:lnSpc>
                <a:spcPct val="150000"/>
              </a:lnSpc>
            </a:pPr>
            <a:r>
              <a:rPr lang="en-US" altLang="zh-CN" sz="2400" b="1" dirty="0">
                <a:solidFill>
                  <a:schemeClr val="tx1"/>
                </a:solidFill>
                <a:ea typeface="微软雅黑" panose="020B0503020204020204" charset="-122"/>
                <a:sym typeface="+mn-ea"/>
              </a:rPr>
              <a:t>借： </a:t>
            </a:r>
            <a:r>
              <a:rPr lang="en-US" altLang="zh-CN" sz="2400" b="1" dirty="0" err="1">
                <a:solidFill>
                  <a:schemeClr val="tx1"/>
                </a:solidFill>
                <a:ea typeface="微软雅黑" panose="020B0503020204020204" charset="-122"/>
                <a:sym typeface="+mn-ea"/>
              </a:rPr>
              <a:t>研发支出</a:t>
            </a:r>
            <a:r>
              <a:rPr lang="en-US" altLang="zh-CN" sz="2400" b="1" dirty="0">
                <a:solidFill>
                  <a:schemeClr val="tx1"/>
                </a:solidFill>
                <a:ea typeface="微软雅黑" panose="020B0503020204020204" charset="-122"/>
                <a:sym typeface="+mn-ea"/>
              </a:rPr>
              <a:t>—</a:t>
            </a:r>
            <a:r>
              <a:rPr lang="en-US" altLang="zh-CN" sz="2400" b="1" dirty="0" err="1">
                <a:solidFill>
                  <a:schemeClr val="tx1"/>
                </a:solidFill>
                <a:ea typeface="微软雅黑" panose="020B0503020204020204" charset="-122"/>
                <a:sym typeface="+mn-ea"/>
              </a:rPr>
              <a:t>费用化支出</a:t>
            </a:r>
            <a:r>
              <a:rPr lang="en-US" altLang="zh-CN" sz="2400" b="1" dirty="0">
                <a:solidFill>
                  <a:schemeClr val="tx1"/>
                </a:solidFill>
                <a:ea typeface="微软雅黑" panose="020B0503020204020204" charset="-122"/>
                <a:sym typeface="+mn-ea"/>
              </a:rPr>
              <a:t>--</a:t>
            </a:r>
            <a:r>
              <a:rPr lang="en-US" altLang="zh-CN" sz="2400" b="1" dirty="0" err="1">
                <a:solidFill>
                  <a:schemeClr val="tx1"/>
                </a:solidFill>
                <a:ea typeface="微软雅黑" panose="020B0503020204020204" charset="-122"/>
                <a:sym typeface="+mn-ea"/>
              </a:rPr>
              <a:t>A项目</a:t>
            </a:r>
            <a:r>
              <a:rPr lang="en-US" altLang="zh-CN" sz="2400" b="1" dirty="0">
                <a:solidFill>
                  <a:schemeClr val="tx1"/>
                </a:solidFill>
                <a:ea typeface="微软雅黑" panose="020B0503020204020204" charset="-122"/>
                <a:sym typeface="+mn-ea"/>
              </a:rPr>
              <a:t>-</a:t>
            </a:r>
            <a:r>
              <a:rPr lang="zh-CN" altLang="en-US" sz="2400" b="1" dirty="0">
                <a:solidFill>
                  <a:schemeClr val="tx1"/>
                </a:solidFill>
                <a:ea typeface="微软雅黑" panose="020B0503020204020204" charset="-122"/>
                <a:sym typeface="+mn-ea"/>
              </a:rPr>
              <a:t>折旧费用</a:t>
            </a:r>
            <a:r>
              <a:rPr lang="en-US" sz="2400" b="1" dirty="0">
                <a:solidFill>
                  <a:schemeClr val="tx1"/>
                </a:solidFill>
                <a:latin typeface="微软雅黑" panose="020B0503020204020204" charset="-122"/>
                <a:ea typeface="微软雅黑" panose="020B0503020204020204" charset="-122"/>
                <a:cs typeface="Arial" panose="020B0604020202020204"/>
                <a:sym typeface="+mn-ea"/>
              </a:rPr>
              <a:t>1,616.32</a:t>
            </a:r>
            <a:r>
              <a:rPr lang="en-US" altLang="zh-CN" sz="2400" b="1" dirty="0">
                <a:solidFill>
                  <a:schemeClr val="tx1"/>
                </a:solidFill>
                <a:ea typeface="微软雅黑" panose="020B0503020204020204" charset="-122"/>
                <a:sym typeface="+mn-ea"/>
              </a:rPr>
              <a:t>元</a:t>
            </a:r>
          </a:p>
          <a:p>
            <a:pPr algn="l">
              <a:lnSpc>
                <a:spcPct val="150000"/>
              </a:lnSpc>
            </a:pPr>
            <a:r>
              <a:rPr lang="en-US" altLang="zh-CN" sz="2400" b="1" dirty="0">
                <a:solidFill>
                  <a:schemeClr val="tx1"/>
                </a:solidFill>
                <a:ea typeface="微软雅黑" panose="020B0503020204020204" charset="-122"/>
                <a:sym typeface="+mn-ea"/>
              </a:rPr>
              <a:t>          </a:t>
            </a:r>
            <a:r>
              <a:rPr lang="en-US" altLang="zh-CN" sz="2400" b="1" dirty="0" err="1">
                <a:solidFill>
                  <a:schemeClr val="tx1"/>
                </a:solidFill>
                <a:ea typeface="微软雅黑" panose="020B0503020204020204" charset="-122"/>
                <a:sym typeface="+mn-ea"/>
              </a:rPr>
              <a:t>研发支出</a:t>
            </a:r>
            <a:r>
              <a:rPr lang="en-US" altLang="zh-CN" sz="2400" b="1" dirty="0">
                <a:solidFill>
                  <a:schemeClr val="tx1"/>
                </a:solidFill>
                <a:ea typeface="微软雅黑" panose="020B0503020204020204" charset="-122"/>
                <a:sym typeface="+mn-ea"/>
              </a:rPr>
              <a:t>—</a:t>
            </a:r>
            <a:r>
              <a:rPr lang="en-US" altLang="zh-CN" sz="2400" b="1" dirty="0" err="1">
                <a:solidFill>
                  <a:schemeClr val="tx1"/>
                </a:solidFill>
                <a:ea typeface="微软雅黑" panose="020B0503020204020204" charset="-122"/>
                <a:sym typeface="+mn-ea"/>
              </a:rPr>
              <a:t>费用化支出</a:t>
            </a:r>
            <a:r>
              <a:rPr lang="en-US" altLang="zh-CN" sz="2400" b="1" dirty="0">
                <a:solidFill>
                  <a:schemeClr val="tx1"/>
                </a:solidFill>
                <a:ea typeface="微软雅黑" panose="020B0503020204020204" charset="-122"/>
                <a:sym typeface="+mn-ea"/>
              </a:rPr>
              <a:t>--</a:t>
            </a:r>
            <a:r>
              <a:rPr lang="en-US" altLang="zh-CN" sz="2400" b="1" dirty="0" err="1">
                <a:solidFill>
                  <a:schemeClr val="tx1"/>
                </a:solidFill>
                <a:ea typeface="微软雅黑" panose="020B0503020204020204" charset="-122"/>
                <a:sym typeface="+mn-ea"/>
              </a:rPr>
              <a:t>B项目</a:t>
            </a:r>
            <a:r>
              <a:rPr lang="en-US" altLang="zh-CN" sz="2400" b="1" dirty="0">
                <a:solidFill>
                  <a:schemeClr val="tx1"/>
                </a:solidFill>
                <a:ea typeface="微软雅黑" panose="020B0503020204020204" charset="-122"/>
                <a:sym typeface="+mn-ea"/>
              </a:rPr>
              <a:t>-</a:t>
            </a:r>
            <a:r>
              <a:rPr lang="zh-CN" altLang="en-US" sz="2400" b="1" dirty="0">
                <a:solidFill>
                  <a:schemeClr val="tx1"/>
                </a:solidFill>
                <a:ea typeface="微软雅黑" panose="020B0503020204020204" charset="-122"/>
                <a:sym typeface="+mn-ea"/>
              </a:rPr>
              <a:t>折旧费用</a:t>
            </a:r>
            <a:r>
              <a:rPr lang="en-US" sz="2400" b="1" dirty="0">
                <a:solidFill>
                  <a:schemeClr val="tx1"/>
                </a:solidFill>
                <a:latin typeface="微软雅黑" panose="020B0503020204020204" charset="-122"/>
                <a:ea typeface="微软雅黑" panose="020B0503020204020204" charset="-122"/>
                <a:cs typeface="Arial" panose="020B0604020202020204"/>
                <a:sym typeface="+mn-ea"/>
              </a:rPr>
              <a:t>1,438.19 </a:t>
            </a:r>
            <a:r>
              <a:rPr lang="en-US" altLang="zh-CN" sz="2400" b="1" dirty="0">
                <a:solidFill>
                  <a:schemeClr val="tx1"/>
                </a:solidFill>
                <a:ea typeface="微软雅黑" panose="020B0503020204020204" charset="-122"/>
                <a:sym typeface="+mn-ea"/>
              </a:rPr>
              <a:t>元</a:t>
            </a:r>
          </a:p>
          <a:p>
            <a:pPr algn="l">
              <a:lnSpc>
                <a:spcPct val="150000"/>
              </a:lnSpc>
            </a:pPr>
            <a:r>
              <a:rPr lang="en-US" altLang="zh-CN" sz="2400" b="1" dirty="0">
                <a:solidFill>
                  <a:schemeClr val="tx1"/>
                </a:solidFill>
                <a:ea typeface="微软雅黑" panose="020B0503020204020204" charset="-122"/>
                <a:sym typeface="+mn-ea"/>
              </a:rPr>
              <a:t>          </a:t>
            </a:r>
            <a:r>
              <a:rPr lang="en-US" altLang="zh-CN" sz="2400" b="1" dirty="0" err="1">
                <a:solidFill>
                  <a:schemeClr val="tx1"/>
                </a:solidFill>
                <a:ea typeface="微软雅黑" panose="020B0503020204020204" charset="-122"/>
                <a:sym typeface="+mn-ea"/>
              </a:rPr>
              <a:t>研发支出</a:t>
            </a:r>
            <a:r>
              <a:rPr lang="en-US" altLang="zh-CN" sz="2400" b="1" dirty="0">
                <a:solidFill>
                  <a:schemeClr val="tx1"/>
                </a:solidFill>
                <a:ea typeface="微软雅黑" panose="020B0503020204020204" charset="-122"/>
                <a:sym typeface="+mn-ea"/>
              </a:rPr>
              <a:t>—</a:t>
            </a:r>
            <a:r>
              <a:rPr lang="en-US" altLang="zh-CN" sz="2400" b="1" dirty="0" err="1">
                <a:solidFill>
                  <a:schemeClr val="tx1"/>
                </a:solidFill>
                <a:ea typeface="微软雅黑" panose="020B0503020204020204" charset="-122"/>
                <a:sym typeface="+mn-ea"/>
              </a:rPr>
              <a:t>费用化支出</a:t>
            </a:r>
            <a:r>
              <a:rPr lang="en-US" altLang="zh-CN" sz="2400" b="1" dirty="0">
                <a:solidFill>
                  <a:schemeClr val="tx1"/>
                </a:solidFill>
                <a:ea typeface="微软雅黑" panose="020B0503020204020204" charset="-122"/>
                <a:sym typeface="+mn-ea"/>
              </a:rPr>
              <a:t>--</a:t>
            </a:r>
            <a:r>
              <a:rPr lang="en-US" altLang="zh-CN" sz="2400" b="1" dirty="0" err="1">
                <a:solidFill>
                  <a:schemeClr val="tx1"/>
                </a:solidFill>
                <a:ea typeface="微软雅黑" panose="020B0503020204020204" charset="-122"/>
                <a:sym typeface="+mn-ea"/>
              </a:rPr>
              <a:t>C项目</a:t>
            </a:r>
            <a:r>
              <a:rPr lang="en-US" altLang="zh-CN" sz="2400" b="1" dirty="0">
                <a:solidFill>
                  <a:schemeClr val="tx1"/>
                </a:solidFill>
                <a:ea typeface="微软雅黑" panose="020B0503020204020204" charset="-122"/>
                <a:sym typeface="+mn-ea"/>
              </a:rPr>
              <a:t>-</a:t>
            </a:r>
            <a:r>
              <a:rPr lang="zh-CN" altLang="en-US" sz="2400" b="1" dirty="0">
                <a:solidFill>
                  <a:schemeClr val="tx1"/>
                </a:solidFill>
                <a:ea typeface="微软雅黑" panose="020B0503020204020204" charset="-122"/>
                <a:sym typeface="+mn-ea"/>
              </a:rPr>
              <a:t>折旧费用</a:t>
            </a:r>
            <a:r>
              <a:rPr lang="en-US" sz="2400" b="1" dirty="0">
                <a:solidFill>
                  <a:schemeClr val="tx1"/>
                </a:solidFill>
                <a:latin typeface="微软雅黑" panose="020B0503020204020204" charset="-122"/>
                <a:ea typeface="微软雅黑" panose="020B0503020204020204" charset="-122"/>
                <a:cs typeface="Arial" panose="020B0604020202020204"/>
                <a:sym typeface="+mn-ea"/>
              </a:rPr>
              <a:t>1,299.65</a:t>
            </a:r>
            <a:r>
              <a:rPr lang="en-US" altLang="zh-CN" sz="2400" b="1" dirty="0">
                <a:solidFill>
                  <a:schemeClr val="tx1"/>
                </a:solidFill>
                <a:ea typeface="微软雅黑" panose="020B0503020204020204" charset="-122"/>
                <a:sym typeface="+mn-ea"/>
              </a:rPr>
              <a:t>元</a:t>
            </a:r>
          </a:p>
          <a:p>
            <a:pPr algn="l">
              <a:lnSpc>
                <a:spcPct val="150000"/>
              </a:lnSpc>
            </a:pPr>
            <a:r>
              <a:rPr lang="en-US" altLang="zh-CN" sz="2400" b="1" dirty="0">
                <a:solidFill>
                  <a:schemeClr val="tx1"/>
                </a:solidFill>
                <a:ea typeface="微软雅黑" panose="020B0503020204020204" charset="-122"/>
                <a:sym typeface="+mn-ea"/>
              </a:rPr>
              <a:t>           贷：</a:t>
            </a:r>
            <a:r>
              <a:rPr lang="zh-CN" altLang="en-US" sz="2400" b="1" dirty="0">
                <a:solidFill>
                  <a:schemeClr val="tx1"/>
                </a:solidFill>
                <a:ea typeface="微软雅黑" panose="020B0503020204020204" charset="-122"/>
                <a:sym typeface="+mn-ea"/>
              </a:rPr>
              <a:t>累计折旧</a:t>
            </a:r>
            <a:r>
              <a:rPr lang="en-US" sz="2400" b="1" dirty="0">
                <a:solidFill>
                  <a:schemeClr val="tx1"/>
                </a:solidFill>
                <a:latin typeface="微软雅黑" panose="020B0503020204020204" charset="-122"/>
                <a:ea typeface="微软雅黑" panose="020B0503020204020204" charset="-122"/>
                <a:cs typeface="Arial" panose="020B0604020202020204"/>
                <a:sym typeface="+mn-ea"/>
              </a:rPr>
              <a:t>4,354.16 </a:t>
            </a:r>
            <a:r>
              <a:rPr lang="en-US" altLang="zh-CN" sz="2400" b="1" dirty="0">
                <a:solidFill>
                  <a:schemeClr val="tx1"/>
                </a:solidFill>
                <a:ea typeface="微软雅黑" panose="020B0503020204020204" charset="-122"/>
                <a:sym typeface="+mn-ea"/>
              </a:rPr>
              <a:t>元</a:t>
            </a:r>
          </a:p>
          <a:p>
            <a:pPr algn="l"/>
            <a:endParaRPr lang="en-US" altLang="zh-CN" sz="2400" b="1" dirty="0">
              <a:solidFill>
                <a:schemeClr val="tx1"/>
              </a:solidFill>
              <a:highlight>
                <a:srgbClr val="FF0000"/>
              </a:highlight>
              <a:ea typeface="微软雅黑" panose="020B0503020204020204"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ttps://kimi-img.moonshot.cn/pub/slides/slides_tmpl/image/25-10-11-20:14:23-d3l4k7os8jdo4os5emgg.png"/>
          <p:cNvPicPr>
            <a:picLocks noChangeAspect="1"/>
          </p:cNvPicPr>
          <p:nvPr/>
        </p:nvPicPr>
        <p:blipFill>
          <a:blip r:embed="rId3"/>
          <a:stretch>
            <a:fillRect/>
          </a:stretch>
        </p:blipFill>
        <p:spPr>
          <a:xfrm>
            <a:off x="9038590" y="2217420"/>
            <a:ext cx="2792095" cy="4151630"/>
          </a:xfrm>
          <a:prstGeom prst="rect">
            <a:avLst/>
          </a:prstGeom>
        </p:spPr>
      </p:pic>
      <p:pic>
        <p:nvPicPr>
          <p:cNvPr id="3" name="Image 1" descr="https://kimi-img.moonshot.cn/pub/slides/slides_tmpl/image/25-10-11-20:14:23-d3l4k7os8jdo4os5emgg.png"/>
          <p:cNvPicPr>
            <a:picLocks noChangeAspect="1"/>
          </p:cNvPicPr>
          <p:nvPr/>
        </p:nvPicPr>
        <p:blipFill>
          <a:blip r:embed="rId3"/>
          <a:stretch>
            <a:fillRect/>
          </a:stretch>
        </p:blipFill>
        <p:spPr>
          <a:xfrm>
            <a:off x="6208395" y="1775460"/>
            <a:ext cx="2792095" cy="4151630"/>
          </a:xfrm>
          <a:prstGeom prst="rect">
            <a:avLst/>
          </a:prstGeom>
        </p:spPr>
      </p:pic>
      <p:pic>
        <p:nvPicPr>
          <p:cNvPr id="4" name="Image 2" descr="https://kimi-img.moonshot.cn/pub/slides/slides_tmpl/image/25-10-11-20:14:23-d3l4k7os8jdo4os5emgg.png"/>
          <p:cNvPicPr>
            <a:picLocks noChangeAspect="1"/>
          </p:cNvPicPr>
          <p:nvPr/>
        </p:nvPicPr>
        <p:blipFill>
          <a:blip r:embed="rId3"/>
          <a:stretch>
            <a:fillRect/>
          </a:stretch>
        </p:blipFill>
        <p:spPr>
          <a:xfrm>
            <a:off x="3331210" y="2214245"/>
            <a:ext cx="2792095" cy="4151630"/>
          </a:xfrm>
          <a:prstGeom prst="rect">
            <a:avLst/>
          </a:prstGeom>
        </p:spPr>
      </p:pic>
      <p:pic>
        <p:nvPicPr>
          <p:cNvPr id="5" name="Image 3" descr="https://kimi-img.moonshot.cn/pub/slides/slides_tmpl/image/25-10-11-20:14:23-d3l4k7os8jdo4os5emgg.png"/>
          <p:cNvPicPr>
            <a:picLocks noChangeAspect="1"/>
          </p:cNvPicPr>
          <p:nvPr/>
        </p:nvPicPr>
        <p:blipFill>
          <a:blip r:embed="rId3"/>
          <a:stretch>
            <a:fillRect/>
          </a:stretch>
        </p:blipFill>
        <p:spPr>
          <a:xfrm>
            <a:off x="459740" y="1775460"/>
            <a:ext cx="2792095" cy="4151630"/>
          </a:xfrm>
          <a:prstGeom prst="rect">
            <a:avLst/>
          </a:prstGeom>
        </p:spPr>
      </p:pic>
      <p:sp>
        <p:nvSpPr>
          <p:cNvPr id="6" name="Text 0"/>
          <p:cNvSpPr/>
          <p:nvPr/>
        </p:nvSpPr>
        <p:spPr>
          <a:xfrm>
            <a:off x="856298" y="535305"/>
            <a:ext cx="10479405" cy="822920"/>
          </a:xfrm>
          <a:prstGeom prst="rect">
            <a:avLst/>
          </a:prstGeom>
          <a:noFill/>
        </p:spPr>
        <p:txBody>
          <a:bodyPr wrap="square" lIns="0" tIns="0" rIns="0" bIns="0" rtlCol="0" anchor="t">
            <a:spAutoFit/>
          </a:bodyPr>
          <a:lstStyle/>
          <a:p>
            <a:pPr algn="ctr">
              <a:lnSpc>
                <a:spcPct val="150000"/>
              </a:lnSpc>
            </a:pPr>
            <a:r>
              <a:rPr lang="en-US" sz="3600" dirty="0">
                <a:solidFill>
                  <a:srgbClr val="0D0D0D"/>
                </a:solidFill>
                <a:latin typeface="MiSans" panose="00000500000000000000" pitchFamily="34" charset="-122"/>
                <a:ea typeface="MiSans" panose="00000500000000000000" pitchFamily="34" charset="-122"/>
                <a:cs typeface="MiSans" panose="00000500000000000000" pitchFamily="34" charset="-120"/>
              </a:rPr>
              <a:t>委外费用及其他费用的归集要点</a:t>
            </a:r>
            <a:endParaRPr lang="en-US" sz="1600" dirty="0"/>
          </a:p>
        </p:txBody>
      </p:sp>
      <p:pic>
        <p:nvPicPr>
          <p:cNvPr id="7" name="Image 4" descr="https://kimi-img.moonshot.cn/pub/slides/slides_tmpl/image/25-10-11-20:14:19-d3l4k6os8jdo4os5em6g.png"/>
          <p:cNvPicPr>
            <a:picLocks noChangeAspect="1"/>
          </p:cNvPicPr>
          <p:nvPr/>
        </p:nvPicPr>
        <p:blipFill>
          <a:blip r:embed="rId4"/>
          <a:stretch>
            <a:fillRect/>
          </a:stretch>
        </p:blipFill>
        <p:spPr>
          <a:xfrm>
            <a:off x="1380490" y="1180465"/>
            <a:ext cx="963930" cy="913765"/>
          </a:xfrm>
          <a:prstGeom prst="rect">
            <a:avLst/>
          </a:prstGeom>
        </p:spPr>
      </p:pic>
      <p:pic>
        <p:nvPicPr>
          <p:cNvPr id="8" name="Image 5" descr="https://kimi-img.moonshot.cn/pub/slides/slides_tmpl/image/25-10-11-20:14:22-d3l4k7gs8jdo4os5emdg.png"/>
          <p:cNvPicPr>
            <a:picLocks noChangeAspect="1"/>
          </p:cNvPicPr>
          <p:nvPr/>
        </p:nvPicPr>
        <p:blipFill>
          <a:blip r:embed="rId5"/>
          <a:srcRect t="1044" b="1044"/>
          <a:stretch>
            <a:fillRect/>
          </a:stretch>
        </p:blipFill>
        <p:spPr>
          <a:xfrm rot="720000">
            <a:off x="7188835" y="1399540"/>
            <a:ext cx="865505" cy="718820"/>
          </a:xfrm>
          <a:prstGeom prst="rect">
            <a:avLst/>
          </a:prstGeom>
        </p:spPr>
      </p:pic>
      <p:pic>
        <p:nvPicPr>
          <p:cNvPr id="9" name="Image 6" descr="https://kimi-img.moonshot.cn/pub/slides/slides_tmpl/image/25-10-11-20:14:24-d3l4k80s8jdo4os5emh0.png"/>
          <p:cNvPicPr>
            <a:picLocks noChangeAspect="1"/>
          </p:cNvPicPr>
          <p:nvPr/>
        </p:nvPicPr>
        <p:blipFill>
          <a:blip r:embed="rId6"/>
          <a:stretch>
            <a:fillRect/>
          </a:stretch>
        </p:blipFill>
        <p:spPr>
          <a:xfrm>
            <a:off x="4232275" y="1576070"/>
            <a:ext cx="996315" cy="978535"/>
          </a:xfrm>
          <a:prstGeom prst="rect">
            <a:avLst/>
          </a:prstGeom>
        </p:spPr>
      </p:pic>
      <p:pic>
        <p:nvPicPr>
          <p:cNvPr id="10" name="Image 7" descr="https://kimi-img.moonshot.cn/pub/slides/slides_tmpl/image/25-10-11-20:14:20-d3l4k70s8jdo4os5em8g.png"/>
          <p:cNvPicPr>
            <a:picLocks noChangeAspect="1"/>
          </p:cNvPicPr>
          <p:nvPr/>
        </p:nvPicPr>
        <p:blipFill>
          <a:blip r:embed="rId7"/>
          <a:stretch>
            <a:fillRect/>
          </a:stretch>
        </p:blipFill>
        <p:spPr>
          <a:xfrm>
            <a:off x="9933305" y="1775460"/>
            <a:ext cx="1087755" cy="740410"/>
          </a:xfrm>
          <a:prstGeom prst="rect">
            <a:avLst/>
          </a:prstGeom>
        </p:spPr>
      </p:pic>
      <p:sp>
        <p:nvSpPr>
          <p:cNvPr id="11" name="Text 1"/>
          <p:cNvSpPr/>
          <p:nvPr/>
        </p:nvSpPr>
        <p:spPr>
          <a:xfrm>
            <a:off x="582295" y="2214245"/>
            <a:ext cx="2477135" cy="701040"/>
          </a:xfrm>
          <a:prstGeom prst="rect">
            <a:avLst/>
          </a:prstGeom>
          <a:noFill/>
        </p:spPr>
        <p:txBody>
          <a:bodyPr wrap="square" lIns="0" tIns="0" rIns="0" bIns="0" rtlCol="0" anchor="t"/>
          <a:lstStyle/>
          <a:p>
            <a:pPr algn="ctr">
              <a:lnSpc>
                <a:spcPct val="100000"/>
              </a:lnSpc>
            </a:pPr>
            <a:r>
              <a:rPr lang="en-US" sz="1800" dirty="0">
                <a:solidFill>
                  <a:srgbClr val="3373F8"/>
                </a:solidFill>
                <a:latin typeface="MiSans" panose="00000500000000000000" pitchFamily="34" charset="-122"/>
                <a:ea typeface="MiSans" panose="00000500000000000000" pitchFamily="34" charset="-122"/>
                <a:cs typeface="MiSans" panose="00000500000000000000" pitchFamily="34" charset="-120"/>
              </a:rPr>
              <a:t>委外费用</a:t>
            </a:r>
            <a:endParaRPr lang="en-US" sz="1600" dirty="0"/>
          </a:p>
        </p:txBody>
      </p:sp>
      <p:sp>
        <p:nvSpPr>
          <p:cNvPr id="12" name="Text 2"/>
          <p:cNvSpPr/>
          <p:nvPr/>
        </p:nvSpPr>
        <p:spPr>
          <a:xfrm>
            <a:off x="611505" y="2829560"/>
            <a:ext cx="2461895" cy="3034665"/>
          </a:xfrm>
          <a:prstGeom prst="rect">
            <a:avLst/>
          </a:prstGeom>
          <a:noFill/>
        </p:spPr>
        <p:txBody>
          <a:bodyPr wrap="square" lIns="0" tIns="0" rIns="0" bIns="0" rtlCol="0" anchor="t"/>
          <a:lstStyle/>
          <a:p>
            <a:pPr algn="just">
              <a:lnSpc>
                <a:spcPct val="150000"/>
              </a:lnSpc>
            </a:pPr>
            <a:r>
              <a:rPr lang="en-US" sz="1400" dirty="0">
                <a:solidFill>
                  <a:srgbClr val="262626"/>
                </a:solidFill>
                <a:latin typeface="MiSans" panose="00000500000000000000" pitchFamily="34" charset="-122"/>
                <a:ea typeface="MiSans" panose="00000500000000000000" pitchFamily="34" charset="-122"/>
                <a:cs typeface="MiSans" panose="00000500000000000000" pitchFamily="34" charset="-120"/>
              </a:rPr>
              <a:t>原始凭证为委外合同、支付款项凭证及发票。委托境内机构或个人研发的费用按实际发生额的80%计入可加计扣除范围。</a:t>
            </a:r>
            <a:endParaRPr lang="en-US" sz="1600" dirty="0"/>
          </a:p>
        </p:txBody>
      </p:sp>
      <p:sp>
        <p:nvSpPr>
          <p:cNvPr id="13" name="Text 3"/>
          <p:cNvSpPr/>
          <p:nvPr/>
        </p:nvSpPr>
        <p:spPr>
          <a:xfrm>
            <a:off x="3442970" y="2655570"/>
            <a:ext cx="2515235" cy="701040"/>
          </a:xfrm>
          <a:prstGeom prst="rect">
            <a:avLst/>
          </a:prstGeom>
          <a:noFill/>
        </p:spPr>
        <p:txBody>
          <a:bodyPr wrap="square" lIns="0" tIns="0" rIns="0" bIns="0" rtlCol="0" anchor="t"/>
          <a:lstStyle/>
          <a:p>
            <a:pPr algn="ctr">
              <a:lnSpc>
                <a:spcPct val="100000"/>
              </a:lnSpc>
            </a:pPr>
            <a:r>
              <a:rPr lang="en-US" sz="1800" dirty="0">
                <a:solidFill>
                  <a:srgbClr val="3373F8"/>
                </a:solidFill>
                <a:latin typeface="MiSans" panose="00000500000000000000" pitchFamily="34" charset="-122"/>
                <a:ea typeface="MiSans" panose="00000500000000000000" pitchFamily="34" charset="-122"/>
                <a:cs typeface="MiSans" panose="00000500000000000000" pitchFamily="34" charset="-120"/>
              </a:rPr>
              <a:t>委托境外研发</a:t>
            </a:r>
            <a:endParaRPr lang="en-US" sz="1600" dirty="0"/>
          </a:p>
        </p:txBody>
      </p:sp>
      <p:sp>
        <p:nvSpPr>
          <p:cNvPr id="14" name="Text 4"/>
          <p:cNvSpPr/>
          <p:nvPr/>
        </p:nvSpPr>
        <p:spPr>
          <a:xfrm>
            <a:off x="3510280" y="3270885"/>
            <a:ext cx="2461895" cy="3034665"/>
          </a:xfrm>
          <a:prstGeom prst="rect">
            <a:avLst/>
          </a:prstGeom>
          <a:noFill/>
        </p:spPr>
        <p:txBody>
          <a:bodyPr wrap="square" lIns="0" tIns="0" rIns="0" bIns="0" rtlCol="0" anchor="t"/>
          <a:lstStyle/>
          <a:p>
            <a:pPr algn="just">
              <a:lnSpc>
                <a:spcPct val="150000"/>
              </a:lnSpc>
            </a:pPr>
            <a:r>
              <a:rPr lang="en-US" sz="1400" dirty="0">
                <a:solidFill>
                  <a:srgbClr val="262626"/>
                </a:solidFill>
                <a:latin typeface="MiSans" panose="00000500000000000000" pitchFamily="34" charset="-122"/>
                <a:ea typeface="MiSans" panose="00000500000000000000" pitchFamily="34" charset="-122"/>
                <a:cs typeface="MiSans" panose="00000500000000000000" pitchFamily="34" charset="-120"/>
              </a:rPr>
              <a:t>委托境外机构的费用不超过境内研发费用三分之二的部分可享受加计扣除，需留存受托方提供的研发项目费用支出明细情况。</a:t>
            </a:r>
            <a:endParaRPr lang="en-US" sz="1600" dirty="0"/>
          </a:p>
        </p:txBody>
      </p:sp>
      <p:sp>
        <p:nvSpPr>
          <p:cNvPr id="15" name="Text 5"/>
          <p:cNvSpPr/>
          <p:nvPr/>
        </p:nvSpPr>
        <p:spPr>
          <a:xfrm>
            <a:off x="6323330" y="2200910"/>
            <a:ext cx="2515235" cy="701040"/>
          </a:xfrm>
          <a:prstGeom prst="rect">
            <a:avLst/>
          </a:prstGeom>
          <a:noFill/>
        </p:spPr>
        <p:txBody>
          <a:bodyPr wrap="square" lIns="0" tIns="0" rIns="0" bIns="0" rtlCol="0" anchor="t"/>
          <a:lstStyle/>
          <a:p>
            <a:pPr algn="ctr">
              <a:lnSpc>
                <a:spcPct val="100000"/>
              </a:lnSpc>
            </a:pPr>
            <a:r>
              <a:rPr lang="en-US" sz="1800" dirty="0">
                <a:solidFill>
                  <a:srgbClr val="3373F8"/>
                </a:solidFill>
                <a:latin typeface="MiSans" panose="00000500000000000000" pitchFamily="34" charset="-122"/>
                <a:ea typeface="MiSans" panose="00000500000000000000" pitchFamily="34" charset="-122"/>
                <a:cs typeface="MiSans" panose="00000500000000000000" pitchFamily="34" charset="-120"/>
              </a:rPr>
              <a:t>设计调试与试验费</a:t>
            </a:r>
            <a:endParaRPr lang="en-US" sz="1600" dirty="0"/>
          </a:p>
        </p:txBody>
      </p:sp>
      <p:sp>
        <p:nvSpPr>
          <p:cNvPr id="16" name="Text 6"/>
          <p:cNvSpPr/>
          <p:nvPr/>
        </p:nvSpPr>
        <p:spPr>
          <a:xfrm>
            <a:off x="6390640" y="2816225"/>
            <a:ext cx="2461895" cy="3034665"/>
          </a:xfrm>
          <a:prstGeom prst="rect">
            <a:avLst/>
          </a:prstGeom>
          <a:noFill/>
        </p:spPr>
        <p:txBody>
          <a:bodyPr wrap="square" lIns="0" tIns="0" rIns="0" bIns="0" rtlCol="0" anchor="t"/>
          <a:lstStyle/>
          <a:p>
            <a:pPr algn="just">
              <a:lnSpc>
                <a:spcPct val="150000"/>
              </a:lnSpc>
            </a:pPr>
            <a:r>
              <a:rPr lang="en-US" sz="1400" dirty="0">
                <a:solidFill>
                  <a:srgbClr val="262626"/>
                </a:solidFill>
                <a:latin typeface="MiSans" panose="00000500000000000000" pitchFamily="34" charset="-122"/>
                <a:ea typeface="MiSans" panose="00000500000000000000" pitchFamily="34" charset="-122"/>
                <a:cs typeface="MiSans" panose="00000500000000000000" pitchFamily="34" charset="-120"/>
              </a:rPr>
              <a:t>设计费用、装备调试费与试验费用根据各项经济业务实际发生的原始凭证直接计入各研发项目，确保费用归属清晰准确。</a:t>
            </a:r>
            <a:endParaRPr lang="en-US" sz="1600" dirty="0"/>
          </a:p>
        </p:txBody>
      </p:sp>
      <p:sp>
        <p:nvSpPr>
          <p:cNvPr id="17" name="Text 7"/>
          <p:cNvSpPr/>
          <p:nvPr/>
        </p:nvSpPr>
        <p:spPr>
          <a:xfrm>
            <a:off x="9116695" y="2704465"/>
            <a:ext cx="2515235" cy="701040"/>
          </a:xfrm>
          <a:prstGeom prst="rect">
            <a:avLst/>
          </a:prstGeom>
          <a:noFill/>
        </p:spPr>
        <p:txBody>
          <a:bodyPr wrap="square" lIns="0" tIns="0" rIns="0" bIns="0" rtlCol="0" anchor="t"/>
          <a:lstStyle/>
          <a:p>
            <a:pPr algn="ctr">
              <a:lnSpc>
                <a:spcPct val="100000"/>
              </a:lnSpc>
            </a:pPr>
            <a:r>
              <a:rPr lang="en-US" sz="1800" dirty="0">
                <a:solidFill>
                  <a:srgbClr val="3373F8"/>
                </a:solidFill>
                <a:latin typeface="MiSans" panose="00000500000000000000" pitchFamily="34" charset="-122"/>
                <a:ea typeface="MiSans" panose="00000500000000000000" pitchFamily="34" charset="-122"/>
                <a:cs typeface="MiSans" panose="00000500000000000000" pitchFamily="34" charset="-120"/>
              </a:rPr>
              <a:t>其他费用限额控制</a:t>
            </a:r>
            <a:endParaRPr lang="en-US" sz="1600" dirty="0"/>
          </a:p>
        </p:txBody>
      </p:sp>
      <p:sp>
        <p:nvSpPr>
          <p:cNvPr id="18" name="Text 8"/>
          <p:cNvSpPr/>
          <p:nvPr/>
        </p:nvSpPr>
        <p:spPr>
          <a:xfrm>
            <a:off x="9184005" y="3319780"/>
            <a:ext cx="2461895" cy="2985770"/>
          </a:xfrm>
          <a:prstGeom prst="rect">
            <a:avLst/>
          </a:prstGeom>
          <a:noFill/>
        </p:spPr>
        <p:txBody>
          <a:bodyPr wrap="square" lIns="0" tIns="0" rIns="0" bIns="0" rtlCol="0" anchor="t"/>
          <a:lstStyle/>
          <a:p>
            <a:pPr algn="just">
              <a:lnSpc>
                <a:spcPct val="150000"/>
              </a:lnSpc>
            </a:pPr>
            <a:r>
              <a:rPr lang="en-US" sz="1400" dirty="0">
                <a:solidFill>
                  <a:srgbClr val="262626"/>
                </a:solidFill>
                <a:latin typeface="MiSans" panose="00000500000000000000" pitchFamily="34" charset="-122"/>
                <a:ea typeface="MiSans" panose="00000500000000000000" pitchFamily="34" charset="-122"/>
                <a:cs typeface="MiSans" panose="00000500000000000000" pitchFamily="34" charset="-120"/>
              </a:rPr>
              <a:t>包括图书资料费、专家咨询费、知识产权申请费、差旅费、会议费、职工福利费、补充养老保险费、补充医疗保险费等，总额不得超过可加计扣除研发费用总额的10%。</a:t>
            </a:r>
            <a:endParaRPr lang="en-US" sz="1600" dirty="0"/>
          </a:p>
        </p:txBody>
      </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ttps://kimi-img.moonshot.cn/pub/slides/slides_tmpl/image/25-10-11-20:14:21-d3l4k78s8jdo4os5embg.png"/>
          <p:cNvPicPr>
            <a:picLocks noChangeAspect="1"/>
          </p:cNvPicPr>
          <p:nvPr/>
        </p:nvPicPr>
        <p:blipFill>
          <a:blip r:embed="rId3">
            <a:alphaModFix amt="47000"/>
          </a:blip>
          <a:stretch>
            <a:fillRect/>
          </a:stretch>
        </p:blipFill>
        <p:spPr>
          <a:xfrm>
            <a:off x="461645" y="1739265"/>
            <a:ext cx="11273790" cy="4507865"/>
          </a:xfrm>
          <a:prstGeom prst="rect">
            <a:avLst/>
          </a:prstGeom>
        </p:spPr>
      </p:pic>
      <p:sp>
        <p:nvSpPr>
          <p:cNvPr id="3" name="Text 0"/>
          <p:cNvSpPr/>
          <p:nvPr/>
        </p:nvSpPr>
        <p:spPr>
          <a:xfrm>
            <a:off x="777875" y="646430"/>
            <a:ext cx="10649585" cy="822920"/>
          </a:xfrm>
          <a:prstGeom prst="rect">
            <a:avLst/>
          </a:prstGeom>
          <a:noFill/>
        </p:spPr>
        <p:txBody>
          <a:bodyPr wrap="square" lIns="0" tIns="0" rIns="0" bIns="0" rtlCol="0" anchor="t">
            <a:spAutoFit/>
          </a:bodyPr>
          <a:lstStyle/>
          <a:p>
            <a:pPr>
              <a:lnSpc>
                <a:spcPct val="150000"/>
              </a:lnSpc>
            </a:pPr>
            <a:r>
              <a:rPr lang="en-US" sz="3600" dirty="0">
                <a:solidFill>
                  <a:srgbClr val="0D0D0D"/>
                </a:solidFill>
                <a:latin typeface="MiSans" panose="00000500000000000000" pitchFamily="34" charset="-122"/>
                <a:ea typeface="MiSans" panose="00000500000000000000" pitchFamily="34" charset="-122"/>
                <a:cs typeface="MiSans" panose="00000500000000000000" pitchFamily="34" charset="-120"/>
              </a:rPr>
              <a:t>研发支出辅助账的设置与填报规范</a:t>
            </a:r>
            <a:endParaRPr lang="en-US" sz="1600" dirty="0"/>
          </a:p>
        </p:txBody>
      </p:sp>
      <p:pic>
        <p:nvPicPr>
          <p:cNvPr id="4" name="Image 1" descr="https://kimi-img.moonshot.cn/pub/slides/slides_tmpl/image/25-10-11-20:14:19-d3l4k6os8jdo4os5em60.png"/>
          <p:cNvPicPr>
            <a:picLocks noChangeAspect="1"/>
          </p:cNvPicPr>
          <p:nvPr/>
        </p:nvPicPr>
        <p:blipFill>
          <a:blip r:embed="rId4"/>
          <a:stretch>
            <a:fillRect/>
          </a:stretch>
        </p:blipFill>
        <p:spPr>
          <a:xfrm>
            <a:off x="7670165" y="1551940"/>
            <a:ext cx="3068955" cy="2056765"/>
          </a:xfrm>
          <a:prstGeom prst="rect">
            <a:avLst/>
          </a:prstGeom>
        </p:spPr>
      </p:pic>
      <p:pic>
        <p:nvPicPr>
          <p:cNvPr id="5" name="Image 2" descr="https://kimi-img.moonshot.cn/pub/slides/slides_tmpl/image/25-10-11-20:14:20-d3l4k70s8jdo4os5em8g.png"/>
          <p:cNvPicPr>
            <a:picLocks noChangeAspect="1"/>
          </p:cNvPicPr>
          <p:nvPr/>
        </p:nvPicPr>
        <p:blipFill>
          <a:blip r:embed="rId5"/>
          <a:stretch>
            <a:fillRect/>
          </a:stretch>
        </p:blipFill>
        <p:spPr>
          <a:xfrm>
            <a:off x="1522730" y="4368800"/>
            <a:ext cx="3205480" cy="2181225"/>
          </a:xfrm>
          <a:prstGeom prst="rect">
            <a:avLst/>
          </a:prstGeom>
        </p:spPr>
      </p:pic>
      <p:sp>
        <p:nvSpPr>
          <p:cNvPr id="6" name="Text 1"/>
          <p:cNvSpPr/>
          <p:nvPr/>
        </p:nvSpPr>
        <p:spPr>
          <a:xfrm>
            <a:off x="821055" y="2084705"/>
            <a:ext cx="4998085" cy="385445"/>
          </a:xfrm>
          <a:prstGeom prst="rect">
            <a:avLst/>
          </a:prstGeom>
          <a:noFill/>
        </p:spPr>
        <p:txBody>
          <a:bodyPr wrap="square" lIns="0" tIns="0" rIns="0" bIns="0" rtlCol="0" anchor="t"/>
          <a:lstStyle/>
          <a:p>
            <a:pPr>
              <a:lnSpc>
                <a:spcPct val="100000"/>
              </a:lnSpc>
            </a:pPr>
            <a:r>
              <a:rPr lang="en-US" sz="2000" dirty="0">
                <a:solidFill>
                  <a:srgbClr val="4B62E1"/>
                </a:solidFill>
                <a:latin typeface="MiSans" panose="00000500000000000000" pitchFamily="34" charset="-122"/>
                <a:ea typeface="MiSans" panose="00000500000000000000" pitchFamily="34" charset="-122"/>
                <a:cs typeface="MiSans" panose="00000500000000000000" pitchFamily="34" charset="-120"/>
              </a:rPr>
              <a:t>辅助账设置要求</a:t>
            </a:r>
            <a:endParaRPr lang="en-US" sz="1600" dirty="0"/>
          </a:p>
        </p:txBody>
      </p:sp>
      <p:sp>
        <p:nvSpPr>
          <p:cNvPr id="7" name="Text 2"/>
          <p:cNvSpPr/>
          <p:nvPr/>
        </p:nvSpPr>
        <p:spPr>
          <a:xfrm>
            <a:off x="795655" y="2501265"/>
            <a:ext cx="4998085" cy="1598295"/>
          </a:xfrm>
          <a:prstGeom prst="rect">
            <a:avLst/>
          </a:prstGeom>
          <a:noFill/>
        </p:spPr>
        <p:txBody>
          <a:bodyPr wrap="square" lIns="0" tIns="0" rIns="0" bIns="0" rtlCol="0" anchor="t"/>
          <a:lstStyle/>
          <a:p>
            <a:pPr algn="just">
              <a:lnSpc>
                <a:spcPct val="150000"/>
              </a:lnSpc>
            </a:pPr>
            <a:r>
              <a:rPr lang="en-US" sz="1400" dirty="0">
                <a:solidFill>
                  <a:srgbClr val="262626"/>
                </a:solidFill>
                <a:latin typeface="MiSans" panose="00000500000000000000" pitchFamily="34" charset="-122"/>
                <a:ea typeface="MiSans" panose="00000500000000000000" pitchFamily="34" charset="-122"/>
                <a:cs typeface="MiSans" panose="00000500000000000000" pitchFamily="34" charset="-120"/>
              </a:rPr>
              <a:t>企业应按国家财务会计制度要求对研发支出进行会计处理，对享受加计扣除的研发费用按研发项目设置辅助账，准确归集核算当年可加计扣除的各项研发费用实际发生额。在一个纳税年度内进行多项研发活动的，应按不同研发项目分别归集可加计扣除的研发费用，确保项目间费用清晰区分、互不混淆。</a:t>
            </a:r>
            <a:endParaRPr lang="en-US" sz="1600" dirty="0"/>
          </a:p>
        </p:txBody>
      </p:sp>
      <p:sp>
        <p:nvSpPr>
          <p:cNvPr id="8" name="Text 3"/>
          <p:cNvSpPr/>
          <p:nvPr/>
        </p:nvSpPr>
        <p:spPr>
          <a:xfrm>
            <a:off x="6457950" y="4099560"/>
            <a:ext cx="4998085" cy="385445"/>
          </a:xfrm>
          <a:prstGeom prst="rect">
            <a:avLst/>
          </a:prstGeom>
          <a:noFill/>
        </p:spPr>
        <p:txBody>
          <a:bodyPr wrap="square" lIns="0" tIns="0" rIns="0" bIns="0" rtlCol="0" anchor="t"/>
          <a:lstStyle/>
          <a:p>
            <a:pPr>
              <a:lnSpc>
                <a:spcPct val="100000"/>
              </a:lnSpc>
            </a:pPr>
            <a:r>
              <a:rPr lang="en-US" sz="2000" dirty="0">
                <a:solidFill>
                  <a:srgbClr val="4B62E1"/>
                </a:solidFill>
                <a:latin typeface="MiSans" panose="00000500000000000000" pitchFamily="34" charset="-122"/>
                <a:ea typeface="MiSans" panose="00000500000000000000" pitchFamily="34" charset="-122"/>
                <a:cs typeface="MiSans" panose="00000500000000000000" pitchFamily="34" charset="-120"/>
              </a:rPr>
              <a:t>辅助账填报规范与核算原则</a:t>
            </a:r>
            <a:endParaRPr lang="en-US" sz="1600" dirty="0"/>
          </a:p>
        </p:txBody>
      </p:sp>
      <p:sp>
        <p:nvSpPr>
          <p:cNvPr id="9" name="Text 4"/>
          <p:cNvSpPr/>
          <p:nvPr/>
        </p:nvSpPr>
        <p:spPr>
          <a:xfrm>
            <a:off x="6457950" y="4516120"/>
            <a:ext cx="4998085" cy="1598295"/>
          </a:xfrm>
          <a:prstGeom prst="rect">
            <a:avLst/>
          </a:prstGeom>
          <a:noFill/>
        </p:spPr>
        <p:txBody>
          <a:bodyPr wrap="square" lIns="0" tIns="0" rIns="0" bIns="0" rtlCol="0" anchor="t"/>
          <a:lstStyle/>
          <a:p>
            <a:pPr algn="just">
              <a:lnSpc>
                <a:spcPct val="150000"/>
              </a:lnSpc>
            </a:pPr>
            <a:r>
              <a:rPr lang="en-US" sz="1400" dirty="0">
                <a:solidFill>
                  <a:srgbClr val="262626"/>
                </a:solidFill>
                <a:latin typeface="MiSans" panose="00000500000000000000" pitchFamily="34" charset="-122"/>
                <a:ea typeface="MiSans" panose="00000500000000000000" pitchFamily="34" charset="-122"/>
                <a:cs typeface="MiSans" panose="00000500000000000000" pitchFamily="34" charset="-120"/>
              </a:rPr>
              <a:t>研发支出辅助账应包含凭证信息（日期、种类、号数、摘要）、会计凭证记载金额、税法规定的归集金额，以及按税法规定分类的费用明细。企业应对研发费用和生产经营费用分别核算，准确合理归集各项费用支出，对划分不清的不得实行加计扣除，确保税会一致、风险可控。</a:t>
            </a:r>
            <a:endParaRPr lang="en-US" sz="1600" dirty="0"/>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ttps://kimi-img.moonshot.cn/pub/slides/slides_tmpl/image/25-10-11-20:14:22-d3l4k7gs8jdo4os5eme0.png"/>
          <p:cNvPicPr>
            <a:picLocks noChangeAspect="1"/>
          </p:cNvPicPr>
          <p:nvPr/>
        </p:nvPicPr>
        <p:blipFill>
          <a:blip r:embed="rId3"/>
          <a:srcRect t="3226" b="3226"/>
          <a:stretch>
            <a:fillRect/>
          </a:stretch>
        </p:blipFill>
        <p:spPr>
          <a:xfrm>
            <a:off x="8088630" y="1922463"/>
            <a:ext cx="3395345" cy="4517390"/>
          </a:xfrm>
          <a:prstGeom prst="rect">
            <a:avLst/>
          </a:prstGeom>
        </p:spPr>
      </p:pic>
      <p:pic>
        <p:nvPicPr>
          <p:cNvPr id="3" name="Image 1" descr="https://kimi-img.moonshot.cn/pub/slides/slides_tmpl/image/25-10-11-20:14:22-d3l4k7gs8jdo4os5eme0.png"/>
          <p:cNvPicPr>
            <a:picLocks noChangeAspect="1"/>
          </p:cNvPicPr>
          <p:nvPr/>
        </p:nvPicPr>
        <p:blipFill>
          <a:blip r:embed="rId3"/>
          <a:srcRect t="3226" b="3226"/>
          <a:stretch>
            <a:fillRect/>
          </a:stretch>
        </p:blipFill>
        <p:spPr>
          <a:xfrm>
            <a:off x="4448175" y="1916113"/>
            <a:ext cx="3395345" cy="4517390"/>
          </a:xfrm>
          <a:prstGeom prst="rect">
            <a:avLst/>
          </a:prstGeom>
        </p:spPr>
      </p:pic>
      <p:pic>
        <p:nvPicPr>
          <p:cNvPr id="4" name="Image 2" descr="https://kimi-img.moonshot.cn/pub/slides/slides_tmpl/image/25-10-11-20:14:22-d3l4k7gs8jdo4os5eme0.png"/>
          <p:cNvPicPr>
            <a:picLocks noChangeAspect="1"/>
          </p:cNvPicPr>
          <p:nvPr/>
        </p:nvPicPr>
        <p:blipFill>
          <a:blip r:embed="rId3"/>
          <a:srcRect t="3226" b="3226"/>
          <a:stretch>
            <a:fillRect/>
          </a:stretch>
        </p:blipFill>
        <p:spPr>
          <a:xfrm>
            <a:off x="813435" y="1922463"/>
            <a:ext cx="3395345" cy="4517390"/>
          </a:xfrm>
          <a:prstGeom prst="rect">
            <a:avLst/>
          </a:prstGeom>
        </p:spPr>
      </p:pic>
      <p:sp>
        <p:nvSpPr>
          <p:cNvPr id="5" name="Text 0"/>
          <p:cNvSpPr/>
          <p:nvPr/>
        </p:nvSpPr>
        <p:spPr>
          <a:xfrm>
            <a:off x="856298" y="657860"/>
            <a:ext cx="10479405" cy="822920"/>
          </a:xfrm>
          <a:prstGeom prst="rect">
            <a:avLst/>
          </a:prstGeom>
          <a:noFill/>
        </p:spPr>
        <p:txBody>
          <a:bodyPr wrap="square" lIns="0" tIns="0" rIns="0" bIns="0" rtlCol="0" anchor="t">
            <a:spAutoFit/>
          </a:bodyPr>
          <a:lstStyle/>
          <a:p>
            <a:pPr algn="ctr">
              <a:lnSpc>
                <a:spcPct val="150000"/>
              </a:lnSpc>
            </a:pPr>
            <a:r>
              <a:rPr lang="en-US" sz="3600" dirty="0">
                <a:solidFill>
                  <a:srgbClr val="0D0D0D"/>
                </a:solidFill>
                <a:latin typeface="MiSans" panose="00000500000000000000" pitchFamily="34" charset="-122"/>
                <a:ea typeface="MiSans" panose="00000500000000000000" pitchFamily="34" charset="-122"/>
                <a:cs typeface="MiSans" panose="00000500000000000000" pitchFamily="34" charset="-120"/>
              </a:rPr>
              <a:t>高新技术企业研发费用典型问题解析</a:t>
            </a:r>
            <a:endParaRPr lang="en-US" sz="1600" dirty="0"/>
          </a:p>
        </p:txBody>
      </p:sp>
      <p:pic>
        <p:nvPicPr>
          <p:cNvPr id="6" name="Image 3" descr="https://kimi-img.moonshot.cn/pub/slides/slides_tmpl/image/25-10-11-20:14:19-d3l4k6os8jdo4os5em70.png"/>
          <p:cNvPicPr>
            <a:picLocks noChangeAspect="1"/>
          </p:cNvPicPr>
          <p:nvPr/>
        </p:nvPicPr>
        <p:blipFill>
          <a:blip r:embed="rId4"/>
          <a:stretch>
            <a:fillRect/>
          </a:stretch>
        </p:blipFill>
        <p:spPr>
          <a:xfrm rot="5400000" flipH="1">
            <a:off x="1896110" y="1581785"/>
            <a:ext cx="1229995" cy="1043305"/>
          </a:xfrm>
          <a:prstGeom prst="rect">
            <a:avLst/>
          </a:prstGeom>
        </p:spPr>
      </p:pic>
      <p:pic>
        <p:nvPicPr>
          <p:cNvPr id="7" name="Image 4" descr="https://kimi-img.moonshot.cn/pub/slides/slides_tmpl/image/25-10-11-20:14:19-d3l4k6os8jdo4os5em70.png"/>
          <p:cNvPicPr>
            <a:picLocks noChangeAspect="1"/>
          </p:cNvPicPr>
          <p:nvPr/>
        </p:nvPicPr>
        <p:blipFill>
          <a:blip r:embed="rId4"/>
          <a:stretch>
            <a:fillRect/>
          </a:stretch>
        </p:blipFill>
        <p:spPr>
          <a:xfrm rot="5400000" flipH="1">
            <a:off x="5534025" y="1581785"/>
            <a:ext cx="1229995" cy="1043305"/>
          </a:xfrm>
          <a:prstGeom prst="rect">
            <a:avLst/>
          </a:prstGeom>
        </p:spPr>
      </p:pic>
      <p:pic>
        <p:nvPicPr>
          <p:cNvPr id="8" name="Image 5" descr="https://kimi-img.moonshot.cn/pub/slides/slides_tmpl/image/25-10-11-20:14:19-d3l4k6os8jdo4os5em70.png"/>
          <p:cNvPicPr>
            <a:picLocks noChangeAspect="1"/>
          </p:cNvPicPr>
          <p:nvPr/>
        </p:nvPicPr>
        <p:blipFill>
          <a:blip r:embed="rId4"/>
          <a:stretch>
            <a:fillRect/>
          </a:stretch>
        </p:blipFill>
        <p:spPr>
          <a:xfrm rot="5400000" flipH="1">
            <a:off x="9171940" y="1447800"/>
            <a:ext cx="1229995" cy="1043305"/>
          </a:xfrm>
          <a:prstGeom prst="rect">
            <a:avLst/>
          </a:prstGeom>
        </p:spPr>
      </p:pic>
      <p:sp>
        <p:nvSpPr>
          <p:cNvPr id="9" name="Text 1"/>
          <p:cNvSpPr/>
          <p:nvPr/>
        </p:nvSpPr>
        <p:spPr>
          <a:xfrm>
            <a:off x="2166620" y="1701165"/>
            <a:ext cx="688975" cy="536575"/>
          </a:xfrm>
          <a:prstGeom prst="rect">
            <a:avLst/>
          </a:prstGeom>
          <a:noFill/>
        </p:spPr>
        <p:txBody>
          <a:bodyPr wrap="square" lIns="0" tIns="0" rIns="0" bIns="0" rtlCol="0" anchor="t"/>
          <a:lstStyle/>
          <a:p>
            <a:pPr algn="ctr">
              <a:lnSpc>
                <a:spcPct val="100000"/>
              </a:lnSpc>
            </a:pPr>
            <a:r>
              <a:rPr lang="en-US" sz="4000" dirty="0">
                <a:solidFill>
                  <a:srgbClr val="3373F8"/>
                </a:solidFill>
                <a:latin typeface="MiSans" panose="00000500000000000000" pitchFamily="34" charset="-122"/>
                <a:ea typeface="MiSans" panose="00000500000000000000" pitchFamily="34" charset="-122"/>
                <a:cs typeface="MiSans" panose="00000500000000000000" pitchFamily="34" charset="-120"/>
              </a:rPr>
              <a:t>1</a:t>
            </a:r>
            <a:endParaRPr lang="en-US" sz="1600" dirty="0"/>
          </a:p>
        </p:txBody>
      </p:sp>
      <p:sp>
        <p:nvSpPr>
          <p:cNvPr id="10" name="Text 2"/>
          <p:cNvSpPr/>
          <p:nvPr/>
        </p:nvSpPr>
        <p:spPr>
          <a:xfrm>
            <a:off x="1097915" y="2896870"/>
            <a:ext cx="2805430" cy="786765"/>
          </a:xfrm>
          <a:prstGeom prst="rect">
            <a:avLst/>
          </a:prstGeom>
          <a:noFill/>
        </p:spPr>
        <p:txBody>
          <a:bodyPr wrap="square" lIns="0" tIns="0" rIns="0" bIns="0" rtlCol="0" anchor="t"/>
          <a:lstStyle/>
          <a:p>
            <a:pPr algn="ctr">
              <a:lnSpc>
                <a:spcPct val="100000"/>
              </a:lnSpc>
            </a:pPr>
            <a:r>
              <a:rPr lang="en-US" sz="2000" dirty="0">
                <a:solidFill>
                  <a:srgbClr val="FFFFFF"/>
                </a:solidFill>
                <a:latin typeface="MiSans" panose="00000500000000000000" pitchFamily="34" charset="-122"/>
                <a:ea typeface="MiSans" panose="00000500000000000000" pitchFamily="34" charset="-122"/>
                <a:cs typeface="MiSans" panose="00000500000000000000" pitchFamily="34" charset="-120"/>
              </a:rPr>
              <a:t>时间逻辑与费用限额</a:t>
            </a:r>
            <a:endParaRPr lang="en-US" sz="1600" dirty="0"/>
          </a:p>
        </p:txBody>
      </p:sp>
      <p:sp>
        <p:nvSpPr>
          <p:cNvPr id="11" name="Text 3"/>
          <p:cNvSpPr/>
          <p:nvPr/>
        </p:nvSpPr>
        <p:spPr>
          <a:xfrm>
            <a:off x="1120140" y="3606165"/>
            <a:ext cx="2761615" cy="2647315"/>
          </a:xfrm>
          <a:prstGeom prst="rect">
            <a:avLst/>
          </a:prstGeom>
          <a:noFill/>
        </p:spPr>
        <p:txBody>
          <a:bodyPr wrap="square" lIns="0" tIns="0" rIns="0" bIns="0" rtlCol="0" anchor="t"/>
          <a:lstStyle/>
          <a:p>
            <a:pPr algn="just">
              <a:lnSpc>
                <a:spcPct val="150000"/>
              </a:lnSpc>
            </a:pPr>
            <a:r>
              <a:rPr lang="en-US" sz="1400" dirty="0">
                <a:solidFill>
                  <a:srgbClr val="FFFFFF"/>
                </a:solidFill>
                <a:latin typeface="MiSans" panose="00000500000000000000" pitchFamily="34" charset="-122"/>
                <a:ea typeface="MiSans" panose="00000500000000000000" pitchFamily="34" charset="-122"/>
                <a:cs typeface="MiSans" panose="00000500000000000000" pitchFamily="34" charset="-120"/>
              </a:rPr>
              <a:t>确保研发项目报告周期、原材料领用时间、知识产权取得时间等逻辑合理。其他费用总额不得超过可加计扣除研发费用总额的10%，需严格限额控制。</a:t>
            </a:r>
            <a:endParaRPr lang="en-US" sz="1600" dirty="0"/>
          </a:p>
        </p:txBody>
      </p:sp>
      <p:sp>
        <p:nvSpPr>
          <p:cNvPr id="12" name="Text 4"/>
          <p:cNvSpPr/>
          <p:nvPr/>
        </p:nvSpPr>
        <p:spPr>
          <a:xfrm>
            <a:off x="5804535" y="1701165"/>
            <a:ext cx="688975" cy="536575"/>
          </a:xfrm>
          <a:prstGeom prst="rect">
            <a:avLst/>
          </a:prstGeom>
          <a:noFill/>
        </p:spPr>
        <p:txBody>
          <a:bodyPr wrap="square" lIns="0" tIns="0" rIns="0" bIns="0" rtlCol="0" anchor="t"/>
          <a:lstStyle/>
          <a:p>
            <a:pPr algn="ctr">
              <a:lnSpc>
                <a:spcPct val="100000"/>
              </a:lnSpc>
            </a:pPr>
            <a:r>
              <a:rPr lang="en-US" sz="4000" dirty="0">
                <a:solidFill>
                  <a:srgbClr val="3373F8"/>
                </a:solidFill>
                <a:latin typeface="MiSans" panose="00000500000000000000" pitchFamily="34" charset="-122"/>
                <a:ea typeface="MiSans" panose="00000500000000000000" pitchFamily="34" charset="-122"/>
                <a:cs typeface="MiSans" panose="00000500000000000000" pitchFamily="34" charset="-120"/>
              </a:rPr>
              <a:t>2</a:t>
            </a:r>
            <a:endParaRPr lang="en-US" sz="1600" dirty="0"/>
          </a:p>
        </p:txBody>
      </p:sp>
      <p:sp>
        <p:nvSpPr>
          <p:cNvPr id="13" name="Text 5"/>
          <p:cNvSpPr/>
          <p:nvPr/>
        </p:nvSpPr>
        <p:spPr>
          <a:xfrm>
            <a:off x="4733290" y="2896870"/>
            <a:ext cx="2805430" cy="786765"/>
          </a:xfrm>
          <a:prstGeom prst="rect">
            <a:avLst/>
          </a:prstGeom>
          <a:noFill/>
        </p:spPr>
        <p:txBody>
          <a:bodyPr wrap="square" lIns="0" tIns="0" rIns="0" bIns="0" rtlCol="0" anchor="t"/>
          <a:lstStyle/>
          <a:p>
            <a:pPr algn="ctr">
              <a:lnSpc>
                <a:spcPct val="100000"/>
              </a:lnSpc>
            </a:pPr>
            <a:r>
              <a:rPr lang="en-US" sz="2000" dirty="0">
                <a:solidFill>
                  <a:srgbClr val="FFFFFF"/>
                </a:solidFill>
                <a:latin typeface="MiSans" panose="00000500000000000000" pitchFamily="34" charset="-122"/>
                <a:ea typeface="MiSans" panose="00000500000000000000" pitchFamily="34" charset="-122"/>
                <a:cs typeface="MiSans" panose="00000500000000000000" pitchFamily="34" charset="-120"/>
              </a:rPr>
              <a:t>特殊收入与产品销售处理</a:t>
            </a:r>
            <a:endParaRPr lang="en-US" sz="1600" dirty="0"/>
          </a:p>
        </p:txBody>
      </p:sp>
      <p:sp>
        <p:nvSpPr>
          <p:cNvPr id="14" name="Text 6"/>
          <p:cNvSpPr/>
          <p:nvPr/>
        </p:nvSpPr>
        <p:spPr>
          <a:xfrm>
            <a:off x="4755515" y="3606165"/>
            <a:ext cx="2761615" cy="2647315"/>
          </a:xfrm>
          <a:prstGeom prst="rect">
            <a:avLst/>
          </a:prstGeom>
          <a:noFill/>
        </p:spPr>
        <p:txBody>
          <a:bodyPr wrap="square" lIns="0" tIns="0" rIns="0" bIns="0" rtlCol="0" anchor="t"/>
          <a:lstStyle/>
          <a:p>
            <a:pPr algn="just">
              <a:lnSpc>
                <a:spcPct val="150000"/>
              </a:lnSpc>
            </a:pPr>
            <a:r>
              <a:rPr lang="en-US" sz="1400" dirty="0">
                <a:solidFill>
                  <a:srgbClr val="FFFFFF"/>
                </a:solidFill>
                <a:latin typeface="MiSans" panose="00000500000000000000" pitchFamily="34" charset="-122"/>
                <a:ea typeface="MiSans" panose="00000500000000000000" pitchFamily="34" charset="-122"/>
                <a:cs typeface="MiSans" panose="00000500000000000000" pitchFamily="34" charset="-120"/>
              </a:rPr>
              <a:t>特殊收入应冲减对应的可加计扣除研发费用，不足扣减的按零计算。研发活动直接形成产品或作为组成部分形成的产品对外销售的，研发费用中对应的材料费用不得加计扣除，可在销售当年冲减。</a:t>
            </a:r>
            <a:endParaRPr lang="en-US" sz="1600" dirty="0"/>
          </a:p>
        </p:txBody>
      </p:sp>
      <p:sp>
        <p:nvSpPr>
          <p:cNvPr id="15" name="Text 7"/>
          <p:cNvSpPr/>
          <p:nvPr/>
        </p:nvSpPr>
        <p:spPr>
          <a:xfrm>
            <a:off x="9442450" y="1567180"/>
            <a:ext cx="688975" cy="536575"/>
          </a:xfrm>
          <a:prstGeom prst="rect">
            <a:avLst/>
          </a:prstGeom>
          <a:noFill/>
        </p:spPr>
        <p:txBody>
          <a:bodyPr wrap="square" lIns="0" tIns="0" rIns="0" bIns="0" rtlCol="0" anchor="t"/>
          <a:lstStyle/>
          <a:p>
            <a:pPr algn="ctr">
              <a:lnSpc>
                <a:spcPct val="100000"/>
              </a:lnSpc>
            </a:pPr>
            <a:r>
              <a:rPr lang="en-US" sz="4000" dirty="0">
                <a:solidFill>
                  <a:srgbClr val="3373F8"/>
                </a:solidFill>
                <a:latin typeface="MiSans" panose="00000500000000000000" pitchFamily="34" charset="-122"/>
                <a:ea typeface="MiSans" panose="00000500000000000000" pitchFamily="34" charset="-122"/>
                <a:cs typeface="MiSans" panose="00000500000000000000" pitchFamily="34" charset="-120"/>
              </a:rPr>
              <a:t>3</a:t>
            </a:r>
            <a:endParaRPr lang="en-US" sz="1600" dirty="0"/>
          </a:p>
        </p:txBody>
      </p:sp>
      <p:sp>
        <p:nvSpPr>
          <p:cNvPr id="16" name="Text 8"/>
          <p:cNvSpPr/>
          <p:nvPr/>
        </p:nvSpPr>
        <p:spPr>
          <a:xfrm>
            <a:off x="8373745" y="2896870"/>
            <a:ext cx="2805430" cy="786765"/>
          </a:xfrm>
          <a:prstGeom prst="rect">
            <a:avLst/>
          </a:prstGeom>
          <a:noFill/>
        </p:spPr>
        <p:txBody>
          <a:bodyPr wrap="square" lIns="0" tIns="0" rIns="0" bIns="0" rtlCol="0" anchor="t"/>
          <a:lstStyle/>
          <a:p>
            <a:pPr algn="ctr">
              <a:lnSpc>
                <a:spcPct val="100000"/>
              </a:lnSpc>
            </a:pPr>
            <a:r>
              <a:rPr lang="en-US" sz="2000" dirty="0">
                <a:solidFill>
                  <a:srgbClr val="FFFFFF"/>
                </a:solidFill>
                <a:latin typeface="MiSans" panose="00000500000000000000" pitchFamily="34" charset="-122"/>
                <a:ea typeface="MiSans" panose="00000500000000000000" pitchFamily="34" charset="-122"/>
                <a:cs typeface="MiSans" panose="00000500000000000000" pitchFamily="34" charset="-120"/>
              </a:rPr>
              <a:t>共用资源分配与核算</a:t>
            </a:r>
            <a:endParaRPr lang="en-US" sz="1600" dirty="0"/>
          </a:p>
        </p:txBody>
      </p:sp>
      <p:sp>
        <p:nvSpPr>
          <p:cNvPr id="17" name="Text 9"/>
          <p:cNvSpPr/>
          <p:nvPr/>
        </p:nvSpPr>
        <p:spPr>
          <a:xfrm>
            <a:off x="8395970" y="3606165"/>
            <a:ext cx="2761615" cy="2647315"/>
          </a:xfrm>
          <a:prstGeom prst="rect">
            <a:avLst/>
          </a:prstGeom>
          <a:noFill/>
        </p:spPr>
        <p:txBody>
          <a:bodyPr wrap="square" lIns="0" tIns="0" rIns="0" bIns="0" rtlCol="0" anchor="t"/>
          <a:lstStyle/>
          <a:p>
            <a:pPr algn="just">
              <a:lnSpc>
                <a:spcPct val="150000"/>
              </a:lnSpc>
            </a:pPr>
            <a:r>
              <a:rPr lang="en-US" sz="1400" dirty="0">
                <a:solidFill>
                  <a:srgbClr val="FFFFFF"/>
                </a:solidFill>
                <a:latin typeface="MiSans" panose="00000500000000000000" pitchFamily="34" charset="-122"/>
                <a:ea typeface="MiSans" panose="00000500000000000000" pitchFamily="34" charset="-122"/>
                <a:cs typeface="MiSans" panose="00000500000000000000" pitchFamily="34" charset="-120"/>
              </a:rPr>
              <a:t>共用人员及仪器设备无形资产需对活动及使用情况做必要记录，按实际工时占比等合理方法在研发费用和生产经营费用间分配，未分配的不得加计扣除，确保费用归属准确。</a:t>
            </a:r>
            <a:endParaRPr lang="en-US" sz="1600" dirty="0"/>
          </a:p>
        </p:txBody>
      </p:sp>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81660" y="532130"/>
            <a:ext cx="10479405" cy="822920"/>
          </a:xfrm>
          <a:prstGeom prst="rect">
            <a:avLst/>
          </a:prstGeom>
          <a:noFill/>
        </p:spPr>
        <p:txBody>
          <a:bodyPr wrap="square" lIns="0" tIns="0" rIns="0" bIns="0" rtlCol="0" anchor="t">
            <a:spAutoFit/>
          </a:bodyPr>
          <a:lstStyle/>
          <a:p>
            <a:pPr>
              <a:lnSpc>
                <a:spcPct val="150000"/>
              </a:lnSpc>
            </a:pPr>
            <a:r>
              <a:rPr lang="en-US" sz="3600" dirty="0">
                <a:solidFill>
                  <a:srgbClr val="0D0D0D"/>
                </a:solidFill>
                <a:latin typeface="MiSans" panose="00000500000000000000" pitchFamily="34" charset="-122"/>
                <a:ea typeface="MiSans" panose="00000500000000000000" pitchFamily="34" charset="-122"/>
                <a:cs typeface="MiSans" panose="00000500000000000000" pitchFamily="34" charset="-120"/>
              </a:rPr>
              <a:t>三大归集口径差异与合规管理建议</a:t>
            </a:r>
            <a:endParaRPr lang="en-US" sz="1600" dirty="0"/>
          </a:p>
        </p:txBody>
      </p:sp>
      <p:pic>
        <p:nvPicPr>
          <p:cNvPr id="3" name="Image 0" descr="https://kimi-img.moonshot.cn/pub/slides/slides_tmpl/image/25-10-11-20:14:18-d3l4k6gs8jdo4os5em40.png"/>
          <p:cNvPicPr>
            <a:picLocks noChangeAspect="1"/>
          </p:cNvPicPr>
          <p:nvPr/>
        </p:nvPicPr>
        <p:blipFill>
          <a:blip r:embed="rId11"/>
          <a:stretch>
            <a:fillRect/>
          </a:stretch>
        </p:blipFill>
        <p:spPr>
          <a:xfrm>
            <a:off x="9777095" y="697230"/>
            <a:ext cx="1397000" cy="1397000"/>
          </a:xfrm>
          <a:prstGeom prst="rect">
            <a:avLst/>
          </a:prstGeom>
        </p:spPr>
      </p:pic>
      <p:sp>
        <p:nvSpPr>
          <p:cNvPr id="4" name="Text 1"/>
          <p:cNvSpPr/>
          <p:nvPr>
            <p:custDataLst>
              <p:tags r:id="rId1"/>
            </p:custDataLst>
          </p:nvPr>
        </p:nvSpPr>
        <p:spPr>
          <a:xfrm>
            <a:off x="382270" y="2431415"/>
            <a:ext cx="2515235" cy="701040"/>
          </a:xfrm>
          <a:prstGeom prst="rect">
            <a:avLst/>
          </a:prstGeom>
          <a:noFill/>
        </p:spPr>
        <p:txBody>
          <a:bodyPr wrap="square" lIns="0" tIns="0" rIns="0" bIns="0" rtlCol="0" anchor="t"/>
          <a:lstStyle/>
          <a:p>
            <a:pPr algn="ctr">
              <a:lnSpc>
                <a:spcPct val="100000"/>
              </a:lnSpc>
            </a:pPr>
            <a:r>
              <a:rPr lang="en-US" sz="1800" dirty="0">
                <a:solidFill>
                  <a:srgbClr val="3373F8"/>
                </a:solidFill>
                <a:latin typeface="MiSans" panose="00000500000000000000" pitchFamily="34" charset="-122"/>
                <a:ea typeface="MiSans" panose="00000500000000000000" pitchFamily="34" charset="-122"/>
                <a:cs typeface="MiSans" panose="00000500000000000000" pitchFamily="34" charset="-120"/>
              </a:rPr>
              <a:t>会计核算口径</a:t>
            </a:r>
            <a:endParaRPr lang="en-US" sz="1600" dirty="0"/>
          </a:p>
        </p:txBody>
      </p:sp>
      <p:sp>
        <p:nvSpPr>
          <p:cNvPr id="5" name="Text 2"/>
          <p:cNvSpPr/>
          <p:nvPr>
            <p:custDataLst>
              <p:tags r:id="rId2"/>
            </p:custDataLst>
          </p:nvPr>
        </p:nvSpPr>
        <p:spPr>
          <a:xfrm>
            <a:off x="449580" y="3046730"/>
            <a:ext cx="2461895" cy="2726055"/>
          </a:xfrm>
          <a:prstGeom prst="rect">
            <a:avLst/>
          </a:prstGeom>
          <a:noFill/>
        </p:spPr>
        <p:txBody>
          <a:bodyPr wrap="square" lIns="0" tIns="0" rIns="0" bIns="0" rtlCol="0" anchor="t"/>
          <a:lstStyle/>
          <a:p>
            <a:pPr algn="just">
              <a:lnSpc>
                <a:spcPct val="150000"/>
              </a:lnSpc>
            </a:pPr>
            <a:r>
              <a:rPr lang="en-US" sz="1400" dirty="0">
                <a:solidFill>
                  <a:srgbClr val="262626"/>
                </a:solidFill>
                <a:latin typeface="MiSans" panose="00000500000000000000" pitchFamily="34" charset="-122"/>
                <a:ea typeface="MiSans" panose="00000500000000000000" pitchFamily="34" charset="-122"/>
                <a:cs typeface="MiSans" panose="00000500000000000000" pitchFamily="34" charset="-120"/>
              </a:rPr>
              <a:t>由财企〔2007〕194号规范，主要目的是准确核算研发活动支出，并无过多限制条件，企业可根据自身情况灵活归集。</a:t>
            </a:r>
            <a:endParaRPr lang="en-US" sz="1600" dirty="0"/>
          </a:p>
        </p:txBody>
      </p:sp>
      <p:sp>
        <p:nvSpPr>
          <p:cNvPr id="6" name="Text 3"/>
          <p:cNvSpPr/>
          <p:nvPr>
            <p:custDataLst>
              <p:tags r:id="rId3"/>
            </p:custDataLst>
          </p:nvPr>
        </p:nvSpPr>
        <p:spPr>
          <a:xfrm>
            <a:off x="3340100" y="1816100"/>
            <a:ext cx="2515235" cy="701040"/>
          </a:xfrm>
          <a:prstGeom prst="rect">
            <a:avLst/>
          </a:prstGeom>
          <a:noFill/>
        </p:spPr>
        <p:txBody>
          <a:bodyPr wrap="square" lIns="0" tIns="0" rIns="0" bIns="0" rtlCol="0" anchor="t"/>
          <a:lstStyle/>
          <a:p>
            <a:pPr algn="ctr">
              <a:lnSpc>
                <a:spcPct val="100000"/>
              </a:lnSpc>
            </a:pPr>
            <a:r>
              <a:rPr lang="en-US" sz="1800" dirty="0">
                <a:solidFill>
                  <a:srgbClr val="3373F8"/>
                </a:solidFill>
                <a:latin typeface="MiSans" panose="00000500000000000000" pitchFamily="34" charset="-122"/>
                <a:ea typeface="MiSans" panose="00000500000000000000" pitchFamily="34" charset="-122"/>
                <a:cs typeface="MiSans" panose="00000500000000000000" pitchFamily="34" charset="-120"/>
              </a:rPr>
              <a:t>高新技术企业认定口径</a:t>
            </a:r>
            <a:endParaRPr lang="en-US" sz="1600" dirty="0"/>
          </a:p>
        </p:txBody>
      </p:sp>
      <p:sp>
        <p:nvSpPr>
          <p:cNvPr id="7" name="Text 4"/>
          <p:cNvSpPr/>
          <p:nvPr>
            <p:custDataLst>
              <p:tags r:id="rId4"/>
            </p:custDataLst>
          </p:nvPr>
        </p:nvSpPr>
        <p:spPr>
          <a:xfrm>
            <a:off x="3407410" y="2431415"/>
            <a:ext cx="2461895" cy="2726055"/>
          </a:xfrm>
          <a:prstGeom prst="rect">
            <a:avLst/>
          </a:prstGeom>
          <a:noFill/>
        </p:spPr>
        <p:txBody>
          <a:bodyPr wrap="square" lIns="0" tIns="0" rIns="0" bIns="0" rtlCol="0" anchor="t"/>
          <a:lstStyle/>
          <a:p>
            <a:pPr algn="just">
              <a:lnSpc>
                <a:spcPct val="150000"/>
              </a:lnSpc>
            </a:pPr>
            <a:r>
              <a:rPr lang="en-US" sz="1400" dirty="0">
                <a:solidFill>
                  <a:srgbClr val="262626"/>
                </a:solidFill>
                <a:latin typeface="MiSans" panose="00000500000000000000" pitchFamily="34" charset="-122"/>
                <a:ea typeface="MiSans" panose="00000500000000000000" pitchFamily="34" charset="-122"/>
                <a:cs typeface="MiSans" panose="00000500000000000000" pitchFamily="34" charset="-120"/>
              </a:rPr>
              <a:t>由国科发火〔2016〕195号规范，目的是判断企业研发投入强度、科技实力是否达到高新技术企业标准，对人员费用（科技人员需在职183天以上）、其他费用（不超过20%）等方面有一定限制。</a:t>
            </a:r>
            <a:endParaRPr lang="en-US" sz="1600" dirty="0"/>
          </a:p>
        </p:txBody>
      </p:sp>
      <p:sp>
        <p:nvSpPr>
          <p:cNvPr id="8" name="Text 5"/>
          <p:cNvSpPr/>
          <p:nvPr>
            <p:custDataLst>
              <p:tags r:id="rId5"/>
            </p:custDataLst>
          </p:nvPr>
        </p:nvSpPr>
        <p:spPr>
          <a:xfrm>
            <a:off x="6285865" y="1816100"/>
            <a:ext cx="2515235" cy="701040"/>
          </a:xfrm>
          <a:prstGeom prst="rect">
            <a:avLst/>
          </a:prstGeom>
          <a:noFill/>
        </p:spPr>
        <p:txBody>
          <a:bodyPr wrap="square" lIns="0" tIns="0" rIns="0" bIns="0" rtlCol="0" anchor="t"/>
          <a:lstStyle/>
          <a:p>
            <a:pPr algn="ctr">
              <a:lnSpc>
                <a:spcPct val="100000"/>
              </a:lnSpc>
            </a:pPr>
            <a:r>
              <a:rPr lang="en-US" sz="1800" dirty="0">
                <a:solidFill>
                  <a:srgbClr val="3373F8"/>
                </a:solidFill>
                <a:latin typeface="MiSans" panose="00000500000000000000" pitchFamily="34" charset="-122"/>
                <a:ea typeface="MiSans" panose="00000500000000000000" pitchFamily="34" charset="-122"/>
                <a:cs typeface="MiSans" panose="00000500000000000000" pitchFamily="34" charset="-120"/>
              </a:rPr>
              <a:t>加计扣除税收口径</a:t>
            </a:r>
            <a:endParaRPr lang="en-US" sz="1600" dirty="0"/>
          </a:p>
        </p:txBody>
      </p:sp>
      <p:sp>
        <p:nvSpPr>
          <p:cNvPr id="9" name="Text 6"/>
          <p:cNvSpPr/>
          <p:nvPr>
            <p:custDataLst>
              <p:tags r:id="rId6"/>
            </p:custDataLst>
          </p:nvPr>
        </p:nvSpPr>
        <p:spPr>
          <a:xfrm>
            <a:off x="6353175" y="2431415"/>
            <a:ext cx="2461895" cy="2726055"/>
          </a:xfrm>
          <a:prstGeom prst="rect">
            <a:avLst/>
          </a:prstGeom>
          <a:noFill/>
        </p:spPr>
        <p:txBody>
          <a:bodyPr wrap="square" lIns="0" tIns="0" rIns="0" bIns="0" rtlCol="0" anchor="t"/>
          <a:lstStyle/>
          <a:p>
            <a:pPr algn="just">
              <a:lnSpc>
                <a:spcPct val="150000"/>
              </a:lnSpc>
            </a:pPr>
            <a:r>
              <a:rPr lang="en-US" sz="1400" dirty="0">
                <a:solidFill>
                  <a:srgbClr val="262626"/>
                </a:solidFill>
                <a:latin typeface="MiSans" panose="00000500000000000000" pitchFamily="34" charset="-122"/>
                <a:ea typeface="MiSans" panose="00000500000000000000" pitchFamily="34" charset="-122"/>
                <a:cs typeface="MiSans" panose="00000500000000000000" pitchFamily="34" charset="-120"/>
              </a:rPr>
              <a:t>由财税〔2015〕119号、97号公告、40号公告规范，目的是细化哪些研发费用可以享受加计扣除政策，政策口径最小，对其他费用有10%的比例限制，采取正列举方式，未列举的项目不可享受优惠。</a:t>
            </a:r>
            <a:endParaRPr lang="en-US" sz="1600" dirty="0"/>
          </a:p>
        </p:txBody>
      </p:sp>
      <p:sp>
        <p:nvSpPr>
          <p:cNvPr id="10" name="Text 7"/>
          <p:cNvSpPr/>
          <p:nvPr>
            <p:custDataLst>
              <p:tags r:id="rId7"/>
            </p:custDataLst>
          </p:nvPr>
        </p:nvSpPr>
        <p:spPr>
          <a:xfrm>
            <a:off x="9217660" y="2431415"/>
            <a:ext cx="2515235" cy="701040"/>
          </a:xfrm>
          <a:prstGeom prst="rect">
            <a:avLst/>
          </a:prstGeom>
          <a:noFill/>
        </p:spPr>
        <p:txBody>
          <a:bodyPr wrap="square" lIns="0" tIns="0" rIns="0" bIns="0" rtlCol="0" anchor="t"/>
          <a:lstStyle/>
          <a:p>
            <a:pPr algn="ctr">
              <a:lnSpc>
                <a:spcPct val="100000"/>
              </a:lnSpc>
            </a:pPr>
            <a:r>
              <a:rPr lang="en-US" sz="1800" dirty="0">
                <a:solidFill>
                  <a:srgbClr val="3373F8"/>
                </a:solidFill>
                <a:latin typeface="MiSans" panose="00000500000000000000" pitchFamily="34" charset="-122"/>
                <a:ea typeface="MiSans" panose="00000500000000000000" pitchFamily="34" charset="-122"/>
                <a:cs typeface="MiSans" panose="00000500000000000000" pitchFamily="34" charset="-120"/>
              </a:rPr>
              <a:t>合规管理建议</a:t>
            </a:r>
            <a:endParaRPr lang="en-US" sz="1600" dirty="0"/>
          </a:p>
        </p:txBody>
      </p:sp>
      <p:sp>
        <p:nvSpPr>
          <p:cNvPr id="11" name="Text 8"/>
          <p:cNvSpPr/>
          <p:nvPr>
            <p:custDataLst>
              <p:tags r:id="rId8"/>
            </p:custDataLst>
          </p:nvPr>
        </p:nvSpPr>
        <p:spPr>
          <a:xfrm>
            <a:off x="9284970" y="3046730"/>
            <a:ext cx="2461895" cy="2726055"/>
          </a:xfrm>
          <a:prstGeom prst="rect">
            <a:avLst/>
          </a:prstGeom>
          <a:noFill/>
        </p:spPr>
        <p:txBody>
          <a:bodyPr wrap="square" lIns="0" tIns="0" rIns="0" bIns="0" rtlCol="0" anchor="t"/>
          <a:lstStyle/>
          <a:p>
            <a:pPr algn="just">
              <a:lnSpc>
                <a:spcPct val="150000"/>
              </a:lnSpc>
            </a:pPr>
            <a:r>
              <a:rPr lang="en-US" sz="1400" dirty="0">
                <a:solidFill>
                  <a:srgbClr val="262626"/>
                </a:solidFill>
                <a:latin typeface="MiSans" panose="00000500000000000000" pitchFamily="34" charset="-122"/>
                <a:ea typeface="MiSans" panose="00000500000000000000" pitchFamily="34" charset="-122"/>
                <a:cs typeface="MiSans" panose="00000500000000000000" pitchFamily="34" charset="-120"/>
              </a:rPr>
              <a:t>建立完善的研发费用辅助台账体系，严格区分三个口径的差异，准确归集各口径要求的费用项目，留存完整的原始凭证和分配依据，定期进行内部审核确保数据准确性，关注政策变化及时调整归集方法，防范税务风险。</a:t>
            </a:r>
            <a:endParaRPr lang="en-US" sz="1600" dirty="0"/>
          </a:p>
        </p:txBody>
      </p:sp>
    </p:spTree>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32155" y="905510"/>
            <a:ext cx="10649585" cy="822920"/>
          </a:xfrm>
          <a:prstGeom prst="rect">
            <a:avLst/>
          </a:prstGeom>
          <a:noFill/>
        </p:spPr>
        <p:txBody>
          <a:bodyPr wrap="square" lIns="0" tIns="0" rIns="0" bIns="0" rtlCol="0" anchor="t">
            <a:spAutoFit/>
          </a:bodyPr>
          <a:lstStyle/>
          <a:p>
            <a:pPr>
              <a:lnSpc>
                <a:spcPct val="150000"/>
              </a:lnSpc>
            </a:pPr>
            <a:r>
              <a:rPr lang="en-US" sz="3600" dirty="0">
                <a:solidFill>
                  <a:srgbClr val="0D0D0D"/>
                </a:solidFill>
                <a:latin typeface="MiSans" panose="00000500000000000000" pitchFamily="34" charset="-122"/>
                <a:ea typeface="MiSans" panose="00000500000000000000" pitchFamily="34" charset="-122"/>
                <a:cs typeface="MiSans" panose="00000500000000000000" pitchFamily="34" charset="-120"/>
              </a:rPr>
              <a:t>加计扣除特殊事项处理规则</a:t>
            </a:r>
            <a:endParaRPr lang="en-US" sz="1600" dirty="0"/>
          </a:p>
        </p:txBody>
      </p:sp>
      <p:pic>
        <p:nvPicPr>
          <p:cNvPr id="3" name="Image 0" descr="https://kimi-img.moonshot.cn/pub/slides/slides_tmpl/image/25-10-11-20:14:21-d3l4k78s8jdo4os5emc0.png"/>
          <p:cNvPicPr>
            <a:picLocks noChangeAspect="1"/>
          </p:cNvPicPr>
          <p:nvPr/>
        </p:nvPicPr>
        <p:blipFill>
          <a:blip r:embed="rId3"/>
          <a:stretch>
            <a:fillRect/>
          </a:stretch>
        </p:blipFill>
        <p:spPr>
          <a:xfrm>
            <a:off x="4836795" y="2271395"/>
            <a:ext cx="2654300" cy="3875405"/>
          </a:xfrm>
          <a:prstGeom prst="rect">
            <a:avLst/>
          </a:prstGeom>
        </p:spPr>
      </p:pic>
      <p:sp>
        <p:nvSpPr>
          <p:cNvPr id="4" name="Text 1"/>
          <p:cNvSpPr/>
          <p:nvPr/>
        </p:nvSpPr>
        <p:spPr>
          <a:xfrm>
            <a:off x="732155" y="2643505"/>
            <a:ext cx="4266565" cy="385445"/>
          </a:xfrm>
          <a:prstGeom prst="rect">
            <a:avLst/>
          </a:prstGeom>
          <a:noFill/>
        </p:spPr>
        <p:txBody>
          <a:bodyPr wrap="square" lIns="0" tIns="0" rIns="0" bIns="0" rtlCol="0" anchor="t"/>
          <a:lstStyle/>
          <a:p>
            <a:pPr>
              <a:lnSpc>
                <a:spcPct val="100000"/>
              </a:lnSpc>
            </a:pPr>
            <a:r>
              <a:rPr lang="en-US" sz="2000" dirty="0">
                <a:solidFill>
                  <a:srgbClr val="4B62E1"/>
                </a:solidFill>
                <a:latin typeface="MiSans" panose="00000500000000000000" pitchFamily="34" charset="-122"/>
                <a:ea typeface="MiSans" panose="00000500000000000000" pitchFamily="34" charset="-122"/>
                <a:cs typeface="MiSans" panose="00000500000000000000" pitchFamily="34" charset="-120"/>
              </a:rPr>
              <a:t>政府补助与特殊收入处理</a:t>
            </a:r>
            <a:endParaRPr lang="en-US" sz="1600" dirty="0"/>
          </a:p>
        </p:txBody>
      </p:sp>
      <p:sp>
        <p:nvSpPr>
          <p:cNvPr id="5" name="Text 2"/>
          <p:cNvSpPr/>
          <p:nvPr/>
        </p:nvSpPr>
        <p:spPr>
          <a:xfrm>
            <a:off x="732155" y="3028950"/>
            <a:ext cx="3596640" cy="2962910"/>
          </a:xfrm>
          <a:prstGeom prst="rect">
            <a:avLst/>
          </a:prstGeom>
          <a:noFill/>
        </p:spPr>
        <p:txBody>
          <a:bodyPr wrap="square" lIns="0" tIns="0" rIns="0" bIns="0" rtlCol="0" anchor="t"/>
          <a:lstStyle/>
          <a:p>
            <a:pPr algn="just">
              <a:lnSpc>
                <a:spcPct val="150000"/>
              </a:lnSpc>
            </a:pPr>
            <a:r>
              <a:rPr lang="en-US" sz="1400" dirty="0">
                <a:solidFill>
                  <a:srgbClr val="262626"/>
                </a:solidFill>
                <a:latin typeface="MiSans" panose="00000500000000000000" pitchFamily="34" charset="-122"/>
                <a:ea typeface="MiSans" panose="00000500000000000000" pitchFamily="34" charset="-122"/>
                <a:cs typeface="MiSans" panose="00000500000000000000" pitchFamily="34" charset="-120"/>
              </a:rPr>
              <a:t>政府补助会计处理采用直接冲减研发费用且税务处理未确认为应税收入的，按冲减后的余额计算加计扣除金额。研发过程中形成的下脚料、残次品、中间试制品等特殊收入，应从已归集研发费用中扣减，不足扣减的加计扣除研发费用按零计算。</a:t>
            </a:r>
            <a:endParaRPr lang="en-US" sz="1600" dirty="0"/>
          </a:p>
        </p:txBody>
      </p:sp>
      <p:sp>
        <p:nvSpPr>
          <p:cNvPr id="6" name="Text 3"/>
          <p:cNvSpPr/>
          <p:nvPr/>
        </p:nvSpPr>
        <p:spPr>
          <a:xfrm>
            <a:off x="7999730" y="2643505"/>
            <a:ext cx="3860165" cy="343535"/>
          </a:xfrm>
          <a:prstGeom prst="rect">
            <a:avLst/>
          </a:prstGeom>
          <a:noFill/>
        </p:spPr>
        <p:txBody>
          <a:bodyPr wrap="square" lIns="0" tIns="0" rIns="0" bIns="0" rtlCol="0" anchor="t"/>
          <a:lstStyle/>
          <a:p>
            <a:pPr>
              <a:lnSpc>
                <a:spcPct val="100000"/>
              </a:lnSpc>
            </a:pPr>
            <a:r>
              <a:rPr lang="en-US" sz="2000" dirty="0">
                <a:solidFill>
                  <a:srgbClr val="4B62E1"/>
                </a:solidFill>
                <a:latin typeface="MiSans" panose="00000500000000000000" pitchFamily="34" charset="-122"/>
                <a:ea typeface="MiSans" panose="00000500000000000000" pitchFamily="34" charset="-122"/>
                <a:cs typeface="MiSans" panose="00000500000000000000" pitchFamily="34" charset="-120"/>
              </a:rPr>
              <a:t>产品销售、失败研发与委托研发</a:t>
            </a:r>
            <a:endParaRPr lang="en-US" sz="1600" dirty="0"/>
          </a:p>
        </p:txBody>
      </p:sp>
      <p:sp>
        <p:nvSpPr>
          <p:cNvPr id="7" name="Text 4"/>
          <p:cNvSpPr/>
          <p:nvPr/>
        </p:nvSpPr>
        <p:spPr>
          <a:xfrm>
            <a:off x="7999730" y="3023870"/>
            <a:ext cx="3596640" cy="2765425"/>
          </a:xfrm>
          <a:prstGeom prst="rect">
            <a:avLst/>
          </a:prstGeom>
          <a:noFill/>
        </p:spPr>
        <p:txBody>
          <a:bodyPr wrap="square" lIns="0" tIns="0" rIns="0" bIns="0" rtlCol="0" anchor="t"/>
          <a:lstStyle/>
          <a:p>
            <a:pPr algn="just">
              <a:lnSpc>
                <a:spcPct val="150000"/>
              </a:lnSpc>
            </a:pPr>
            <a:r>
              <a:rPr lang="en-US" sz="1400" dirty="0">
                <a:solidFill>
                  <a:srgbClr val="262626"/>
                </a:solidFill>
                <a:latin typeface="MiSans" panose="00000500000000000000" pitchFamily="34" charset="-122"/>
                <a:ea typeface="MiSans" panose="00000500000000000000" pitchFamily="34" charset="-122"/>
                <a:cs typeface="MiSans" panose="00000500000000000000" pitchFamily="34" charset="-120"/>
              </a:rPr>
              <a:t>研发活动直接形成产品或作为组成部分形成的产品对外销售的，研发费用中对应的材料费用不得加计扣除，可在销售当年冲减。失败的研发活动所发生的研发费用可享受加计扣除。委托方实际支付给受托方的费用可享受加计扣除，受托方无论委托方是否享受优惠均不得加计扣除；委托关联方开展研发活动的，受托方需提供研发项目费用支出明细情况。</a:t>
            </a:r>
            <a:endParaRPr lang="en-US" sz="1600" dirty="0"/>
          </a:p>
        </p:txBody>
      </p:sp>
    </p:spTree>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 0" descr="https://kimi-img.moonshot.cn/pub/slides/slides_tmpl/image/25-09-04-11:33:06-d2sggsm1bb2p4onbon10.jpg"/>
          <p:cNvPicPr>
            <a:picLocks noChangeAspect="1"/>
          </p:cNvPicPr>
          <p:nvPr/>
        </p:nvPicPr>
        <p:blipFill>
          <a:blip r:embed="rId3"/>
          <a:stretch>
            <a:fillRect/>
          </a:stretch>
        </p:blipFill>
        <p:spPr>
          <a:xfrm>
            <a:off x="0" y="0"/>
            <a:ext cx="12192000" cy="6858000"/>
          </a:xfrm>
          <a:prstGeom prst="rect">
            <a:avLst/>
          </a:prstGeom>
        </p:spPr>
      </p:pic>
      <p:cxnSp>
        <p:nvCxnSpPr>
          <p:cNvPr id="5" name="直接连接符 4"/>
          <p:cNvCxnSpPr/>
          <p:nvPr/>
        </p:nvCxnSpPr>
        <p:spPr>
          <a:xfrm>
            <a:off x="2619061" y="644689"/>
            <a:ext cx="1920213" cy="0"/>
          </a:xfrm>
          <a:prstGeom prst="line">
            <a:avLst/>
          </a:prstGeom>
          <a:ln>
            <a:gradFill flip="none" rotWithShape="1">
              <a:gsLst>
                <a:gs pos="0">
                  <a:schemeClr val="bg1">
                    <a:alpha val="0"/>
                  </a:schemeClr>
                </a:gs>
                <a:gs pos="100000">
                  <a:schemeClr val="bg1"/>
                </a:gs>
              </a:gsLst>
              <a:lin ang="0" scaled="1"/>
              <a:tileRect/>
            </a:gradFill>
            <a:tailEnd type="oval"/>
          </a:ln>
        </p:spPr>
        <p:style>
          <a:lnRef idx="1">
            <a:schemeClr val="accent1"/>
          </a:lnRef>
          <a:fillRef idx="0">
            <a:schemeClr val="accent1"/>
          </a:fillRef>
          <a:effectRef idx="0">
            <a:schemeClr val="accent1"/>
          </a:effectRef>
          <a:fontRef idx="minor">
            <a:schemeClr val="tx1"/>
          </a:fontRef>
        </p:style>
      </p:cxnSp>
      <p:sp>
        <p:nvSpPr>
          <p:cNvPr id="14" name="TextBox 1"/>
          <p:cNvSpPr txBox="1"/>
          <p:nvPr/>
        </p:nvSpPr>
        <p:spPr>
          <a:xfrm>
            <a:off x="3579168" y="380600"/>
            <a:ext cx="4992555" cy="534035"/>
          </a:xfrm>
          <a:prstGeom prst="rect">
            <a:avLst/>
          </a:prstGeom>
          <a:noFill/>
        </p:spPr>
        <p:txBody>
          <a:bodyPr wrap="square" rtlCol="0">
            <a:spAutoFit/>
          </a:bodyPr>
          <a:lstStyle/>
          <a:p>
            <a:pPr algn="ctr" defTabSz="431800">
              <a:lnSpc>
                <a:spcPct val="120000"/>
              </a:lnSpc>
              <a:defRPr/>
            </a:pPr>
            <a:r>
              <a:rPr lang="zh-CN" sz="2400" b="1" kern="0" dirty="0">
                <a:solidFill>
                  <a:schemeClr val="tx1"/>
                </a:solidFill>
                <a:latin typeface="Arial" panose="020B0604020202020204" pitchFamily="34" charset="0"/>
                <a:ea typeface="微软雅黑" panose="020B0503020204020204" charset="-122"/>
                <a:cs typeface="Arial" panose="020B0604020202020204" pitchFamily="34" charset="0"/>
              </a:rPr>
              <a:t>研发费用问题</a:t>
            </a:r>
          </a:p>
        </p:txBody>
      </p:sp>
      <p:cxnSp>
        <p:nvCxnSpPr>
          <p:cNvPr id="15" name="直接连接符 14"/>
          <p:cNvCxnSpPr/>
          <p:nvPr/>
        </p:nvCxnSpPr>
        <p:spPr>
          <a:xfrm flipH="1">
            <a:off x="7611616" y="644689"/>
            <a:ext cx="1920213" cy="0"/>
          </a:xfrm>
          <a:prstGeom prst="line">
            <a:avLst/>
          </a:prstGeom>
          <a:ln>
            <a:gradFill flip="none" rotWithShape="1">
              <a:gsLst>
                <a:gs pos="0">
                  <a:schemeClr val="bg1">
                    <a:alpha val="0"/>
                  </a:schemeClr>
                </a:gs>
                <a:gs pos="100000">
                  <a:schemeClr val="bg1"/>
                </a:gs>
              </a:gsLst>
              <a:lin ang="0" scaled="1"/>
              <a:tileRect/>
            </a:gradFill>
            <a:tailEnd type="oval"/>
          </a:ln>
        </p:spPr>
        <p:style>
          <a:lnRef idx="1">
            <a:schemeClr val="accent1"/>
          </a:lnRef>
          <a:fillRef idx="0">
            <a:schemeClr val="accent1"/>
          </a:fillRef>
          <a:effectRef idx="0">
            <a:schemeClr val="accent1"/>
          </a:effectRef>
          <a:fontRef idx="minor">
            <a:schemeClr val="tx1"/>
          </a:fontRef>
        </p:style>
      </p:cxnSp>
      <p:sp>
        <p:nvSpPr>
          <p:cNvPr id="20" name="圆角矩形 19"/>
          <p:cNvSpPr/>
          <p:nvPr/>
        </p:nvSpPr>
        <p:spPr>
          <a:xfrm>
            <a:off x="623147" y="1412240"/>
            <a:ext cx="6180667" cy="626533"/>
          </a:xfrm>
          <a:prstGeom prst="roundRect">
            <a:avLst>
              <a:gd name="adj" fmla="val 50000"/>
            </a:avLst>
          </a:prstGeom>
          <a:solidFill>
            <a:srgbClr val="AA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altLang="zh-CN" sz="2400" b="1" dirty="0">
                <a:solidFill>
                  <a:schemeClr val="bg1"/>
                </a:solidFill>
                <a:ea typeface="微软雅黑" panose="020B0503020204020204" charset="-122"/>
              </a:rPr>
              <a:t>  </a:t>
            </a:r>
            <a:r>
              <a:rPr lang="zh-CN" altLang="en-US" sz="2400" b="1" dirty="0">
                <a:solidFill>
                  <a:schemeClr val="bg1"/>
                </a:solidFill>
                <a:ea typeface="微软雅黑" panose="020B0503020204020204" charset="-122"/>
              </a:rPr>
              <a:t>一、</a:t>
            </a:r>
            <a:r>
              <a:rPr lang="en-US" altLang="zh-CN" sz="2400" b="1" dirty="0">
                <a:solidFill>
                  <a:schemeClr val="bg1"/>
                </a:solidFill>
                <a:ea typeface="微软雅黑" panose="020B0503020204020204" charset="-122"/>
              </a:rPr>
              <a:t>   </a:t>
            </a:r>
            <a:r>
              <a:rPr lang="zh-CN" altLang="en-US" sz="2400" b="1" dirty="0">
                <a:solidFill>
                  <a:schemeClr val="bg1"/>
                </a:solidFill>
                <a:ea typeface="微软雅黑" panose="020B0503020204020204" charset="-122"/>
              </a:rPr>
              <a:t>研发项目实施时间逻辑关系问题</a:t>
            </a:r>
            <a:r>
              <a:rPr lang="en-US" altLang="zh-CN" sz="2400" b="1" dirty="0">
                <a:solidFill>
                  <a:schemeClr val="bg1"/>
                </a:solidFill>
                <a:ea typeface="微软雅黑" panose="020B0503020204020204" charset="-122"/>
              </a:rPr>
              <a:t> </a:t>
            </a:r>
          </a:p>
        </p:txBody>
      </p:sp>
      <p:sp>
        <p:nvSpPr>
          <p:cNvPr id="4" name="文本框 3"/>
          <p:cNvSpPr txBox="1"/>
          <p:nvPr/>
        </p:nvSpPr>
        <p:spPr>
          <a:xfrm>
            <a:off x="711200" y="2505287"/>
            <a:ext cx="10727267" cy="1323340"/>
          </a:xfrm>
          <a:prstGeom prst="rect">
            <a:avLst/>
          </a:prstGeom>
          <a:noFill/>
        </p:spPr>
        <p:txBody>
          <a:bodyPr wrap="square" rtlCol="0">
            <a:spAutoFit/>
          </a:bodyPr>
          <a:lstStyle/>
          <a:p>
            <a:pPr>
              <a:lnSpc>
                <a:spcPct val="150000"/>
              </a:lnSpc>
            </a:pPr>
            <a:r>
              <a:rPr lang="zh-CN" altLang="en-US" sz="2665" dirty="0">
                <a:solidFill>
                  <a:schemeClr val="tx1"/>
                </a:solidFill>
                <a:ea typeface="微软雅黑" panose="020B0503020204020204" charset="-122"/>
              </a:rPr>
              <a:t>例：</a:t>
            </a:r>
            <a:r>
              <a:rPr lang="en-US" altLang="zh-CN" sz="2665" dirty="0">
                <a:solidFill>
                  <a:schemeClr val="tx1"/>
                </a:solidFill>
                <a:ea typeface="微软雅黑" panose="020B0503020204020204" charset="-122"/>
              </a:rPr>
              <a:t>A</a:t>
            </a:r>
            <a:r>
              <a:rPr lang="zh-CN" altLang="en-US" sz="2665" dirty="0">
                <a:solidFill>
                  <a:schemeClr val="tx1"/>
                </a:solidFill>
                <a:ea typeface="微软雅黑" panose="020B0503020204020204" charset="-122"/>
              </a:rPr>
              <a:t>公司研发项目报告周期显示</a:t>
            </a:r>
            <a:r>
              <a:rPr lang="en-US" altLang="zh-CN" sz="2665" dirty="0">
                <a:solidFill>
                  <a:schemeClr val="tx1"/>
                </a:solidFill>
                <a:ea typeface="微软雅黑" panose="020B0503020204020204" charset="-122"/>
              </a:rPr>
              <a:t>2023</a:t>
            </a:r>
            <a:r>
              <a:rPr lang="zh-CN" altLang="en-US" sz="2665" dirty="0">
                <a:solidFill>
                  <a:schemeClr val="tx1"/>
                </a:solidFill>
                <a:ea typeface="微软雅黑" panose="020B0503020204020204" charset="-122"/>
              </a:rPr>
              <a:t>年</a:t>
            </a:r>
            <a:r>
              <a:rPr lang="en-US" altLang="zh-CN" sz="2665" dirty="0">
                <a:solidFill>
                  <a:schemeClr val="tx1"/>
                </a:solidFill>
                <a:ea typeface="微软雅黑" panose="020B0503020204020204" charset="-122"/>
              </a:rPr>
              <a:t>1</a:t>
            </a:r>
            <a:r>
              <a:rPr lang="zh-CN" altLang="en-US" sz="2665" dirty="0">
                <a:solidFill>
                  <a:schemeClr val="tx1"/>
                </a:solidFill>
                <a:ea typeface="微软雅黑" panose="020B0503020204020204" charset="-122"/>
              </a:rPr>
              <a:t>月至</a:t>
            </a:r>
            <a:r>
              <a:rPr lang="en-US" altLang="zh-CN" sz="2665" dirty="0">
                <a:solidFill>
                  <a:schemeClr val="tx1"/>
                </a:solidFill>
                <a:ea typeface="微软雅黑" panose="020B0503020204020204" charset="-122"/>
              </a:rPr>
              <a:t>2023</a:t>
            </a:r>
            <a:r>
              <a:rPr lang="zh-CN" altLang="en-US" sz="2665" dirty="0">
                <a:solidFill>
                  <a:schemeClr val="tx1"/>
                </a:solidFill>
                <a:ea typeface="微软雅黑" panose="020B0503020204020204" charset="-122"/>
              </a:rPr>
              <a:t>年</a:t>
            </a:r>
            <a:r>
              <a:rPr lang="en-US" altLang="zh-CN" sz="2665" dirty="0">
                <a:solidFill>
                  <a:schemeClr val="tx1"/>
                </a:solidFill>
                <a:ea typeface="微软雅黑" panose="020B0503020204020204" charset="-122"/>
              </a:rPr>
              <a:t>12</a:t>
            </a:r>
            <a:r>
              <a:rPr lang="zh-CN" altLang="en-US" sz="2665" dirty="0">
                <a:solidFill>
                  <a:schemeClr val="tx1"/>
                </a:solidFill>
                <a:ea typeface="微软雅黑" panose="020B0503020204020204" charset="-122"/>
              </a:rPr>
              <a:t>月，</a:t>
            </a:r>
            <a:r>
              <a:rPr lang="en-US" altLang="zh-CN" sz="2665" dirty="0">
                <a:solidFill>
                  <a:schemeClr val="tx1"/>
                </a:solidFill>
                <a:ea typeface="微软雅黑" panose="020B0503020204020204" charset="-122"/>
              </a:rPr>
              <a:t>2023</a:t>
            </a:r>
            <a:r>
              <a:rPr lang="zh-CN" altLang="en-US" sz="2665" dirty="0">
                <a:solidFill>
                  <a:schemeClr val="tx1"/>
                </a:solidFill>
                <a:ea typeface="微软雅黑" panose="020B0503020204020204" charset="-122"/>
              </a:rPr>
              <a:t>年</a:t>
            </a:r>
            <a:r>
              <a:rPr lang="en-US" altLang="zh-CN" sz="2665" dirty="0">
                <a:solidFill>
                  <a:schemeClr val="tx1"/>
                </a:solidFill>
                <a:ea typeface="微软雅黑" panose="020B0503020204020204" charset="-122"/>
              </a:rPr>
              <a:t>1</a:t>
            </a:r>
            <a:r>
              <a:rPr lang="zh-CN" altLang="en-US" sz="2665" dirty="0">
                <a:solidFill>
                  <a:schemeClr val="tx1"/>
                </a:solidFill>
                <a:ea typeface="微软雅黑" panose="020B0503020204020204" charset="-122"/>
              </a:rPr>
              <a:t>月</a:t>
            </a:r>
            <a:r>
              <a:rPr lang="zh-CN" altLang="en-US" sz="2665" dirty="0">
                <a:solidFill>
                  <a:schemeClr val="tx1"/>
                </a:solidFill>
                <a:ea typeface="微软雅黑" panose="020B0503020204020204" charset="-122"/>
                <a:sym typeface="+mn-ea"/>
              </a:rPr>
              <a:t>研发项目领用原材料，该研发项目于</a:t>
            </a:r>
            <a:r>
              <a:rPr lang="en-US" altLang="zh-CN" sz="2665" dirty="0">
                <a:solidFill>
                  <a:schemeClr val="tx1"/>
                </a:solidFill>
                <a:ea typeface="微软雅黑" panose="020B0503020204020204" charset="-122"/>
                <a:sym typeface="+mn-ea"/>
              </a:rPr>
              <a:t>2023</a:t>
            </a:r>
            <a:r>
              <a:rPr lang="zh-CN" altLang="en-US" sz="2665" dirty="0">
                <a:solidFill>
                  <a:schemeClr val="tx1"/>
                </a:solidFill>
                <a:ea typeface="微软雅黑" panose="020B0503020204020204" charset="-122"/>
                <a:sym typeface="+mn-ea"/>
              </a:rPr>
              <a:t>年</a:t>
            </a:r>
            <a:r>
              <a:rPr lang="en-US" altLang="zh-CN" sz="2665" dirty="0">
                <a:solidFill>
                  <a:schemeClr val="tx1"/>
                </a:solidFill>
                <a:ea typeface="微软雅黑" panose="020B0503020204020204" charset="-122"/>
                <a:sym typeface="+mn-ea"/>
              </a:rPr>
              <a:t>3</a:t>
            </a:r>
            <a:r>
              <a:rPr lang="zh-CN" altLang="en-US" sz="2665" dirty="0">
                <a:solidFill>
                  <a:schemeClr val="tx1"/>
                </a:solidFill>
                <a:ea typeface="微软雅黑" panose="020B0503020204020204" charset="-122"/>
                <a:sym typeface="+mn-ea"/>
              </a:rPr>
              <a:t>月取得实用新型专利一个。</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 0" descr="https://kimi-img.moonshot.cn/pub/slides/slides_tmpl/image/25-09-04-11:33:06-d2sggsm1bb2p4onbon10.jpg"/>
          <p:cNvPicPr>
            <a:picLocks noChangeAspect="1"/>
          </p:cNvPicPr>
          <p:nvPr/>
        </p:nvPicPr>
        <p:blipFill>
          <a:blip r:embed="rId3"/>
          <a:stretch>
            <a:fillRect/>
          </a:stretch>
        </p:blipFill>
        <p:spPr>
          <a:xfrm>
            <a:off x="0" y="0"/>
            <a:ext cx="12192000" cy="6858000"/>
          </a:xfrm>
          <a:prstGeom prst="rect">
            <a:avLst/>
          </a:prstGeom>
        </p:spPr>
      </p:pic>
      <p:cxnSp>
        <p:nvCxnSpPr>
          <p:cNvPr id="5" name="直接连接符 4"/>
          <p:cNvCxnSpPr/>
          <p:nvPr/>
        </p:nvCxnSpPr>
        <p:spPr>
          <a:xfrm>
            <a:off x="2619061" y="644689"/>
            <a:ext cx="1920213" cy="0"/>
          </a:xfrm>
          <a:prstGeom prst="line">
            <a:avLst/>
          </a:prstGeom>
          <a:ln>
            <a:gradFill flip="none" rotWithShape="1">
              <a:gsLst>
                <a:gs pos="0">
                  <a:schemeClr val="bg1">
                    <a:alpha val="0"/>
                  </a:schemeClr>
                </a:gs>
                <a:gs pos="100000">
                  <a:schemeClr val="bg1"/>
                </a:gs>
              </a:gsLst>
              <a:lin ang="0" scaled="1"/>
              <a:tileRect/>
            </a:gradFill>
            <a:tailEnd type="oval"/>
          </a:ln>
        </p:spPr>
        <p:style>
          <a:lnRef idx="1">
            <a:schemeClr val="accent1"/>
          </a:lnRef>
          <a:fillRef idx="0">
            <a:schemeClr val="accent1"/>
          </a:fillRef>
          <a:effectRef idx="0">
            <a:schemeClr val="accent1"/>
          </a:effectRef>
          <a:fontRef idx="minor">
            <a:schemeClr val="tx1"/>
          </a:fontRef>
        </p:style>
      </p:cxnSp>
      <p:sp>
        <p:nvSpPr>
          <p:cNvPr id="14" name="TextBox 1"/>
          <p:cNvSpPr txBox="1"/>
          <p:nvPr/>
        </p:nvSpPr>
        <p:spPr>
          <a:xfrm>
            <a:off x="3579168" y="380600"/>
            <a:ext cx="4992555" cy="534035"/>
          </a:xfrm>
          <a:prstGeom prst="rect">
            <a:avLst/>
          </a:prstGeom>
          <a:noFill/>
        </p:spPr>
        <p:txBody>
          <a:bodyPr wrap="square" rtlCol="0">
            <a:spAutoFit/>
          </a:bodyPr>
          <a:lstStyle/>
          <a:p>
            <a:pPr algn="ctr" defTabSz="431800">
              <a:lnSpc>
                <a:spcPct val="120000"/>
              </a:lnSpc>
              <a:defRPr/>
            </a:pPr>
            <a:r>
              <a:rPr lang="zh-CN" sz="2400" b="1" kern="0" dirty="0">
                <a:solidFill>
                  <a:schemeClr val="tx1"/>
                </a:solidFill>
                <a:latin typeface="Arial" panose="020B0604020202020204" pitchFamily="34" charset="0"/>
                <a:ea typeface="微软雅黑" panose="020B0503020204020204" charset="-122"/>
                <a:cs typeface="Arial" panose="020B0604020202020204" pitchFamily="34" charset="0"/>
              </a:rPr>
              <a:t>研发费用问题</a:t>
            </a:r>
          </a:p>
        </p:txBody>
      </p:sp>
      <p:cxnSp>
        <p:nvCxnSpPr>
          <p:cNvPr id="15" name="直接连接符 14"/>
          <p:cNvCxnSpPr/>
          <p:nvPr/>
        </p:nvCxnSpPr>
        <p:spPr>
          <a:xfrm flipH="1">
            <a:off x="7611616" y="644689"/>
            <a:ext cx="1920213" cy="0"/>
          </a:xfrm>
          <a:prstGeom prst="line">
            <a:avLst/>
          </a:prstGeom>
          <a:ln>
            <a:gradFill flip="none" rotWithShape="1">
              <a:gsLst>
                <a:gs pos="0">
                  <a:schemeClr val="bg1">
                    <a:alpha val="0"/>
                  </a:schemeClr>
                </a:gs>
                <a:gs pos="100000">
                  <a:schemeClr val="bg1"/>
                </a:gs>
              </a:gsLst>
              <a:lin ang="0" scaled="1"/>
              <a:tileRect/>
            </a:gradFill>
            <a:tailEnd type="oval"/>
          </a:ln>
        </p:spPr>
        <p:style>
          <a:lnRef idx="1">
            <a:schemeClr val="accent1"/>
          </a:lnRef>
          <a:fillRef idx="0">
            <a:schemeClr val="accent1"/>
          </a:fillRef>
          <a:effectRef idx="0">
            <a:schemeClr val="accent1"/>
          </a:effectRef>
          <a:fontRef idx="minor">
            <a:schemeClr val="tx1"/>
          </a:fontRef>
        </p:style>
      </p:cxnSp>
      <p:sp>
        <p:nvSpPr>
          <p:cNvPr id="20" name="圆角矩形 19"/>
          <p:cNvSpPr/>
          <p:nvPr/>
        </p:nvSpPr>
        <p:spPr>
          <a:xfrm>
            <a:off x="623147" y="1412240"/>
            <a:ext cx="6180667" cy="626533"/>
          </a:xfrm>
          <a:prstGeom prst="roundRect">
            <a:avLst>
              <a:gd name="adj" fmla="val 50000"/>
            </a:avLst>
          </a:prstGeom>
          <a:solidFill>
            <a:srgbClr val="AA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altLang="zh-CN" sz="2400" b="1" dirty="0">
                <a:solidFill>
                  <a:schemeClr val="bg1"/>
                </a:solidFill>
                <a:ea typeface="微软雅黑" panose="020B0503020204020204" charset="-122"/>
              </a:rPr>
              <a:t>  </a:t>
            </a:r>
            <a:r>
              <a:rPr lang="zh-CN" altLang="en-US" sz="2400" b="1" dirty="0">
                <a:solidFill>
                  <a:schemeClr val="bg1"/>
                </a:solidFill>
                <a:ea typeface="微软雅黑" panose="020B0503020204020204" charset="-122"/>
              </a:rPr>
              <a:t>二、</a:t>
            </a:r>
            <a:r>
              <a:rPr lang="en-US" altLang="zh-CN" sz="2400" b="1" dirty="0">
                <a:solidFill>
                  <a:schemeClr val="bg1"/>
                </a:solidFill>
                <a:ea typeface="微软雅黑" panose="020B0503020204020204" charset="-122"/>
              </a:rPr>
              <a:t>  </a:t>
            </a:r>
            <a:r>
              <a:rPr lang="zh-CN" sz="2400" b="1" dirty="0">
                <a:solidFill>
                  <a:schemeClr val="bg1"/>
                </a:solidFill>
                <a:ea typeface="微软雅黑" panose="020B0503020204020204" charset="-122"/>
              </a:rPr>
              <a:t>其他费用加计扣除问题</a:t>
            </a:r>
            <a:r>
              <a:rPr lang="en-US" altLang="zh-CN" sz="2400" b="1" dirty="0">
                <a:solidFill>
                  <a:schemeClr val="bg1"/>
                </a:solidFill>
                <a:ea typeface="微软雅黑" panose="020B0503020204020204" charset="-122"/>
              </a:rPr>
              <a:t> </a:t>
            </a:r>
          </a:p>
        </p:txBody>
      </p:sp>
      <p:sp>
        <p:nvSpPr>
          <p:cNvPr id="4" name="文本框 3"/>
          <p:cNvSpPr txBox="1"/>
          <p:nvPr/>
        </p:nvSpPr>
        <p:spPr>
          <a:xfrm>
            <a:off x="711200" y="2505287"/>
            <a:ext cx="10727267" cy="2923540"/>
          </a:xfrm>
          <a:prstGeom prst="rect">
            <a:avLst/>
          </a:prstGeom>
          <a:noFill/>
        </p:spPr>
        <p:txBody>
          <a:bodyPr wrap="square" rtlCol="0">
            <a:spAutoFit/>
          </a:bodyPr>
          <a:lstStyle/>
          <a:p>
            <a:pPr>
              <a:lnSpc>
                <a:spcPct val="150000"/>
              </a:lnSpc>
            </a:pPr>
            <a:r>
              <a:rPr lang="en-US" altLang="zh-CN" sz="2665" dirty="0">
                <a:solidFill>
                  <a:schemeClr val="tx1"/>
                </a:solidFill>
                <a:latin typeface="MiSans" panose="00000500000000000000" pitchFamily="34" charset="-122"/>
                <a:ea typeface="MiSans" panose="00000500000000000000" pitchFamily="34" charset="-122"/>
                <a:cs typeface="MiSans" panose="00000500000000000000" pitchFamily="34" charset="-122"/>
              </a:rPr>
              <a:t>         </a:t>
            </a:r>
            <a:r>
              <a:rPr lang="zh-CN" sz="2400" dirty="0">
                <a:solidFill>
                  <a:schemeClr val="tx1"/>
                </a:solidFill>
                <a:latin typeface="MiSans" panose="00000500000000000000" pitchFamily="34" charset="-122"/>
                <a:ea typeface="MiSans" panose="00000500000000000000" pitchFamily="34" charset="-122"/>
                <a:cs typeface="MiSans" panose="00000500000000000000" pitchFamily="34" charset="-122"/>
              </a:rPr>
              <a:t>可税前加计扣除</a:t>
            </a:r>
            <a:r>
              <a:rPr sz="2400" dirty="0" err="1">
                <a:solidFill>
                  <a:schemeClr val="tx1"/>
                </a:solidFill>
                <a:latin typeface="MiSans" panose="00000500000000000000" pitchFamily="34" charset="-122"/>
                <a:ea typeface="MiSans" panose="00000500000000000000" pitchFamily="34" charset="-122"/>
                <a:cs typeface="MiSans" panose="00000500000000000000" pitchFamily="34" charset="-122"/>
              </a:rPr>
              <a:t>的其他费用</a:t>
            </a:r>
            <a:r>
              <a:rPr lang="zh-CN" sz="2400" dirty="0">
                <a:solidFill>
                  <a:schemeClr val="tx1"/>
                </a:solidFill>
                <a:latin typeface="MiSans" panose="00000500000000000000" pitchFamily="34" charset="-122"/>
                <a:ea typeface="MiSans" panose="00000500000000000000" pitchFamily="34" charset="-122"/>
                <a:cs typeface="MiSans" panose="00000500000000000000" pitchFamily="34" charset="-122"/>
              </a:rPr>
              <a:t>包括：</a:t>
            </a:r>
            <a:r>
              <a:rPr sz="2400" dirty="0">
                <a:solidFill>
                  <a:schemeClr val="tx1"/>
                </a:solidFill>
                <a:latin typeface="MiSans" panose="00000500000000000000" pitchFamily="34" charset="-122"/>
                <a:ea typeface="MiSans" panose="00000500000000000000" pitchFamily="34" charset="-122"/>
                <a:cs typeface="MiSans" panose="00000500000000000000" pitchFamily="34" charset="-122"/>
              </a:rPr>
              <a:t>技术图书资料费、资料翻译费、专家咨询费、高新科技研发保险费，研发成果的检索、分析、评议、论证、鉴定、评审、评估、验收费用，</a:t>
            </a:r>
            <a:r>
              <a:rPr sz="2400" dirty="0">
                <a:solidFill>
                  <a:schemeClr val="tx1"/>
                </a:solidFill>
                <a:highlight>
                  <a:srgbClr val="FF0000"/>
                </a:highlight>
                <a:latin typeface="MiSans" panose="00000500000000000000" pitchFamily="34" charset="-122"/>
                <a:ea typeface="MiSans" panose="00000500000000000000" pitchFamily="34" charset="-122"/>
                <a:cs typeface="MiSans" panose="00000500000000000000" pitchFamily="34" charset="-122"/>
              </a:rPr>
              <a:t>知识产权的申请费、注册费、代理费</a:t>
            </a:r>
            <a:r>
              <a:rPr sz="2400" dirty="0">
                <a:solidFill>
                  <a:schemeClr val="tx1"/>
                </a:solidFill>
                <a:latin typeface="MiSans" panose="00000500000000000000" pitchFamily="34" charset="-122"/>
                <a:ea typeface="MiSans" panose="00000500000000000000" pitchFamily="34" charset="-122"/>
                <a:cs typeface="MiSans" panose="00000500000000000000" pitchFamily="34" charset="-122"/>
              </a:rPr>
              <a:t>，差旅费、会议费，</a:t>
            </a:r>
            <a:r>
              <a:rPr sz="2400" dirty="0">
                <a:solidFill>
                  <a:schemeClr val="tx1"/>
                </a:solidFill>
                <a:highlight>
                  <a:srgbClr val="FF0000"/>
                </a:highlight>
                <a:latin typeface="MiSans" panose="00000500000000000000" pitchFamily="34" charset="-122"/>
                <a:ea typeface="MiSans" panose="00000500000000000000" pitchFamily="34" charset="-122"/>
                <a:cs typeface="MiSans" panose="00000500000000000000" pitchFamily="34" charset="-122"/>
              </a:rPr>
              <a:t>职工福利费、补充养老保险费、补充医疗保险费。</a:t>
            </a:r>
          </a:p>
          <a:p>
            <a:pPr>
              <a:lnSpc>
                <a:spcPct val="150000"/>
              </a:lnSpc>
            </a:pPr>
            <a:r>
              <a:rPr sz="2400" dirty="0">
                <a:solidFill>
                  <a:schemeClr val="tx1"/>
                </a:solidFill>
                <a:latin typeface="MiSans" panose="00000500000000000000" pitchFamily="34" charset="-122"/>
                <a:ea typeface="MiSans" panose="00000500000000000000" pitchFamily="34" charset="-122"/>
                <a:cs typeface="MiSans" panose="00000500000000000000" pitchFamily="34" charset="-122"/>
              </a:rPr>
              <a:t>　此类费用总额不得超过可加计扣除研发费用总额的10%。</a:t>
            </a:r>
            <a:endParaRPr lang="zh-CN" altLang="en-US" sz="2400" dirty="0">
              <a:solidFill>
                <a:schemeClr val="tx1"/>
              </a:solidFill>
              <a:latin typeface="MiSans" panose="00000500000000000000" pitchFamily="34" charset="-122"/>
              <a:ea typeface="MiSans" panose="00000500000000000000" pitchFamily="34" charset="-122"/>
              <a:cs typeface="MiSans" panose="00000500000000000000" pitchFamily="34"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 0" descr="https://kimi-img.moonshot.cn/pub/slides/slides_tmpl/image/25-09-04-11:33:06-d2sggsm1bb2p4onbon10.jpg"/>
          <p:cNvPicPr>
            <a:picLocks noChangeAspect="1"/>
          </p:cNvPicPr>
          <p:nvPr/>
        </p:nvPicPr>
        <p:blipFill>
          <a:blip r:embed="rId3"/>
          <a:stretch>
            <a:fillRect/>
          </a:stretch>
        </p:blipFill>
        <p:spPr>
          <a:xfrm>
            <a:off x="0" y="0"/>
            <a:ext cx="12192000" cy="6858000"/>
          </a:xfrm>
          <a:prstGeom prst="rect">
            <a:avLst/>
          </a:prstGeom>
        </p:spPr>
      </p:pic>
      <p:cxnSp>
        <p:nvCxnSpPr>
          <p:cNvPr id="5" name="直接连接符 4"/>
          <p:cNvCxnSpPr/>
          <p:nvPr/>
        </p:nvCxnSpPr>
        <p:spPr>
          <a:xfrm>
            <a:off x="2619061" y="644689"/>
            <a:ext cx="1920213" cy="0"/>
          </a:xfrm>
          <a:prstGeom prst="line">
            <a:avLst/>
          </a:prstGeom>
          <a:ln>
            <a:gradFill flip="none" rotWithShape="1">
              <a:gsLst>
                <a:gs pos="0">
                  <a:schemeClr val="bg1">
                    <a:alpha val="0"/>
                  </a:schemeClr>
                </a:gs>
                <a:gs pos="100000">
                  <a:schemeClr val="bg1"/>
                </a:gs>
              </a:gsLst>
              <a:lin ang="0" scaled="1"/>
              <a:tileRect/>
            </a:gradFill>
            <a:tailEnd type="oval"/>
          </a:ln>
        </p:spPr>
        <p:style>
          <a:lnRef idx="1">
            <a:schemeClr val="accent1"/>
          </a:lnRef>
          <a:fillRef idx="0">
            <a:schemeClr val="accent1"/>
          </a:fillRef>
          <a:effectRef idx="0">
            <a:schemeClr val="accent1"/>
          </a:effectRef>
          <a:fontRef idx="minor">
            <a:schemeClr val="tx1"/>
          </a:fontRef>
        </p:style>
      </p:cxnSp>
      <p:sp>
        <p:nvSpPr>
          <p:cNvPr id="14" name="TextBox 1"/>
          <p:cNvSpPr txBox="1"/>
          <p:nvPr/>
        </p:nvSpPr>
        <p:spPr>
          <a:xfrm>
            <a:off x="3579168" y="380600"/>
            <a:ext cx="4992555" cy="534035"/>
          </a:xfrm>
          <a:prstGeom prst="rect">
            <a:avLst/>
          </a:prstGeom>
          <a:noFill/>
        </p:spPr>
        <p:txBody>
          <a:bodyPr wrap="square" rtlCol="0">
            <a:spAutoFit/>
          </a:bodyPr>
          <a:lstStyle/>
          <a:p>
            <a:pPr algn="ctr" defTabSz="431800">
              <a:lnSpc>
                <a:spcPct val="120000"/>
              </a:lnSpc>
              <a:defRPr/>
            </a:pPr>
            <a:r>
              <a:rPr lang="zh-CN" sz="2400" b="1" kern="0" dirty="0">
                <a:solidFill>
                  <a:schemeClr val="tx1"/>
                </a:solidFill>
                <a:latin typeface="Arial" panose="020B0604020202020204" pitchFamily="34" charset="0"/>
                <a:ea typeface="微软雅黑" panose="020B0503020204020204" charset="-122"/>
                <a:cs typeface="Arial" panose="020B0604020202020204" pitchFamily="34" charset="0"/>
              </a:rPr>
              <a:t>研发费用问题</a:t>
            </a:r>
          </a:p>
        </p:txBody>
      </p:sp>
      <p:cxnSp>
        <p:nvCxnSpPr>
          <p:cNvPr id="15" name="直接连接符 14"/>
          <p:cNvCxnSpPr/>
          <p:nvPr/>
        </p:nvCxnSpPr>
        <p:spPr>
          <a:xfrm flipH="1">
            <a:off x="7611616" y="644689"/>
            <a:ext cx="1920213" cy="0"/>
          </a:xfrm>
          <a:prstGeom prst="line">
            <a:avLst/>
          </a:prstGeom>
          <a:ln>
            <a:gradFill flip="none" rotWithShape="1">
              <a:gsLst>
                <a:gs pos="0">
                  <a:schemeClr val="bg1">
                    <a:alpha val="0"/>
                  </a:schemeClr>
                </a:gs>
                <a:gs pos="100000">
                  <a:schemeClr val="bg1"/>
                </a:gs>
              </a:gsLst>
              <a:lin ang="0" scaled="1"/>
              <a:tileRect/>
            </a:gradFill>
            <a:tailEnd type="oval"/>
          </a:ln>
        </p:spPr>
        <p:style>
          <a:lnRef idx="1">
            <a:schemeClr val="accent1"/>
          </a:lnRef>
          <a:fillRef idx="0">
            <a:schemeClr val="accent1"/>
          </a:fillRef>
          <a:effectRef idx="0">
            <a:schemeClr val="accent1"/>
          </a:effectRef>
          <a:fontRef idx="minor">
            <a:schemeClr val="tx1"/>
          </a:fontRef>
        </p:style>
      </p:cxnSp>
      <p:sp>
        <p:nvSpPr>
          <p:cNvPr id="20" name="圆角矩形 19"/>
          <p:cNvSpPr/>
          <p:nvPr/>
        </p:nvSpPr>
        <p:spPr>
          <a:xfrm>
            <a:off x="623147" y="1412240"/>
            <a:ext cx="7134860" cy="626533"/>
          </a:xfrm>
          <a:prstGeom prst="roundRect">
            <a:avLst>
              <a:gd name="adj" fmla="val 50000"/>
            </a:avLst>
          </a:prstGeom>
          <a:solidFill>
            <a:srgbClr val="AA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altLang="zh-CN" sz="2400" b="1" dirty="0">
                <a:solidFill>
                  <a:schemeClr val="bg1"/>
                </a:solidFill>
                <a:ea typeface="微软雅黑" panose="020B0503020204020204" charset="-122"/>
              </a:rPr>
              <a:t>  </a:t>
            </a:r>
            <a:r>
              <a:rPr lang="zh-CN" altLang="en-US" sz="2400" b="1" dirty="0">
                <a:solidFill>
                  <a:schemeClr val="bg1"/>
                </a:solidFill>
                <a:ea typeface="微软雅黑" panose="020B0503020204020204" charset="-122"/>
              </a:rPr>
              <a:t>三、特殊收入应扣减可加计扣除的研发费用问题</a:t>
            </a:r>
            <a:r>
              <a:rPr lang="en-US" altLang="zh-CN" sz="2400" b="1" dirty="0">
                <a:solidFill>
                  <a:schemeClr val="bg1"/>
                </a:solidFill>
                <a:ea typeface="微软雅黑" panose="020B0503020204020204" charset="-122"/>
              </a:rPr>
              <a:t>  </a:t>
            </a:r>
          </a:p>
        </p:txBody>
      </p:sp>
      <p:sp>
        <p:nvSpPr>
          <p:cNvPr id="4" name="文本框 3"/>
          <p:cNvSpPr txBox="1"/>
          <p:nvPr/>
        </p:nvSpPr>
        <p:spPr>
          <a:xfrm>
            <a:off x="719667" y="2276687"/>
            <a:ext cx="10727267" cy="1815465"/>
          </a:xfrm>
          <a:prstGeom prst="rect">
            <a:avLst/>
          </a:prstGeom>
          <a:noFill/>
        </p:spPr>
        <p:txBody>
          <a:bodyPr wrap="square" rtlCol="0">
            <a:spAutoFit/>
          </a:bodyPr>
          <a:lstStyle/>
          <a:p>
            <a:pPr>
              <a:lnSpc>
                <a:spcPct val="150000"/>
              </a:lnSpc>
            </a:pPr>
            <a:r>
              <a:rPr lang="en-US" altLang="zh-CN" sz="2665" b="1" dirty="0">
                <a:solidFill>
                  <a:schemeClr val="tx1"/>
                </a:solidFill>
                <a:latin typeface="MiSans" panose="00000500000000000000" pitchFamily="34" charset="-122"/>
                <a:ea typeface="MiSans" panose="00000500000000000000" pitchFamily="34" charset="-122"/>
                <a:cs typeface="MiSans" panose="00000500000000000000" pitchFamily="34" charset="-122"/>
              </a:rPr>
              <a:t>   </a:t>
            </a:r>
            <a:r>
              <a:rPr lang="en-US" altLang="zh-CN" sz="2400" b="1" dirty="0">
                <a:solidFill>
                  <a:schemeClr val="tx1"/>
                </a:solidFill>
                <a:latin typeface="MiSans" panose="00000500000000000000" pitchFamily="34" charset="-122"/>
                <a:ea typeface="MiSans" panose="00000500000000000000" pitchFamily="34" charset="-122"/>
                <a:cs typeface="MiSans" panose="00000500000000000000" pitchFamily="34" charset="-122"/>
              </a:rPr>
              <a:t>     </a:t>
            </a:r>
            <a:r>
              <a:rPr sz="2400" b="1" dirty="0">
                <a:solidFill>
                  <a:schemeClr val="tx1"/>
                </a:solidFill>
                <a:latin typeface="MiSans" panose="00000500000000000000" pitchFamily="34" charset="-122"/>
                <a:ea typeface="MiSans" panose="00000500000000000000" pitchFamily="34" charset="-122"/>
                <a:cs typeface="MiSans" panose="00000500000000000000" pitchFamily="34" charset="-122"/>
              </a:rPr>
              <a:t>当期取得的研发过程中形成的下脚料、残次品、中间试制品等特殊收入，此类收入均为与研发活动直接相关的收入，应冲减对应的可加计扣除的研发费用。不足扣减的，加计扣除研发费用按零计算。</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 0" descr="https://kimi-img.moonshot.cn/pub/slides/slides_tmpl/image/25-09-04-11:33:06-d2sggsm1bb2p4onbon10.jpg"/>
          <p:cNvPicPr>
            <a:picLocks noChangeAspect="1"/>
          </p:cNvPicPr>
          <p:nvPr/>
        </p:nvPicPr>
        <p:blipFill>
          <a:blip r:embed="rId3"/>
          <a:stretch>
            <a:fillRect/>
          </a:stretch>
        </p:blipFill>
        <p:spPr>
          <a:xfrm>
            <a:off x="0" y="0"/>
            <a:ext cx="12192000" cy="6858000"/>
          </a:xfrm>
          <a:prstGeom prst="rect">
            <a:avLst/>
          </a:prstGeom>
        </p:spPr>
      </p:pic>
      <p:cxnSp>
        <p:nvCxnSpPr>
          <p:cNvPr id="5" name="直接连接符 4"/>
          <p:cNvCxnSpPr/>
          <p:nvPr/>
        </p:nvCxnSpPr>
        <p:spPr>
          <a:xfrm>
            <a:off x="2619061" y="644689"/>
            <a:ext cx="1920213" cy="0"/>
          </a:xfrm>
          <a:prstGeom prst="line">
            <a:avLst/>
          </a:prstGeom>
          <a:ln>
            <a:gradFill flip="none" rotWithShape="1">
              <a:gsLst>
                <a:gs pos="0">
                  <a:schemeClr val="bg1">
                    <a:alpha val="0"/>
                  </a:schemeClr>
                </a:gs>
                <a:gs pos="100000">
                  <a:schemeClr val="bg1"/>
                </a:gs>
              </a:gsLst>
              <a:lin ang="0" scaled="1"/>
              <a:tileRect/>
            </a:gradFill>
            <a:tailEnd type="oval"/>
          </a:ln>
        </p:spPr>
        <p:style>
          <a:lnRef idx="1">
            <a:schemeClr val="accent1"/>
          </a:lnRef>
          <a:fillRef idx="0">
            <a:schemeClr val="accent1"/>
          </a:fillRef>
          <a:effectRef idx="0">
            <a:schemeClr val="accent1"/>
          </a:effectRef>
          <a:fontRef idx="minor">
            <a:schemeClr val="tx1"/>
          </a:fontRef>
        </p:style>
      </p:cxnSp>
      <p:sp>
        <p:nvSpPr>
          <p:cNvPr id="14" name="TextBox 1"/>
          <p:cNvSpPr txBox="1"/>
          <p:nvPr/>
        </p:nvSpPr>
        <p:spPr>
          <a:xfrm>
            <a:off x="3579168" y="380600"/>
            <a:ext cx="4992555" cy="534035"/>
          </a:xfrm>
          <a:prstGeom prst="rect">
            <a:avLst/>
          </a:prstGeom>
          <a:noFill/>
        </p:spPr>
        <p:txBody>
          <a:bodyPr wrap="square" rtlCol="0">
            <a:spAutoFit/>
          </a:bodyPr>
          <a:lstStyle/>
          <a:p>
            <a:pPr algn="ctr" defTabSz="431800">
              <a:lnSpc>
                <a:spcPct val="120000"/>
              </a:lnSpc>
              <a:defRPr/>
            </a:pPr>
            <a:r>
              <a:rPr lang="zh-CN" sz="2400" b="1" kern="0" dirty="0">
                <a:solidFill>
                  <a:schemeClr val="tx1"/>
                </a:solidFill>
                <a:latin typeface="Arial" panose="020B0604020202020204" pitchFamily="34" charset="0"/>
                <a:ea typeface="微软雅黑" panose="020B0503020204020204" charset="-122"/>
                <a:cs typeface="Arial" panose="020B0604020202020204" pitchFamily="34" charset="0"/>
              </a:rPr>
              <a:t>研发费用问题</a:t>
            </a:r>
          </a:p>
        </p:txBody>
      </p:sp>
      <p:cxnSp>
        <p:nvCxnSpPr>
          <p:cNvPr id="15" name="直接连接符 14"/>
          <p:cNvCxnSpPr/>
          <p:nvPr/>
        </p:nvCxnSpPr>
        <p:spPr>
          <a:xfrm flipH="1">
            <a:off x="7611616" y="644689"/>
            <a:ext cx="1920213" cy="0"/>
          </a:xfrm>
          <a:prstGeom prst="line">
            <a:avLst/>
          </a:prstGeom>
          <a:ln>
            <a:gradFill flip="none" rotWithShape="1">
              <a:gsLst>
                <a:gs pos="0">
                  <a:schemeClr val="bg1">
                    <a:alpha val="0"/>
                  </a:schemeClr>
                </a:gs>
                <a:gs pos="100000">
                  <a:schemeClr val="bg1"/>
                </a:gs>
              </a:gsLst>
              <a:lin ang="0" scaled="1"/>
              <a:tileRect/>
            </a:gradFill>
            <a:tailEnd type="oval"/>
          </a:ln>
        </p:spPr>
        <p:style>
          <a:lnRef idx="1">
            <a:schemeClr val="accent1"/>
          </a:lnRef>
          <a:fillRef idx="0">
            <a:schemeClr val="accent1"/>
          </a:fillRef>
          <a:effectRef idx="0">
            <a:schemeClr val="accent1"/>
          </a:effectRef>
          <a:fontRef idx="minor">
            <a:schemeClr val="tx1"/>
          </a:fontRef>
        </p:style>
      </p:cxnSp>
      <p:sp>
        <p:nvSpPr>
          <p:cNvPr id="20" name="圆角矩形 19"/>
          <p:cNvSpPr/>
          <p:nvPr/>
        </p:nvSpPr>
        <p:spPr>
          <a:xfrm>
            <a:off x="623147" y="1412240"/>
            <a:ext cx="7348220" cy="1065107"/>
          </a:xfrm>
          <a:prstGeom prst="roundRect">
            <a:avLst>
              <a:gd name="adj" fmla="val 50000"/>
            </a:avLst>
          </a:prstGeom>
          <a:solidFill>
            <a:srgbClr val="AA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altLang="zh-CN" sz="2400" b="1" dirty="0">
                <a:solidFill>
                  <a:schemeClr val="bg1"/>
                </a:solidFill>
                <a:ea typeface="微软雅黑" panose="020B0503020204020204" charset="-122"/>
              </a:rPr>
              <a:t>  </a:t>
            </a:r>
            <a:r>
              <a:rPr lang="zh-CN" altLang="en-US" sz="2400" b="1" dirty="0">
                <a:solidFill>
                  <a:schemeClr val="bg1"/>
                </a:solidFill>
                <a:ea typeface="微软雅黑" panose="020B0503020204020204" charset="-122"/>
              </a:rPr>
              <a:t>四、</a:t>
            </a:r>
            <a:r>
              <a:rPr lang="en-US" altLang="zh-CN" sz="2400" b="1" dirty="0">
                <a:solidFill>
                  <a:schemeClr val="bg1"/>
                </a:solidFill>
                <a:ea typeface="微软雅黑" panose="020B0503020204020204" charset="-122"/>
              </a:rPr>
              <a:t> </a:t>
            </a:r>
            <a:r>
              <a:rPr lang="en-US" altLang="zh-CN" sz="2400" b="1" dirty="0" err="1">
                <a:solidFill>
                  <a:schemeClr val="bg1"/>
                </a:solidFill>
                <a:ea typeface="微软雅黑" panose="020B0503020204020204" charset="-122"/>
              </a:rPr>
              <a:t>研发活动直接形成产品或作为组成部分形成</a:t>
            </a:r>
            <a:r>
              <a:rPr lang="en-US" altLang="zh-CN" sz="2400" b="1" dirty="0">
                <a:solidFill>
                  <a:schemeClr val="bg1"/>
                </a:solidFill>
                <a:ea typeface="微软雅黑" panose="020B0503020204020204" charset="-122"/>
              </a:rPr>
              <a:t>   </a:t>
            </a:r>
          </a:p>
          <a:p>
            <a:pPr algn="l"/>
            <a:r>
              <a:rPr lang="en-US" altLang="zh-CN" sz="2400" b="1" dirty="0">
                <a:solidFill>
                  <a:schemeClr val="bg1"/>
                </a:solidFill>
                <a:ea typeface="微软雅黑" panose="020B0503020204020204" charset="-122"/>
              </a:rPr>
              <a:t>           </a:t>
            </a:r>
            <a:r>
              <a:rPr lang="en-US" altLang="zh-CN" sz="2400" b="1" dirty="0" err="1">
                <a:solidFill>
                  <a:schemeClr val="bg1"/>
                </a:solidFill>
                <a:ea typeface="微软雅黑" panose="020B0503020204020204" charset="-122"/>
              </a:rPr>
              <a:t>的产品对外销售的特殊处理</a:t>
            </a:r>
            <a:r>
              <a:rPr lang="zh-CN" altLang="en-US" sz="2400" b="1" dirty="0">
                <a:solidFill>
                  <a:schemeClr val="bg1"/>
                </a:solidFill>
                <a:ea typeface="微软雅黑" panose="020B0503020204020204" charset="-122"/>
              </a:rPr>
              <a:t>问题</a:t>
            </a:r>
          </a:p>
        </p:txBody>
      </p:sp>
      <p:sp>
        <p:nvSpPr>
          <p:cNvPr id="4" name="文本框 3"/>
          <p:cNvSpPr txBox="1"/>
          <p:nvPr/>
        </p:nvSpPr>
        <p:spPr>
          <a:xfrm>
            <a:off x="711200" y="2505287"/>
            <a:ext cx="10727267" cy="2369185"/>
          </a:xfrm>
          <a:prstGeom prst="rect">
            <a:avLst/>
          </a:prstGeom>
          <a:noFill/>
        </p:spPr>
        <p:txBody>
          <a:bodyPr wrap="square" rtlCol="0">
            <a:spAutoFit/>
          </a:bodyPr>
          <a:lstStyle/>
          <a:p>
            <a:pPr>
              <a:lnSpc>
                <a:spcPct val="150000"/>
              </a:lnSpc>
            </a:pPr>
            <a:r>
              <a:rPr lang="en-US" altLang="zh-CN" sz="2665" dirty="0">
                <a:solidFill>
                  <a:schemeClr val="tx1"/>
                </a:solidFill>
                <a:latin typeface="MiSans" panose="00000500000000000000" pitchFamily="34" charset="-122"/>
                <a:ea typeface="MiSans" panose="00000500000000000000" pitchFamily="34" charset="-122"/>
                <a:cs typeface="MiSans" panose="00000500000000000000" pitchFamily="34" charset="-122"/>
              </a:rPr>
              <a:t>         </a:t>
            </a:r>
            <a:r>
              <a:rPr sz="2400" dirty="0" err="1">
                <a:solidFill>
                  <a:schemeClr val="tx1"/>
                </a:solidFill>
                <a:latin typeface="MiSans" panose="00000500000000000000" pitchFamily="34" charset="-122"/>
                <a:ea typeface="MiSans" panose="00000500000000000000" pitchFamily="34" charset="-122"/>
                <a:cs typeface="MiSans" panose="00000500000000000000" pitchFamily="34" charset="-122"/>
              </a:rPr>
              <a:t>直接形成产品或作为组成部分形成的产品对外销售的，研发费用中对应的</a:t>
            </a:r>
            <a:r>
              <a:rPr sz="2400" dirty="0">
                <a:solidFill>
                  <a:schemeClr val="tx1"/>
                </a:solidFill>
                <a:latin typeface="MiSans" panose="00000500000000000000" pitchFamily="34" charset="-122"/>
                <a:ea typeface="MiSans" panose="00000500000000000000" pitchFamily="34" charset="-122"/>
                <a:cs typeface="MiSans" panose="00000500000000000000" pitchFamily="34" charset="-122"/>
              </a:rPr>
              <a:t>材料费用不得加计扣除。产品销售与对应的材料费用发生在不同纳税年度且材料费用已计入研发费用的，可在销售当年以对应的材料费用发生额直接冲减当年的研发费用，不足冲减的，结转以后年度继续冲减。</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 0" descr="https://kimi-img.moonshot.cn/pub/slides/slides_tmpl/image/25-09-04-11:33:06-d2sggsm1bb2p4onbon10.jpg"/>
          <p:cNvPicPr>
            <a:picLocks noChangeAspect="1"/>
          </p:cNvPicPr>
          <p:nvPr/>
        </p:nvPicPr>
        <p:blipFill>
          <a:blip r:embed="rId3"/>
          <a:stretch>
            <a:fillRect/>
          </a:stretch>
        </p:blipFill>
        <p:spPr>
          <a:xfrm>
            <a:off x="0" y="0"/>
            <a:ext cx="12192000" cy="6858000"/>
          </a:xfrm>
          <a:prstGeom prst="rect">
            <a:avLst/>
          </a:prstGeom>
        </p:spPr>
      </p:pic>
      <p:cxnSp>
        <p:nvCxnSpPr>
          <p:cNvPr id="5" name="直接连接符 4"/>
          <p:cNvCxnSpPr/>
          <p:nvPr/>
        </p:nvCxnSpPr>
        <p:spPr>
          <a:xfrm>
            <a:off x="2619061" y="644689"/>
            <a:ext cx="1920213" cy="0"/>
          </a:xfrm>
          <a:prstGeom prst="line">
            <a:avLst/>
          </a:prstGeom>
          <a:ln>
            <a:gradFill flip="none" rotWithShape="1">
              <a:gsLst>
                <a:gs pos="0">
                  <a:schemeClr val="bg1">
                    <a:alpha val="0"/>
                  </a:schemeClr>
                </a:gs>
                <a:gs pos="100000">
                  <a:schemeClr val="bg1"/>
                </a:gs>
              </a:gsLst>
              <a:lin ang="0" scaled="1"/>
              <a:tileRect/>
            </a:gradFill>
            <a:tailEnd type="oval"/>
          </a:ln>
        </p:spPr>
        <p:style>
          <a:lnRef idx="1">
            <a:schemeClr val="accent1"/>
          </a:lnRef>
          <a:fillRef idx="0">
            <a:schemeClr val="accent1"/>
          </a:fillRef>
          <a:effectRef idx="0">
            <a:schemeClr val="accent1"/>
          </a:effectRef>
          <a:fontRef idx="minor">
            <a:schemeClr val="tx1"/>
          </a:fontRef>
        </p:style>
      </p:cxnSp>
      <p:sp>
        <p:nvSpPr>
          <p:cNvPr id="14" name="TextBox 1"/>
          <p:cNvSpPr txBox="1"/>
          <p:nvPr/>
        </p:nvSpPr>
        <p:spPr>
          <a:xfrm>
            <a:off x="3579168" y="380600"/>
            <a:ext cx="4992555" cy="534035"/>
          </a:xfrm>
          <a:prstGeom prst="rect">
            <a:avLst/>
          </a:prstGeom>
          <a:noFill/>
        </p:spPr>
        <p:txBody>
          <a:bodyPr wrap="square" rtlCol="0">
            <a:spAutoFit/>
          </a:bodyPr>
          <a:lstStyle/>
          <a:p>
            <a:pPr algn="ctr" defTabSz="431800">
              <a:lnSpc>
                <a:spcPct val="120000"/>
              </a:lnSpc>
              <a:defRPr/>
            </a:pPr>
            <a:r>
              <a:rPr lang="zh-CN" sz="2400" b="1" kern="0" dirty="0">
                <a:solidFill>
                  <a:schemeClr val="tx1"/>
                </a:solidFill>
                <a:latin typeface="Arial" panose="020B0604020202020204" pitchFamily="34" charset="0"/>
                <a:ea typeface="微软雅黑" panose="020B0503020204020204" charset="-122"/>
                <a:cs typeface="Arial" panose="020B0604020202020204" pitchFamily="34" charset="0"/>
              </a:rPr>
              <a:t>研发费用归集问题</a:t>
            </a:r>
          </a:p>
        </p:txBody>
      </p:sp>
      <p:cxnSp>
        <p:nvCxnSpPr>
          <p:cNvPr id="15" name="直接连接符 14"/>
          <p:cNvCxnSpPr/>
          <p:nvPr/>
        </p:nvCxnSpPr>
        <p:spPr>
          <a:xfrm flipH="1">
            <a:off x="7611616" y="644689"/>
            <a:ext cx="1920213" cy="0"/>
          </a:xfrm>
          <a:prstGeom prst="line">
            <a:avLst/>
          </a:prstGeom>
          <a:ln>
            <a:gradFill flip="none" rotWithShape="1">
              <a:gsLst>
                <a:gs pos="0">
                  <a:schemeClr val="bg1">
                    <a:alpha val="0"/>
                  </a:schemeClr>
                </a:gs>
                <a:gs pos="100000">
                  <a:schemeClr val="bg1"/>
                </a:gs>
              </a:gsLst>
              <a:lin ang="0" scaled="1"/>
              <a:tileRect/>
            </a:gradFill>
            <a:tailEnd type="oval"/>
          </a:ln>
        </p:spPr>
        <p:style>
          <a:lnRef idx="1">
            <a:schemeClr val="accent1"/>
          </a:lnRef>
          <a:fillRef idx="0">
            <a:schemeClr val="accent1"/>
          </a:fillRef>
          <a:effectRef idx="0">
            <a:schemeClr val="accent1"/>
          </a:effectRef>
          <a:fontRef idx="minor">
            <a:schemeClr val="tx1"/>
          </a:fontRef>
        </p:style>
      </p:cxnSp>
      <p:sp>
        <p:nvSpPr>
          <p:cNvPr id="20" name="圆角矩形 19"/>
          <p:cNvSpPr/>
          <p:nvPr/>
        </p:nvSpPr>
        <p:spPr>
          <a:xfrm>
            <a:off x="623147" y="1412240"/>
            <a:ext cx="8629227" cy="626533"/>
          </a:xfrm>
          <a:prstGeom prst="roundRect">
            <a:avLst>
              <a:gd name="adj" fmla="val 50000"/>
            </a:avLst>
          </a:prstGeom>
          <a:solidFill>
            <a:srgbClr val="AA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altLang="zh-CN" sz="2400" b="1" dirty="0">
                <a:solidFill>
                  <a:schemeClr val="bg1"/>
                </a:solidFill>
                <a:ea typeface="微软雅黑" panose="020B0503020204020204" charset="-122"/>
              </a:rPr>
              <a:t>  </a:t>
            </a:r>
            <a:r>
              <a:rPr lang="zh-CN" altLang="en-US" sz="2400" b="1" dirty="0">
                <a:solidFill>
                  <a:schemeClr val="bg1"/>
                </a:solidFill>
                <a:ea typeface="微软雅黑" panose="020B0503020204020204" charset="-122"/>
              </a:rPr>
              <a:t>五、共用的人员及仪器、设备、无形资产会计核算要求问题</a:t>
            </a:r>
            <a:r>
              <a:rPr lang="en-US" altLang="zh-CN" sz="2400" b="1" dirty="0">
                <a:solidFill>
                  <a:schemeClr val="bg1"/>
                </a:solidFill>
                <a:ea typeface="微软雅黑" panose="020B0503020204020204" charset="-122"/>
              </a:rPr>
              <a:t>  </a:t>
            </a:r>
          </a:p>
        </p:txBody>
      </p:sp>
      <p:sp>
        <p:nvSpPr>
          <p:cNvPr id="4" name="文本框 3"/>
          <p:cNvSpPr txBox="1"/>
          <p:nvPr/>
        </p:nvSpPr>
        <p:spPr>
          <a:xfrm>
            <a:off x="711200" y="2505287"/>
            <a:ext cx="10727267" cy="2923540"/>
          </a:xfrm>
          <a:prstGeom prst="rect">
            <a:avLst/>
          </a:prstGeom>
          <a:noFill/>
        </p:spPr>
        <p:txBody>
          <a:bodyPr wrap="square" rtlCol="0">
            <a:spAutoFit/>
          </a:bodyPr>
          <a:lstStyle/>
          <a:p>
            <a:pPr>
              <a:lnSpc>
                <a:spcPct val="150000"/>
              </a:lnSpc>
            </a:pPr>
            <a:r>
              <a:rPr lang="en-US" altLang="zh-CN" sz="2665" dirty="0">
                <a:solidFill>
                  <a:schemeClr val="tx1"/>
                </a:solidFill>
                <a:latin typeface="MiSans" panose="00000500000000000000" pitchFamily="34" charset="-122"/>
                <a:ea typeface="MiSans" panose="00000500000000000000" pitchFamily="34" charset="-122"/>
                <a:cs typeface="MiSans" panose="00000500000000000000" pitchFamily="34" charset="-122"/>
              </a:rPr>
              <a:t>      </a:t>
            </a:r>
            <a:r>
              <a:rPr sz="2400" dirty="0" err="1">
                <a:solidFill>
                  <a:schemeClr val="tx1"/>
                </a:solidFill>
                <a:latin typeface="MiSans" panose="00000500000000000000" pitchFamily="34" charset="-122"/>
                <a:ea typeface="MiSans" panose="00000500000000000000" pitchFamily="34" charset="-122"/>
                <a:cs typeface="MiSans" panose="00000500000000000000" pitchFamily="34" charset="-122"/>
              </a:rPr>
              <a:t>有的企业从事研发活动的人员同时也会承担生产经营管理等职能，用于研发活动的仪器、设备、无形资产同时也会用于非研发活动</a:t>
            </a:r>
            <a:r>
              <a:rPr sz="2400" dirty="0">
                <a:solidFill>
                  <a:schemeClr val="tx1"/>
                </a:solidFill>
                <a:latin typeface="MiSans" panose="00000500000000000000" pitchFamily="34" charset="-122"/>
                <a:ea typeface="MiSans" panose="00000500000000000000" pitchFamily="34" charset="-122"/>
                <a:cs typeface="MiSans" panose="00000500000000000000" pitchFamily="34" charset="-122"/>
              </a:rPr>
              <a:t>。</a:t>
            </a:r>
          </a:p>
          <a:p>
            <a:pPr>
              <a:lnSpc>
                <a:spcPct val="150000"/>
              </a:lnSpc>
            </a:pPr>
            <a:r>
              <a:rPr sz="2400" dirty="0">
                <a:solidFill>
                  <a:schemeClr val="tx1"/>
                </a:solidFill>
                <a:latin typeface="MiSans" panose="00000500000000000000" pitchFamily="34" charset="-122"/>
                <a:ea typeface="MiSans" panose="00000500000000000000" pitchFamily="34" charset="-122"/>
                <a:cs typeface="MiSans" panose="00000500000000000000" pitchFamily="34" charset="-122"/>
              </a:rPr>
              <a:t> </a:t>
            </a:r>
            <a:r>
              <a:rPr lang="en-US" sz="2400" dirty="0">
                <a:solidFill>
                  <a:schemeClr val="tx1"/>
                </a:solidFill>
                <a:latin typeface="MiSans" panose="00000500000000000000" pitchFamily="34" charset="-122"/>
                <a:ea typeface="MiSans" panose="00000500000000000000" pitchFamily="34" charset="-122"/>
                <a:cs typeface="MiSans" panose="00000500000000000000" pitchFamily="34" charset="-122"/>
              </a:rPr>
              <a:t>     </a:t>
            </a:r>
            <a:r>
              <a:rPr sz="2400" dirty="0">
                <a:solidFill>
                  <a:schemeClr val="tx1"/>
                </a:solidFill>
                <a:latin typeface="MiSans" panose="00000500000000000000" pitchFamily="34" charset="-122"/>
                <a:ea typeface="MiSans" panose="00000500000000000000" pitchFamily="34" charset="-122"/>
                <a:cs typeface="MiSans" panose="00000500000000000000" pitchFamily="34" charset="-122"/>
              </a:rPr>
              <a:t>为有效划分这类情形，企业应对此类人员活动情况及仪器、设备、无形资产的使用情况做必要记录，并将其实际发生的相关费用按</a:t>
            </a:r>
            <a:r>
              <a:rPr sz="2400" b="1" dirty="0">
                <a:solidFill>
                  <a:schemeClr val="tx1"/>
                </a:solidFill>
                <a:latin typeface="MiSans" panose="00000500000000000000" pitchFamily="34" charset="-122"/>
                <a:ea typeface="MiSans" panose="00000500000000000000" pitchFamily="34" charset="-122"/>
                <a:cs typeface="MiSans" panose="00000500000000000000" pitchFamily="34" charset="-122"/>
              </a:rPr>
              <a:t>实际工时占比等合理方法在研发费用和生产经营费用间分配，未分配的不得加计扣除。</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 0" descr="https://kimi-img.moonshot.cn/pub/slides/slides_tmpl/image/25-09-04-11:33:06-d2sggsm1bb2p4onbon10.jpg"/>
          <p:cNvPicPr>
            <a:picLocks noChangeAspect="1"/>
          </p:cNvPicPr>
          <p:nvPr/>
        </p:nvPicPr>
        <p:blipFill>
          <a:blip r:embed="rId4"/>
          <a:stretch>
            <a:fillRect/>
          </a:stretch>
        </p:blipFill>
        <p:spPr>
          <a:xfrm>
            <a:off x="0" y="0"/>
            <a:ext cx="12192000" cy="6858000"/>
          </a:xfrm>
          <a:prstGeom prst="rect">
            <a:avLst/>
          </a:prstGeom>
        </p:spPr>
      </p:pic>
      <p:cxnSp>
        <p:nvCxnSpPr>
          <p:cNvPr id="5" name="直接连接符 4"/>
          <p:cNvCxnSpPr/>
          <p:nvPr/>
        </p:nvCxnSpPr>
        <p:spPr>
          <a:xfrm>
            <a:off x="2619061" y="644689"/>
            <a:ext cx="1920213" cy="0"/>
          </a:xfrm>
          <a:prstGeom prst="line">
            <a:avLst/>
          </a:prstGeom>
          <a:ln>
            <a:gradFill flip="none" rotWithShape="1">
              <a:gsLst>
                <a:gs pos="0">
                  <a:schemeClr val="bg1">
                    <a:alpha val="0"/>
                  </a:schemeClr>
                </a:gs>
                <a:gs pos="100000">
                  <a:schemeClr val="bg1"/>
                </a:gs>
              </a:gsLst>
              <a:lin ang="0" scaled="1"/>
              <a:tileRect/>
            </a:gradFill>
            <a:tailEnd type="oval"/>
          </a:ln>
        </p:spPr>
        <p:style>
          <a:lnRef idx="1">
            <a:schemeClr val="accent1"/>
          </a:lnRef>
          <a:fillRef idx="0">
            <a:schemeClr val="accent1"/>
          </a:fillRef>
          <a:effectRef idx="0">
            <a:schemeClr val="accent1"/>
          </a:effectRef>
          <a:fontRef idx="minor">
            <a:schemeClr val="tx1"/>
          </a:fontRef>
        </p:style>
      </p:cxnSp>
      <p:sp>
        <p:nvSpPr>
          <p:cNvPr id="14" name="TextBox 1"/>
          <p:cNvSpPr txBox="1"/>
          <p:nvPr/>
        </p:nvSpPr>
        <p:spPr>
          <a:xfrm>
            <a:off x="3579168" y="380600"/>
            <a:ext cx="4992555" cy="534035"/>
          </a:xfrm>
          <a:prstGeom prst="rect">
            <a:avLst/>
          </a:prstGeom>
          <a:noFill/>
        </p:spPr>
        <p:txBody>
          <a:bodyPr wrap="square" rtlCol="0">
            <a:spAutoFit/>
          </a:bodyPr>
          <a:lstStyle/>
          <a:p>
            <a:pPr algn="ctr" defTabSz="431800">
              <a:lnSpc>
                <a:spcPct val="120000"/>
              </a:lnSpc>
              <a:defRPr/>
            </a:pPr>
            <a:r>
              <a:rPr lang="en-US" altLang="zh-CN" sz="2400" b="1" kern="0" dirty="0">
                <a:solidFill>
                  <a:schemeClr val="tx1"/>
                </a:solidFill>
                <a:latin typeface="Arial" panose="020B0604020202020204" pitchFamily="34" charset="0"/>
                <a:ea typeface="微软雅黑" panose="020B0503020204020204" charset="-122"/>
                <a:cs typeface="Arial" panose="020B0604020202020204" pitchFamily="34" charset="0"/>
              </a:rPr>
              <a:t>107012</a:t>
            </a:r>
            <a:r>
              <a:rPr lang="zh-CN" sz="2400" b="1" kern="0" dirty="0">
                <a:solidFill>
                  <a:schemeClr val="tx1"/>
                </a:solidFill>
                <a:latin typeface="Arial" panose="020B0604020202020204" pitchFamily="34" charset="0"/>
                <a:ea typeface="微软雅黑" panose="020B0503020204020204" charset="-122"/>
                <a:cs typeface="Arial" panose="020B0604020202020204" pitchFamily="34" charset="0"/>
              </a:rPr>
              <a:t>填报问题</a:t>
            </a:r>
          </a:p>
        </p:txBody>
      </p:sp>
      <p:cxnSp>
        <p:nvCxnSpPr>
          <p:cNvPr id="15" name="直接连接符 14"/>
          <p:cNvCxnSpPr/>
          <p:nvPr/>
        </p:nvCxnSpPr>
        <p:spPr>
          <a:xfrm flipH="1">
            <a:off x="7611616" y="644689"/>
            <a:ext cx="1920213" cy="0"/>
          </a:xfrm>
          <a:prstGeom prst="line">
            <a:avLst/>
          </a:prstGeom>
          <a:ln>
            <a:gradFill flip="none" rotWithShape="1">
              <a:gsLst>
                <a:gs pos="0">
                  <a:schemeClr val="bg1">
                    <a:alpha val="0"/>
                  </a:schemeClr>
                </a:gs>
                <a:gs pos="100000">
                  <a:schemeClr val="bg1"/>
                </a:gs>
              </a:gsLst>
              <a:lin ang="0" scaled="1"/>
              <a:tileRect/>
            </a:gradFill>
            <a:tailEnd type="oval"/>
          </a:ln>
        </p:spPr>
        <p:style>
          <a:lnRef idx="1">
            <a:schemeClr val="accent1"/>
          </a:lnRef>
          <a:fillRef idx="0">
            <a:schemeClr val="accent1"/>
          </a:fillRef>
          <a:effectRef idx="0">
            <a:schemeClr val="accent1"/>
          </a:effectRef>
          <a:fontRef idx="minor">
            <a:schemeClr val="tx1"/>
          </a:fontRef>
        </p:style>
      </p:cxnSp>
      <p:sp>
        <p:nvSpPr>
          <p:cNvPr id="20" name="圆角矩形 19"/>
          <p:cNvSpPr/>
          <p:nvPr/>
        </p:nvSpPr>
        <p:spPr>
          <a:xfrm>
            <a:off x="623147" y="1412240"/>
            <a:ext cx="8543713" cy="626533"/>
          </a:xfrm>
          <a:prstGeom prst="roundRect">
            <a:avLst>
              <a:gd name="adj" fmla="val 50000"/>
            </a:avLst>
          </a:prstGeom>
          <a:solidFill>
            <a:srgbClr val="AA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altLang="zh-CN" sz="2400" dirty="0">
                <a:ea typeface="微软雅黑" panose="020B0503020204020204" charset="-122"/>
              </a:rPr>
              <a:t>  </a:t>
            </a:r>
            <a:r>
              <a:rPr lang="zh-CN" altLang="en-US" sz="2400" dirty="0">
                <a:ea typeface="微软雅黑" panose="020B0503020204020204" charset="-122"/>
              </a:rPr>
              <a:t>六、研发费用加计扣除优惠明细表研发项目个数填报问题</a:t>
            </a:r>
            <a:r>
              <a:rPr lang="en-US" altLang="zh-CN" sz="2400" dirty="0">
                <a:ea typeface="微软雅黑" panose="020B0503020204020204" charset="-122"/>
              </a:rPr>
              <a:t>  </a:t>
            </a:r>
          </a:p>
        </p:txBody>
      </p:sp>
      <p:sp>
        <p:nvSpPr>
          <p:cNvPr id="4" name="文本框 3"/>
          <p:cNvSpPr txBox="1"/>
          <p:nvPr/>
        </p:nvSpPr>
        <p:spPr>
          <a:xfrm>
            <a:off x="711200" y="2505287"/>
            <a:ext cx="10727267" cy="707390"/>
          </a:xfrm>
          <a:prstGeom prst="rect">
            <a:avLst/>
          </a:prstGeom>
          <a:noFill/>
        </p:spPr>
        <p:txBody>
          <a:bodyPr wrap="square" rtlCol="0">
            <a:spAutoFit/>
          </a:bodyPr>
          <a:lstStyle/>
          <a:p>
            <a:pPr>
              <a:lnSpc>
                <a:spcPct val="150000"/>
              </a:lnSpc>
            </a:pPr>
            <a:r>
              <a:rPr lang="en-US" altLang="zh-CN" sz="2665" dirty="0">
                <a:solidFill>
                  <a:schemeClr val="bg1"/>
                </a:solidFill>
                <a:ea typeface="微软雅黑" panose="020B0503020204020204" charset="-122"/>
              </a:rPr>
              <a:t>         </a:t>
            </a:r>
            <a:endParaRPr lang="zh-CN" altLang="en-US" sz="2665" dirty="0">
              <a:solidFill>
                <a:schemeClr val="bg1"/>
              </a:solidFill>
              <a:ea typeface="微软雅黑" panose="020B0503020204020204" charset="-122"/>
              <a:sym typeface="+mn-ea"/>
            </a:endParaRPr>
          </a:p>
        </p:txBody>
      </p:sp>
      <p:pic>
        <p:nvPicPr>
          <p:cNvPr id="7" name="图片 6"/>
          <p:cNvPicPr>
            <a:picLocks noChangeAspect="1"/>
          </p:cNvPicPr>
          <p:nvPr>
            <p:custDataLst>
              <p:tags r:id="rId1"/>
            </p:custDataLst>
          </p:nvPr>
        </p:nvPicPr>
        <p:blipFill>
          <a:blip r:embed="rId5" cstate="print"/>
          <a:stretch>
            <a:fillRect/>
          </a:stretch>
        </p:blipFill>
        <p:spPr>
          <a:xfrm>
            <a:off x="816187" y="2372360"/>
            <a:ext cx="9975427" cy="34544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 0" descr="https://kimi-img.moonshot.cn/pub/slides/slides_tmpl/image/25-09-04-11:33:06-d2sggsm1bb2p4onbon10.jpg"/>
          <p:cNvPicPr>
            <a:picLocks noChangeAspect="1"/>
          </p:cNvPicPr>
          <p:nvPr/>
        </p:nvPicPr>
        <p:blipFill>
          <a:blip r:embed="rId3"/>
          <a:stretch>
            <a:fillRect/>
          </a:stretch>
        </p:blipFill>
        <p:spPr>
          <a:xfrm>
            <a:off x="0" y="0"/>
            <a:ext cx="12192000" cy="6858000"/>
          </a:xfrm>
          <a:prstGeom prst="rect">
            <a:avLst/>
          </a:prstGeom>
        </p:spPr>
      </p:pic>
      <p:cxnSp>
        <p:nvCxnSpPr>
          <p:cNvPr id="5" name="直接连接符 4"/>
          <p:cNvCxnSpPr/>
          <p:nvPr/>
        </p:nvCxnSpPr>
        <p:spPr>
          <a:xfrm>
            <a:off x="2619061" y="644689"/>
            <a:ext cx="1920213" cy="0"/>
          </a:xfrm>
          <a:prstGeom prst="line">
            <a:avLst/>
          </a:prstGeom>
          <a:ln>
            <a:gradFill flip="none" rotWithShape="1">
              <a:gsLst>
                <a:gs pos="0">
                  <a:schemeClr val="bg1">
                    <a:alpha val="0"/>
                  </a:schemeClr>
                </a:gs>
                <a:gs pos="100000">
                  <a:schemeClr val="bg1"/>
                </a:gs>
              </a:gsLst>
              <a:lin ang="0" scaled="1"/>
              <a:tileRect/>
            </a:gradFill>
            <a:tailEnd type="oval"/>
          </a:ln>
        </p:spPr>
        <p:style>
          <a:lnRef idx="1">
            <a:schemeClr val="accent1"/>
          </a:lnRef>
          <a:fillRef idx="0">
            <a:schemeClr val="accent1"/>
          </a:fillRef>
          <a:effectRef idx="0">
            <a:schemeClr val="accent1"/>
          </a:effectRef>
          <a:fontRef idx="minor">
            <a:schemeClr val="tx1"/>
          </a:fontRef>
        </p:style>
      </p:cxnSp>
      <p:sp>
        <p:nvSpPr>
          <p:cNvPr id="14" name="TextBox 1"/>
          <p:cNvSpPr txBox="1"/>
          <p:nvPr/>
        </p:nvSpPr>
        <p:spPr>
          <a:xfrm>
            <a:off x="3579168" y="380600"/>
            <a:ext cx="4992555" cy="534035"/>
          </a:xfrm>
          <a:prstGeom prst="rect">
            <a:avLst/>
          </a:prstGeom>
          <a:noFill/>
        </p:spPr>
        <p:txBody>
          <a:bodyPr wrap="square" rtlCol="0">
            <a:spAutoFit/>
          </a:bodyPr>
          <a:lstStyle/>
          <a:p>
            <a:pPr algn="ctr" defTabSz="431800">
              <a:lnSpc>
                <a:spcPct val="120000"/>
              </a:lnSpc>
              <a:defRPr/>
            </a:pPr>
            <a:r>
              <a:rPr lang="zh-CN" sz="2400" b="1" kern="0" dirty="0">
                <a:solidFill>
                  <a:schemeClr val="tx1"/>
                </a:solidFill>
                <a:latin typeface="Arial" panose="020B0604020202020204" pitchFamily="34" charset="0"/>
                <a:ea typeface="微软雅黑" panose="020B0503020204020204" charset="-122"/>
                <a:cs typeface="Arial" panose="020B0604020202020204" pitchFamily="34" charset="0"/>
              </a:rPr>
              <a:t>研发费用研发逻辑问题</a:t>
            </a:r>
          </a:p>
        </p:txBody>
      </p:sp>
      <p:cxnSp>
        <p:nvCxnSpPr>
          <p:cNvPr id="15" name="直接连接符 14"/>
          <p:cNvCxnSpPr/>
          <p:nvPr/>
        </p:nvCxnSpPr>
        <p:spPr>
          <a:xfrm flipH="1">
            <a:off x="7611616" y="644689"/>
            <a:ext cx="1920213" cy="0"/>
          </a:xfrm>
          <a:prstGeom prst="line">
            <a:avLst/>
          </a:prstGeom>
          <a:ln>
            <a:gradFill flip="none" rotWithShape="1">
              <a:gsLst>
                <a:gs pos="0">
                  <a:schemeClr val="bg1">
                    <a:alpha val="0"/>
                  </a:schemeClr>
                </a:gs>
                <a:gs pos="100000">
                  <a:schemeClr val="bg1"/>
                </a:gs>
              </a:gsLst>
              <a:lin ang="0" scaled="1"/>
              <a:tileRect/>
            </a:gradFill>
            <a:tailEnd type="oval"/>
          </a:ln>
        </p:spPr>
        <p:style>
          <a:lnRef idx="1">
            <a:schemeClr val="accent1"/>
          </a:lnRef>
          <a:fillRef idx="0">
            <a:schemeClr val="accent1"/>
          </a:fillRef>
          <a:effectRef idx="0">
            <a:schemeClr val="accent1"/>
          </a:effectRef>
          <a:fontRef idx="minor">
            <a:schemeClr val="tx1"/>
          </a:fontRef>
        </p:style>
      </p:cxnSp>
      <p:sp>
        <p:nvSpPr>
          <p:cNvPr id="20" name="圆角矩形 19"/>
          <p:cNvSpPr/>
          <p:nvPr/>
        </p:nvSpPr>
        <p:spPr>
          <a:xfrm>
            <a:off x="623147" y="1412240"/>
            <a:ext cx="6180667" cy="626533"/>
          </a:xfrm>
          <a:prstGeom prst="roundRect">
            <a:avLst>
              <a:gd name="adj" fmla="val 50000"/>
            </a:avLst>
          </a:prstGeom>
          <a:solidFill>
            <a:srgbClr val="AA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altLang="zh-CN" sz="2400" dirty="0">
                <a:solidFill>
                  <a:schemeClr val="bg1"/>
                </a:solidFill>
                <a:ea typeface="微软雅黑" panose="020B0503020204020204" charset="-122"/>
              </a:rPr>
              <a:t>  </a:t>
            </a:r>
            <a:r>
              <a:rPr lang="zh-CN" altLang="en-US" sz="2400" dirty="0">
                <a:solidFill>
                  <a:schemeClr val="bg1"/>
                </a:solidFill>
                <a:ea typeface="微软雅黑" panose="020B0503020204020204" charset="-122"/>
              </a:rPr>
              <a:t>八、研发项目成果发明人问题</a:t>
            </a:r>
            <a:r>
              <a:rPr lang="en-US" altLang="zh-CN" sz="2400" dirty="0">
                <a:solidFill>
                  <a:schemeClr val="bg1"/>
                </a:solidFill>
                <a:ea typeface="微软雅黑" panose="020B0503020204020204" charset="-122"/>
              </a:rPr>
              <a:t>  </a:t>
            </a:r>
          </a:p>
        </p:txBody>
      </p:sp>
      <p:sp>
        <p:nvSpPr>
          <p:cNvPr id="4" name="文本框 3"/>
          <p:cNvSpPr txBox="1"/>
          <p:nvPr/>
        </p:nvSpPr>
        <p:spPr>
          <a:xfrm>
            <a:off x="711200" y="2372360"/>
            <a:ext cx="10727267" cy="4218305"/>
          </a:xfrm>
          <a:prstGeom prst="rect">
            <a:avLst/>
          </a:prstGeom>
          <a:noFill/>
        </p:spPr>
        <p:txBody>
          <a:bodyPr wrap="square" rtlCol="0">
            <a:spAutoFit/>
          </a:bodyPr>
          <a:lstStyle/>
          <a:p>
            <a:pPr>
              <a:lnSpc>
                <a:spcPct val="150000"/>
              </a:lnSpc>
            </a:pPr>
            <a:r>
              <a:rPr lang="en-US" altLang="zh-CN" sz="2665" dirty="0">
                <a:solidFill>
                  <a:schemeClr val="tx1"/>
                </a:solidFill>
                <a:ea typeface="微软雅黑" panose="020B0503020204020204" charset="-122"/>
              </a:rPr>
              <a:t>     </a:t>
            </a:r>
            <a:r>
              <a:rPr sz="2665" dirty="0" err="1">
                <a:solidFill>
                  <a:schemeClr val="tx1"/>
                </a:solidFill>
                <a:latin typeface="MiSans" panose="00000500000000000000" pitchFamily="34" charset="-122"/>
                <a:ea typeface="MiSans" panose="00000500000000000000" pitchFamily="34" charset="-122"/>
                <a:cs typeface="MiSans" panose="00000500000000000000" pitchFamily="34" charset="-122"/>
              </a:rPr>
              <a:t>知识产权</a:t>
            </a:r>
            <a:r>
              <a:rPr lang="zh-CN" sz="2665" dirty="0">
                <a:solidFill>
                  <a:schemeClr val="tx1"/>
                </a:solidFill>
                <a:latin typeface="MiSans" panose="00000500000000000000" pitchFamily="34" charset="-122"/>
                <a:ea typeface="MiSans" panose="00000500000000000000" pitchFamily="34" charset="-122"/>
                <a:cs typeface="MiSans" panose="00000500000000000000" pitchFamily="34" charset="-122"/>
              </a:rPr>
              <a:t>证书显示</a:t>
            </a:r>
            <a:r>
              <a:rPr sz="2665" dirty="0" err="1">
                <a:solidFill>
                  <a:schemeClr val="tx1"/>
                </a:solidFill>
                <a:latin typeface="MiSans" panose="00000500000000000000" pitchFamily="34" charset="-122"/>
                <a:ea typeface="MiSans" panose="00000500000000000000" pitchFamily="34" charset="-122"/>
                <a:cs typeface="MiSans" panose="00000500000000000000" pitchFamily="34" charset="-122"/>
              </a:rPr>
              <a:t>发明人</a:t>
            </a:r>
            <a:r>
              <a:rPr lang="zh-CN" sz="2665" dirty="0">
                <a:solidFill>
                  <a:schemeClr val="tx1"/>
                </a:solidFill>
                <a:latin typeface="MiSans" panose="00000500000000000000" pitchFamily="34" charset="-122"/>
                <a:ea typeface="MiSans" panose="00000500000000000000" pitchFamily="34" charset="-122"/>
                <a:cs typeface="MiSans" panose="00000500000000000000" pitchFamily="34" charset="-122"/>
              </a:rPr>
              <a:t>为非</a:t>
            </a:r>
            <a:r>
              <a:rPr sz="2665" dirty="0" err="1">
                <a:solidFill>
                  <a:schemeClr val="tx1"/>
                </a:solidFill>
                <a:latin typeface="MiSans" panose="00000500000000000000" pitchFamily="34" charset="-122"/>
                <a:ea typeface="MiSans" panose="00000500000000000000" pitchFamily="34" charset="-122"/>
                <a:cs typeface="MiSans" panose="00000500000000000000" pitchFamily="34" charset="-122"/>
              </a:rPr>
              <a:t>研发人员</a:t>
            </a:r>
            <a:r>
              <a:rPr lang="zh-CN" sz="2665" dirty="0">
                <a:solidFill>
                  <a:schemeClr val="tx1"/>
                </a:solidFill>
                <a:latin typeface="MiSans" panose="00000500000000000000" pitchFamily="34" charset="-122"/>
                <a:ea typeface="MiSans" panose="00000500000000000000" pitchFamily="34" charset="-122"/>
                <a:cs typeface="MiSans" panose="00000500000000000000" pitchFamily="34" charset="-122"/>
              </a:rPr>
              <a:t>，发明人是指对发明创造的实质性特点作出了创造性贡献的人。</a:t>
            </a:r>
          </a:p>
          <a:p>
            <a:pPr>
              <a:lnSpc>
                <a:spcPct val="150000"/>
              </a:lnSpc>
            </a:pPr>
            <a:r>
              <a:rPr lang="en-US" altLang="zh-CN" sz="2665" dirty="0">
                <a:solidFill>
                  <a:schemeClr val="tx1"/>
                </a:solidFill>
                <a:latin typeface="MiSans" panose="00000500000000000000" pitchFamily="34" charset="-122"/>
                <a:ea typeface="MiSans" panose="00000500000000000000" pitchFamily="34" charset="-122"/>
                <a:cs typeface="MiSans" panose="00000500000000000000" pitchFamily="34" charset="-122"/>
              </a:rPr>
              <a:t>      </a:t>
            </a:r>
            <a:r>
              <a:rPr lang="zh-CN" sz="2400" dirty="0">
                <a:solidFill>
                  <a:schemeClr val="tx1"/>
                </a:solidFill>
                <a:highlight>
                  <a:srgbClr val="FF0000"/>
                </a:highlight>
                <a:latin typeface="MiSans" panose="00000500000000000000" pitchFamily="34" charset="-122"/>
                <a:ea typeface="MiSans" panose="00000500000000000000" pitchFamily="34" charset="-122"/>
                <a:cs typeface="MiSans" panose="00000500000000000000" pitchFamily="34" charset="-122"/>
              </a:rPr>
              <a:t>专利权利人与发明人的区别：</a:t>
            </a:r>
            <a:r>
              <a:rPr lang="zh-CN" sz="2400" dirty="0">
                <a:solidFill>
                  <a:schemeClr val="tx1"/>
                </a:solidFill>
                <a:latin typeface="MiSans" panose="00000500000000000000" pitchFamily="34" charset="-122"/>
                <a:ea typeface="MiSans" panose="00000500000000000000" pitchFamily="34" charset="-122"/>
                <a:cs typeface="MiSans" panose="00000500000000000000" pitchFamily="34" charset="-122"/>
              </a:rPr>
              <a:t>专利权人与发明人享有的权利不一样。职务发明申请专利的权利归单位，单位作为专利权人有权占有、使用、处分其专利，发明人或设计人享有署名权和获得必要报酬的权利，无权占有、使用、和处分专利，不能擅自转让专利获得利益。</a:t>
            </a:r>
            <a:endParaRPr lang="zh-CN" sz="2665" dirty="0">
              <a:solidFill>
                <a:schemeClr val="tx1"/>
              </a:solidFill>
              <a:latin typeface="MiSans" panose="00000500000000000000" pitchFamily="34" charset="-122"/>
              <a:ea typeface="MiSans" panose="00000500000000000000" pitchFamily="34" charset="-122"/>
              <a:cs typeface="MiSans" panose="00000500000000000000" pitchFamily="34" charset="-122"/>
            </a:endParaRPr>
          </a:p>
          <a:p>
            <a:pPr>
              <a:lnSpc>
                <a:spcPct val="150000"/>
              </a:lnSpc>
            </a:pPr>
            <a:endParaRPr lang="zh-CN" sz="2665" dirty="0">
              <a:solidFill>
                <a:schemeClr val="tx1"/>
              </a:solidFill>
              <a:latin typeface="MiSans" panose="00000500000000000000" pitchFamily="34" charset="-122"/>
              <a:ea typeface="MiSans" panose="00000500000000000000" pitchFamily="34" charset="-122"/>
              <a:cs typeface="MiSans" panose="00000500000000000000"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3.xml><?xml version="1.0" encoding="utf-8"?>
<p:tagLst xmlns:a="http://schemas.openxmlformats.org/drawingml/2006/main" xmlns:r="http://schemas.openxmlformats.org/officeDocument/2006/relationships" xmlns:p="http://schemas.openxmlformats.org/presentationml/2006/main">
  <p:tag name="KSO_WM_DIAGRAM_VIRTUALLY_FRAME" val="{&quot;height&quot;:429.2,&quot;left&quot;:68.25,&quot;top&quot;:96.85,&quot;width&quot;:821.4}"/>
</p:tagLst>
</file>

<file path=ppt/tags/tag64.xml><?xml version="1.0" encoding="utf-8"?>
<p:tagLst xmlns:a="http://schemas.openxmlformats.org/drawingml/2006/main" xmlns:r="http://schemas.openxmlformats.org/officeDocument/2006/relationships" xmlns:p="http://schemas.openxmlformats.org/presentationml/2006/main">
  <p:tag name="KSO_WM_DIAGRAM_VIRTUALLY_FRAME" val="{&quot;height&quot;:429.2,&quot;left&quot;:68.25,&quot;top&quot;:96.85,&quot;width&quot;:821.4}"/>
</p:tagLst>
</file>

<file path=ppt/tags/tag65.xml><?xml version="1.0" encoding="utf-8"?>
<p:tagLst xmlns:a="http://schemas.openxmlformats.org/drawingml/2006/main" xmlns:r="http://schemas.openxmlformats.org/officeDocument/2006/relationships" xmlns:p="http://schemas.openxmlformats.org/presentationml/2006/main">
  <p:tag name="KSO_WM_DIAGRAM_VIRTUALLY_FRAME" val="{&quot;height&quot;:429.2,&quot;left&quot;:68.25,&quot;top&quot;:96.85,&quot;width&quot;:821.4}"/>
</p:tagLst>
</file>

<file path=ppt/tags/tag66.xml><?xml version="1.0" encoding="utf-8"?>
<p:tagLst xmlns:a="http://schemas.openxmlformats.org/drawingml/2006/main" xmlns:r="http://schemas.openxmlformats.org/officeDocument/2006/relationships" xmlns:p="http://schemas.openxmlformats.org/presentationml/2006/main">
  <p:tag name="KSO_WM_DIAGRAM_VIRTUALLY_FRAME" val="{&quot;height&quot;:429.2,&quot;left&quot;:68.25,&quot;top&quot;:96.85,&quot;width&quot;:821.4}"/>
</p:tagLst>
</file>

<file path=ppt/tags/tag67.xml><?xml version="1.0" encoding="utf-8"?>
<p:tagLst xmlns:a="http://schemas.openxmlformats.org/drawingml/2006/main" xmlns:r="http://schemas.openxmlformats.org/officeDocument/2006/relationships" xmlns:p="http://schemas.openxmlformats.org/presentationml/2006/main">
  <p:tag name="KSO_WM_DIAGRAM_VIRTUALLY_FRAME" val="{&quot;height&quot;:429.2,&quot;left&quot;:68.25,&quot;top&quot;:96.85,&quot;width&quot;:821.4}"/>
</p:tagLst>
</file>

<file path=ppt/tags/tag68.xml><?xml version="1.0" encoding="utf-8"?>
<p:tagLst xmlns:a="http://schemas.openxmlformats.org/drawingml/2006/main" xmlns:r="http://schemas.openxmlformats.org/officeDocument/2006/relationships" xmlns:p="http://schemas.openxmlformats.org/presentationml/2006/main">
  <p:tag name="KSO_WM_DIAGRAM_VIRTUALLY_FRAME" val="{&quot;height&quot;:429.2,&quot;left&quot;:68.25,&quot;top&quot;:96.85,&quot;width&quot;:821.4}"/>
</p:tagLst>
</file>

<file path=ppt/tags/tag69.xml><?xml version="1.0" encoding="utf-8"?>
<p:tagLst xmlns:a="http://schemas.openxmlformats.org/drawingml/2006/main" xmlns:r="http://schemas.openxmlformats.org/officeDocument/2006/relationships" xmlns:p="http://schemas.openxmlformats.org/presentationml/2006/main">
  <p:tag name="KSO_WM_DIAGRAM_VIRTUALLY_FRAME" val="{&quot;height&quot;:429.2,&quot;left&quot;:68.25,&quot;top&quot;:96.85,&quot;width&quot;:821.4}"/>
</p:tagLst>
</file>

<file path=ppt/tags/tag70.xml><?xml version="1.0" encoding="utf-8"?>
<p:tagLst xmlns:a="http://schemas.openxmlformats.org/drawingml/2006/main" xmlns:r="http://schemas.openxmlformats.org/officeDocument/2006/relationships" xmlns:p="http://schemas.openxmlformats.org/presentationml/2006/main">
  <p:tag name="KSO_WM_DIAGRAM_VIRTUALLY_FRAME" val="{&quot;height&quot;:429.2,&quot;left&quot;:68.25,&quot;top&quot;:96.85,&quot;width&quot;:821.4}"/>
</p:tagLst>
</file>

<file path=ppt/tags/tag71.xml><?xml version="1.0" encoding="utf-8"?>
<p:tagLst xmlns:a="http://schemas.openxmlformats.org/drawingml/2006/main" xmlns:r="http://schemas.openxmlformats.org/officeDocument/2006/relationships" xmlns:p="http://schemas.openxmlformats.org/presentationml/2006/main">
  <p:tag name="KSO_WM_DIAGRAM_VIRTUALLY_FRAME" val="{&quot;height&quot;:429.2,&quot;left&quot;:68.25,&quot;top&quot;:96.85,&quot;width&quot;:821.4}"/>
</p:tagLst>
</file>

<file path=ppt/tags/tag72.xml><?xml version="1.0" encoding="utf-8"?>
<p:tagLst xmlns:a="http://schemas.openxmlformats.org/drawingml/2006/main" xmlns:r="http://schemas.openxmlformats.org/officeDocument/2006/relationships" xmlns:p="http://schemas.openxmlformats.org/presentationml/2006/main">
  <p:tag name="KSO_WM_DIAGRAM_VIRTUALLY_FRAME" val="{&quot;height&quot;:429.2,&quot;left&quot;:68.25,&quot;top&quot;:96.85,&quot;width&quot;:821.4}"/>
</p:tagLst>
</file>

<file path=ppt/tags/tag73.xml><?xml version="1.0" encoding="utf-8"?>
<p:tagLst xmlns:a="http://schemas.openxmlformats.org/drawingml/2006/main" xmlns:r="http://schemas.openxmlformats.org/officeDocument/2006/relationships" xmlns:p="http://schemas.openxmlformats.org/presentationml/2006/main">
  <p:tag name="KSO_WM_DIAGRAM_VIRTUALLY_FRAME" val="{&quot;height&quot;:429.2,&quot;left&quot;:68.25,&quot;top&quot;:96.85,&quot;width&quot;:821.4}"/>
</p:tagLst>
</file>

<file path=ppt/tags/tag74.xml><?xml version="1.0" encoding="utf-8"?>
<p:tagLst xmlns:a="http://schemas.openxmlformats.org/drawingml/2006/main" xmlns:r="http://schemas.openxmlformats.org/officeDocument/2006/relationships" xmlns:p="http://schemas.openxmlformats.org/presentationml/2006/main">
  <p:tag name="KSO_WM_DIAGRAM_VIRTUALLY_FRAME" val="{&quot;height&quot;:429.2,&quot;left&quot;:68.25,&quot;top&quot;:96.85,&quot;width&quot;:821.4}"/>
</p:tagLst>
</file>

<file path=ppt/tags/tag75.xml><?xml version="1.0" encoding="utf-8"?>
<p:tagLst xmlns:a="http://schemas.openxmlformats.org/drawingml/2006/main" xmlns:r="http://schemas.openxmlformats.org/officeDocument/2006/relationships" xmlns:p="http://schemas.openxmlformats.org/presentationml/2006/main">
  <p:tag name="KSO_WM_UNIT_TABLE_BEAUTIFY" val="smartTable{80691dd3-cd4b-4e19-9f77-6ba3e01d0e81}"/>
  <p:tag name="KSO_WM_BEAUTIFY_FLAG" val=""/>
</p:tagLst>
</file>

<file path=ppt/tags/tag76.xml><?xml version="1.0" encoding="utf-8"?>
<p:tagLst xmlns:a="http://schemas.openxmlformats.org/drawingml/2006/main" xmlns:r="http://schemas.openxmlformats.org/officeDocument/2006/relationships" xmlns:p="http://schemas.openxmlformats.org/presentationml/2006/main">
  <p:tag name="KSO_WM_UNIT_TABLE_BEAUTIFY" val="smartTable{ab436e27-783b-42f3-93fc-c5a2ed18bf50}"/>
  <p:tag name="TABLE_ENDDRAG_ORIGIN_RECT" val="544*194"/>
  <p:tag name="TABLE_ENDDRAG_RECT" val="126*257*544*194"/>
</p:tagLst>
</file>

<file path=ppt/tags/tag77.xml><?xml version="1.0" encoding="utf-8"?>
<p:tagLst xmlns:a="http://schemas.openxmlformats.org/drawingml/2006/main" xmlns:r="http://schemas.openxmlformats.org/officeDocument/2006/relationships" xmlns:p="http://schemas.openxmlformats.org/presentationml/2006/main">
  <p:tag name="KSO_WM_UNIT_TABLE_BEAUTIFY" val="smartTable{59695f1b-3196-4bc8-bce4-a07467bd05dc}"/>
  <p:tag name="TABLE_ENDDRAG_ORIGIN_RECT" val="606*180"/>
  <p:tag name="TABLE_ENDDRAG_RECT" val="41*157*606*180"/>
</p:tagLst>
</file>

<file path=ppt/tags/tag78.xml><?xml version="1.0" encoding="utf-8"?>
<p:tagLst xmlns:a="http://schemas.openxmlformats.org/drawingml/2006/main" xmlns:r="http://schemas.openxmlformats.org/officeDocument/2006/relationships" xmlns:p="http://schemas.openxmlformats.org/presentationml/2006/main">
  <p:tag name="KSO_WM_UNIT_TABLE_BEAUTIFY" val="smartTable{1e7c1f1e-5833-41c4-8d1a-f2bf8fe6b5fe}"/>
</p:tagLst>
</file>

<file path=ppt/tags/tag79.xml><?xml version="1.0" encoding="utf-8"?>
<p:tagLst xmlns:a="http://schemas.openxmlformats.org/drawingml/2006/main" xmlns:r="http://schemas.openxmlformats.org/officeDocument/2006/relationships" xmlns:p="http://schemas.openxmlformats.org/presentationml/2006/main">
  <p:tag name="KSO_WM_DIAGRAM_VIRTUALLY_FRAME" val="{&quot;height&quot;:339.075,&quot;left&quot;:35.025,&quot;top&quot;:142.125,&quot;width&quot;:891.85}"/>
</p:tagLst>
</file>

<file path=ppt/tags/tag80.xml><?xml version="1.0" encoding="utf-8"?>
<p:tagLst xmlns:a="http://schemas.openxmlformats.org/drawingml/2006/main" xmlns:r="http://schemas.openxmlformats.org/officeDocument/2006/relationships" xmlns:p="http://schemas.openxmlformats.org/presentationml/2006/main">
  <p:tag name="KSO_WM_DIAGRAM_VIRTUALLY_FRAME" val="{&quot;height&quot;:339.075,&quot;left&quot;:35.025,&quot;top&quot;:142.125,&quot;width&quot;:891.85}"/>
</p:tagLst>
</file>

<file path=ppt/tags/tag81.xml><?xml version="1.0" encoding="utf-8"?>
<p:tagLst xmlns:a="http://schemas.openxmlformats.org/drawingml/2006/main" xmlns:r="http://schemas.openxmlformats.org/officeDocument/2006/relationships" xmlns:p="http://schemas.openxmlformats.org/presentationml/2006/main">
  <p:tag name="KSO_WM_DIAGRAM_VIRTUALLY_FRAME" val="{&quot;height&quot;:339.075,&quot;left&quot;:35.025,&quot;top&quot;:142.125,&quot;width&quot;:891.85}"/>
</p:tagLst>
</file>

<file path=ppt/tags/tag82.xml><?xml version="1.0" encoding="utf-8"?>
<p:tagLst xmlns:a="http://schemas.openxmlformats.org/drawingml/2006/main" xmlns:r="http://schemas.openxmlformats.org/officeDocument/2006/relationships" xmlns:p="http://schemas.openxmlformats.org/presentationml/2006/main">
  <p:tag name="KSO_WM_DIAGRAM_VIRTUALLY_FRAME" val="{&quot;height&quot;:339.075,&quot;left&quot;:35.025,&quot;top&quot;:142.125,&quot;width&quot;:891.85}"/>
</p:tagLst>
</file>

<file path=ppt/tags/tag83.xml><?xml version="1.0" encoding="utf-8"?>
<p:tagLst xmlns:a="http://schemas.openxmlformats.org/drawingml/2006/main" xmlns:r="http://schemas.openxmlformats.org/officeDocument/2006/relationships" xmlns:p="http://schemas.openxmlformats.org/presentationml/2006/main">
  <p:tag name="KSO_WM_DIAGRAM_VIRTUALLY_FRAME" val="{&quot;height&quot;:339.075,&quot;left&quot;:35.025,&quot;top&quot;:142.125,&quot;width&quot;:891.85}"/>
</p:tagLst>
</file>

<file path=ppt/tags/tag84.xml><?xml version="1.0" encoding="utf-8"?>
<p:tagLst xmlns:a="http://schemas.openxmlformats.org/drawingml/2006/main" xmlns:r="http://schemas.openxmlformats.org/officeDocument/2006/relationships" xmlns:p="http://schemas.openxmlformats.org/presentationml/2006/main">
  <p:tag name="KSO_WM_DIAGRAM_VIRTUALLY_FRAME" val="{&quot;height&quot;:339.075,&quot;left&quot;:35.025,&quot;top&quot;:142.125,&quot;width&quot;:891.85}"/>
</p:tagLst>
</file>

<file path=ppt/tags/tag85.xml><?xml version="1.0" encoding="utf-8"?>
<p:tagLst xmlns:a="http://schemas.openxmlformats.org/drawingml/2006/main" xmlns:r="http://schemas.openxmlformats.org/officeDocument/2006/relationships" xmlns:p="http://schemas.openxmlformats.org/presentationml/2006/main">
  <p:tag name="KSO_WM_DIAGRAM_VIRTUALLY_FRAME" val="{&quot;height&quot;:339.075,&quot;left&quot;:35.025,&quot;top&quot;:142.125,&quot;width&quot;:891.85}"/>
</p:tagLst>
</file>

<file path=ppt/tags/tag86.xml><?xml version="1.0" encoding="utf-8"?>
<p:tagLst xmlns:a="http://schemas.openxmlformats.org/drawingml/2006/main" xmlns:r="http://schemas.openxmlformats.org/officeDocument/2006/relationships" xmlns:p="http://schemas.openxmlformats.org/presentationml/2006/main">
  <p:tag name="KSO_WM_DIAGRAM_VIRTUALLY_FRAME" val="{&quot;height&quot;:339.075,&quot;left&quot;:35.025,&quot;top&quot;:142.125,&quot;width&quot;:891.85}"/>
</p:tagLst>
</file>

<file path=ppt/tags/tag87.xml><?xml version="1.0" encoding="utf-8"?>
<p:tagLst xmlns:a="http://schemas.openxmlformats.org/drawingml/2006/main" xmlns:r="http://schemas.openxmlformats.org/officeDocument/2006/relationships" xmlns:p="http://schemas.openxmlformats.org/presentationml/2006/main">
  <p:tag name="KSO_WM_DIAGRAM_VIRTUALLY_FRAME" val="{&quot;height&quot;:339.075,&quot;left&quot;:35.025,&quot;top&quot;:142.125,&quot;width&quot;:891.85}"/>
</p:tagLst>
</file>

<file path=ppt/tags/tag88.xml><?xml version="1.0" encoding="utf-8"?>
<p:tagLst xmlns:a="http://schemas.openxmlformats.org/drawingml/2006/main" xmlns:r="http://schemas.openxmlformats.org/officeDocument/2006/relationships" xmlns:p="http://schemas.openxmlformats.org/presentationml/2006/main">
  <p:tag name="KSO_WM_UNIT_TABLE_BEAUTIFY" val="smartTable{dd1f33bf-1c7b-4fc7-b52c-0801cf6a4152}"/>
</p:tagLst>
</file>

<file path=ppt/tags/tag89.xml><?xml version="1.0" encoding="utf-8"?>
<p:tagLst xmlns:a="http://schemas.openxmlformats.org/drawingml/2006/main" xmlns:r="http://schemas.openxmlformats.org/officeDocument/2006/relationships" xmlns:p="http://schemas.openxmlformats.org/presentationml/2006/main">
  <p:tag name="KSO_WM_UNIT_TABLE_BEAUTIFY" val="smartTable{74e34e50-c599-4df7-b01f-19bed520edf5}"/>
</p:tagLst>
</file>

<file path=ppt/tags/tag90.xml><?xml version="1.0" encoding="utf-8"?>
<p:tagLst xmlns:a="http://schemas.openxmlformats.org/drawingml/2006/main" xmlns:r="http://schemas.openxmlformats.org/officeDocument/2006/relationships" xmlns:p="http://schemas.openxmlformats.org/presentationml/2006/main">
  <p:tag name="KSO_WM_DIAGRAM_VIRTUALLY_FRAME" val="{&quot;height&quot;:311.55,&quot;left&quot;:30.1,&quot;top&quot;:143,&quot;width&quot;:894.85}"/>
</p:tagLst>
</file>

<file path=ppt/tags/tag91.xml><?xml version="1.0" encoding="utf-8"?>
<p:tagLst xmlns:a="http://schemas.openxmlformats.org/drawingml/2006/main" xmlns:r="http://schemas.openxmlformats.org/officeDocument/2006/relationships" xmlns:p="http://schemas.openxmlformats.org/presentationml/2006/main">
  <p:tag name="KSO_WM_DIAGRAM_VIRTUALLY_FRAME" val="{&quot;height&quot;:311.55,&quot;left&quot;:30.1,&quot;top&quot;:143,&quot;width&quot;:894.85}"/>
</p:tagLst>
</file>

<file path=ppt/tags/tag92.xml><?xml version="1.0" encoding="utf-8"?>
<p:tagLst xmlns:a="http://schemas.openxmlformats.org/drawingml/2006/main" xmlns:r="http://schemas.openxmlformats.org/officeDocument/2006/relationships" xmlns:p="http://schemas.openxmlformats.org/presentationml/2006/main">
  <p:tag name="KSO_WM_DIAGRAM_VIRTUALLY_FRAME" val="{&quot;height&quot;:311.55,&quot;left&quot;:30.1,&quot;top&quot;:143,&quot;width&quot;:894.85}"/>
</p:tagLst>
</file>

<file path=ppt/tags/tag93.xml><?xml version="1.0" encoding="utf-8"?>
<p:tagLst xmlns:a="http://schemas.openxmlformats.org/drawingml/2006/main" xmlns:r="http://schemas.openxmlformats.org/officeDocument/2006/relationships" xmlns:p="http://schemas.openxmlformats.org/presentationml/2006/main">
  <p:tag name="KSO_WM_DIAGRAM_VIRTUALLY_FRAME" val="{&quot;height&quot;:311.55,&quot;left&quot;:30.1,&quot;top&quot;:143,&quot;width&quot;:894.85}"/>
</p:tagLst>
</file>

<file path=ppt/tags/tag94.xml><?xml version="1.0" encoding="utf-8"?>
<p:tagLst xmlns:a="http://schemas.openxmlformats.org/drawingml/2006/main" xmlns:r="http://schemas.openxmlformats.org/officeDocument/2006/relationships" xmlns:p="http://schemas.openxmlformats.org/presentationml/2006/main">
  <p:tag name="KSO_WM_DIAGRAM_VIRTUALLY_FRAME" val="{&quot;height&quot;:311.55,&quot;left&quot;:30.1,&quot;top&quot;:143,&quot;width&quot;:894.85}"/>
</p:tagLst>
</file>

<file path=ppt/tags/tag95.xml><?xml version="1.0" encoding="utf-8"?>
<p:tagLst xmlns:a="http://schemas.openxmlformats.org/drawingml/2006/main" xmlns:r="http://schemas.openxmlformats.org/officeDocument/2006/relationships" xmlns:p="http://schemas.openxmlformats.org/presentationml/2006/main">
  <p:tag name="KSO_WM_DIAGRAM_VIRTUALLY_FRAME" val="{&quot;height&quot;:311.55,&quot;left&quot;:30.1,&quot;top&quot;:143,&quot;width&quot;:894.85}"/>
</p:tagLst>
</file>

<file path=ppt/tags/tag96.xml><?xml version="1.0" encoding="utf-8"?>
<p:tagLst xmlns:a="http://schemas.openxmlformats.org/drawingml/2006/main" xmlns:r="http://schemas.openxmlformats.org/officeDocument/2006/relationships" xmlns:p="http://schemas.openxmlformats.org/presentationml/2006/main">
  <p:tag name="KSO_WM_DIAGRAM_VIRTUALLY_FRAME" val="{&quot;height&quot;:311.55,&quot;left&quot;:30.1,&quot;top&quot;:143,&quot;width&quot;:894.85}"/>
</p:tagLst>
</file>

<file path=ppt/tags/tag97.xml><?xml version="1.0" encoding="utf-8"?>
<p:tagLst xmlns:a="http://schemas.openxmlformats.org/drawingml/2006/main" xmlns:r="http://schemas.openxmlformats.org/officeDocument/2006/relationships" xmlns:p="http://schemas.openxmlformats.org/presentationml/2006/main">
  <p:tag name="KSO_WM_DIAGRAM_VIRTUALLY_FRAME" val="{&quot;height&quot;:311.55,&quot;left&quot;:30.1,&quot;top&quot;:143,&quot;width&quot;:894.85}"/>
</p:tagLst>
</file>

<file path=ppt/tags/tag98.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63</TotalTime>
  <Words>1605</Words>
  <Application>Microsoft Office PowerPoint</Application>
  <PresentationFormat>宽屏</PresentationFormat>
  <Paragraphs>485</Paragraphs>
  <Slides>29</Slides>
  <Notes>29</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29</vt:i4>
      </vt:variant>
    </vt:vector>
  </HeadingPairs>
  <TitlesOfParts>
    <vt:vector size="39" baseType="lpstr">
      <vt:lpstr>MiSans</vt:lpstr>
      <vt:lpstr>Noto Sans SC</vt:lpstr>
      <vt:lpstr>微软雅黑</vt:lpstr>
      <vt:lpstr>微软雅黑 Light</vt:lpstr>
      <vt:lpstr>Arial</vt:lpstr>
      <vt:lpstr>Calibri</vt:lpstr>
      <vt:lpstr>Cambria</vt:lpstr>
      <vt:lpstr>Verdana</vt:lpstr>
      <vt:lpstr>Wingdings</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yi yin</cp:lastModifiedBy>
  <cp:revision>158</cp:revision>
  <dcterms:created xsi:type="dcterms:W3CDTF">2019-06-19T02:08:00Z</dcterms:created>
  <dcterms:modified xsi:type="dcterms:W3CDTF">2026-04-24T11:02:03Z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2052-12.1.0.24034</vt:lpwstr>
  </property>
  <property fmtid="{D5CDD505-2E9C-101B-9397-08002B2CF9AE}" pid="3" name="ICV">
    <vt:lpwstr>C8AB49FEA7A34E94B6009F69EF34F9ED_11</vt:lpwstr>
  </property>
</Properties>
</file>